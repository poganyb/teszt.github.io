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45"/>
  </p:notesMasterIdLst>
  <p:sldIdLst>
    <p:sldId id="397" r:id="rId5"/>
    <p:sldId id="407" r:id="rId6"/>
    <p:sldId id="398" r:id="rId7"/>
    <p:sldId id="399" r:id="rId8"/>
    <p:sldId id="400" r:id="rId9"/>
    <p:sldId id="401" r:id="rId10"/>
    <p:sldId id="402" r:id="rId11"/>
    <p:sldId id="403" r:id="rId12"/>
    <p:sldId id="404" r:id="rId13"/>
    <p:sldId id="405" r:id="rId14"/>
    <p:sldId id="280" r:id="rId15"/>
    <p:sldId id="281" r:id="rId16"/>
    <p:sldId id="282" r:id="rId17"/>
    <p:sldId id="283" r:id="rId18"/>
    <p:sldId id="284" r:id="rId19"/>
    <p:sldId id="341" r:id="rId20"/>
    <p:sldId id="343" r:id="rId21"/>
    <p:sldId id="351" r:id="rId22"/>
    <p:sldId id="353" r:id="rId23"/>
    <p:sldId id="355" r:id="rId24"/>
    <p:sldId id="357" r:id="rId25"/>
    <p:sldId id="359" r:id="rId26"/>
    <p:sldId id="361" r:id="rId27"/>
    <p:sldId id="395" r:id="rId28"/>
    <p:sldId id="286" r:id="rId29"/>
    <p:sldId id="287" r:id="rId30"/>
    <p:sldId id="365" r:id="rId31"/>
    <p:sldId id="379" r:id="rId32"/>
    <p:sldId id="381" r:id="rId33"/>
    <p:sldId id="383" r:id="rId34"/>
    <p:sldId id="369" r:id="rId35"/>
    <p:sldId id="371" r:id="rId36"/>
    <p:sldId id="373" r:id="rId37"/>
    <p:sldId id="375" r:id="rId38"/>
    <p:sldId id="385" r:id="rId39"/>
    <p:sldId id="387" r:id="rId40"/>
    <p:sldId id="393" r:id="rId41"/>
    <p:sldId id="292" r:id="rId42"/>
    <p:sldId id="406" r:id="rId43"/>
    <p:sldId id="285" r:id="rId44"/>
  </p:sldIdLst>
  <p:sldSz cx="9144000" cy="5143500" type="screen16x9"/>
  <p:notesSz cx="6858000" cy="9144000"/>
  <p:embeddedFontLst>
    <p:embeddedFont>
      <p:font typeface="Arial Black" panose="020B0A04020102020204" pitchFamily="34" charset="0"/>
      <p:bold r:id="rId46"/>
    </p:embeddedFont>
    <p:embeddedFont>
      <p:font typeface="Cambria" panose="02040503050406030204" pitchFamily="18" charset="0"/>
      <p:regular r:id="rId47"/>
      <p:bold r:id="rId48"/>
      <p:italic r:id="rId49"/>
      <p:boldItalic r:id="rId50"/>
    </p:embeddedFont>
    <p:embeddedFont>
      <p:font typeface="Cambria Math" panose="02040503050406030204" pitchFamily="18" charset="0"/>
      <p:regular r:id="rId51"/>
    </p:embeddedFont>
    <p:embeddedFont>
      <p:font typeface="Segoe UI Semibold" panose="020B0702040204020203" pitchFamily="34" charset="0"/>
      <p:regular r:id="rId52"/>
      <p:bold r:id="rId53"/>
      <p:italic r:id="rId54"/>
      <p:boldItalic r:id="rId55"/>
    </p:embeddedFont>
    <p:embeddedFont>
      <p:font typeface="Wingdings 2" panose="05020102010507070707" pitchFamily="18" charset="2"/>
      <p:regular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9pPr>
  </p:defaultTextStyle>
  <p:extLst>
    <p:ext uri="{521415D9-36F7-43E2-AB2F-B90AF26B5E84}">
      <p14:sectionLst xmlns:p14="http://schemas.microsoft.com/office/powerpoint/2010/main">
        <p14:section name="Alapértelmezett szakasz" id="{25012CED-D501-45EE-960C-351F9F5439B5}">
          <p14:sldIdLst>
            <p14:sldId id="397"/>
            <p14:sldId id="407"/>
            <p14:sldId id="398"/>
            <p14:sldId id="399"/>
            <p14:sldId id="400"/>
            <p14:sldId id="401"/>
            <p14:sldId id="402"/>
            <p14:sldId id="403"/>
            <p14:sldId id="404"/>
            <p14:sldId id="405"/>
            <p14:sldId id="280"/>
            <p14:sldId id="281"/>
            <p14:sldId id="282"/>
            <p14:sldId id="283"/>
            <p14:sldId id="284"/>
            <p14:sldId id="341"/>
            <p14:sldId id="343"/>
            <p14:sldId id="351"/>
            <p14:sldId id="353"/>
            <p14:sldId id="355"/>
            <p14:sldId id="357"/>
            <p14:sldId id="359"/>
            <p14:sldId id="361"/>
            <p14:sldId id="395"/>
            <p14:sldId id="286"/>
            <p14:sldId id="287"/>
            <p14:sldId id="365"/>
            <p14:sldId id="379"/>
            <p14:sldId id="381"/>
            <p14:sldId id="383"/>
            <p14:sldId id="369"/>
            <p14:sldId id="371"/>
            <p14:sldId id="373"/>
            <p14:sldId id="375"/>
            <p14:sldId id="385"/>
            <p14:sldId id="387"/>
            <p14:sldId id="393"/>
            <p14:sldId id="292"/>
            <p14:sldId id="406"/>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74C"/>
    <a:srgbClr val="C09F5A"/>
    <a:srgbClr val="FEED01"/>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464744-5EF8-4A23-BA49-EC68D10D153F}">
  <a:tblStyle styleId="{FE464744-5EF8-4A23-BA49-EC68D10D153F}" styleName="Table_0"/>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7.fntdata"/><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B9DEDD-3B88-4B08-A59B-20F4A7480A2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hu-HU"/>
        </a:p>
      </dgm:t>
    </dgm:pt>
    <dgm:pt modelId="{177CBD69-AC38-413E-92F0-A8117AA1D393}">
      <dgm:prSet custT="1"/>
      <dgm:spPr>
        <a:solidFill>
          <a:srgbClr val="01274C"/>
        </a:solidFill>
      </dgm:spPr>
      <dgm:t>
        <a:bodyPr/>
        <a:lstStyle/>
        <a:p>
          <a:r>
            <a:rPr lang="hu-HU" sz="2800" b="1" i="0" dirty="0">
              <a:latin typeface="Cambria" panose="02040503050406030204" pitchFamily="18" charset="0"/>
              <a:ea typeface="Cambria" panose="02040503050406030204" pitchFamily="18" charset="0"/>
            </a:rPr>
            <a:t>A gyakorlat altémái</a:t>
          </a:r>
          <a:endParaRPr lang="hu-HU" sz="2800" dirty="0">
            <a:latin typeface="Cambria" panose="02040503050406030204" pitchFamily="18" charset="0"/>
            <a:ea typeface="Cambria" panose="02040503050406030204" pitchFamily="18" charset="0"/>
          </a:endParaRPr>
        </a:p>
      </dgm:t>
    </dgm:pt>
    <dgm:pt modelId="{9689455C-A492-4625-8BCB-A6A3ACD1D6C5}" type="parTrans" cxnId="{964BF852-C308-4781-B49D-4CFF9705C3C1}">
      <dgm:prSet/>
      <dgm:spPr/>
      <dgm:t>
        <a:bodyPr/>
        <a:lstStyle/>
        <a:p>
          <a:endParaRPr lang="hu-HU"/>
        </a:p>
      </dgm:t>
    </dgm:pt>
    <dgm:pt modelId="{78A49050-A274-46A8-A9FD-53DE34D8F3A6}" type="sibTrans" cxnId="{964BF852-C308-4781-B49D-4CFF9705C3C1}">
      <dgm:prSet/>
      <dgm:spPr/>
      <dgm:t>
        <a:bodyPr/>
        <a:lstStyle/>
        <a:p>
          <a:endParaRPr lang="hu-HU"/>
        </a:p>
      </dgm:t>
    </dgm:pt>
    <dgm:pt modelId="{CA9BE2E2-6FF6-481F-8C3C-A2C00D589210}" type="pres">
      <dgm:prSet presAssocID="{89B9DEDD-3B88-4B08-A59B-20F4A7480A2A}" presName="linear" presStyleCnt="0">
        <dgm:presLayoutVars>
          <dgm:animLvl val="lvl"/>
          <dgm:resizeHandles val="exact"/>
        </dgm:presLayoutVars>
      </dgm:prSet>
      <dgm:spPr/>
    </dgm:pt>
    <dgm:pt modelId="{E578CEB4-0062-45B6-920B-51166B7F9060}" type="pres">
      <dgm:prSet presAssocID="{177CBD69-AC38-413E-92F0-A8117AA1D393}" presName="parentText" presStyleLbl="node1" presStyleIdx="0" presStyleCnt="1" custLinFactNeighborY="74791">
        <dgm:presLayoutVars>
          <dgm:chMax val="0"/>
          <dgm:bulletEnabled val="1"/>
        </dgm:presLayoutVars>
      </dgm:prSet>
      <dgm:spPr/>
    </dgm:pt>
  </dgm:ptLst>
  <dgm:cxnLst>
    <dgm:cxn modelId="{B2A45419-806B-4B7E-B0BA-B2AADE5E30F2}" type="presOf" srcId="{89B9DEDD-3B88-4B08-A59B-20F4A7480A2A}" destId="{CA9BE2E2-6FF6-481F-8C3C-A2C00D589210}" srcOrd="0" destOrd="0" presId="urn:microsoft.com/office/officeart/2005/8/layout/vList2"/>
    <dgm:cxn modelId="{964BF852-C308-4781-B49D-4CFF9705C3C1}" srcId="{89B9DEDD-3B88-4B08-A59B-20F4A7480A2A}" destId="{177CBD69-AC38-413E-92F0-A8117AA1D393}" srcOrd="0" destOrd="0" parTransId="{9689455C-A492-4625-8BCB-A6A3ACD1D6C5}" sibTransId="{78A49050-A274-46A8-A9FD-53DE34D8F3A6}"/>
    <dgm:cxn modelId="{5134DF56-C9E3-4690-8B46-A80695C0BB1D}" type="presOf" srcId="{177CBD69-AC38-413E-92F0-A8117AA1D393}" destId="{E578CEB4-0062-45B6-920B-51166B7F9060}" srcOrd="0" destOrd="0" presId="urn:microsoft.com/office/officeart/2005/8/layout/vList2"/>
    <dgm:cxn modelId="{C390D874-F251-4CF1-984D-D2B3B5BF4DB0}" type="presParOf" srcId="{CA9BE2E2-6FF6-481F-8C3C-A2C00D589210}" destId="{E578CEB4-0062-45B6-920B-51166B7F906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78CEB4-0062-45B6-920B-51166B7F9060}">
      <dsp:nvSpPr>
        <dsp:cNvPr id="0" name=""/>
        <dsp:cNvSpPr/>
      </dsp:nvSpPr>
      <dsp:spPr>
        <a:xfrm>
          <a:off x="0" y="38"/>
          <a:ext cx="4444933" cy="572660"/>
        </a:xfrm>
        <a:prstGeom prst="roundRect">
          <a:avLst/>
        </a:prstGeom>
        <a:solidFill>
          <a:srgbClr val="01274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hu-HU" sz="2800" b="1" i="0" kern="1200" dirty="0">
              <a:latin typeface="Cambria" panose="02040503050406030204" pitchFamily="18" charset="0"/>
              <a:ea typeface="Cambria" panose="02040503050406030204" pitchFamily="18" charset="0"/>
            </a:rPr>
            <a:t>A gyakorlat altémái</a:t>
          </a:r>
          <a:endParaRPr lang="hu-HU" sz="2800" kern="1200" dirty="0">
            <a:latin typeface="Cambria" panose="02040503050406030204" pitchFamily="18" charset="0"/>
            <a:ea typeface="Cambria" panose="02040503050406030204" pitchFamily="18" charset="0"/>
          </a:endParaRPr>
        </a:p>
      </dsp:txBody>
      <dsp:txXfrm>
        <a:off x="27955" y="27993"/>
        <a:ext cx="4389023" cy="5167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6-03-12T17:31:54.681"/>
    </inkml:context>
    <inkml:brush xml:id="br0">
      <inkml:brushProperty name="width" value="0.05292" units="cm"/>
      <inkml:brushProperty name="height" value="0.05292" units="cm"/>
      <inkml:brushProperty name="color" value="#FF0000"/>
    </inkml:brush>
  </inkml:definitions>
  <inkml:trace contextRef="#ctx0" brushRef="#br0">7761 8271 1683 0,'0'-1'175'0,"0"3"-102"0,2 2-12 0,2-1-6 0,4-1-8 0,-1-3 1 0,2-1 4 0,2-2-2 0,3-4 2 15,-1-2-2-15,4-5-8 16,1-2-6-16,1-6-8 16,1-2-3-16,2-4-8 0,0-2-5 15,-1-3-1 1,-1 0-1-16,-3 1-2 0,-2 2 2 16,-3 4-1-16,-3 3 0 15,-3 7 0-15,-1 1 0 16,-3 8-2-16,-2 8 1 15,0-1-2-15,0 0-3 0,0 0 1 16,0 0 1-16,0 0 1 16,0 1 3-16,1 0 1 15,6 18 2-15,-6 0 4 16,-1 3 1-16,-1 10 0 16,-1 1-2-16,-1 5-3 15,-1 0 0-15,0 1-2 16,1-1-3-16,-1-3-2 15,2-1-2-15,2-6-7 16,0-3-9-16,2-4-39 16,2-3-37-16,1-5-144 15,2-1 195-15,0-11-33 16,0-2-27-16</inkml:trace>
  <inkml:trace contextRef="#ctx0" brushRef="#br0" timeOffset="557.04">8583 7879 1190 0,'5'-8'235'0,"-4"2"-103"0,-1 1-33 0,1-1 164 16,-1 6-55-16,0 0-34 0,0 0-57 15,0 0-27-15,-1 0-35 16,-10 14-16-1,8 6-22-15,0 5-7 16,1 7-10-16,1 4-1 16,0 2 1-16,1 1 0 15,1 0 0-15,0-2 0 0,0-5-11 16,2-2-8-16,-1-5-27 16,-1-2-17-16,-1-2-43 15,0-1-21-15,0-3-67 16,-1 0-60-16,-3-2 170 15,0-3-44-15,-2-5-4 16</inkml:trace>
  <inkml:trace contextRef="#ctx0" brushRef="#br0" timeOffset="816.55">8414 8184 1487 0,'-16'-4'218'16,"3"0"-86"-16,2 0-45 15,2-1 146 1,2 0-31-16,5 0-58 0,3-1-32 16,8-1-46-16,5 0-13 15,13-2-27-15,5-3-15 16,12-2-82-16,5-3-70 0,15-3 119 15,6-3-20 1,6-3-14-16</inkml:trace>
  <inkml:trace contextRef="#ctx0" brushRef="#br0" timeOffset="1386.84">9102 7857 1445 0,'-1'-7'242'0,"0"1"-125"0,1 2-43 15,-2-1 209-15,2 5-139 16,0 0-26-16,-1 0-59 16,0 0-23-1,-12 13-23-15,11 2-7 0,-2 11-8 16,2 4-3-16,-1 8 0 16,0 1 3-16,0 5 4 15,0-1 1-15,2-3-1 16,0-2 1-16,1-8-1 15,0-4 0-15,4-5 2 16,1-4 1-16,5-5 1 16,0-4 1-16,6-6-13 15,1-2-21-15,4-3-57 0,0-4-52 16,2-3 111-16,2-1-23 16,-1 0-23-16</inkml:trace>
  <inkml:trace contextRef="#ctx0" brushRef="#br0" timeOffset="1693.45">8950 8079 1382 0,'0'0'208'0,"0"-1"-89"0,0 1-41 0,0-1 144 0,0 0-34 0,14-21-53 16,-2 18-31 0,6 0-42-16,4-1-23 15,7 3-108 1,5-4-97-16,10 2 147 15,2-4-24-15,1-5-29 16</inkml:trace>
  <inkml:trace contextRef="#ctx0" brushRef="#br0" timeOffset="2065.69">9462 8106 2032 0,'0'0'241'16,"0"0"-159"-16,0 0-38 16,-1-1 148-16,1 0-99 15,0 1-34-15,0-1-119 0,0 0-87 16,1 0 124-1,0 0-26-15,0 0-18 16</inkml:trace>
  <inkml:trace contextRef="#ctx0" brushRef="#br0" timeOffset="2612.16">9699 8011 1788 0,'0'0'209'0,"0"0"-125"15,0 0-39-15,0 0 125 0,0 1-42 16,-5 15-57 0,5-4-31-16,0 2-31 0,0 4-7 15,0 3-4-15,0 2 2 16,0 2-1-16,0-2 0 16,0 0-1-16,0-3 0 15,0-3 2 1,0-3 4-16,0-4 6 15,0-3-1-15,0-7-1 0,0 0 0 0,0 0-1 16,0-1 1-16,-7-20-2 16,3 11-1-1,3-1-3-15,1-1 0 0,0 0 2 16,1 2 3-16,4-1 3 16,2-1 1-16,5-1 6 15,2-1 1 1,8-2 0-16,4-2 2 15,9-3 4-15,6-2-1 0,4-2-6 16,2 0-17-16,2-2-149 16,0 3 141-16,-4 0-16 15,-4 5-12-15</inkml:trace>
  <inkml:trace contextRef="#ctx0" brushRef="#br0" timeOffset="6077.37">7759 7673 461 0,'2'-11'31'16,"-2"0"66"-16,2 0 14 0,0 2 26 0,-12-12-8 16,13 12 1-16,-2 2 12 0,-1 0-17 15,1 3-10-15,-1-1 5 0,-1 1-15 0,-2 0-3 16,0 1 4-16,-3-1-19 0,0 1-13 0,0 1 10 0,-4-1-19 15,0 4-20-15,0 1 8 0,-4 3-17 0,-1 2-11 16,-1 4 6-16,-3 3-6 16,0 4-5-16,-1 4-1 0,-4 3 2 0,0 3 2 15,-1 3-1-15,-2 7-2 0,-1 1-3 0,0 7 4 16,-1 5-7-16,1 3-6 0,4 2 3 16,2 6-6-16,5 0-8 0,6 1 3 0,7 3-31 15,4-7-28-15,12-2 20 0,7 0-37 16,8-4-55-16,7-4 21 0,8 0-95 0,4-6-146 15,11-2 90-15</inkml:trace>
  <inkml:trace contextRef="#ctx0" brushRef="#br0" timeOffset="6683.93">10168 7381 1316 0,'0'-12'61'0,"1"3"-1"0,-1 3 4 0,0 0 3 16,0 6-10-16,0 0 3 0,0-1 2 0,0 1-12 15,0 0-7-15,1 0 10 0,10 5-13 16,-5 3-12-16,2 2 1 0,3 5-7 0,3 6-3 0,4 6 5 15,2 9-7-15,2 4-9 16,1 9 3-16,-1 6-19 0,0 7-9 0,0 5 8 16,-1 10 3-16,-5-2-7 0,-3 0-7 0,-1 5 8 15,-4-3 18-15,-2-1-4 0,-2-1 16 16,-4-6 9-16,-1-6-6 0,-5 1 0 0,-2-5 8 16,-3-5 3-16,-4-3-5 0,-2-3-10 0,-6-4 4 15,-1-1-15-15,-5-5-18 0,-1-3 12 0,-3-3-61 16,-2-3-66-16,-2-2 44 0,-4-2-120 0,0-3-133 0,0-1 67 15</inkml:trace>
  <inkml:trace contextRef="#ctx0" brushRef="#br0" timeOffset="7622.78">7842 10543 815 0,'-5'-2'53'0,"3"0"69"16,-2 2 9-16,0 0 74 0,-10-9-63 16,11 8-9-16,-4-1 9 0,1 1-23 15,-1 0-18-15,2 0 9 0,0 0-22 0,1-1-18 0,4 2 10 16,0 0-18-16,0-1-15 0,-4-15 6 0,10 6-13 16,0 0-8-16,7-4 3 0,0-3-8 15,1-1-9-15,5-3 6 0,2-3-9 0,1 0-6 16,4-1 2-16,1-4-3 0,1 1-4 0,2 0 1 15,1-4-1-15,-1 2 0 0,-2 1-1 0,0 0 2 16,-5 4 2-16,-4 4-1 0,-2-1 4 16,-6 6 7-16,-3 6-4 0,-4 1 6 15,-1 2 6-15,-4 4-2 0,-3 0-6 0,0 3-5 16,-1 0 6-16,-1 2-11 0,-2 2-10 0,1 2 2 16,-1 2-3-16,3 2-4 0,-2 2-1 15,1 3 3-15,4 0 2 0,-3 2-1 0,4 3 1 16,1-1 3-16,1 1-1 0,1 3 1 15,1 0-7-15,3 0 4 0,0 2-21 0,3 0-25 16,-1-1 18-16,0 1-34 0,-1-2-55 16,0-1 24-16,2-1-41 0,-2-5-41 0,-3-1 14 15,1-3-39-15,-3-3-65 0,1-3 27 16,-3-6-21-16,0 0-33 0</inkml:trace>
  <inkml:trace contextRef="#ctx0" brushRef="#br0" timeOffset="7975.28">8506 10092 1063 0,'1'0'161'0,"-1"0"-8"0,0 0-14 0,0 0 12 0,0-1-29 16,0 0-23-16,0 1 13 0,0-1-31 15,0 0-27-15,1 0 14 0,0 0-21 0,0 0-17 16,0 0 3-16,0 1-11 0,-1-1-6 16,1 1 3-16,14 2-4 0,-11 8-6 0,-1 5 1 15,0 2-3-15,-1 1 1 0,-1 4-1 0,-1 4 0 16,-2-2-1-16,-2 2 0 0,2 2-1 16,-6-2-2-16,2-1 1 0,-1 3-12 15,2-4-13-15,-1-2 9 0,0-3-23 16,1-2-31-16,-2-4 15 0,5 0-36 0,0-4-41 0,-2-5 20 15,0-1-59-15,3 1-90 0,-1-3 48 16,-3 0-43-16,3-1-50 0</inkml:trace>
  <inkml:trace contextRef="#ctx0" brushRef="#br0" timeOffset="8161.98">8329 10352 1049 0,'-5'-2'205'15,"2"0"-81"-15,0 0-77 0,0 0 130 16,1 0-44-16,2 0 15 0,0-1-40 0,1-1-21 0,2 1 13 16,2-3-23-16,3 1-23 0,2-2 6 0,4-2-17 15,3 1-13-15,2-3 8 0,3 0-14 16,2-1-18-16,4 1 8 0,2-2-45 16,0 1-50-16,0 1 34 0,3-2-161 0,-1 2 156 15,1 1-57-15,0-1-65 16</inkml:trace>
  <inkml:trace contextRef="#ctx0" brushRef="#br0" timeOffset="8628.49">8884 10189 1085 0,'-4'-3'210'15,"1"1"-81"-15,1 1-82 0,2 1 144 16,0 0-76-16,0 0 14 0,0 0-43 0,0 0-35 0,0 0 20 16,0 0-30-16,0 0-26 0,1 5 4 15,0 4-7-15,-1-1-3 0,4 4-1 0,-2 0 1 0,-2 3-2 16,0-1 1-16,0 4-3 16,0 0 1-16,-1 1 0 0,-3 2-1 15,2 2 0-15,-3-2 0 0,4 1 0 0,-3-1 3 0,2-2-2 16,2-1 10-16,-1-3 6 0,1-6-5 15,-2 1 4-15,2-3 12 0,0-2-3 0,0-5 6 16,0 0-2-16,0 0 0 0,0-9-10 0,0 0-2 16,2-2 7-16,-1-3-10 0,1-1-9 0,-1-1 1 15,2-3-4-15,-1 2-1 16,1 0 2-16,-1 1 0 0,-2 1-1 0,2 2-1 16,-2-1 1-16,2 3 2 0,-1 1 0 15,0 1 1-15,-1 2-2 0,1 0 0 0,4 0-1 16,-2 2-1-16,2-1 0 0,2-1-1 0,3 2-4 0,-1-2 1 15,4-1-1-15,2-1-2 16,2-1 1-16,6-3-3 0,2-3-1 16,6 1 0-16,3-4-32 0,4 1-52 0,6-1 37 15,2-1-174-15,1 3 169 16,-3 0-55-16,1 1-71 0</inkml:trace>
  <inkml:trace contextRef="#ctx0" brushRef="#br0" timeOffset="9261.62">8015 9936 401 0,'0'-6'144'0,"0"0"-43"0,0 0-61 0,-1-1 124 0,1 1-36 16,-2 0 2-16,0-1-9 0,-1 2-3 0,-2 0 6 0,1 0-18 15,-2 1-12-15,-1-2 9 0,1 4-13 16,-2-2-17-16,0 2 3 0,-1 0-8 0,0 2-6 0,0 1 4 16,-2 1-5-16,1 3-6 15,-3 0 1-15,0 2-5 0,-1 2-5 16,-1 2 5-16,-3 1-9 0,0 3-7 0,1 2 3 0,-2 4-6 0,0 4-6 31,2 3 2-31,-2 7-5 0,1 4-6 0,2 1 4 16,1 7-7-16,0 2-5 0,2 4 2 0,2 5-2 15,3 0-4-15,2-1 1 0,4 4-2 16,2-3-2-16,5-1 2 0,4-3-6 0,4-4-5 16,4-8 2-16,4-3-4 0,6-4-14 15,4-6 5-15,4-3-34 0,1-5-43 0,3-4 30 16,5-5-121-16,0-2-202 16,6-4 120-16,2-3-98 0,0-3-130 0</inkml:trace>
  <inkml:trace contextRef="#ctx0" brushRef="#br0" timeOffset="9846.92">9261 9888 1025 0,'1'-10'141'0,"3"-1"4"0,1 3-4 0,-2-2-1 0,2 0-9 15,1 1-8-15,1 1 7 0,0-1-10 0,-2 1-13 0,1 2 3 0,1-1-15 16,-1 1-11-16,0 3 10 15,-2 0-22-15,0 2-20 0,0 1 11 16,1 2-18-16,-2 2-15 0,1 4 4 0,1 6-6 16,0 3-5-16,0 5 0 0,2 4-4 15,-2 4-3-15,0 8 2 0,0 7-4 0,-1 0-5 16,0 4 2-16,-2 6-2 16,1-1-4-16,-1 4 1 0,-1 4-12 0,0-5-16 15,-1-3 11-15,0 1-25 0,-2-8-22 0,1-4 9 16,-1-2 0-16,0-10-4 0,0-7-8 15,-2-3 3-15,0-5-5 0,-3-5 8 16,0-1-45-16,-2-4-45 0,-5-4 32 0,0-1-61 16,-2-3-86-16,-4-2 32 0,-1-1-32 0,3-4-31 15</inkml:trace>
  <inkml:trace contextRef="#ctx0" brushRef="#br0" timeOffset="10339.1">9780 9380 575 0,'2'-6'388'0,"0"-1"-108"0,-1 2-68 16,1 1 121-16,0 1-203 0,-2 3-36 15,0 0 6-15,0 0-21 0,0 0-20 0,-2 12 13 0,-1-4-25 16,0 2-18-16,-1 5 7 0,0 3-11 16,-1 0-9-16,1 4 1 0,-2 0-2 0,0 1-4 0,0 2 3 0,2 1-4 15,-1-1-4-15,1 1 2 0,-1-1-2 16,3 0-2-16,1-2 0 0,1 0 1 0,0-3-1 16,1 0-1-16,0-1 4 15,3-4 1-15,0-2-2 0,1-1 2 0,0-4 1 0,2-1 0 0,2-1-1 16,0-4-4-16,1-3 3 0,3 0-15 0,-1-3-15 15,1-2 11-15,3 0-32 0,-2-3-38 0,0-2 20 16,1 1-74-16,-1-1-97 0,-1-1 53 0,1-1-59 16,-2-1-64-16</inkml:trace>
  <inkml:trace contextRef="#ctx0" brushRef="#br0" timeOffset="10590.79">9604 9570 1181 0,'-6'-3'199'0,"2"0"-85"0,2 1-75 16,-3-1 105-16,5 3-20 0,0 0 13 0,0 0-35 0,0 0-30 0,0 0 15 16,0 0-19-16,5-9-20 0,3 7 5 0,4 0-13 15,3-3-7-15,2 0 7 16,6-2-12-16,1 0-13 0,7-1 6 0,6-1-21 15,6-1-45-15,0 0 26 0,5 2-149 16,2 1-181-16,-1 1 124 0,1 3-110 0,-5 0-151 0</inkml:trace>
  <inkml:trace contextRef="#ctx0" brushRef="#br0" timeOffset="11090.5">10106 10238 1202 0,'-6'0'213'0,"2"2"-26"0,1-2-22 0,0 0 26 0,3 0-51 0,0 0-35 0,0 0 13 16,0 0-26-16,0 0-32 0,0 0 14 0,9-3-24 16,-2 3-23-16,2-1 9 0,3 1-13 0,1-1-12 15,2 0 4-15,3 1-15 0,2 0-23 16,-1 0 12-16,4 0-70 0,-2-1-75 0,-1-1 49 15,-1 2-141-15,-4-3-166 0,-3 0 84 16,-1 3-89-16,-4 0-93 0</inkml:trace>
  <inkml:trace contextRef="#ctx0" brushRef="#br0" timeOffset="11223.69">10070 10348 1318 0,'0'0'193'0,"0"0"-19"16,0 0-21-16,1 0 26 0,11 7-62 15,-4-7-26-15,4 0 18 0,3-1-35 0,3 0-35 16,5 0 14-16,3-2-48 0,0 0-86 16,3 0 50-16,6 0-36 0,-1 0-52 0</inkml:trace>
  <inkml:trace contextRef="#ctx0" brushRef="#br0" timeOffset="16500.02">9090 7076 377 0,'-3'-9'25'0,"1"0"0"0,0-1 0 0,0-2 19 16,-2 1-8-16,2-2 2 0,-2 2-1 15,-6-14 4-15,4 11 10 0,-1 0-4 0,-2-1 2 16,0 1 3-16,1-1 1 0,-4 2-4 16,0 0-7-16,1 0 5 0,-5 2-15 0,1 2-12 15,-1 0 10-15,-3 0-15 0,0 2-14 16,-3 2 4-16,-2 0-4 0,-2 2-4 0,2-1 0 16,-3 1-3-16,0 1-4 0,0 1 3 15,-2-1-1-15,3 2-1 0,-4-1-2 0,-1 1 4 16,1 0 4-16,-2 0-3 0,-3 0 4 0,1 0 3 15,-2 1 0-15,-2 1 2 0,4 1 1 0,-2 1 0 16,-6 3 1-16,1-1 3 0,-1 4-2 0,-5 1 5 16,2 2 3-16,-1 1-2 0,-3 3 3 15,1-1 5-15,1 2-2 0,-2 1-1 16,1-1-2-16,2 1 3 0,-1-1-7 16,2 0-3-16,0-1 1 0,-2 1-2 0,3-2-5 15,1 2 2-15,-2 1-1 0,2-1 1 0,-1 1 0 16,-1 5 3-16,1 0 2 0,2 3-2 0,-4 3 4 15,4-1 4-15,-1 0-1 0,-3 5 3 16,3-2 4-16,-1-1-2 0,1 2 6 0,3-1 4 0,-1 0-1 16,-1 5-3-16,7-2 2 0,-1 2 2 15,-2 1-5-15,3-2-5 16,2-1 2-16,1 0-2 0,3-3-2 0,5-2 0 16,-1 3-3-16,7-2 2 0,3 0 1 0,2 3-4 15,4-4-2-15,3 1 1 0,2 1-5 16,1 0-3-16,2-5 2 0,2 2-2 15,3-3-4-15,2 0 2 0,2 2-2 0,2-1 1 16,1 0 0-16,4 0 0 0,1 2 0 16,5-1 1-16,2 1 0 0,3-2 2 0,2-1-1 0,3 1 4 15,0-5 2-15,1 0-1 0,2 0 3 16,-2-2 3-16,1 0 0 0,4 1 2 0,1 1 1 16,2 0 0-16,3 0-3 15,1 1-2-15,0-1 2 0,4 2-1 0,-1 0-4 16,1-3 0-16,3-1 0 0,-2 0-2 0,1-1 1 15,2 0 0-15,-2-2-2 0,2-2 0 16,5 2-1-16,-2-2-2 0,-2 0 1 0,3 1 1 0,-2-1-1 0,1 0 0 16,6 0-1-16,-1 0 0 15,0-2 1-15,2 1 0 0,-1-4-2 16,1 1 0-16,9 2-1 0,-3-3 1 16,-1-1 0-16,1 0 0 0,-2 1-1 0,4-1 0 15,4 1 0-15,-5-1 0 0,-3-2 1 0,5 2-1 16,-3-2 0-16,2 0 0 0,2 0 1 15,-7-2 2-15,-2 1-2 0,5-2 2 16,-1 1 2-16,-1-1-1 0,1 2 1 0,-5-4 3 0,1 0-1 16,4 0 0-16,-2-1 0 0,0-2 1 15,2-2-1-15,-4-1 0 0,0-2 1 0,8-1-2 16,-5-2 3-16,-2-2-1 0,0-2 1 16,-4-3 2-16,-1 0-1 0,4-2 4 0,-5-2 1 0,-6 1 0 0,2-4-2 15,-4 1 1-15,-1-1 2 0,1 1-3 16,-4 1-3-16,0 0 0 0,0-2-1 0,-2 1-3 0,-4-3 1 15,1 0 0 1,-2-4-1-16,-2-2-1 0,-1-4 1 0,-4 1 0 16,0-2 0-16,-3-1 1 0,2 2-1 0,-2-1 1 15,1-1-2-15,-5 1 0 0,-2-2 1 0,-2-1 0 0,-3 1-1 16,-2-2-1-16,-3-1 2 16,-4 1 0-16,-4 0 1 0,0-2-2 0,-1 1-1 15,-4-1 2-15,-2-3 0 0,-4 2 0 0,-3 0-1 16,-4-2-1-16,-2 3 1 0,-4-2 0 15,-4-1-1-15,-1 2-3 0,-3 1 1 0,-2-3-1 16,-2 2-1-16,-1 1 1 0,-3-4-2 0,-2 5 0 16,-1-1 0-16,-6-3 1 0,0 4-1 15,-1-2 0-15,-6-1 0 0,0 2 0 0,-3 3 0 16,-5-3-1-16,1 4 1 0,-1 3 0 16,-5 0 0-16,-3 2 3 0,-4 1-2 15,-8 0 3-15,1 1 3 0,-4 2-1 0,-11 2 1 16,1 4 1-16,-7 3 1 0,-11 1 0 15,2 6 0-15,-9 4-1 0,-10 2 0 0,0 4-2 16,-6 3 2-16,-12 4-3 0,1 2-2 0,-1 5 0 16,-12 3-6-16,4 2-28 0,0 5 16 15,-10 4-110-15,6 3-154 0,-3 3 106 0,-14 4-91 0,4-1-122 16</inkml:trace>
  <inkml:trace contextRef="#ctx0" brushRef="#br0" timeOffset="21578.34">11894 8014 446 0,'-2'0'30'0,"2"0"25"15,-1-1 3-15,0 0 27 0,0 1-24 16,1 0 4-16,0 0 5 0,0 0 4 0,0 0-2 16,0 0-5-16,12 2 2 0,-4-2 9 15,0 0 0-15,2-4-5 0,0 2-5 0,2-2 4 16,2 2-14-16,0-3-11 0,2 2 7 0,1-5-14 16,3 2-12-16,1 0 5 0,3 1-12 15,0-1-6-15,1 0 2 0,1-1-4 16,-1 0-6-16,-1 0 1 0,-3 1-5 15,1 1-9-15,-4 1 5 0,-1 1-37 0,-4 2-45 16,-2 0 31-16,-4 1-117 0,-2 1-129 0,-4 0 82 0,-1 1-67 16,-1 0-94-16</inkml:trace>
  <inkml:trace contextRef="#ctx0" brushRef="#br0" timeOffset="21843.94">11977 8085 1046 0,'0'0'79'0,"0"0"-12"0,0 0-1 15,0 0 12-15,0 0-21 0,0 0 1 0,0 0-1 0,0 0-11 16,0 1-10-16,-8 13 12 0,6-10-21 16,0 2-18-16,0-1 6 0,2-1-6 0,0 0-4 15,1 2 0-15,3-3 5 0,2 1 5 16,2-3-4-16,5 1 2 0,2 0 4 15,4-1 1-15,5-1-3 0,3 0-4 0,2-2 1 0,4-1-28 16,0 2-51-16,2-3 34 0,1 1-145 16,-1 0 133-16,-1 0-43 0,4 1-61 15</inkml:trace>
  <inkml:trace contextRef="#ctx0" brushRef="#br0" timeOffset="22159.66">12916 7903 1211 0,'4'-4'117'0,"0"0"5"15,2 0-6-15,0-1 3 0,4 0-21 16,0 1-12-16,2-1 13 0,4 0-29 16,1 1-32-16,1 2 13 0,1 1-21 0,3 2-21 15,-2 1 7-15,1 2-18 0,-2 2-17 0,-1 2 9 16,0 3-39-16,-4 0-39 0,-2 1 23 0,0 1-46 16,-6-1-62-16,1 3 22 0,-4 0-71 15,-2 1 171-15,-6-1-96 0,-3 3-45 0</inkml:trace>
  <inkml:trace contextRef="#ctx0" brushRef="#br0" timeOffset="22314.77">12959 8205 251 0,'-27'19'116'16,"4"1"-11"-16,7 0-6 0,-1 0 10 0,1 1 0 15,6-1 7-15,4-2-12 0,4-2 0 0,3-1 13 0,6-3 5 0,6 1 9 16,6-3 4-16,7-3-9 16,9 0 1-16,6-2 16 0,8-2 1 0,9-1-9 15,4-2-15-15,6 0 13 0,11 0-44 0,1-3-29 31,3 2 20-31,6 0-38 0,0 1-75 0,-4 1 34 0,2 4-238 0,-9 1 183 0,-4 2-36 0,-3 1-61 32</inkml:trace>
  <inkml:trace contextRef="#ctx0" brushRef="#br0" timeOffset="31084.11">15832 8461 583 0,'-7'1'102'0,"3"2"-99"0,3-1 77 0,-3-1 62 0,2-1-25 15,2 0-9-15,-1-1-5 0,1 1 18 16,0-1-23-16,0 0-20 0,3-12 10 0,3 10-16 16,0-1-14-16,3-2 2 0,0-2 2 15,0 0-3-15,1-3 0 0,-2-3-2 16,2 0 1-16,0-2 3 0,2-2-11 0,0-1-7 16,1 0 4-16,-1-4-10 0,1 1-13 0,2-1 6 15,0 1-10-15,0 0-6 0,1 2 3 0,0-2 5 16,0 3 3-16,-3 0-4 0,-1 1 2 15,-1 2 10-15,-1 2-2 0,-2-1 9 16,-2 4-1-16,-4 2-3 0,0-1-1 0,1 4 4 16,-3 0 1-16,0 1-7 0,-1 0-7 0,0 2 3 15,1 3-9-15,0 0-9 0,0-1 4 16,0 1-7-16,0-1-6 0,0 0 1 0,0 0-5 16,0 1-6-16,0 0 3 0,0 0-9 15,0 0 4-15,0 0-3 0,0 0 8 0,0 0 5 16,1 0-6-16,0 0 4 0,9 9 8 15,-7-2 4-15,2-1-4 0,-2 4 1 0,1 1-1 16,-1 4 2-16,-1 0 1 0,0 2 0 16,0 2 1-16,-1-1 0 0,0 3 1 0,-1 1-2 15,-1 1-2-15,1 0 2 0,0 2-3 0,0-1-2 16,0-1 1-16,1 0-1 16,-1-3-1-16,2-1-1 0,0-1-2 0,0-3-4 15,0-3 3-15,0-1-14 0,1-2-17 0,-1 0 11 16,1-2-30-16,0-1-35 0,0-2 19 15,0 1-40-15,0 0-53 0,1-3 24 0,1 1-111 16,0-2-144-16,3 0 89 0,0 0-79 0,2 0-105 16</inkml:trace>
  <inkml:trace contextRef="#ctx0" brushRef="#br0" timeOffset="31496.2">16549 8062 1113 0,'0'-9'300'0,"2"3"-112"0,0 3-100 0,0-1 262 0,-1 0-214 16,1 1 22-16,-2 3-52 16,0 0-39-16,0 0 24 0,0 0-40 0,0 0-34 15,0 0 10-15,0 0-16 0,0 0-11 0,0 0 1 16,-1 11-1-16,-1-3-1 0,0 2-3 16,0 3 4-16,0 2 0 0,2 3 1 0,-4 2 0 15,2 0 0-15,2 3 1 0,-1 1 0 16,1 1 0-16,-2 0-2 0,1 1 2 0,1-1-1 15,0-1 1-15,0-2-5 16,-1-2-12-16,0-2 7 0,-1-1-26 0,2-4-27 0,-1-2 17 16,-2-3-35-16,2 0-53 0,-2-1 22 0,-1-2-80 0,1 0-97 15,0-3 57-15,-1 1-56 0,1-1-68 0</inkml:trace>
  <inkml:trace contextRef="#ctx0" brushRef="#br0" timeOffset="31748.96">16357 8251 1335 0,'-5'-1'207'0,"1"-1"-16"15,3 1-26-15,1 1 20 0,0 0-50 16,0 0-35-16,0-1 22 0,0 0-36 0,7-11-28 0,2 8 7 0,2-1-10 15,4-1-8 1,3 0 4-16,2 0-16 0,2 0-9 16,1 0 9-16,2-1-23 0,0 1-41 0,0 0 22 15,2 0-106-15,-2 0-137 0,1 0 90 16,0 1-78-16,2 1-106 0</inkml:trace>
  <inkml:trace contextRef="#ctx0" brushRef="#br0" timeOffset="32258.53">17057 8062 1527 0,'3'-11'249'0,"-2"1"-114"0,0 2-86 0,0 1 119 15,0 1-43-15,-1-1 25 0,0 3-45 16,0-1-42-16,0 4 13 0,0 1-27 0,0 0-19 15,0 0 7-15,0 0-21 0,0 0-14 0,0 0 9 16,0 0-8-16,-7 10-8 0,5-2-1 16,-1 2 0-16,-2 0 4 0,0 5 0 0,-1 2 1 15,-1 1 1-15,0 2-1 0,-1 4 1 16,-2 0 1-16,0 4 0 0,-1 4 0 0,1 0 1 16,0-1 0-16,0 1 1 0,2-3 1 15,2-3-1-15,2-1 2 0,1-5 1 0,3-5 0 0,3-1 2 16,2-2 2-16,1-4-1 0,3 1 1 15,0-2 1-15,2-4-1 0,1 1 1 16,1-3-2-16,0-1 1 0,1-2-7 0,0-2-7 16,2 1 4-16,-1-2-13 0,-1 0-16 0,0-2 8 0,1 0-25 15,-2 0-31-15,0 1 16 0,0 1-59 16,-3-2-70-16,1 2 42 0,-1-2-152 0,-3 2 227 0,1 3-113 16,-4-3-74-16</inkml:trace>
  <inkml:trace contextRef="#ctx0" brushRef="#br0" timeOffset="32513.33">16865 8274 1108 0,'-3'-1'249'0,"3"1"-102"0,0 0-84 16,0 0 171-16,0 0-112 0,6-10 19 0,1 6-30 16,4-1-37-16,2 0 12 0,1-1-34 15,3 0-20-15,4 0 15 0,-1 1-36 0,1 1-56 16,0 0 28-16,0-1-197 16,2 2 164-16,-2-1-36 0,4 0-60 15</inkml:trace>
  <inkml:trace contextRef="#ctx0" brushRef="#br0" timeOffset="32695.05">17349 8199 1905 0,'0'0'278'15,"0"0"-141"-15,0 0-78 0,0 0 151 0,-1 0-122 0,1-1 29 16,-1 0-50-16,0 0-67 0,0 0 28 0,0 0-177 0,0 0-272 0,1 1 182 15,-2-13-136-15,9 10-211 0</inkml:trace>
  <inkml:trace contextRef="#ctx0" brushRef="#br0" timeOffset="34746.72">17701 8210 1069 0,'2'-4'71'0,"-7"-10"46"0,5 12 4 0,0 2 106 15,0 0-129-15,0 0-1 0,0 0 13 16,0 0-39-16,0 0-25 0,0 0 10 0,0 0-17 16,-12 11-16-16,8-4 5 0,-1 3-10 0,-1 2-6 15,1 2 3-15,-3 0-5 16,2 3-1-16,2 3-1 0,3-1 1 0,0 1 2 0,1-2-2 15,2-4 4-15,0 1 4 0,5-3-2 16,0-1 4-16,1-4 3 0,1-1-1 0,2-1 2 16,3-4 3-16,2 0-1 0,3-2-2 15,-1-3-1-15,3-5 2 0,1 0-5 16,1-4-4-16,-1-3 3 0,2-3-4 0,-2 0 1 0,-2-1-2 16,-1-3 4-16,-4 2 4 0,-3-1-2 15,-4 3 7-15,-4 2 9 0,-4 1-4 0,-3 1 0 16,-4 3 3-16,-4 1 1 0,-1 1-8 15,-4 1-10-15,-3 2 7 0,-3 1-12 16,0 2-8-16,0 1 2 0,-1 2-6 16,1 1-3-16,2 3 0 0,0 0-3 0,5 3-7 15,2 2 4-15,3 0-58 0,4 3-60 0,5 3 47 16,3 2-165-16</inkml:trace>
  <inkml:trace contextRef="#ctx0" brushRef="#br0" timeOffset="35163.03">18044 8388 1388 0,'5'-6'208'0,"0"-3"-17"16,-1 3-20-16,2-2 18 0,-1 0-48 0,0 2-35 15,-1-1 22-15,0 3-40 0,-1-1-33 16,0 2 14-16,-3 3-28 0,0 0-22 0,0 0 9 16,0 0-12-16,0 0-14 0,0 0 4 0,3 10-4 15,-5 0-1-15,1 3-1 0,0 2 0 16,-2 2-5-16,0 3 4 0,-1 2-28 0,1 0-32 16,-2 0 23-16,0 3-80 0,1-2-92 15,-2 1 52-15,1 1-189 0</inkml:trace>
  <inkml:trace contextRef="#ctx0" brushRef="#br0" timeOffset="35660.87">18338 8247 797 0,'5'-5'220'0,"0"-2"-5"16,-2 3-18-16,-1 0 18 0,2 1-64 16,-3-1-22-16,-1 4 26 0,0 0-42 0,0 0-44 15,0 0 13-15,0 0-29 0,0 0-18 0,0 0 9 16,-8 4-19-16,4 3-15 0,-1 2 6 15,0 7-8-15,0-2-7 0,-1 3 1 0,0 2-1 16,-1 1 0-16,2 0 1 0,3 0-2 16,-1-1 1-16,2-7 0 0,0 3 0 0,1-3 0 15,5-1-1-15,1-4 1 0,1 0 1 0,1-3 0 16,1-2 1-16,1-1 4 0,2-1-2 0,2-2 0 16,-1-4 3-16,1-2-1 0,0-3 0 15,1 0-1-15,-1-3 1 0,2-2 0 0,-2-1 3 16,-1-1-2-16,0-1 14 0,-2-1 17 0,-2 1-11 15,-1-3 15-15,-2 2 14 0,-3 2-2 16,-1 0-4-16,-2 1-3 0,-3 4 8 0,-2 0-19 16,-2 1-15-16,-4 5 6 0,0 0-12 15,-2 3-13-15,-1 2 5 0,-3 2-8 16,2 3-7-16,-3 3 1 0,1 3-16 0,2 1-38 0,1 2 24 16,3 4-158-16,2-1-235 0,7 2 159 15</inkml:trace>
  <inkml:trace contextRef="#ctx0" brushRef="#br0" timeOffset="36496.67">18792 8114 1329 0,'-6'-4'158'0,"-2"1"-6"0,1 1-16 16,-2 1 9-16,0 1-27 0,1 0-28 0,1 0 19 0,-2 3-44 15,1 1-32-15,2 1 14 0,-1 2-19 16,5 3-24-16,0 0 4 0,1 4-7 0,0 1 1 16,4 2-2-16,2 3 1 0,3 2 3 0,1 0-2 15,-1 2 1-15,3 1-1 0,-1-4 1 0,3 2-2 16,-3-5-2-16,0-1 1 15,-1-1-3-15,-2-4-3 0,-1-3 1 0,-2-1 1 16,-3 0 0-16,-2-2-1 0,-2 2 3 0,-3-5 3 0,-2 0-1 16,-2-1 1-16,-1 0 4 0,-4-2-1 0,0 0 1 15,-3 0 1-15,-2-3-1 16,0-1 4-16,-1 0 3 0,1-1-2 0,0 0 3 16,4 3 7-16,3-5-3 0,0 0 6 15,6 0 0-15,2 2 0 0,2-1-8 0,5-1-4 16,2 0 6-16,3-5-8 0,3 2-9 15,4 0 0-15,3-2-1 0,4-1-2 16,3-2 1-16,2 0 0 0,3-1 2 0,-1 0 0 0,3 2 0 16,-3 0 2-16,1 1-1 0,-3 0 2 15,-3 3 1-15,-4-1-1 0,-4 3 4 0,-2 1 4 16,-5 0-2-16,-2 0 5 16,-4 2 5-16,-3-1-2 0,-4 0 2 0,-3 1 5 0,0 0-1 15,-4-2 4-15,-2 2 1 0,-1-1-1 16,-3 0-8-16,0 1-2 0,0 1 6 0,-1 0-9 15,2 2-13-15,1 1 4 0,-2 1-6 16,5 2-4-16,0 1 2 0,3 2-25 16,3 0-46-16,3 1 31 0,1 3-131 15,3-1-184-15,6 3 117 0</inkml:trace>
  <inkml:trace contextRef="#ctx0" brushRef="#br0" timeOffset="36983.87">19003 8159 1499 0,'-1'-8'224'0,"0"1"-16"0,-1 0-21 0,0 0 17 0,1 0-45 16,0 2-32-16,-1 0 22 0,1 1-44 0,1-1-31 15,2 2 13-15,0 0-28 0,3 1-23 0,1 1 9 16,4-1-16-16,0 1-16 0,2 1 6 16,1 1-10-16,2 1-6 0,-1 0 3 15,2 3-3-15,-2-1-3 0,-1 2 1 0,1 0-4 16,-2 2-6-16,-1 0 3 0,-4 0-8 15,1 2-9-15,-3-1 4 0,-3 2 0 16,-2-1-4-16,-2 1-3 0,-3 2 6 0,-3 0 4 16,-1 0-1-16,-3 3 3 0,-3-2 6 0,0 3-2 15,-1-1 3-15,-1 2 4 0,1-1-1 0,-2-1 1 16,1 1 1-16,-1-1 1 0,5 0-4 16,0-4-1-16,2 0 1 0,2 0-3 0,1-3-3 15,6-1 1-15,3 0 7 0,3-3 3 16,3 0-4-16,4-2 4 0,1 0 6 0,3-3 0 0,4 1-4 15,2-1-14-15,0-2 9 0,2-3-54 16,0-1-54-16,1-1 37 0,3-1-117 16,0 0-202-16,-1 0 110 0</inkml:trace>
  <inkml:trace contextRef="#ctx0" brushRef="#br0" timeOffset="37411.72">19543 8176 1108 0,'0'0'239'0,"0"0"-19"0,0 0-23 0,0 0 37 0,0 0-86 0,0 0-21 0,0 0 26 0,9-9-47 0,-2 6-46 16,4 0 18-16,1 0-31 16,1 0-25-16,1 0 9 0,3 0-16 15,-1 1-13-15,0-1 5 0,-1 1-43 16,-1 1-47-16,0-1 33 0,-1 1-99 0,-4 1-127 16,-2 0 70-16</inkml:trace>
  <inkml:trace contextRef="#ctx0" brushRef="#br0" timeOffset="37585.25">19423 8383 566 0,'-6'2'256'15,"8"1"-14"-15,2-1-24 16,-2-1 34-16,4-1-84 0,6-1-11 0,3-2 20 16,5 1-40-16,2-3-44 0,3-2 15 0,4 0-35 15,2-1-32-15,0 2 16 0,5-2-30 16,-3 0-44-16,-3-1 19 0,2-2-157 15,-3 3-233-15,0-3 159 0</inkml:trace>
  <inkml:trace contextRef="#ctx0" brushRef="#br0" timeOffset="38125.87">20229 8078 1727 0,'6'-2'137'0,"0"-2"-2"16,1 1-6-16,4-1 6 0,2-2-24 16,2 1-11-16,3-1 12 0,3 0-32 15,3 4-26-15,1-1 15 0,1 0-27 16,-3 3-27-16,-2 0 9 0,-1 3-13 0,-3 2-13 0,-4 0 3 15,-5 1-13-15,-3 3-10 0,-3 0 6 0,-3 1-3 16,-4 2-6-16,-4 1-1 0,-8 1 5 16,-2 1 8-16,-4 3-3 0,-5 1 6 15,-4 1 6-15,-2 3-2 0,-4 4 3 16,-1 0 2-16,2 0 0 0,-1 0 4 0,7-2 4 16,3-1-3-16,5-2 5 0,7-5 6 15,6-3-3-15,8-2 13 0,4-1 6 0,10-3-5 16,5 1-3-16,6-4 5 0,6-2 3 15,7-2-8-15,3-2-14 0,6-4 6 16,4 0-9-16,0-3-6 0,3-2 3 0,3-1-12 16,-1 0-40-16,-3 0 25 15,3 0-147-15,-6 0-212 0,2-2 145 0</inkml:trace>
  <inkml:trace contextRef="#ctx0" brushRef="#br0" timeOffset="39785.36">15687 7747 941 0,'-19'-18'62'16,"-7"-11"81"-16,10 13 9 0,0-2 88 0,-3-2-89 16,4 3 1-16,0 0 23 0,0 1-45 15,3 1-33-15,3 4 16 0,-2 0-37 16,4 2-32-16,1 4 15 0,2-1-25 0,1 2-29 16,3 4 10-16,0 0-20 0,0 0-12 0,-6 13 5 0,6 1 4 15,2 5-3-15,-1 5-7 0,3 8 8 16,-3 3 10-16,3 7 0 0,0 9 1 15,-1 2 2-15,-1 6-1 0,-2 5 1 16,0 3 3-16,-1 3 0 0,1 6-2 0,-3-4 1 16,-1-3 0-16,0 2 1 0,1-5 0 15,0-4-1-15,0 1 6 0,-1-10 6 0,2-4-5 16,0 2 3-16,0-9 1 0,0-5 3 0,1-2-4 16,1-7-6-16,1-4 2 0,-1-3-3 0,3-4-5 15,1-4 1-15,2-1 1 0,0-4-1 16,0-1-1-16,3-1 0 0,1-2-2 0,3-2 1 0,1-1-1 15,2-1-2-15,2-1 0 0,5 0-1 16,2-3 0-16,1 1-1 0,1-2 1 16,2 1 0-16,0 0-1 0,4-1 3 0,-1 0-1 15,2 2-1-15,2-1 1 0,2-1 0 0,6 3 1 16,4-2 0-16,-1 2 0 0,5-1-1 16,4 0 1-16,1 2-1 0,4 0 1 0,4-1 0 15,-3 1 0-15,1 0-1 0,11 1 1 16,-3 0-1-16,3 1 0 0,5 1 1 0,-4-1 0 15,3 2-1-15,5 0 1 0,-2 1 0 0,-2 0 0 0,5 3 0 16,-2-1 2-16,1 1 0 0,2 2 2 0,-3 0 1 16,2 0-1-16,2 2 4 15,-4 0 1-15,-1-1 0 0,5 1 0 16,-4-2 1-16,1 1 0 0,6-1-1 0,-5-1 1 0,4-2-1 16,4 1 2-16,-2-1 2 0,2-2-1 15,6 1-1-15,-3-2 3 0,2-1 0 16,8-1-3-16,-6 1-2 0,4-2 1 0,9 0-2 15,-8-2-3-15,1-1 1 0,8-1-1 0,-7-2-1 16,-3 0 0-16,7-3 0 0,-9-1 0 16,-5 1 0-16,4-1 2 0,-8 2 2 0,-5-2-2 15,0 0 0-15,-8 2 1 0,-5-1 1 0,-1 1-1 0,-9 1-3 16,-6 0 0-16,-2-1 0 16,-11 3-1-16,-7 0 1 0,-4 0 0 0,-8 2 0 0,-6 0 0 15,-6 1 4-15,-4-1 6 0,-3 1-4 0,-4 1 7 16,-3-2 4-16,-2 1-2 0,0-1-3 0,0 0-1 0,-3-2 4 0,0 0-7 15,-3-1-6-15,3-1 0 16,-2-1-1-16,0 0-2 0,3-2 1 0,-3-3-1 16,3 0 0-16,0-2 0 0,4-2-2 15,-3-2 0-15,3-3 0 0,5-6 0 0,-3-1 0 16,4-2-1-16,2-3 0 0,2-1 0 0,-1-1 1 16,4-6-1-16,0 3 0 0,-2-1 0 0,3-4 0 15,2 0 0-15,1 1 0 0,-1-4 0 0,0 3 0 0,-1 1-1 0,1-1 1 16,-2 0 2-16,-2 2-1 15,-3-4 0-15,-1 4 2 0,-3 2-1 0,0-3 0 16,-1 4 1-16,-2 2-1 0,2 3 0 16,-2 2-2-16,0 2 1 0,0-2 0 15,0 2-1-15,-2 2 0 0,2 0 0 16,0 2 0-16,0 2-1 0,-1-1 1 0,1 6-1 0,1 2 0 0,0 2 1 16,0 2 0-16,-1 1-1 0,1 1 1 15,-2 2 1-15,1 3 0 0,-2-1 1 0,0 1-1 16,-2 1 1-16,-1 0-1 15,-1 2 0-15,-2-1 0 0,-3 0-1 0,-2-1 0 16,-4 1 0-16,-3 1 0 0,-5-2 0 0,-4 4 0 16,-2-4-1-16,-5 2 0 15,-6-1 1-15,-6 1 0 0,-2-1 1 0,-6-1-1 16,-7 2 0-16,-3-1 0 0,-9 0 0 16,-8 0 0-16,1 1 0 0,-8-1 0 0,-6 3 0 15,-1 0 1-15,-6 0-1 0,-8-2 2 0,1 1 2 0,-4 1-1 16,-10-1 4-16,3 1 7 0,-7-3-4 0,-8 0 7 15,2 0 9-15,-2 2-4 0,-10-2 1 0,2 0 2 0,-5-2 3 0,-10 0-4 16,4-1-2 0,-9 1 1-16,-9-3-6 0,-3 2-1 0,-5 1 2 15,-16 0-5-15,-2 3-4 0,-5 3 2 0,-20 3-4 0,-1 4-2 16,-5 5 0-16,-15 2-4 16,2 1-9-16,-2 1 5 0,-9 2-59 0,8-1-104 15,6-1 71-15,4 2-406 0,6-5 383 0,19-10-117 16,1-6-139-16</inkml:trace>
  <inkml:trace contextRef="#ctx0" brushRef="#br0" timeOffset="44936.4">17596 9682 862 0,'-1'-9'57'16,"2"2"66"-16,0-1 16 0,-1 0 71 15,0 0-66-15,3 0 0 0,-3 0 18 0,-8-12-23 16,11 12-20-16,-3 1 11 0,2-1-21 16,-1 0-13-16,2 2 6 0,0-1-26 0,0 2-18 15,-1 1 14-15,-2-2-30 0,0 6-29 0,0 0 14 16,0-1-22-16,0 0-15 0,0 1 4 16,0 0-3-16,0 0-4 0,1 3 1 0,-2 4 6 15,-2 1 2-15,1 2-2 0,-2 2 2 16,2 1 2-16,-1 3 0 0,1 3 1 15,-1 3 1-15,-1 3-1 0,1 2 1 0,0 0 1 16,2 3-1-16,0-1 1 0,1 0 0 0,0-1 0 16,3 0-1-16,2-5 0 0,2 0 0 15,2-3-4-15,-2-1-4 0,3-3 3 0,-1 0-8 16,1-3-10-16,1-1 5 0,0-2-7 16,-1-2-9-16,0-3 3 0,2-2-4 0,-1-3-8 15,1-1 2-15,-2-4-14 0,2-2-20 16,-3 0 14-16,1-2-34 0,-1-1-48 0,1 1 24 0,-2-1-114 15</inkml:trace>
  <inkml:trace contextRef="#ctx0" brushRef="#br0" timeOffset="45201.81">17413 9848 1233 0,'2'0'93'0,"2"-2"-1"0,1-1 0 0,2 1 3 16,2-2-8-16,2-1 4 0,3-1-3 0,6-3-6 15,1 1-13-15,5-2 10 0,1 1-28 0,4-1-24 16,0 1 14-16,2-1-32 0,0 0-40 0,-2 4 17 15,2 0-92-15,-2 0-115 0,1 2 75 0</inkml:trace>
  <inkml:trace contextRef="#ctx0" brushRef="#br0" timeOffset="45436.22">18205 9765 1775 0,'6'-8'50'0,"4"0"-3"16,-1 1-4-16,0 1 8 0,1 0-27 16,1 0-1-16,-1 2 6 0,1-2-20 0,0 2-27 0,-2 1 14 15,1 0-50-15,-2 0-45 0,-2-1 27 16,2 1-82-16,-3-1-97 0,2 2 51 0</inkml:trace>
  <inkml:trace contextRef="#ctx0" brushRef="#br0" timeOffset="45603.24">18087 9849 992 0,'-1'5'199'15,"3"1"-81"-15,0-3-72 0,3-1 122 0,2 0-48 0,5-2 13 16,3 0-32-16,3-2-32 15,2-3 15-15,4-1-30 0,1 0-27 16,2 2 11-16,0-3-22 0,-2 0-25 0,0 0 10 16,-2 0-84-16,-1 0-112 0,-1 0 75 0</inkml:trace>
  <inkml:trace contextRef="#ctx0" brushRef="#br0" timeOffset="46116.08">19360 9556 710 0,'10'-21'369'0,"4"-2"-93"0,1 0-60 0,0-2 113 0,3-3-202 0,2 0-20 16,0 0 10-16,1-2-30 0,-2 3-26 15,-1 1 16-15,-1 2-30 0,-1 3-25 0,-3 4 9 16,-1 3-13-16,-3 3-10 0,-3 4 1 0,0 0-2 16,-2 3-5-16,-4 4 3 0,0 0-9 15,0 0-5-15,0 0 4 0,0 0-1 0,-10 5-6 16,5 1-3-16,-1 2 5 0,0 2 2 15,-1 2 0-15,1 3 2 0,0 3 0 16,1 3-1-16,0 5-1 0,-1 4-9 0,2 2 6 16,0 3-28-16,0 0-42 0,0 2 28 0,1 0-71 15,-1-1-76-15,0-3 40 0</inkml:trace>
  <inkml:trace contextRef="#ctx0" brushRef="#br0" timeOffset="46448.45">18766 9905 1439 0,'-7'-1'176'0,"3"1"-88"0,2 0-55 16,2 0 97-16,0 0-45 0,0 0 11 0,0 0-36 15,0 0-19-15,0 0 18 0,9-8-23 16,-1 6-19-16,3 0 2 0,5 0-3 16,3 0 3-16,5 0-1 0,7-1 1 0,4 1 3 15,4 0-1-15,4-1 2 0,3-1 3 0,4-1-1 16,7-1 1-16,0 0 5 0,2 0-1 0,6-2 5 16,3 4 9-16,3 0-5 0,4 1 0 0,1 0 2 15,-2 1 3-15,2 2-14 0,-3 0-16 0,-3 3 12 16,2-3-45-16,-7 1-44 0,-3 1 27 0,1 0-78 15,-4-2-90-15,-5 0 48 0,3 0-209 16</inkml:trace>
  <inkml:trace contextRef="#ctx0" brushRef="#br0" timeOffset="47117.8">18602 10306 1147 0,'-1'-1'109'0,"-2"1"-3"0,-1 0-13 0,-1 1 6 0,-3 1-25 16,1 1-21-16,-3 2 15 0,0 1-19 15,-2 2-20-15,2 2 2 0,0 1-7 0,0 0-1 16,2 4 3-16,3 0-5 0,2 1-2 0,2 0 1 15,2 1 0-15,4-1 1 0,3 1 0 16,5-3-2-16,1-2 3 0,7-2 0 16,3-4 2-16,1-4 0 0,4-2-1 0,2-5-2 15,-1-4 1-15,1-4 3 0,3-4-4 16,-5-2-1-16,-2-1 0 0,-1 0 5 16,-3-2 6-16,-5 2-4 0,-2 0 2 0,-6 4 7 0,-5-1 0 15,-3 2-7-15,-5 1-6 0,-5 2 5 0,-2-1-11 16,-4 2-9-16,-2 2 4 0,-2 1-9 15,-1 3-7-15,0 4 3 0,-2 1-7 16,3 5-12-16,0 2 7 0,0 3-26 0,3 2-29 16,3 2 18-16,0 5-87 0,4 0-107 0,3 3 66 15</inkml:trace>
  <inkml:trace contextRef="#ctx0" brushRef="#br0" timeOffset="47371.44">18965 10520 1830 0,'5'-8'116'16,"1"1"-28"-16,-1 2-24 15,0 1 27-15,-3-1-46 0,0 4-30 0,-2 1 8 0,0 0-10 16,3 8-12-16,-3 0 0 0,-4 1 0 15,-1 3 1-15,2 4-1 0,-3-1 0 0,1 3-1 16,-1 1 1-16,-3 2-2 0,1 0-7 0,2 1 3 16,0 3-59-16,1-1-52 0,0 2 39 0,3-1-97 15,-1-3-139-15,3-2 61 0</inkml:trace>
  <inkml:trace contextRef="#ctx0" brushRef="#br0" timeOffset="47765.97">19208 10443 943 0,'-3'-3'226'0,"0"1"-94"0,1 1-67 15,2 1 187-15,0 0-172 0,0 0 24 0,0 0-49 16,-1 0-27-16,0 1 16 0,-11 13-22 0,10-5-17 15,0 3 1-15,1 2-3 0,1 1-3 0,0 1 0 16,0 4-1-16,3-3-2 16,0-1 0-16,3 0 1 0,0-3 0 0,2-2-1 0,0-2 4 0,3-2 5 15,1-4-3-15,1-2 8 0,1-1 8 16,1-3-5-16,3-2 2 0,-1-4 6 16,-1-2-2-16,2-3 8 15,-1-1 3-15,-2-2-3 0,-1-2 13 0,-3-1 17 0,-2 0-8 16,-5-1 3-16,1 1 8 0,-5 0 4 0,-5-1-10 15,-1 2-13-15,-3 2 9 0,-4 0-17 16,-1 3-11-16,-1 1 5 0,-4 2-11 0,2 4-11 16,-2 3 4-16,-1 4-8 15,1 0-14-15,0 6 7 0,0 2-38 16,2 3-41-16,2 2 30 0,2 3-121 0,3 0-190 0,6 4 122 16</inkml:trace>
  <inkml:trace contextRef="#ctx0" brushRef="#br0" timeOffset="48541.73">19746 10245 1031 0,'1'-1'119'0,"-1"1"-66"0,0 0-32 0,0 0 63 0,0 0-34 0,0 0 5 0,-10-3-1 16,3 4 5-16,1 0-6 0,1 0 2 16,0 2 6-16,-1-1 1 0,0 0-6 15,-2 0-4-15,2 1 5 0,-2 0-8 0,1 1-7 0,0 2 2 16,0 0-11-16,2 1-7 0,-1 2 7 0,3 2-11 15,2 2-9-15,2 2 2 0,1 1-5 16,2 3-4-16,0 0 2 0,2 3-1 0,0 1-1 16,4-1 1-16,-1 1-3 0,0-1 1 0,1-3 0 0,-3-1-2 15,2-1-2-15,0-4 1 0,-3-3-2 16,-1-1-3-16,-1-3 2 0,-1-1 1 0,-1-1 0 16,-1-1 0-16,-1-3 3 0,0 0 3 0,0 0-1 15,-13 2-2-15,5-3 1 0,-2-1 1 16,-3-1-1-16,-2-1-2 0,0 0 0 0,-2 0 0 15,3 0 1-15,-1 0 0 0,1 1-1 16,1-2 0-16,3 1 1 0,1 1-2 0,3-1-1 0,2-1 0 16,3-1-3-16,1-2-3 0,6 1 2 15,3-2-2-15,1-2-4 0,5-1 0 16,4-2-1-16,1-1 0 0,0-1 1 16,4 1 3-16,-2-1 0 0,2-1-2 0,1 1 5 15,-2 0 3-15,-3 1-1 0,1 1 5 16,-2 2-1-16,-5-1 1 0,0 2-1 0,-4 2 2 0,-4 0-1 15,-1 0 7-15,-3 3-2 0,-4-2-3 0,-3-2 3 16,-1 3 3-16,-4 0 0 0,-2 0 1 16,-2 0-1-16,-3 0-1 0,0-1-2 0,-1 3 0 15,2 0 1-15,-2 1-4 16,2 3-4-16,2 1 2 0,-1 1-3 0,4 4-4 0,-2 1 0 16,4 1-12-16,2 3-25 0,2 1 16 0,1-1-104 15,4 2-105-15,3 0 70 0</inkml:trace>
  <inkml:trace contextRef="#ctx0" brushRef="#br0" timeOffset="48932.64">19936 10328 821 0,'6'-11'382'0,"5"0"-109"16,-2 2-72-16,2 0 124 0,1 0-222 0,1 3-41 16,1 0 14-16,1 2-25 0,0 0-27 15,-3 1 9-15,0 2-16 0,-1 1-11 0,0 1 5 16,-4 1-5-16,-1 3-5 0,-2 0 0 0,-3 1-1 0,0 2 1 16,-1 1 0-16,-4 1 0 15,-3 2 1-15,-1 0-1 0,-4 2 1 16,1 0-1-16,-3 4 0 0,-2 2-1 0,-1-1 0 15,0 3 0-15,0 1 0 0,1 0-1 0,2-2 0 16,1 3-1-16,3-3 1 0,5-3 0 0,1-1 0 16,4-2 0-16,5-1 0 0,3-1 1 15,5-2 1-15,3-3 0 0,5-2 1 16,1-1 2-16,6-3-1 0,4-2-1 0,2-2 0 16,0-3 0-16,3-3 0 0,0-3-1 15,0 0-1-15,3-3-6 0,-5 2-37 0,-1-1 23 16,3 2-181-16</inkml:trace>
  <inkml:trace contextRef="#ctx0" brushRef="#br0" timeOffset="54345.95">20572 9839 1215 0,'3'-5'184'16,"1"2"-180"-16,0-1 81 0,-1-1 195 0,3 3-182 0,-8-15-8 16,11 14-1-16,1-1 6 0,1-3-17 15,2 1-16-15,1-1 12 0,2-2-27 16,0 1-21-16,1 2 11 0,1-1-18 16,-1 0-21-16,-2 1 5 0,-1-1-41 0,-1 2-46 15,-2 2 31-15,-1-2-52 0,-3 2-59 0,-5 0 23 16,-2 3-35-16,0 0-19 0,0 0 1 0,-6 0 3 15,-1 3-10-15,-5 1 2 0,-1 4-5 16,-57 42 207-16,73-57-345 16,-19 23 294-16,1-2 109 0,1 0 25 0,0-1-62 15,1 2 95-15,2-2 42 0,2-1-14 0,-1-2 14 16,4-1 15-16,2-4 4 0,2 1-12 0,2-3-16 0,2-1 12 16,2-2-36-16,2 0-26 0,4 0 16 15,1-3-24-15,2 1-26 0,0 0 6 0,1-2-13 16,3-2-8-16,-2 0 4 0,4 1-14 0,-2 0-10 0,-2 0 7 15,4-2-15-15,-3 1-14 0,0 1 6 0,-1 1-24 16,1 0-43-16,-3-1 27 0,0 0-135 16,2 1-144-16,-1 1 99 0,2 1-94 15,2-2-123-15</inkml:trace>
  <inkml:trace contextRef="#ctx0" brushRef="#br0" timeOffset="54742.42">21210 9982 1590 0,'-9'-7'86'0,"3"-2"1"0,4-1 2 0,3 0-2 0,1-3 7 15,3-1-25-15,6-2-2 0,2-4 8 0,5-3-17 16,3-1-16-16,3-3 5 0,4-4 8 16,3 2-3-16,1-3-5 0,3 2-4 0,-2 1 10 15,-3 4 4-15,-2 0-3 0,-5 5-10 16,-4 5-1-16,-2 3 0 0,-7 5-1 0,-5 0 2 16,-1 3-12-16,-4 4-9 0,0 0 9 15,-6 2-13-15,-2 2-14 0,-3 2 5 0,-2 4-8 16,2 1-3-16,-2 4 0 0,-1 3 1 15,1 3-1-15,0 6-1 0,3 4 1 16,1 1 1-16,0 2 0 0,1 3-13 0,2-1-25 16,2-1 18-16,3 2-88 0,1-4-91 0,2-3 61 15,4 1-208-15,1-5 255 0,3-4-125 16,2-5-102-16</inkml:trace>
  <inkml:trace contextRef="#ctx0" brushRef="#br0" timeOffset="55124.81">21599 9826 495 0,'3'-14'187'16,"4"4"-49"-16,-2-1-92 0,2 0 118 16,0-2 14-16,2 4 9 0,3-2-23 15,-1 0-25-15,-2-2 11 0,3 1-27 16,0 2-17-16,0-1 12 0,1 2-31 0,0-1-19 0,1 2 10 15,1 0-21-15,0 3-20 0,-3-2 7 0,1 3-15 16,-2 0-12-16,0 2 5 0,-1-1-10 16,-3 2-8-16,-2 1 3 0,-1 1-2 15,3 4-5-15,-4-1 0 0,-1 3 2 0,-2 1 0 0,0 1-1 16,-2 3 2-16,-3 0-1 0,1 2 1 0,-6 2 0 16,3 0-1-16,-3 3 0 0,-1-1 0 0,0-1 1 15,-1 2-1-15,1 1 0 0,-2-1 1 16,0-3 0-16,0 3 1 0,2-5 1 0,0 1-1 15,1 0-1-15,2-2 2 0,2-1 0 0,0-1-1 16,2-2-2-16,3 1 2 0,0-1-3 0,2-2-1 16,3-1 1-16,1-1-17 0,2-2-35 0,1-2 22 15,4-1-97-15,0-3-95 0,2-2 61 16,4-1-67-16,0-2-81 0</inkml:trace>
  <inkml:trace contextRef="#ctx0" brushRef="#br0" timeOffset="55321.24">21992 9926 959 0,'-4'4'263'16,"1"-1"-103"-16,-1 0-84 0,-1 0 213 15,2 0-178-15,1 0 24 0,1 2-46 16,1 0-34-16,0 2 15 0,0 1-22 16,0 3-13-16,3 2 2 0,-1 2-10 0,0 2-4 15,0 1 3-15,-2 1-6 0,-1 0-9 0,3 2 6 16,-1-2-17-16,1 0-18 0,0-4 11 0,-1 2-71 15,1-3-97-15,1-1 65 0,0-1-55 16,0-2-76-16</inkml:trace>
  <inkml:trace contextRef="#ctx0" brushRef="#br0" timeOffset="55848.6">22235 9662 1683 0,'-5'-9'186'0,"4"-1"-20"16,1 3-18-16,-1-1 18 0,1 0-29 16,0 2-34-16,4 1 13 0,3-1-27 0,-3 1-21 0,6 1 12 15,2 1-23-15,3 0-22 0,2 2 9 16,4 1-17-16,-2 0-14 0,-1 4 5 15,1 1-9-15,-1 2-6 0,-3 1 0 0,-2 3-3 16,-3-1-6-16,-2 3 3 0,-2 2-6 16,-4-1-3-16,-2 1 1 0,-3 2 0 0,-4-1 2 0,-3 1-4 15,-5 1 7-15,-1-1 3 0,-2-1-1 0,-3 1 3 16,0-1 2-16,-3 0 0 0,-1-1 4 16,1-2 3-16,2 0-3 0,0-2 4 0,5-1 2 15,3-1-1-15,2-1-1 0,6-2-1 16,4 0 1-16,5-2-3 15,5-1-4-15,4-1 2 0,3 1-20 0,6-2-35 16,2-2 24-16,4-1-125 0,1-1-128 0,-1-2 86 16,4 1-86-16,-4-1-110 0</inkml:trace>
  <inkml:trace contextRef="#ctx0" brushRef="#br0" timeOffset="56257.6">22490 9927 470 0,'7'0'208'0,"-1"-1"-47"0,2 0-106 0,0 0 160 15,0-1-10-15,2-1 7 0,1 0-27 16,-2-2-27-16,1 1 19 0,2 0-31 0,-3-1-31 0,1-1 10 0,-2 0-26 16,1 0-21-16,-1-1 13 0,2 1-24 15,0 0-26-15,-6-2 11 0,1-2-17 16,3 2-14-16,1-1 5 0,-3-1-9 15,1 2-6-15,-4-3 3 0,0 4-5 0,4-1-3 0,-7 3 2 0,1-2-2 0,0 2-3 16,-1 5 1 0,0 0-4-16,0 0-3 0,0 0 3 0,-1 0-3 15,-10-1-3-15,3 6 1 0,-2 0 0 16,-1-1 2-16,-2 5-1 0,1 0 0 16,-2-1 1-16,0 4 1 0,0-3 2 15,0 2 1-15,3 1-1 0,-1 1 1 0,2-1 3 0,3 0 0 16,1 1 1-16,2-1-1 0,3-1-1 0,2 0 1 15,2 0-1-15,5-2 0 0,1 0 1 16,2-2-2-16,2-3 0 0,2-1-8 16,2-3-8-16,2-1 5 0,3-4-32 0,-1-1-51 15,1-2 32-15,0-3-100 0,-2 1-101 0,2-2 60 16,-2 0-66-16,-1 0-71 0</inkml:trace>
  <inkml:trace contextRef="#ctx0" brushRef="#br0" timeOffset="56475.77">22887 9441 1806 0,'0'0'126'0,"0"0"-39"0,0 0 26 0,0 0-48 0,0 0-41 0,-5 9 16 0,4-1-20 15,-2 4-17-15,0 1 0 0,1 4-6 16,0 0-40-16,0 1 24 0,1 2-127 16,1 1-176-16,0-2 118 0,3 0-100 0,0-3-143 0</inkml:trace>
  <inkml:trace contextRef="#ctx0" brushRef="#br0" timeOffset="56841.01">23005 9636 1841 0,'-4'0'113'16,"-2"0"-44"-16,-1 0 23 15,1 1-42-15,2 2-32 0,-1 0 12 0,0 0-17 0,5 1-13 0,-1 0 2 16,2 0-2 0,4 0 0-16,-1 1-1 0,3 1 0 15,4 0 1-15,1 0 0 0,-1 2-1 0,0-1 1 16,1 1 0-16,-1 0 5 0,1-1 8 0,-4-1-5 15,-1-1 8-15,-2 0 13 0,1-4-4 0,-1 0 15 16,-2-3 9-16,0-1-4 0,1-3-9 0,0-1 1 0,0-2 7 16,0-2-9-1,1-1-17-15,-1-3 4 0,0 0 2 0,1 0 5 16,1-1-6-16,-1-2 9 0,2 2 15 0,1-1-5 0,5-2 1 16,1 1 0-16,2 0 4 0,4 0-14 0,-1 2-10 15,2-1 8-15,3 2-15 0,-3 1-12 16,2 3 4-16,0 4-15 0,0 1-45 15,-2 4 28-15,1 2-199 0,-1 1-256 0,0 5 181 0,1 3-153 16,-4 0-218-16</inkml:trace>
  <inkml:trace contextRef="#ctx0" brushRef="#br0" timeOffset="57345.16">21438 10591 682 0,'-3'0'385'15,"3"0"-113"-15,0 0-66 0,0 0 125 0,7-9-198 0,5 7-20 0,2-6-3 16,8 0-8-16,1-1 8 0,6-3 5 0,6-3-16 15,0 0-15-15,6-1 10 0,6-4-22 16,2 2-16-16,5-3 10 0,7-1-17 16,3 2-12-16,5 0 4 0,8-2-11 0,1 1-7 15,1 1 4-15,11-1-8 0,-3-1-7 0,2 2 3 16,6-5-7-16,-5 3-3 0,-3-2 2 0,-1-2-7 16,-6 2-5-16,-12-2 2 0,-3 3-16 15,-10 1-18-15,-15 4 11 0,-4 1-34 16,-9 4-39-16,-9 4 20 0,-6 2-68 15,-12 7-53-15,0 0 29 0,-6-4-17 0,-6 9-42 16,-8 1-3-16,-4 0-21 0,-4 4-25 0,-7 1 26 16,-5 4-21-16,-2 0-29 0</inkml:trace>
  <inkml:trace contextRef="#ctx0" brushRef="#br0" timeOffset="57637.29">21440 10770 1643 0,'-17'6'109'16,"-1"2"-4"-16,6 0-10 0,1-2 9 0,0 0-27 16,5 1-15-16,3-3 12 0,2 2-12 15,5-2-13-15,4-3 1 0,5-1 3 0,7-1 7 0,7-3-4 16,8-5 4-16,5-2 7 0,9-4-1 0,11-3 0 15,4-3-1-15,10-3 0 0,8-5-8 16,6 1-5-16,3-1 6 0,10-3-8 0,2 0-9 0,0-2 2 16,8-2-4-16,-4 0-5 0,3 2 4 0,0-2-12 15,-4 4-9-15,-7 1 6 0,-1 1-33 16,-6 4-56-16,-10 3 34 0,-3 0-204 0,-15 4-315 16,-9 1 207-16,-5-4-168 0,-6 0-235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txBody>
          <a:bodyPr/>
          <a:lstStyle/>
          <a:p>
            <a:endParaRPr lang="hu-HU"/>
          </a:p>
        </p:txBody>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20177989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txBody>
          <a:bodyPr/>
          <a:lstStyle/>
          <a:p>
            <a:endParaRPr lang="hu-HU"/>
          </a:p>
        </p:txBody>
      </p:sp>
      <p:sp>
        <p:nvSpPr>
          <p:cNvPr id="52" name="Shape 5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868996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txBody>
          <a:bodyPr/>
          <a:lstStyle/>
          <a:p>
            <a:endParaRPr lang="hu-HU"/>
          </a:p>
        </p:txBody>
      </p:sp>
      <p:sp>
        <p:nvSpPr>
          <p:cNvPr id="59" name="Shape 5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862347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Shape 3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txBody>
          <a:bodyPr/>
          <a:lstStyle/>
          <a:p>
            <a:endParaRPr lang="hu-HU"/>
          </a:p>
        </p:txBody>
      </p:sp>
      <p:sp>
        <p:nvSpPr>
          <p:cNvPr id="320" name="Shape 3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5087328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Shape 9"/>
        <p:cNvGrpSpPr/>
        <p:nvPr/>
      </p:nvGrpSpPr>
      <p:grpSpPr>
        <a:xfrm>
          <a:off x="0" y="0"/>
          <a:ext cx="0" cy="0"/>
          <a:chOff x="0" y="0"/>
          <a:chExt cx="0" cy="0"/>
        </a:xfrm>
      </p:grpSpPr>
      <p:pic>
        <p:nvPicPr>
          <p:cNvPr id="2" name="Kép 7">
            <a:extLst>
              <a:ext uri="{FF2B5EF4-FFF2-40B4-BE49-F238E27FC236}">
                <a16:creationId xmlns:a16="http://schemas.microsoft.com/office/drawing/2014/main" id="{F9221921-C9D0-1EF4-E78F-90498E3E2951}"/>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643E030D-24F2-E730-2967-9596CC7FD9B1}"/>
              </a:ext>
            </a:extLst>
          </p:cNvPr>
          <p:cNvSpPr/>
          <p:nvPr userDrawn="1"/>
        </p:nvSpPr>
        <p:spPr>
          <a:xfrm>
            <a:off x="1256371" y="654205"/>
            <a:ext cx="2765502" cy="3940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sp>
        <p:nvSpPr>
          <p:cNvPr id="4" name="Rectangle 3">
            <a:extLst>
              <a:ext uri="{FF2B5EF4-FFF2-40B4-BE49-F238E27FC236}">
                <a16:creationId xmlns:a16="http://schemas.microsoft.com/office/drawing/2014/main" id="{4FB186BD-FAC2-A6E4-E445-B7C9A548EAAA}"/>
              </a:ext>
            </a:extLst>
          </p:cNvPr>
          <p:cNvSpPr/>
          <p:nvPr userDrawn="1"/>
        </p:nvSpPr>
        <p:spPr>
          <a:xfrm>
            <a:off x="182880" y="278674"/>
            <a:ext cx="3396343" cy="11756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pic>
        <p:nvPicPr>
          <p:cNvPr id="5" name="Picture 4" descr="A black background with white text&#10;&#10;AI-generated content may be incorrect.">
            <a:extLst>
              <a:ext uri="{FF2B5EF4-FFF2-40B4-BE49-F238E27FC236}">
                <a16:creationId xmlns:a16="http://schemas.microsoft.com/office/drawing/2014/main" id="{58B9DF5A-C0B8-F245-FE63-514F0F71839A}"/>
              </a:ext>
            </a:extLst>
          </p:cNvPr>
          <p:cNvPicPr>
            <a:picLocks noChangeAspect="1"/>
          </p:cNvPicPr>
          <p:nvPr userDrawn="1"/>
        </p:nvPicPr>
        <p:blipFill>
          <a:blip r:embed="rId3"/>
          <a:srcRect l="3199" t="7736" r="-4087" b="-5379"/>
          <a:stretch/>
        </p:blipFill>
        <p:spPr>
          <a:xfrm>
            <a:off x="0" y="1"/>
            <a:ext cx="9144000" cy="17767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Shape 9"/>
        <p:cNvGrpSpPr/>
        <p:nvPr/>
      </p:nvGrpSpPr>
      <p:grpSpPr>
        <a:xfrm>
          <a:off x="0" y="0"/>
          <a:ext cx="0" cy="0"/>
          <a:chOff x="0" y="0"/>
          <a:chExt cx="0" cy="0"/>
        </a:xfrm>
      </p:grpSpPr>
      <p:pic>
        <p:nvPicPr>
          <p:cNvPr id="4" name="Kép 3">
            <a:extLst>
              <a:ext uri="{FF2B5EF4-FFF2-40B4-BE49-F238E27FC236}">
                <a16:creationId xmlns:a16="http://schemas.microsoft.com/office/drawing/2014/main" id="{E612020B-D9BC-C0A1-9FD3-40FD242C3F2F}"/>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Rectangle 2">
            <a:extLst>
              <a:ext uri="{FF2B5EF4-FFF2-40B4-BE49-F238E27FC236}">
                <a16:creationId xmlns:a16="http://schemas.microsoft.com/office/drawing/2014/main" id="{643E030D-24F2-E730-2967-9596CC7FD9B1}"/>
              </a:ext>
            </a:extLst>
          </p:cNvPr>
          <p:cNvSpPr/>
          <p:nvPr userDrawn="1"/>
        </p:nvSpPr>
        <p:spPr>
          <a:xfrm>
            <a:off x="1256371" y="654205"/>
            <a:ext cx="2765502" cy="3940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sp>
        <p:nvSpPr>
          <p:cNvPr id="2" name="Rectangle 1">
            <a:extLst>
              <a:ext uri="{FF2B5EF4-FFF2-40B4-BE49-F238E27FC236}">
                <a16:creationId xmlns:a16="http://schemas.microsoft.com/office/drawing/2014/main" id="{E38A2004-7ECA-5C08-0C38-57D294BCA9CC}"/>
              </a:ext>
            </a:extLst>
          </p:cNvPr>
          <p:cNvSpPr/>
          <p:nvPr userDrawn="1"/>
        </p:nvSpPr>
        <p:spPr>
          <a:xfrm>
            <a:off x="209006" y="322217"/>
            <a:ext cx="3405051" cy="11756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pic>
        <p:nvPicPr>
          <p:cNvPr id="5" name="Picture 4" descr="A black background with white text&#10;&#10;AI-generated content may be incorrect.">
            <a:extLst>
              <a:ext uri="{FF2B5EF4-FFF2-40B4-BE49-F238E27FC236}">
                <a16:creationId xmlns:a16="http://schemas.microsoft.com/office/drawing/2014/main" id="{D592C7CB-A7DA-6180-6B0F-C30742787935}"/>
              </a:ext>
            </a:extLst>
          </p:cNvPr>
          <p:cNvPicPr>
            <a:picLocks noChangeAspect="1"/>
          </p:cNvPicPr>
          <p:nvPr userDrawn="1"/>
        </p:nvPicPr>
        <p:blipFill>
          <a:blip r:embed="rId3"/>
          <a:srcRect l="3199" t="7736" r="-4087" b="-5379"/>
          <a:stretch/>
        </p:blipFill>
        <p:spPr>
          <a:xfrm>
            <a:off x="0" y="1"/>
            <a:ext cx="9144000" cy="1776760"/>
          </a:xfrm>
          <a:prstGeom prst="rect">
            <a:avLst/>
          </a:prstGeom>
        </p:spPr>
      </p:pic>
    </p:spTree>
    <p:extLst>
      <p:ext uri="{BB962C8B-B14F-4D97-AF65-F5344CB8AC3E}">
        <p14:creationId xmlns:p14="http://schemas.microsoft.com/office/powerpoint/2010/main" val="2197899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Shape 9"/>
        <p:cNvGrpSpPr/>
        <p:nvPr/>
      </p:nvGrpSpPr>
      <p:grpSpPr>
        <a:xfrm>
          <a:off x="0" y="0"/>
          <a:ext cx="0" cy="0"/>
          <a:chOff x="0" y="0"/>
          <a:chExt cx="0" cy="0"/>
        </a:xfrm>
      </p:grpSpPr>
      <p:pic>
        <p:nvPicPr>
          <p:cNvPr id="2" name="Kép 7">
            <a:extLst>
              <a:ext uri="{FF2B5EF4-FFF2-40B4-BE49-F238E27FC236}">
                <a16:creationId xmlns:a16="http://schemas.microsoft.com/office/drawing/2014/main" id="{D73EE193-0498-5FE6-06BD-FE55F6402279}"/>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5" name="Rectangle 4">
            <a:extLst>
              <a:ext uri="{FF2B5EF4-FFF2-40B4-BE49-F238E27FC236}">
                <a16:creationId xmlns:a16="http://schemas.microsoft.com/office/drawing/2014/main" id="{6B80B435-2D41-9DF3-CC6D-D6376AC4D5AE}"/>
              </a:ext>
            </a:extLst>
          </p:cNvPr>
          <p:cNvSpPr/>
          <p:nvPr userDrawn="1"/>
        </p:nvSpPr>
        <p:spPr>
          <a:xfrm>
            <a:off x="1465731" y="699247"/>
            <a:ext cx="2635622" cy="349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sp>
        <p:nvSpPr>
          <p:cNvPr id="3" name="Rectangle 2">
            <a:extLst>
              <a:ext uri="{FF2B5EF4-FFF2-40B4-BE49-F238E27FC236}">
                <a16:creationId xmlns:a16="http://schemas.microsoft.com/office/drawing/2014/main" id="{DDBFC1BA-D56A-48B3-07F7-8DA75B3F7981}"/>
              </a:ext>
            </a:extLst>
          </p:cNvPr>
          <p:cNvSpPr/>
          <p:nvPr userDrawn="1"/>
        </p:nvSpPr>
        <p:spPr>
          <a:xfrm>
            <a:off x="217714" y="278674"/>
            <a:ext cx="3622766" cy="1419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pic>
        <p:nvPicPr>
          <p:cNvPr id="4" name="Picture 3" descr="A black background with white text&#10;&#10;AI-generated content may be incorrect.">
            <a:extLst>
              <a:ext uri="{FF2B5EF4-FFF2-40B4-BE49-F238E27FC236}">
                <a16:creationId xmlns:a16="http://schemas.microsoft.com/office/drawing/2014/main" id="{C5CB3617-BFF8-D159-C7A6-57E1A3A59839}"/>
              </a:ext>
            </a:extLst>
          </p:cNvPr>
          <p:cNvPicPr>
            <a:picLocks noChangeAspect="1"/>
          </p:cNvPicPr>
          <p:nvPr userDrawn="1"/>
        </p:nvPicPr>
        <p:blipFill>
          <a:blip r:embed="rId3"/>
          <a:srcRect l="3199" t="7736" r="-4087" b="-5379"/>
          <a:stretch/>
        </p:blipFill>
        <p:spPr>
          <a:xfrm>
            <a:off x="0" y="1"/>
            <a:ext cx="9144000" cy="1776760"/>
          </a:xfrm>
          <a:prstGeom prst="rect">
            <a:avLst/>
          </a:prstGeom>
        </p:spPr>
      </p:pic>
    </p:spTree>
    <p:extLst>
      <p:ext uri="{BB962C8B-B14F-4D97-AF65-F5344CB8AC3E}">
        <p14:creationId xmlns:p14="http://schemas.microsoft.com/office/powerpoint/2010/main" val="308354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body">
    <p:bg>
      <p:bgPr>
        <a:solidFill>
          <a:schemeClr val="bg1"/>
        </a:solidFill>
        <a:effectLst/>
      </p:bgPr>
    </p:bg>
    <p:spTree>
      <p:nvGrpSpPr>
        <p:cNvPr id="1" name="Shape 16"/>
        <p:cNvGrpSpPr/>
        <p:nvPr/>
      </p:nvGrpSpPr>
      <p:grpSpPr>
        <a:xfrm>
          <a:off x="0" y="0"/>
          <a:ext cx="0" cy="0"/>
          <a:chOff x="0" y="0"/>
          <a:chExt cx="0" cy="0"/>
        </a:xfrm>
      </p:grpSpPr>
      <p:pic>
        <p:nvPicPr>
          <p:cNvPr id="4" name="Kép 3">
            <a:extLst>
              <a:ext uri="{FF2B5EF4-FFF2-40B4-BE49-F238E27FC236}">
                <a16:creationId xmlns:a16="http://schemas.microsoft.com/office/drawing/2014/main" id="{C72F76F4-6B35-2736-0075-048026F7C76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5" name="Rectangle 4">
            <a:extLst>
              <a:ext uri="{FF2B5EF4-FFF2-40B4-BE49-F238E27FC236}">
                <a16:creationId xmlns:a16="http://schemas.microsoft.com/office/drawing/2014/main" id="{BA978718-56E3-5F4F-408A-688D485C1320}"/>
              </a:ext>
            </a:extLst>
          </p:cNvPr>
          <p:cNvSpPr/>
          <p:nvPr userDrawn="1"/>
        </p:nvSpPr>
        <p:spPr>
          <a:xfrm>
            <a:off x="1213338" y="536331"/>
            <a:ext cx="2549770" cy="369277"/>
          </a:xfrm>
          <a:prstGeom prst="rect">
            <a:avLst/>
          </a:prstGeom>
          <a:solidFill>
            <a:srgbClr val="FEED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sp>
        <p:nvSpPr>
          <p:cNvPr id="2" name="Rectangle 1">
            <a:extLst>
              <a:ext uri="{FF2B5EF4-FFF2-40B4-BE49-F238E27FC236}">
                <a16:creationId xmlns:a16="http://schemas.microsoft.com/office/drawing/2014/main" id="{2FCB939B-24B5-01AF-4771-0F904BCE2229}"/>
              </a:ext>
            </a:extLst>
          </p:cNvPr>
          <p:cNvSpPr/>
          <p:nvPr userDrawn="1"/>
        </p:nvSpPr>
        <p:spPr>
          <a:xfrm>
            <a:off x="200297" y="174171"/>
            <a:ext cx="2873829" cy="984069"/>
          </a:xfrm>
          <a:prstGeom prst="rect">
            <a:avLst/>
          </a:prstGeom>
          <a:solidFill>
            <a:srgbClr val="FEED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U"/>
          </a:p>
        </p:txBody>
      </p:sp>
      <p:pic>
        <p:nvPicPr>
          <p:cNvPr id="3" name="Picture 2" descr="A black background with white text&#10;&#10;AI-generated content may be incorrect.">
            <a:extLst>
              <a:ext uri="{FF2B5EF4-FFF2-40B4-BE49-F238E27FC236}">
                <a16:creationId xmlns:a16="http://schemas.microsoft.com/office/drawing/2014/main" id="{4F7B6895-E923-8230-5431-012031364874}"/>
              </a:ext>
            </a:extLst>
          </p:cNvPr>
          <p:cNvPicPr>
            <a:picLocks noChangeAspect="1"/>
          </p:cNvPicPr>
          <p:nvPr userDrawn="1"/>
        </p:nvPicPr>
        <p:blipFill>
          <a:blip r:embed="rId3"/>
          <a:srcRect l="3199" t="7736" r="-4087" b="-5379"/>
          <a:stretch/>
        </p:blipFill>
        <p:spPr>
          <a:xfrm>
            <a:off x="0" y="1"/>
            <a:ext cx="9144000" cy="1776760"/>
          </a:xfrm>
          <a:prstGeom prst="rect">
            <a:avLst/>
          </a:prstGeom>
        </p:spPr>
      </p:pic>
    </p:spTree>
    <p:extLst>
      <p:ext uri="{BB962C8B-B14F-4D97-AF65-F5344CB8AC3E}">
        <p14:creationId xmlns:p14="http://schemas.microsoft.com/office/powerpoint/2010/main" val="1234776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5" y="445030"/>
            <a:ext cx="8520599" cy="572699"/>
          </a:xfrm>
          <a:prstGeom prst="rect">
            <a:avLst/>
          </a:prstGeom>
        </p:spPr>
        <p:txBody>
          <a:bodyPr lIns="91425" tIns="91425" rIns="91425" bIns="91425" anchor="t" anchorCtr="0"/>
          <a:lstStyle>
            <a:lvl1pPr lvl="0">
              <a:spcBef>
                <a:spcPts val="0"/>
              </a:spcBef>
              <a:defRPr sz="2400" b="1">
                <a:latin typeface="Segoe UI Semibold" panose="020B0702040204020203" pitchFamily="34" charset="0"/>
                <a:cs typeface="Segoe UI Semibold" panose="020B0702040204020203"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8472457" y="4663216"/>
            <a:ext cx="548699" cy="393600"/>
          </a:xfrm>
          <a:prstGeom prst="rect">
            <a:avLst/>
          </a:prstGeom>
        </p:spPr>
        <p:txBody>
          <a:bodyPr lIns="91425" tIns="91425" rIns="91425" bIns="91425" anchor="ctr" anchorCtr="0">
            <a:noAutofit/>
          </a:bodyPr>
          <a:lstStyle/>
          <a:p>
            <a:fld id="{00000000-1234-1234-1234-123412341234}" type="slidenum">
              <a:rPr lang="hu" smtClean="0"/>
              <a:pPr/>
              <a:t>‹#›</a:t>
            </a:fld>
            <a:endParaRPr lang="h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5" y="555601"/>
            <a:ext cx="2807999" cy="755699"/>
          </a:xfrm>
          <a:prstGeom prst="rect">
            <a:avLst/>
          </a:prstGeom>
        </p:spPr>
        <p:txBody>
          <a:bodyPr lIns="91425" tIns="91425" rIns="91425" bIns="91425" anchor="b" anchorCtr="0"/>
          <a:lstStyle>
            <a:lvl1pPr lvl="0">
              <a:spcBef>
                <a:spcPts val="0"/>
              </a:spcBef>
              <a:buSzPct val="100000"/>
              <a:defRPr sz="2400" b="1">
                <a:latin typeface="Segoe UI Semibold" panose="020B0702040204020203" pitchFamily="34" charset="0"/>
                <a:cs typeface="Segoe UI Semibold" panose="020B0702040204020203" pitchFamily="34" charset="0"/>
              </a:defRPr>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0" name="Shape 30"/>
          <p:cNvSpPr txBox="1">
            <a:spLocks noGrp="1"/>
          </p:cNvSpPr>
          <p:nvPr>
            <p:ph type="body" idx="1"/>
          </p:nvPr>
        </p:nvSpPr>
        <p:spPr>
          <a:xfrm>
            <a:off x="311705" y="1389600"/>
            <a:ext cx="2807999" cy="3179400"/>
          </a:xfrm>
          <a:prstGeom prst="rect">
            <a:avLst/>
          </a:prstGeom>
        </p:spPr>
        <p:txBody>
          <a:bodyPr lIns="91425" tIns="91425" rIns="91425" bIns="91425" anchor="t" anchorCtr="0"/>
          <a:lstStyle>
            <a:lvl1pPr lvl="0">
              <a:spcBef>
                <a:spcPts val="0"/>
              </a:spcBef>
              <a:buSzPct val="100000"/>
              <a:defRPr sz="2000">
                <a:latin typeface="+mj-lt"/>
              </a:defRPr>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1" name="Shape 31"/>
          <p:cNvSpPr txBox="1">
            <a:spLocks noGrp="1"/>
          </p:cNvSpPr>
          <p:nvPr>
            <p:ph type="sldNum" idx="12"/>
          </p:nvPr>
        </p:nvSpPr>
        <p:spPr>
          <a:xfrm>
            <a:off x="8472457" y="4663216"/>
            <a:ext cx="548699" cy="393600"/>
          </a:xfrm>
          <a:prstGeom prst="rect">
            <a:avLst/>
          </a:prstGeom>
        </p:spPr>
        <p:txBody>
          <a:bodyPr lIns="91425" tIns="91425" rIns="91425" bIns="91425" anchor="ctr" anchorCtr="0">
            <a:noAutofit/>
          </a:bodyPr>
          <a:lstStyle/>
          <a:p>
            <a:fld id="{00000000-1234-1234-1234-123412341234}" type="slidenum">
              <a:rPr lang="hu" smtClean="0"/>
              <a:pPr/>
              <a:t>‹#›</a:t>
            </a:fld>
            <a:endParaRPr lang="hu"/>
          </a:p>
        </p:txBody>
      </p:sp>
      <p:sp>
        <p:nvSpPr>
          <p:cNvPr id="5" name="Tartalom helye 4"/>
          <p:cNvSpPr>
            <a:spLocks noGrp="1"/>
          </p:cNvSpPr>
          <p:nvPr>
            <p:ph sz="quarter" idx="13"/>
          </p:nvPr>
        </p:nvSpPr>
        <p:spPr>
          <a:xfrm>
            <a:off x="3263903" y="555625"/>
            <a:ext cx="5549900" cy="4013200"/>
          </a:xfrm>
        </p:spPr>
        <p:txBody>
          <a:bodyPr/>
          <a:lstStyle>
            <a:lvl1pPr>
              <a:defRPr sz="2000">
                <a:latin typeface="+mj-lt"/>
              </a:defRPr>
            </a:lvl1pPr>
            <a:lvl2pPr marL="285730" indent="-285730">
              <a:buFont typeface="Arial" panose="020B0604020202020204" pitchFamily="34" charset="0"/>
              <a:buChar char="•"/>
              <a:defRPr>
                <a:latin typeface="+mj-lt"/>
              </a:defRPr>
            </a:lvl2pPr>
            <a:lvl3pPr marL="285730" indent="-285730">
              <a:buFont typeface="Arial" panose="020B0604020202020204" pitchFamily="34" charset="0"/>
              <a:buChar char="•"/>
              <a:defRPr>
                <a:latin typeface="+mj-lt"/>
              </a:defRPr>
            </a:lvl3pPr>
            <a:lvl4pPr marL="285730" indent="-285730">
              <a:buFont typeface="Arial" panose="020B0604020202020204" pitchFamily="34" charset="0"/>
              <a:buChar char="•"/>
              <a:defRPr>
                <a:latin typeface="+mj-lt"/>
              </a:defRPr>
            </a:lvl4pPr>
            <a:lvl5pPr marL="285730" indent="-285730">
              <a:buFont typeface="Arial" panose="020B0604020202020204" pitchFamily="34" charset="0"/>
              <a:buChar char="•"/>
              <a:defRPr>
                <a:latin typeface="+mj-lt"/>
              </a:defRPr>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394557" y="1779223"/>
            <a:ext cx="6367800" cy="528044"/>
          </a:xfrm>
          <a:prstGeom prst="rect">
            <a:avLst/>
          </a:prstGeom>
        </p:spPr>
        <p:txBody>
          <a:bodyPr lIns="91425" tIns="91425" rIns="91425" bIns="91425" anchor="ctr" anchorCtr="0"/>
          <a:lstStyle>
            <a:lvl1pPr lvl="0">
              <a:spcBef>
                <a:spcPts val="0"/>
              </a:spcBef>
              <a:buSzPct val="100000"/>
              <a:defRPr sz="2800" b="1">
                <a:latin typeface="Segoe UI Semibold" panose="020B0702040204020203" pitchFamily="34" charset="0"/>
                <a:cs typeface="Segoe UI Semibold" panose="020B0702040204020203" pitchFamily="34" charset="0"/>
              </a:defRPr>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4" name="Shape 34"/>
          <p:cNvSpPr txBox="1">
            <a:spLocks noGrp="1"/>
          </p:cNvSpPr>
          <p:nvPr>
            <p:ph type="sldNum" idx="12"/>
          </p:nvPr>
        </p:nvSpPr>
        <p:spPr>
          <a:xfrm>
            <a:off x="8472457" y="4663216"/>
            <a:ext cx="548699" cy="393600"/>
          </a:xfrm>
          <a:prstGeom prst="rect">
            <a:avLst/>
          </a:prstGeom>
        </p:spPr>
        <p:txBody>
          <a:bodyPr lIns="91425" tIns="91425" rIns="91425" bIns="91425" anchor="ctr" anchorCtr="0">
            <a:noAutofit/>
          </a:bodyPr>
          <a:lstStyle/>
          <a:p>
            <a:fld id="{00000000-1234-1234-1234-123412341234}" type="slidenum">
              <a:rPr lang="hu" smtClean="0"/>
              <a:pPr/>
              <a:t>‹#›</a:t>
            </a:fld>
            <a:endParaRPr lang="hu"/>
          </a:p>
        </p:txBody>
      </p:sp>
      <p:sp>
        <p:nvSpPr>
          <p:cNvPr id="7" name="Szöveg helye 6"/>
          <p:cNvSpPr>
            <a:spLocks noGrp="1"/>
          </p:cNvSpPr>
          <p:nvPr>
            <p:ph type="body" sz="quarter" idx="13"/>
          </p:nvPr>
        </p:nvSpPr>
        <p:spPr>
          <a:xfrm>
            <a:off x="394561" y="2307267"/>
            <a:ext cx="6367463" cy="500210"/>
          </a:xfrm>
        </p:spPr>
        <p:txBody>
          <a:bodyPr/>
          <a:lstStyle>
            <a:lvl1pPr>
              <a:defRPr sz="2400" baseline="0">
                <a:solidFill>
                  <a:srgbClr val="D9D9D9"/>
                </a:solidFill>
                <a:latin typeface="Segoe UI Semibold" panose="020B0702040204020203" pitchFamily="34" charset="0"/>
                <a:cs typeface="Segoe UI Semibold" panose="020B0702040204020203" pitchFamily="34" charset="0"/>
              </a:defRPr>
            </a:lvl1pPr>
          </a:lstStyle>
          <a:p>
            <a:pPr lvl="0"/>
            <a:r>
              <a:rPr lang="hu-HU"/>
              <a:t>Mintaszöveg szerkesztése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699" cy="393600"/>
          </a:xfrm>
          <a:prstGeom prst="rect">
            <a:avLst/>
          </a:prstGeom>
        </p:spPr>
        <p:txBody>
          <a:bodyPr lIns="91425" tIns="91425" rIns="91425" bIns="91425" anchor="ctr" anchorCtr="0">
            <a:noAutofit/>
          </a:bodyPr>
          <a:lstStyle/>
          <a:p>
            <a:fld id="{00000000-1234-1234-1234-123412341234}" type="slidenum">
              <a:rPr lang="hu" smtClean="0"/>
              <a:pPr/>
              <a:t>‹#›</a:t>
            </a:fld>
            <a:endParaRPr lang="h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FFE2144-F4B7-364E-A4EA-D9DC7D60EDD0}"/>
              </a:ext>
            </a:extLst>
          </p:cNvPr>
          <p:cNvSpPr>
            <a:spLocks noGrp="1"/>
          </p:cNvSpPr>
          <p:nvPr>
            <p:ph type="ctrTitle"/>
          </p:nvPr>
        </p:nvSpPr>
        <p:spPr>
          <a:xfrm>
            <a:off x="1143000" y="841772"/>
            <a:ext cx="6858000" cy="1790700"/>
          </a:xfrm>
        </p:spPr>
        <p:txBody>
          <a:bodyPr anchor="b"/>
          <a:lstStyle>
            <a:lvl1pPr algn="ctr">
              <a:defRPr sz="4500"/>
            </a:lvl1pPr>
          </a:lstStyle>
          <a:p>
            <a:r>
              <a:rPr lang="hu-HU"/>
              <a:t>Mintacím szerkesztése</a:t>
            </a:r>
          </a:p>
        </p:txBody>
      </p:sp>
      <p:sp>
        <p:nvSpPr>
          <p:cNvPr id="3" name="Alcím 2">
            <a:extLst>
              <a:ext uri="{FF2B5EF4-FFF2-40B4-BE49-F238E27FC236}">
                <a16:creationId xmlns:a16="http://schemas.microsoft.com/office/drawing/2014/main" id="{E1348B16-2177-6FC2-7866-012D83BF58F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u-HU"/>
              <a:t>Kattintson ide az alcím mintájának szerkesztéséhez</a:t>
            </a:r>
          </a:p>
        </p:txBody>
      </p:sp>
      <p:sp>
        <p:nvSpPr>
          <p:cNvPr id="4" name="Dátum helye 3">
            <a:extLst>
              <a:ext uri="{FF2B5EF4-FFF2-40B4-BE49-F238E27FC236}">
                <a16:creationId xmlns:a16="http://schemas.microsoft.com/office/drawing/2014/main" id="{83B92884-0049-DBC1-9C4E-80AB88410C1C}"/>
              </a:ext>
            </a:extLst>
          </p:cNvPr>
          <p:cNvSpPr>
            <a:spLocks noGrp="1"/>
          </p:cNvSpPr>
          <p:nvPr>
            <p:ph type="dt" sz="half" idx="10"/>
          </p:nvPr>
        </p:nvSpPr>
        <p:spPr/>
        <p:txBody>
          <a:bodyPr/>
          <a:lstStyle/>
          <a:p>
            <a:fld id="{7B864243-6CD9-4248-9BE2-DA8319191909}" type="datetime1">
              <a:rPr lang="hu-HU" smtClean="0"/>
              <a:t>2026. 03. 12.</a:t>
            </a:fld>
            <a:endParaRPr lang="hu-HU"/>
          </a:p>
        </p:txBody>
      </p:sp>
      <p:sp>
        <p:nvSpPr>
          <p:cNvPr id="5" name="Élőláb helye 4">
            <a:extLst>
              <a:ext uri="{FF2B5EF4-FFF2-40B4-BE49-F238E27FC236}">
                <a16:creationId xmlns:a16="http://schemas.microsoft.com/office/drawing/2014/main" id="{130DE05A-42DB-4664-12B3-E333C838E81F}"/>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F2F18773-D9EB-9EBC-536C-DFCBA5919FAE}"/>
              </a:ext>
            </a:extLst>
          </p:cNvPr>
          <p:cNvSpPr>
            <a:spLocks noGrp="1"/>
          </p:cNvSpPr>
          <p:nvPr>
            <p:ph type="sldNum" sz="quarter" idx="12"/>
          </p:nvPr>
        </p:nvSpPr>
        <p:spPr/>
        <p:txBody>
          <a:bodyPr/>
          <a:lstStyle/>
          <a:p>
            <a:fld id="{73A4DA9B-7090-439F-9775-245C8FD0E3D6}" type="slidenum">
              <a:rPr lang="hu-HU" smtClean="0"/>
              <a:t>‹#›</a:t>
            </a:fld>
            <a:endParaRPr lang="hu-HU"/>
          </a:p>
        </p:txBody>
      </p:sp>
    </p:spTree>
    <p:extLst>
      <p:ext uri="{BB962C8B-B14F-4D97-AF65-F5344CB8AC3E}">
        <p14:creationId xmlns:p14="http://schemas.microsoft.com/office/powerpoint/2010/main" val="2008616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5" y="445030"/>
            <a:ext cx="8520599" cy="572699"/>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7" name="Shape 7"/>
          <p:cNvSpPr txBox="1">
            <a:spLocks noGrp="1"/>
          </p:cNvSpPr>
          <p:nvPr>
            <p:ph type="body" idx="1"/>
          </p:nvPr>
        </p:nvSpPr>
        <p:spPr>
          <a:xfrm>
            <a:off x="311705" y="1152475"/>
            <a:ext cx="8520599" cy="34164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8" name="Shape 8"/>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algn="r"/>
            <a:fld id="{00000000-1234-1234-1234-123412341234}" type="slidenum">
              <a:rPr lang="hu" sz="1000" smtClean="0">
                <a:solidFill>
                  <a:schemeClr val="dk2"/>
                </a:solidFill>
              </a:rPr>
              <a:pPr algn="r"/>
              <a:t>‹#›</a:t>
            </a:fld>
            <a:endParaRPr lang="hu"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1" r:id="rId3"/>
    <p:sldLayoutId id="2147483662" r:id="rId4"/>
    <p:sldLayoutId id="2147483652" r:id="rId5"/>
    <p:sldLayoutId id="2147483653" r:id="rId6"/>
    <p:sldLayoutId id="2147483654" r:id="rId7"/>
    <p:sldLayoutId id="2147483658" r:id="rId8"/>
    <p:sldLayoutId id="2147483663"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40.png"/><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10" name="Cím 1">
            <a:extLst>
              <a:ext uri="{FF2B5EF4-FFF2-40B4-BE49-F238E27FC236}">
                <a16:creationId xmlns:a16="http://schemas.microsoft.com/office/drawing/2014/main" id="{4D15A6C2-C470-44E5-88E9-A56BD1DB1C00}"/>
              </a:ext>
            </a:extLst>
          </p:cNvPr>
          <p:cNvSpPr txBox="1">
            <a:spLocks/>
          </p:cNvSpPr>
          <p:nvPr/>
        </p:nvSpPr>
        <p:spPr>
          <a:xfrm>
            <a:off x="451210" y="1784195"/>
            <a:ext cx="6180250" cy="2843037"/>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ct val="100000"/>
              <a:buNone/>
              <a:defRPr sz="2800" b="0" i="0" u="none" strike="noStrike" cap="all" baseline="0">
                <a:solidFill>
                  <a:schemeClr val="dk1"/>
                </a:solidFill>
                <a:latin typeface="Segoe UI Semibold" panose="020B0702040204020203" pitchFamily="34" charset="0"/>
                <a:ea typeface="Arial"/>
                <a:cs typeface="Segoe UI Semibold" panose="020B0702040204020203" pitchFamily="34" charset="0"/>
                <a:sym typeface="Arial"/>
                <a:rtl val="0"/>
              </a:defRPr>
            </a:lvl1pPr>
            <a:lvl2pPr lvl="1" algn="ctr">
              <a:spcBef>
                <a:spcPts val="0"/>
              </a:spcBef>
              <a:buClr>
                <a:schemeClr val="dk1"/>
              </a:buClr>
              <a:buSzPct val="100000"/>
              <a:buNone/>
              <a:defRPr sz="5200">
                <a:solidFill>
                  <a:schemeClr val="dk1"/>
                </a:solidFill>
              </a:defRPr>
            </a:lvl2pPr>
            <a:lvl3pPr lvl="2" algn="ctr">
              <a:spcBef>
                <a:spcPts val="0"/>
              </a:spcBef>
              <a:buClr>
                <a:schemeClr val="dk1"/>
              </a:buClr>
              <a:buSzPct val="100000"/>
              <a:buNone/>
              <a:defRPr sz="5200">
                <a:solidFill>
                  <a:schemeClr val="dk1"/>
                </a:solidFill>
              </a:defRPr>
            </a:lvl3pPr>
            <a:lvl4pPr lvl="3" algn="ctr">
              <a:spcBef>
                <a:spcPts val="0"/>
              </a:spcBef>
              <a:buClr>
                <a:schemeClr val="dk1"/>
              </a:buClr>
              <a:buSzPct val="100000"/>
              <a:buNone/>
              <a:defRPr sz="5200">
                <a:solidFill>
                  <a:schemeClr val="dk1"/>
                </a:solidFill>
              </a:defRPr>
            </a:lvl4pPr>
            <a:lvl5pPr lvl="4" algn="ctr">
              <a:spcBef>
                <a:spcPts val="0"/>
              </a:spcBef>
              <a:buClr>
                <a:schemeClr val="dk1"/>
              </a:buClr>
              <a:buSzPct val="100000"/>
              <a:buNone/>
              <a:defRPr sz="5200">
                <a:solidFill>
                  <a:schemeClr val="dk1"/>
                </a:solidFill>
              </a:defRPr>
            </a:lvl5pPr>
            <a:lvl6pPr lvl="5" algn="ctr">
              <a:spcBef>
                <a:spcPts val="0"/>
              </a:spcBef>
              <a:buClr>
                <a:schemeClr val="dk1"/>
              </a:buClr>
              <a:buSzPct val="100000"/>
              <a:buNone/>
              <a:defRPr sz="5200">
                <a:solidFill>
                  <a:schemeClr val="dk1"/>
                </a:solidFill>
              </a:defRPr>
            </a:lvl6pPr>
            <a:lvl7pPr lvl="6" algn="ctr">
              <a:spcBef>
                <a:spcPts val="0"/>
              </a:spcBef>
              <a:buClr>
                <a:schemeClr val="dk1"/>
              </a:buClr>
              <a:buSzPct val="100000"/>
              <a:buNone/>
              <a:defRPr sz="5200">
                <a:solidFill>
                  <a:schemeClr val="dk1"/>
                </a:solidFill>
              </a:defRPr>
            </a:lvl7pPr>
            <a:lvl8pPr lvl="7" algn="ctr">
              <a:spcBef>
                <a:spcPts val="0"/>
              </a:spcBef>
              <a:buClr>
                <a:schemeClr val="dk1"/>
              </a:buClr>
              <a:buSzPct val="100000"/>
              <a:buNone/>
              <a:defRPr sz="5200">
                <a:solidFill>
                  <a:schemeClr val="dk1"/>
                </a:solidFill>
              </a:defRPr>
            </a:lvl8pPr>
            <a:lvl9pPr lvl="8" algn="ctr">
              <a:spcBef>
                <a:spcPts val="0"/>
              </a:spcBef>
              <a:buClr>
                <a:schemeClr val="dk1"/>
              </a:buClr>
              <a:buSzPct val="100000"/>
              <a:buNone/>
              <a:defRPr sz="5200">
                <a:solidFill>
                  <a:schemeClr val="dk1"/>
                </a:solidFill>
              </a:defRPr>
            </a:lvl9pPr>
          </a:lstStyle>
          <a:p>
            <a:r>
              <a:rPr lang="hu-HU" noProof="0" dirty="0"/>
              <a:t>pénzügyek – Gyakorlat</a:t>
            </a:r>
            <a:br>
              <a:rPr lang="hu-HU" noProof="0" dirty="0"/>
            </a:br>
            <a:r>
              <a:rPr lang="hu-HU" noProof="0" dirty="0"/>
              <a:t>4. gyakorlat</a:t>
            </a:r>
          </a:p>
          <a:p>
            <a:endParaRPr lang="hu-HU" noProof="0" dirty="0"/>
          </a:p>
          <a:p>
            <a:r>
              <a:rPr lang="hu-HU" sz="2400" dirty="0"/>
              <a:t>A pénz időértéke, jelen- és jövőérték</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a:extLst>
              <a:ext uri="{FF2B5EF4-FFF2-40B4-BE49-F238E27FC236}">
                <a16:creationId xmlns:a16="http://schemas.microsoft.com/office/drawing/2014/main" id="{50236AD3-000B-E12E-7F51-2170C5E469C8}"/>
              </a:ext>
            </a:extLst>
          </p:cNvPr>
          <p:cNvSpPr txBox="1"/>
          <p:nvPr/>
        </p:nvSpPr>
        <p:spPr>
          <a:xfrm>
            <a:off x="397566" y="437323"/>
            <a:ext cx="8236226" cy="3754874"/>
          </a:xfrm>
          <a:prstGeom prst="rect">
            <a:avLst/>
          </a:prstGeom>
          <a:solidFill>
            <a:schemeClr val="bg1">
              <a:lumMod val="95000"/>
            </a:schemeClr>
          </a:solidFill>
          <a:ln w="28575">
            <a:solidFill>
              <a:srgbClr val="FFC000"/>
            </a:solidFill>
          </a:ln>
        </p:spPr>
        <p:txBody>
          <a:bodyPr wrap="square" rtlCol="0">
            <a:spAutoFit/>
          </a:bodyPr>
          <a:lstStyle/>
          <a:p>
            <a:pPr marL="514350" indent="-514350">
              <a:buAutoNum type="arabicPeriod"/>
            </a:pPr>
            <a:r>
              <a:rPr lang="hu-HU" sz="2800" dirty="0">
                <a:latin typeface="Cambria" panose="02040503050406030204" pitchFamily="18" charset="0"/>
                <a:ea typeface="Cambria" panose="02040503050406030204" pitchFamily="18" charset="0"/>
              </a:rPr>
              <a:t>ZH</a:t>
            </a:r>
          </a:p>
          <a:p>
            <a:endParaRPr lang="hu-HU" sz="2800" dirty="0">
              <a:latin typeface="Cambria" panose="02040503050406030204" pitchFamily="18" charset="0"/>
              <a:ea typeface="Cambria" panose="02040503050406030204" pitchFamily="18" charset="0"/>
            </a:endParaRPr>
          </a:p>
          <a:p>
            <a:r>
              <a:rPr lang="hu-HU" sz="2800" dirty="0">
                <a:latin typeface="Cambria" panose="02040503050406030204" pitchFamily="18" charset="0"/>
                <a:ea typeface="Cambria" panose="02040503050406030204" pitchFamily="18" charset="0"/>
              </a:rPr>
              <a:t>8 db egyszeres választású elméleti kérdés (8 pont)</a:t>
            </a:r>
          </a:p>
          <a:p>
            <a:r>
              <a:rPr lang="hu-HU" sz="2800" dirty="0">
                <a:latin typeface="Cambria" panose="02040503050406030204" pitchFamily="18" charset="0"/>
                <a:ea typeface="Cambria" panose="02040503050406030204" pitchFamily="18" charset="0"/>
              </a:rPr>
              <a:t>4 db többszörös választású kérdés (4*3=12 pont)</a:t>
            </a:r>
          </a:p>
          <a:p>
            <a:r>
              <a:rPr lang="hu-HU" sz="2800" dirty="0">
                <a:latin typeface="Cambria" panose="02040503050406030204" pitchFamily="18" charset="0"/>
                <a:ea typeface="Cambria" panose="02040503050406030204" pitchFamily="18" charset="0"/>
              </a:rPr>
              <a:t>2 db egyszerű számítási feladat (2*3=6 pont)</a:t>
            </a:r>
          </a:p>
          <a:p>
            <a:r>
              <a:rPr lang="hu-HU" sz="2800" dirty="0">
                <a:latin typeface="Cambria" panose="02040503050406030204" pitchFamily="18" charset="0"/>
                <a:ea typeface="Cambria" panose="02040503050406030204" pitchFamily="18" charset="0"/>
              </a:rPr>
              <a:t>1 db összetettebb számítási feladat (1*7 pont)</a:t>
            </a:r>
          </a:p>
          <a:p>
            <a:endParaRPr lang="hu-HU" sz="2800" dirty="0">
              <a:latin typeface="Cambria" panose="02040503050406030204" pitchFamily="18" charset="0"/>
              <a:ea typeface="Cambria" panose="02040503050406030204" pitchFamily="18" charset="0"/>
            </a:endParaRPr>
          </a:p>
          <a:p>
            <a:r>
              <a:rPr lang="hu-HU" sz="2800" dirty="0">
                <a:latin typeface="Cambria" panose="02040503050406030204" pitchFamily="18" charset="0"/>
                <a:ea typeface="Cambria" panose="02040503050406030204" pitchFamily="18" charset="0"/>
              </a:rPr>
              <a:t>Összesen 33 pont</a:t>
            </a:r>
          </a:p>
          <a:p>
            <a:endParaRPr lang="hu-HU" dirty="0"/>
          </a:p>
        </p:txBody>
      </p:sp>
    </p:spTree>
    <p:extLst>
      <p:ext uri="{BB962C8B-B14F-4D97-AF65-F5344CB8AC3E}">
        <p14:creationId xmlns:p14="http://schemas.microsoft.com/office/powerpoint/2010/main" val="28901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graphicFrame>
        <p:nvGraphicFramePr>
          <p:cNvPr id="14" name="Diagram 13">
            <a:extLst>
              <a:ext uri="{FF2B5EF4-FFF2-40B4-BE49-F238E27FC236}">
                <a16:creationId xmlns:a16="http://schemas.microsoft.com/office/drawing/2014/main" id="{3D656DD9-7567-ADD4-00FA-061A2C73728B}"/>
              </a:ext>
            </a:extLst>
          </p:cNvPr>
          <p:cNvGraphicFramePr/>
          <p:nvPr/>
        </p:nvGraphicFramePr>
        <p:xfrm>
          <a:off x="127067" y="328121"/>
          <a:ext cx="4444933" cy="572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zabadkézi sokszög: alakzat 3">
            <a:extLst>
              <a:ext uri="{FF2B5EF4-FFF2-40B4-BE49-F238E27FC236}">
                <a16:creationId xmlns:a16="http://schemas.microsoft.com/office/drawing/2014/main" id="{F0494EE0-B9B4-97BE-134D-72FF5C239574}"/>
              </a:ext>
            </a:extLst>
          </p:cNvPr>
          <p:cNvSpPr/>
          <p:nvPr/>
        </p:nvSpPr>
        <p:spPr>
          <a:xfrm>
            <a:off x="206194" y="1725090"/>
            <a:ext cx="4069799" cy="806415"/>
          </a:xfrm>
          <a:custGeom>
            <a:avLst/>
            <a:gdLst>
              <a:gd name="csX0" fmla="*/ 0 w 4069799"/>
              <a:gd name="csY0" fmla="*/ 64351 h 386100"/>
              <a:gd name="csX1" fmla="*/ 64351 w 4069799"/>
              <a:gd name="csY1" fmla="*/ 0 h 386100"/>
              <a:gd name="csX2" fmla="*/ 4005448 w 4069799"/>
              <a:gd name="csY2" fmla="*/ 0 h 386100"/>
              <a:gd name="csX3" fmla="*/ 4069799 w 4069799"/>
              <a:gd name="csY3" fmla="*/ 64351 h 386100"/>
              <a:gd name="csX4" fmla="*/ 4069799 w 4069799"/>
              <a:gd name="csY4" fmla="*/ 321749 h 386100"/>
              <a:gd name="csX5" fmla="*/ 4005448 w 4069799"/>
              <a:gd name="csY5" fmla="*/ 386100 h 386100"/>
              <a:gd name="csX6" fmla="*/ 64351 w 4069799"/>
              <a:gd name="csY6" fmla="*/ 386100 h 386100"/>
              <a:gd name="csX7" fmla="*/ 0 w 4069799"/>
              <a:gd name="csY7" fmla="*/ 321749 h 386100"/>
              <a:gd name="csX8" fmla="*/ 0 w 4069799"/>
              <a:gd name="csY8" fmla="*/ 64351 h 386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69799" h="386100">
                <a:moveTo>
                  <a:pt x="0" y="64351"/>
                </a:moveTo>
                <a:cubicBezTo>
                  <a:pt x="0" y="28811"/>
                  <a:pt x="28811" y="0"/>
                  <a:pt x="64351" y="0"/>
                </a:cubicBezTo>
                <a:lnTo>
                  <a:pt x="4005448" y="0"/>
                </a:lnTo>
                <a:cubicBezTo>
                  <a:pt x="4040988" y="0"/>
                  <a:pt x="4069799" y="28811"/>
                  <a:pt x="4069799" y="64351"/>
                </a:cubicBezTo>
                <a:lnTo>
                  <a:pt x="4069799" y="321749"/>
                </a:lnTo>
                <a:cubicBezTo>
                  <a:pt x="4069799" y="357289"/>
                  <a:pt x="4040988" y="386100"/>
                  <a:pt x="4005448" y="386100"/>
                </a:cubicBezTo>
                <a:lnTo>
                  <a:pt x="64351" y="386100"/>
                </a:lnTo>
                <a:cubicBezTo>
                  <a:pt x="28811" y="386100"/>
                  <a:pt x="0" y="357289"/>
                  <a:pt x="0" y="321749"/>
                </a:cubicBezTo>
                <a:lnTo>
                  <a:pt x="0" y="64351"/>
                </a:lnTo>
                <a:close/>
              </a:path>
            </a:pathLst>
          </a:custGeom>
          <a:solidFill>
            <a:srgbClr val="C09F5A"/>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5998" tIns="75998" rIns="75998" bIns="75998" numCol="1" spcCol="1270" anchor="ctr" anchorCtr="0">
            <a:noAutofit/>
          </a:bodyPr>
          <a:lstStyle/>
          <a:p>
            <a:pPr marL="0" lvl="0" indent="0" algn="l" defTabSz="666750">
              <a:lnSpc>
                <a:spcPct val="90000"/>
              </a:lnSpc>
              <a:spcBef>
                <a:spcPct val="0"/>
              </a:spcBef>
              <a:spcAft>
                <a:spcPct val="35000"/>
              </a:spcAft>
              <a:buNone/>
            </a:pPr>
            <a:r>
              <a:rPr lang="hu-HU" sz="2000" kern="1200" dirty="0">
                <a:latin typeface="Cambria" panose="02040503050406030204" pitchFamily="18" charset="0"/>
                <a:ea typeface="Cambria" panose="02040503050406030204" pitchFamily="18" charset="0"/>
              </a:rPr>
              <a:t>1.</a:t>
            </a:r>
            <a:r>
              <a:rPr lang="en-US" sz="2000" b="0" i="0" kern="1200" dirty="0">
                <a:latin typeface="Cambria" panose="02040503050406030204" pitchFamily="18" charset="0"/>
                <a:ea typeface="Cambria" panose="02040503050406030204" pitchFamily="18" charset="0"/>
              </a:rPr>
              <a:t> </a:t>
            </a:r>
            <a:r>
              <a:rPr lang="hu-HU" sz="2000" kern="1200" dirty="0">
                <a:latin typeface="Cambria" panose="02040503050406030204" pitchFamily="18" charset="0"/>
                <a:ea typeface="Cambria" panose="02040503050406030204" pitchFamily="18" charset="0"/>
              </a:rPr>
              <a:t>A pénz időértékének bevezetése</a:t>
            </a:r>
          </a:p>
        </p:txBody>
      </p:sp>
      <p:pic>
        <p:nvPicPr>
          <p:cNvPr id="13" name="Kép 12">
            <a:extLst>
              <a:ext uri="{FF2B5EF4-FFF2-40B4-BE49-F238E27FC236}">
                <a16:creationId xmlns:a16="http://schemas.microsoft.com/office/drawing/2014/main" id="{904D8F5A-BEF6-2884-689B-8FF63E857098}"/>
              </a:ext>
            </a:extLst>
          </p:cNvPr>
          <p:cNvPicPr>
            <a:picLocks noChangeAspect="1"/>
          </p:cNvPicPr>
          <p:nvPr/>
        </p:nvPicPr>
        <p:blipFill>
          <a:blip r:embed="rId8"/>
          <a:srcRect l="271" t="2581" r="-1" b="1"/>
          <a:stretch>
            <a:fillRect/>
          </a:stretch>
        </p:blipFill>
        <p:spPr>
          <a:xfrm>
            <a:off x="5896859" y="1579660"/>
            <a:ext cx="2845011" cy="1903690"/>
          </a:xfrm>
          <a:prstGeom prst="rect">
            <a:avLst/>
          </a:prstGeom>
          <a:noFill/>
          <a:ln>
            <a:noFill/>
          </a:ln>
        </p:spPr>
      </p:pic>
      <p:sp>
        <p:nvSpPr>
          <p:cNvPr id="12" name="AutoShape 4" descr="danubius hotels hungaria">
            <a:extLst>
              <a:ext uri="{FF2B5EF4-FFF2-40B4-BE49-F238E27FC236}">
                <a16:creationId xmlns:a16="http://schemas.microsoft.com/office/drawing/2014/main" id="{55A59E76-72E8-448B-F255-B1EE2625298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u-HU"/>
          </a:p>
        </p:txBody>
      </p:sp>
      <p:sp>
        <p:nvSpPr>
          <p:cNvPr id="8" name="Szabadkézi sokszög: alakzat 7">
            <a:extLst>
              <a:ext uri="{FF2B5EF4-FFF2-40B4-BE49-F238E27FC236}">
                <a16:creationId xmlns:a16="http://schemas.microsoft.com/office/drawing/2014/main" id="{33CD8806-E3AE-1354-DB55-C8736FFB292D}"/>
              </a:ext>
            </a:extLst>
          </p:cNvPr>
          <p:cNvSpPr/>
          <p:nvPr/>
        </p:nvSpPr>
        <p:spPr>
          <a:xfrm>
            <a:off x="206194" y="2886686"/>
            <a:ext cx="4069799" cy="737783"/>
          </a:xfrm>
          <a:custGeom>
            <a:avLst/>
            <a:gdLst>
              <a:gd name="csX0" fmla="*/ 0 w 4069799"/>
              <a:gd name="csY0" fmla="*/ 64351 h 386100"/>
              <a:gd name="csX1" fmla="*/ 64351 w 4069799"/>
              <a:gd name="csY1" fmla="*/ 0 h 386100"/>
              <a:gd name="csX2" fmla="*/ 4005448 w 4069799"/>
              <a:gd name="csY2" fmla="*/ 0 h 386100"/>
              <a:gd name="csX3" fmla="*/ 4069799 w 4069799"/>
              <a:gd name="csY3" fmla="*/ 64351 h 386100"/>
              <a:gd name="csX4" fmla="*/ 4069799 w 4069799"/>
              <a:gd name="csY4" fmla="*/ 321749 h 386100"/>
              <a:gd name="csX5" fmla="*/ 4005448 w 4069799"/>
              <a:gd name="csY5" fmla="*/ 386100 h 386100"/>
              <a:gd name="csX6" fmla="*/ 64351 w 4069799"/>
              <a:gd name="csY6" fmla="*/ 386100 h 386100"/>
              <a:gd name="csX7" fmla="*/ 0 w 4069799"/>
              <a:gd name="csY7" fmla="*/ 321749 h 386100"/>
              <a:gd name="csX8" fmla="*/ 0 w 4069799"/>
              <a:gd name="csY8" fmla="*/ 64351 h 386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69799" h="386100">
                <a:moveTo>
                  <a:pt x="0" y="64351"/>
                </a:moveTo>
                <a:cubicBezTo>
                  <a:pt x="0" y="28811"/>
                  <a:pt x="28811" y="0"/>
                  <a:pt x="64351" y="0"/>
                </a:cubicBezTo>
                <a:lnTo>
                  <a:pt x="4005448" y="0"/>
                </a:lnTo>
                <a:cubicBezTo>
                  <a:pt x="4040988" y="0"/>
                  <a:pt x="4069799" y="28811"/>
                  <a:pt x="4069799" y="64351"/>
                </a:cubicBezTo>
                <a:lnTo>
                  <a:pt x="4069799" y="321749"/>
                </a:lnTo>
                <a:cubicBezTo>
                  <a:pt x="4069799" y="357289"/>
                  <a:pt x="4040988" y="386100"/>
                  <a:pt x="4005448" y="386100"/>
                </a:cubicBezTo>
                <a:lnTo>
                  <a:pt x="64351" y="386100"/>
                </a:lnTo>
                <a:cubicBezTo>
                  <a:pt x="28811" y="386100"/>
                  <a:pt x="0" y="357289"/>
                  <a:pt x="0" y="321749"/>
                </a:cubicBezTo>
                <a:lnTo>
                  <a:pt x="0" y="64351"/>
                </a:lnTo>
                <a:close/>
              </a:path>
            </a:pathLst>
          </a:custGeom>
          <a:solidFill>
            <a:srgbClr val="C09F5A"/>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5998" tIns="75998" rIns="75998" bIns="75998" numCol="1" spcCol="1270" anchor="ctr" anchorCtr="0">
            <a:noAutofit/>
          </a:bodyPr>
          <a:lstStyle/>
          <a:p>
            <a:pPr marL="0" lvl="0" indent="0" algn="l" defTabSz="666750">
              <a:lnSpc>
                <a:spcPct val="90000"/>
              </a:lnSpc>
              <a:spcBef>
                <a:spcPct val="0"/>
              </a:spcBef>
              <a:spcAft>
                <a:spcPct val="35000"/>
              </a:spcAft>
              <a:buNone/>
            </a:pPr>
            <a:r>
              <a:rPr lang="hu-HU" sz="2000" kern="1200" dirty="0">
                <a:latin typeface="Cambria" panose="02040503050406030204" pitchFamily="18" charset="0"/>
                <a:ea typeface="Cambria" panose="02040503050406030204" pitchFamily="18" charset="0"/>
              </a:rPr>
              <a:t>3</a:t>
            </a:r>
            <a:r>
              <a:rPr lang="en-US" sz="2000" b="0" i="0" kern="1200" dirty="0">
                <a:latin typeface="Cambria" panose="02040503050406030204" pitchFamily="18" charset="0"/>
                <a:ea typeface="Cambria" panose="02040503050406030204" pitchFamily="18" charset="0"/>
              </a:rPr>
              <a:t>. </a:t>
            </a:r>
            <a:r>
              <a:rPr lang="hu-HU" sz="2000" kern="1200" dirty="0">
                <a:latin typeface="Cambria" panose="02040503050406030204" pitchFamily="18" charset="0"/>
                <a:ea typeface="Cambria" panose="02040503050406030204" pitchFamily="18" charset="0"/>
              </a:rPr>
              <a:t>Jövőérték számítása</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9DAD3-F116-6154-CA29-DE6D41E1BFDD}"/>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99024FFE-DD0D-2E99-7C62-835D63DA87CF}"/>
              </a:ext>
            </a:extLst>
          </p:cNvPr>
          <p:cNvSpPr>
            <a:spLocks noGrp="1"/>
          </p:cNvSpPr>
          <p:nvPr>
            <p:ph type="title"/>
          </p:nvPr>
        </p:nvSpPr>
        <p:spPr>
          <a:xfrm>
            <a:off x="0" y="0"/>
            <a:ext cx="9144000" cy="531846"/>
          </a:xfrm>
          <a:solidFill>
            <a:srgbClr val="FFC000"/>
          </a:solidFill>
        </p:spPr>
        <p:txBody>
          <a:bodyPr anchor="ctr" anchorCtr="0"/>
          <a:lstStyle/>
          <a:p>
            <a:r>
              <a:rPr lang="hu-HU" dirty="0"/>
              <a:t>A legfontosabb fogalmak</a:t>
            </a:r>
          </a:p>
        </p:txBody>
      </p:sp>
      <p:pic>
        <p:nvPicPr>
          <p:cNvPr id="5" name="Ábra 4" descr="Ötletgyűjtés körvonalas">
            <a:extLst>
              <a:ext uri="{FF2B5EF4-FFF2-40B4-BE49-F238E27FC236}">
                <a16:creationId xmlns:a16="http://schemas.microsoft.com/office/drawing/2014/main" id="{13C8A636-E538-DF78-A942-8821DBF10F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0608" y="1656277"/>
            <a:ext cx="605402" cy="605402"/>
          </a:xfrm>
          <a:prstGeom prst="rect">
            <a:avLst/>
          </a:prstGeom>
        </p:spPr>
      </p:pic>
      <p:sp>
        <p:nvSpPr>
          <p:cNvPr id="9" name="Szövegdoboz 8">
            <a:extLst>
              <a:ext uri="{FF2B5EF4-FFF2-40B4-BE49-F238E27FC236}">
                <a16:creationId xmlns:a16="http://schemas.microsoft.com/office/drawing/2014/main" id="{E8ED6DB5-1CDB-B357-3E66-0F27E586C0B6}"/>
              </a:ext>
            </a:extLst>
          </p:cNvPr>
          <p:cNvSpPr txBox="1"/>
          <p:nvPr/>
        </p:nvSpPr>
        <p:spPr>
          <a:xfrm>
            <a:off x="1036460" y="1816999"/>
            <a:ext cx="2479729" cy="369332"/>
          </a:xfrm>
          <a:prstGeom prst="rect">
            <a:avLst/>
          </a:prstGeom>
          <a:noFill/>
        </p:spPr>
        <p:txBody>
          <a:bodyPr wrap="square" rtlCol="0">
            <a:spAutoFit/>
          </a:bodyPr>
          <a:lstStyle/>
          <a:p>
            <a:r>
              <a:rPr lang="hu-HU" sz="1800" b="1" dirty="0">
                <a:solidFill>
                  <a:srgbClr val="C00000"/>
                </a:solidFill>
                <a:latin typeface="Cambria" panose="02040503050406030204" pitchFamily="18" charset="0"/>
                <a:ea typeface="Cambria" panose="02040503050406030204" pitchFamily="18" charset="0"/>
              </a:rPr>
              <a:t>A pénz időértéke</a:t>
            </a:r>
          </a:p>
        </p:txBody>
      </p:sp>
      <p:sp>
        <p:nvSpPr>
          <p:cNvPr id="2" name="Szövegdoboz 1">
            <a:extLst>
              <a:ext uri="{FF2B5EF4-FFF2-40B4-BE49-F238E27FC236}">
                <a16:creationId xmlns:a16="http://schemas.microsoft.com/office/drawing/2014/main" id="{C58D7ACC-B66C-867C-72B3-92BC010D9BAA}"/>
              </a:ext>
            </a:extLst>
          </p:cNvPr>
          <p:cNvSpPr txBox="1"/>
          <p:nvPr/>
        </p:nvSpPr>
        <p:spPr>
          <a:xfrm>
            <a:off x="2961090" y="1293778"/>
            <a:ext cx="5751852" cy="1569660"/>
          </a:xfrm>
          <a:prstGeom prst="rect">
            <a:avLst/>
          </a:prstGeom>
          <a:noFill/>
        </p:spPr>
        <p:txBody>
          <a:bodyPr wrap="square" rtlCol="0">
            <a:spAutoFit/>
          </a:bodyPr>
          <a:lstStyle/>
          <a:p>
            <a:pPr algn="just"/>
            <a:r>
              <a:rPr lang="en-US" sz="1600" dirty="0">
                <a:latin typeface="Cambria" panose="02040503050406030204" pitchFamily="18" charset="0"/>
                <a:ea typeface="Cambria" panose="02040503050406030204" pitchFamily="18" charset="0"/>
              </a:rPr>
              <a:t>A </a:t>
            </a:r>
            <a:r>
              <a:rPr lang="en-US" sz="1600" dirty="0" err="1">
                <a:latin typeface="Cambria" panose="02040503050406030204" pitchFamily="18" charset="0"/>
                <a:ea typeface="Cambria" panose="02040503050406030204" pitchFamily="18" charset="0"/>
              </a:rPr>
              <a:t>pénz</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időértéke</a:t>
            </a:r>
            <a:r>
              <a:rPr lang="en-US" sz="1600" dirty="0">
                <a:latin typeface="Cambria" panose="02040503050406030204" pitchFamily="18" charset="0"/>
                <a:ea typeface="Cambria" panose="02040503050406030204" pitchFamily="18" charset="0"/>
              </a:rPr>
              <a:t> (Time Value of Money - TVM) </a:t>
            </a:r>
            <a:r>
              <a:rPr lang="en-US" sz="1600" dirty="0" err="1">
                <a:latin typeface="Cambria" panose="02040503050406030204" pitchFamily="18" charset="0"/>
                <a:ea typeface="Cambria" panose="02040503050406030204" pitchFamily="18" charset="0"/>
              </a:rPr>
              <a:t>azt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jelenti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hogy</a:t>
            </a:r>
            <a:r>
              <a:rPr lang="en-US" sz="1600" dirty="0">
                <a:latin typeface="Cambria" panose="02040503050406030204" pitchFamily="18" charset="0"/>
                <a:ea typeface="Cambria" panose="02040503050406030204" pitchFamily="18" charset="0"/>
              </a:rPr>
              <a:t> a ma </a:t>
            </a:r>
            <a:r>
              <a:rPr lang="en-US" sz="1600" dirty="0" err="1">
                <a:latin typeface="Cambria" panose="02040503050406030204" pitchFamily="18" charset="0"/>
                <a:ea typeface="Cambria" panose="02040503050406030204" pitchFamily="18" charset="0"/>
              </a:rPr>
              <a:t>birtokolt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pénz</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többet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ér</a:t>
            </a:r>
            <a:r>
              <a:rPr lang="en-US" sz="1600" dirty="0">
                <a:latin typeface="Cambria" panose="02040503050406030204" pitchFamily="18" charset="0"/>
                <a:ea typeface="Cambria" panose="02040503050406030204" pitchFamily="18" charset="0"/>
              </a:rPr>
              <a:t>, mint </a:t>
            </a:r>
            <a:r>
              <a:rPr lang="en-US" sz="1600" dirty="0" err="1">
                <a:latin typeface="Cambria" panose="02040503050406030204" pitchFamily="18" charset="0"/>
                <a:ea typeface="Cambria" panose="02040503050406030204" pitchFamily="18" charset="0"/>
              </a:rPr>
              <a:t>ugyanakkora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összeg</a:t>
            </a:r>
            <a:r>
              <a:rPr lang="en-US" sz="1600" dirty="0">
                <a:latin typeface="Cambria" panose="02040503050406030204" pitchFamily="18" charset="0"/>
                <a:ea typeface="Cambria" panose="02040503050406030204" pitchFamily="18" charset="0"/>
              </a:rPr>
              <a:t> a </a:t>
            </a:r>
            <a:r>
              <a:rPr lang="en-US" sz="1600" dirty="0" err="1">
                <a:latin typeface="Cambria" panose="02040503050406030204" pitchFamily="18" charset="0"/>
                <a:ea typeface="Cambria" panose="02040503050406030204" pitchFamily="18" charset="0"/>
              </a:rPr>
              <a:t>jövőben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mivel</a:t>
            </a:r>
            <a:r>
              <a:rPr lang="en-US" sz="1600" dirty="0">
                <a:latin typeface="Cambria" panose="02040503050406030204" pitchFamily="18" charset="0"/>
                <a:ea typeface="Cambria" panose="02040503050406030204" pitchFamily="18" charset="0"/>
              </a:rPr>
              <a:t> a </a:t>
            </a:r>
            <a:r>
              <a:rPr lang="en-US" sz="1600" dirty="0" err="1">
                <a:latin typeface="Cambria" panose="02040503050406030204" pitchFamily="18" charset="0"/>
                <a:ea typeface="Cambria" panose="02040503050406030204" pitchFamily="18" charset="0"/>
              </a:rPr>
              <a:t>jelenlegi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pénz</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befektethető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és</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hozamot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termel</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Alapvető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pénzügyi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koncepció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amely</a:t>
            </a:r>
            <a:r>
              <a:rPr lang="en-US" sz="1600" dirty="0">
                <a:latin typeface="Cambria" panose="02040503050406030204" pitchFamily="18" charset="0"/>
                <a:ea typeface="Cambria" panose="02040503050406030204" pitchFamily="18" charset="0"/>
              </a:rPr>
              <a:t> a </a:t>
            </a:r>
            <a:r>
              <a:rPr lang="en-US" sz="1600" dirty="0" err="1">
                <a:latin typeface="Cambria" panose="02040503050406030204" pitchFamily="18" charset="0"/>
                <a:ea typeface="Cambria" panose="02040503050406030204" pitchFamily="18" charset="0"/>
              </a:rPr>
              <a:t>kamatos</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kamat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az</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infláció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és</a:t>
            </a:r>
            <a:r>
              <a:rPr lang="en-US" sz="1600" dirty="0">
                <a:latin typeface="Cambria" panose="02040503050406030204" pitchFamily="18" charset="0"/>
                <a:ea typeface="Cambria" panose="02040503050406030204" pitchFamily="18" charset="0"/>
              </a:rPr>
              <a:t> a </a:t>
            </a:r>
            <a:r>
              <a:rPr lang="en-US" sz="1600" dirty="0" err="1">
                <a:latin typeface="Cambria" panose="02040503050406030204" pitchFamily="18" charset="0"/>
                <a:ea typeface="Cambria" panose="02040503050406030204" pitchFamily="18" charset="0"/>
              </a:rPr>
              <a:t>kockázat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figyelembevételével</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határozza</a:t>
            </a:r>
            <a:r>
              <a:rPr lang="en-US" sz="1600" dirty="0">
                <a:latin typeface="Cambria" panose="02040503050406030204" pitchFamily="18" charset="0"/>
                <a:ea typeface="Cambria" panose="02040503050406030204" pitchFamily="18" charset="0"/>
              </a:rPr>
              <a:t> meg a </a:t>
            </a:r>
            <a:r>
              <a:rPr lang="en-US" sz="1600" dirty="0" err="1">
                <a:latin typeface="Cambria" panose="02040503050406030204" pitchFamily="18" charset="0"/>
                <a:ea typeface="Cambria" panose="02040503050406030204" pitchFamily="18" charset="0"/>
              </a:rPr>
              <a:t>pénzáramok</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jelen</a:t>
            </a:r>
            <a:r>
              <a:rPr lang="en-US" sz="1600" dirty="0">
                <a:latin typeface="Cambria" panose="02040503050406030204" pitchFamily="18" charset="0"/>
                <a:ea typeface="Cambria" panose="02040503050406030204" pitchFamily="18" charset="0"/>
              </a:rPr>
              <a:t>- (PV) </a:t>
            </a:r>
            <a:r>
              <a:rPr lang="en-US" sz="1600" dirty="0" err="1">
                <a:latin typeface="Cambria" panose="02040503050406030204" pitchFamily="18" charset="0"/>
                <a:ea typeface="Cambria" panose="02040503050406030204" pitchFamily="18" charset="0"/>
              </a:rPr>
              <a:t>és</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jövőértékét</a:t>
            </a:r>
            <a:r>
              <a:rPr lang="en-US" sz="1600" dirty="0">
                <a:latin typeface="Cambria" panose="02040503050406030204" pitchFamily="18" charset="0"/>
                <a:ea typeface="Cambria" panose="02040503050406030204" pitchFamily="18" charset="0"/>
              </a:rPr>
              <a:t> (FV)</a:t>
            </a:r>
            <a:r>
              <a:rPr lang="hu-HU" sz="1600" dirty="0">
                <a:latin typeface="Cambria" panose="02040503050406030204" pitchFamily="18" charset="0"/>
                <a:ea typeface="Cambria" panose="02040503050406030204" pitchFamily="18" charset="0"/>
              </a:rPr>
              <a:t>.</a:t>
            </a:r>
            <a:r>
              <a:rPr lang="hu-HU" sz="1600" dirty="0">
                <a:solidFill>
                  <a:srgbClr val="00B050"/>
                </a:solidFill>
                <a:latin typeface="Cambria" panose="02040503050406030204" pitchFamily="18" charset="0"/>
                <a:ea typeface="Cambria" panose="02040503050406030204" pitchFamily="18" charset="0"/>
              </a:rPr>
              <a:t>​</a:t>
            </a:r>
          </a:p>
        </p:txBody>
      </p:sp>
      <p:pic>
        <p:nvPicPr>
          <p:cNvPr id="8" name="Ábra 7" descr="Ötletgyűjtés körvonalas">
            <a:extLst>
              <a:ext uri="{FF2B5EF4-FFF2-40B4-BE49-F238E27FC236}">
                <a16:creationId xmlns:a16="http://schemas.microsoft.com/office/drawing/2014/main" id="{082D774B-7C76-742F-FD2B-C701BCF9F2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1058" y="3384858"/>
            <a:ext cx="605402" cy="605402"/>
          </a:xfrm>
          <a:prstGeom prst="rect">
            <a:avLst/>
          </a:prstGeom>
        </p:spPr>
      </p:pic>
      <p:sp>
        <p:nvSpPr>
          <p:cNvPr id="15" name="Szövegdoboz 14">
            <a:extLst>
              <a:ext uri="{FF2B5EF4-FFF2-40B4-BE49-F238E27FC236}">
                <a16:creationId xmlns:a16="http://schemas.microsoft.com/office/drawing/2014/main" id="{2BF55EE5-BA1D-86B8-0811-08411DE3E9F0}"/>
              </a:ext>
            </a:extLst>
          </p:cNvPr>
          <p:cNvSpPr txBox="1"/>
          <p:nvPr/>
        </p:nvSpPr>
        <p:spPr>
          <a:xfrm>
            <a:off x="1089469" y="3545718"/>
            <a:ext cx="2479729" cy="369332"/>
          </a:xfrm>
          <a:prstGeom prst="rect">
            <a:avLst/>
          </a:prstGeom>
          <a:noFill/>
        </p:spPr>
        <p:txBody>
          <a:bodyPr wrap="square" rtlCol="0">
            <a:spAutoFit/>
          </a:bodyPr>
          <a:lstStyle/>
          <a:p>
            <a:r>
              <a:rPr lang="hu-HU" sz="1800" b="1" dirty="0">
                <a:solidFill>
                  <a:srgbClr val="C00000"/>
                </a:solidFill>
                <a:latin typeface="Cambria" panose="02040503050406030204" pitchFamily="18" charset="0"/>
                <a:ea typeface="Cambria" panose="02040503050406030204" pitchFamily="18" charset="0"/>
              </a:rPr>
              <a:t>Jövőérték</a:t>
            </a:r>
          </a:p>
        </p:txBody>
      </p:sp>
      <p:sp>
        <p:nvSpPr>
          <p:cNvPr id="17" name="Szövegdoboz 16">
            <a:extLst>
              <a:ext uri="{FF2B5EF4-FFF2-40B4-BE49-F238E27FC236}">
                <a16:creationId xmlns:a16="http://schemas.microsoft.com/office/drawing/2014/main" id="{097E9D3D-F2A7-7D6C-4805-0ACA96F06FA9}"/>
              </a:ext>
            </a:extLst>
          </p:cNvPr>
          <p:cNvSpPr txBox="1"/>
          <p:nvPr/>
        </p:nvSpPr>
        <p:spPr>
          <a:xfrm>
            <a:off x="2996572" y="3298583"/>
            <a:ext cx="5716370" cy="1077218"/>
          </a:xfrm>
          <a:prstGeom prst="rect">
            <a:avLst/>
          </a:prstGeom>
          <a:noFill/>
        </p:spPr>
        <p:txBody>
          <a:bodyPr wrap="square" rtlCol="0">
            <a:spAutoFit/>
          </a:bodyPr>
          <a:lstStyle/>
          <a:p>
            <a:pPr algn="just"/>
            <a:r>
              <a:rPr lang="en-US" sz="1600" dirty="0">
                <a:latin typeface="Cambria" panose="02040503050406030204" pitchFamily="18" charset="0"/>
                <a:ea typeface="Cambria" panose="02040503050406030204" pitchFamily="18" charset="0"/>
              </a:rPr>
              <a:t>A </a:t>
            </a:r>
            <a:r>
              <a:rPr lang="en-US" sz="1600" dirty="0" err="1">
                <a:latin typeface="Cambria" panose="02040503050406030204" pitchFamily="18" charset="0"/>
                <a:ea typeface="Cambria" panose="02040503050406030204" pitchFamily="18" charset="0"/>
              </a:rPr>
              <a:t>jövőérték</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angolul</a:t>
            </a:r>
            <a:r>
              <a:rPr lang="en-US" sz="1600" dirty="0">
                <a:latin typeface="Cambria" panose="02040503050406030204" pitchFamily="18" charset="0"/>
                <a:ea typeface="Cambria" panose="02040503050406030204" pitchFamily="18" charset="0"/>
              </a:rPr>
              <a:t> Future Value, </a:t>
            </a:r>
            <a:r>
              <a:rPr lang="en-US" sz="1600" dirty="0" err="1">
                <a:latin typeface="Cambria" panose="02040503050406030204" pitchFamily="18" charset="0"/>
                <a:ea typeface="Cambria" panose="02040503050406030204" pitchFamily="18" charset="0"/>
              </a:rPr>
              <a:t>rövidítve</a:t>
            </a:r>
            <a:r>
              <a:rPr lang="en-US" sz="1600" dirty="0">
                <a:latin typeface="Cambria" panose="02040503050406030204" pitchFamily="18" charset="0"/>
                <a:ea typeface="Cambria" panose="02040503050406030204" pitchFamily="18" charset="0"/>
              </a:rPr>
              <a:t> FV) </a:t>
            </a:r>
            <a:r>
              <a:rPr lang="en-US" sz="1600" dirty="0" err="1">
                <a:latin typeface="Cambria" panose="02040503050406030204" pitchFamily="18" charset="0"/>
                <a:ea typeface="Cambria" panose="02040503050406030204" pitchFamily="18" charset="0"/>
              </a:rPr>
              <a:t>azt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mutatja</a:t>
            </a:r>
            <a:r>
              <a:rPr lang="en-US" sz="1600" dirty="0">
                <a:latin typeface="Cambria" panose="02040503050406030204" pitchFamily="18" charset="0"/>
                <a:ea typeface="Cambria" panose="02040503050406030204" pitchFamily="18" charset="0"/>
              </a:rPr>
              <a:t> meg, </a:t>
            </a:r>
            <a:r>
              <a:rPr lang="en-US" sz="1600" dirty="0" err="1">
                <a:latin typeface="Cambria" panose="02040503050406030204" pitchFamily="18" charset="0"/>
                <a:ea typeface="Cambria" panose="02040503050406030204" pitchFamily="18" charset="0"/>
              </a:rPr>
              <a:t>hogy</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egy</a:t>
            </a:r>
            <a:r>
              <a:rPr lang="en-US" sz="1600" dirty="0">
                <a:latin typeface="Cambria" panose="02040503050406030204" pitchFamily="18" charset="0"/>
                <a:ea typeface="Cambria" panose="02040503050406030204" pitchFamily="18" charset="0"/>
              </a:rPr>
              <a:t> ma </a:t>
            </a:r>
            <a:r>
              <a:rPr lang="en-US" sz="1600" dirty="0" err="1">
                <a:latin typeface="Cambria" panose="02040503050406030204" pitchFamily="18" charset="0"/>
                <a:ea typeface="Cambria" panose="02040503050406030204" pitchFamily="18" charset="0"/>
              </a:rPr>
              <a:t>befektetett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pénzösszeg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egy</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adott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időpontban</a:t>
            </a:r>
            <a:r>
              <a:rPr lang="en-US" sz="1600" dirty="0">
                <a:latin typeface="Cambria" panose="02040503050406030204" pitchFamily="18" charset="0"/>
                <a:ea typeface="Cambria" panose="02040503050406030204" pitchFamily="18" charset="0"/>
              </a:rPr>
              <a:t> a </a:t>
            </a:r>
            <a:r>
              <a:rPr lang="en-US" sz="1600" dirty="0" err="1">
                <a:latin typeface="Cambria" panose="02040503050406030204" pitchFamily="18" charset="0"/>
                <a:ea typeface="Cambria" panose="02040503050406030204" pitchFamily="18" charset="0"/>
              </a:rPr>
              <a:t>jövőben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mennyit</a:t>
            </a:r>
            <a:r>
              <a:rPr lang="en-US" sz="1600" dirty="0">
                <a:latin typeface="Cambria" panose="02040503050406030204" pitchFamily="18" charset="0"/>
                <a:ea typeface="Cambria" panose="02040503050406030204" pitchFamily="18" charset="0"/>
              </a:rPr>
              <a:t> fog </a:t>
            </a:r>
            <a:r>
              <a:rPr lang="en-US" sz="1600" dirty="0" err="1">
                <a:latin typeface="Cambria" panose="02040503050406030204" pitchFamily="18" charset="0"/>
                <a:ea typeface="Cambria" panose="02040503050406030204" pitchFamily="18" charset="0"/>
              </a:rPr>
              <a:t>érni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figyelembe</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véve</a:t>
            </a:r>
            <a:r>
              <a:rPr lang="en-US" sz="1600" dirty="0">
                <a:latin typeface="Cambria" panose="02040503050406030204" pitchFamily="18" charset="0"/>
                <a:ea typeface="Cambria" panose="02040503050406030204" pitchFamily="18" charset="0"/>
              </a:rPr>
              <a:t> a </a:t>
            </a:r>
            <a:r>
              <a:rPr lang="en-US" sz="1600" dirty="0" err="1">
                <a:latin typeface="Cambria" panose="02040503050406030204" pitchFamily="18" charset="0"/>
                <a:ea typeface="Cambria" panose="02040503050406030204" pitchFamily="18" charset="0"/>
              </a:rPr>
              <a:t>kamatokat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vagy</a:t>
            </a:r>
            <a:r>
              <a:rPr lang="en-US" sz="1600" dirty="0">
                <a:latin typeface="Cambria" panose="02040503050406030204" pitchFamily="18" charset="0"/>
                <a:ea typeface="Cambria" panose="02040503050406030204" pitchFamily="18" charset="0"/>
              </a:rPr>
              <a:t> a </a:t>
            </a:r>
            <a:r>
              <a:rPr lang="en-US" sz="1600" dirty="0" err="1">
                <a:latin typeface="Cambria" panose="02040503050406030204" pitchFamily="18" charset="0"/>
                <a:ea typeface="Cambria" panose="02040503050406030204" pitchFamily="18" charset="0"/>
              </a:rPr>
              <a:t>várható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hozamot</a:t>
            </a:r>
            <a:r>
              <a:rPr lang="en-US" sz="1600" dirty="0">
                <a:latin typeface="Cambria" panose="02040503050406030204" pitchFamily="18" charset="0"/>
                <a:ea typeface="Cambria" panose="02040503050406030204" pitchFamily="18" charset="0"/>
              </a:rPr>
              <a:t>.</a:t>
            </a:r>
            <a:endParaRPr lang="hu-HU"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284713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5EE2768-00FF-5313-6CC4-082657EFE909}"/>
              </a:ext>
            </a:extLst>
          </p:cNvPr>
          <p:cNvSpPr>
            <a:spLocks noGrp="1"/>
          </p:cNvSpPr>
          <p:nvPr>
            <p:ph type="ctrTitle"/>
          </p:nvPr>
        </p:nvSpPr>
        <p:spPr>
          <a:xfrm>
            <a:off x="1143000" y="1861457"/>
            <a:ext cx="6858000" cy="771015"/>
          </a:xfrm>
          <a:solidFill>
            <a:srgbClr val="FFC000"/>
          </a:solidFill>
        </p:spPr>
        <p:txBody>
          <a:bodyPr/>
          <a:lstStyle/>
          <a:p>
            <a:r>
              <a:rPr lang="hu-HU" dirty="0">
                <a:latin typeface="Cambria" panose="02040503050406030204" pitchFamily="18" charset="0"/>
                <a:ea typeface="Cambria" panose="02040503050406030204" pitchFamily="18" charset="0"/>
              </a:rPr>
              <a:t>1. rész: Kamatszámítás</a:t>
            </a:r>
          </a:p>
        </p:txBody>
      </p:sp>
    </p:spTree>
    <p:extLst>
      <p:ext uri="{BB962C8B-B14F-4D97-AF65-F5344CB8AC3E}">
        <p14:creationId xmlns:p14="http://schemas.microsoft.com/office/powerpoint/2010/main" val="34018447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artalom helye 2">
            <a:extLst>
              <a:ext uri="{FF2B5EF4-FFF2-40B4-BE49-F238E27FC236}">
                <a16:creationId xmlns:a16="http://schemas.microsoft.com/office/drawing/2014/main" id="{40D79763-FE8B-F7C1-BBB5-C0AE4724C5BF}"/>
              </a:ext>
            </a:extLst>
          </p:cNvPr>
          <p:cNvSpPr txBox="1">
            <a:spLocks/>
          </p:cNvSpPr>
          <p:nvPr/>
        </p:nvSpPr>
        <p:spPr>
          <a:xfrm>
            <a:off x="288132" y="1310921"/>
            <a:ext cx="8692514" cy="33004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1800" dirty="0">
                <a:latin typeface="Cambria" panose="02040503050406030204" pitchFamily="18" charset="0"/>
                <a:ea typeface="Cambria" panose="02040503050406030204" pitchFamily="18" charset="0"/>
              </a:rPr>
              <a:t>Csak azonos időpontban esedékes pénzáramok egyenértékűek</a:t>
            </a:r>
          </a:p>
          <a:p>
            <a:r>
              <a:rPr lang="hu-HU" sz="1800" b="1" i="1" dirty="0">
                <a:latin typeface="Cambria" panose="02040503050406030204" pitchFamily="18" charset="0"/>
                <a:ea typeface="Cambria" panose="02040503050406030204" pitchFamily="18" charset="0"/>
              </a:rPr>
              <a:t>Jövőérték (</a:t>
            </a:r>
            <a:r>
              <a:rPr lang="hu-HU" sz="1800" b="1" i="1" dirty="0" err="1">
                <a:latin typeface="Cambria" panose="02040503050406030204" pitchFamily="18" charset="0"/>
                <a:ea typeface="Cambria" panose="02040503050406030204" pitchFamily="18" charset="0"/>
              </a:rPr>
              <a:t>Future</a:t>
            </a:r>
            <a:r>
              <a:rPr lang="hu-HU" sz="1800" b="1" i="1" dirty="0">
                <a:latin typeface="Cambria" panose="02040503050406030204" pitchFamily="18" charset="0"/>
                <a:ea typeface="Cambria" panose="02040503050406030204" pitchFamily="18" charset="0"/>
              </a:rPr>
              <a:t> </a:t>
            </a:r>
            <a:r>
              <a:rPr lang="hu-HU" sz="1800" b="1" i="1" dirty="0" err="1">
                <a:latin typeface="Cambria" panose="02040503050406030204" pitchFamily="18" charset="0"/>
                <a:ea typeface="Cambria" panose="02040503050406030204" pitchFamily="18" charset="0"/>
              </a:rPr>
              <a:t>Value:FV</a:t>
            </a:r>
            <a:r>
              <a:rPr lang="hu-HU" sz="1800" b="1" i="1" dirty="0">
                <a:latin typeface="Cambria" panose="02040503050406030204" pitchFamily="18" charset="0"/>
                <a:ea typeface="Cambria" panose="02040503050406030204" pitchFamily="18" charset="0"/>
              </a:rPr>
              <a:t>)</a:t>
            </a:r>
          </a:p>
          <a:p>
            <a:r>
              <a:rPr lang="hu-HU" sz="1800" dirty="0">
                <a:latin typeface="Cambria" panose="02040503050406030204" pitchFamily="18" charset="0"/>
                <a:ea typeface="Cambria" panose="02040503050406030204" pitchFamily="18" charset="0"/>
              </a:rPr>
              <a:t>A </a:t>
            </a:r>
            <a:r>
              <a:rPr lang="hu-HU" sz="1800" dirty="0" err="1">
                <a:latin typeface="Cambria" panose="02040503050406030204" pitchFamily="18" charset="0"/>
                <a:ea typeface="Cambria" panose="02040503050406030204" pitchFamily="18" charset="0"/>
              </a:rPr>
              <a:t>jelenbeli</a:t>
            </a:r>
            <a:r>
              <a:rPr lang="hu-HU" sz="1800" dirty="0">
                <a:latin typeface="Cambria" panose="02040503050406030204" pitchFamily="18" charset="0"/>
                <a:ea typeface="Cambria" panose="02040503050406030204" pitchFamily="18" charset="0"/>
              </a:rPr>
              <a:t> pénzáramlás meghatározott időszak alatt felnövekedett értéke, valamely jövőbeli időpontban esedékes pénzáramlás</a:t>
            </a:r>
          </a:p>
          <a:p>
            <a:r>
              <a:rPr lang="hu-HU" sz="1800" b="1" i="1" dirty="0">
                <a:latin typeface="Cambria" panose="02040503050406030204" pitchFamily="18" charset="0"/>
                <a:ea typeface="Cambria" panose="02040503050406030204" pitchFamily="18" charset="0"/>
              </a:rPr>
              <a:t>Jelenérték (</a:t>
            </a:r>
            <a:r>
              <a:rPr lang="hu-HU" sz="1800" b="1" i="1" dirty="0" err="1">
                <a:latin typeface="Cambria" panose="02040503050406030204" pitchFamily="18" charset="0"/>
                <a:ea typeface="Cambria" panose="02040503050406030204" pitchFamily="18" charset="0"/>
              </a:rPr>
              <a:t>Present</a:t>
            </a:r>
            <a:r>
              <a:rPr lang="hu-HU" sz="1800" b="1" i="1" dirty="0">
                <a:latin typeface="Cambria" panose="02040503050406030204" pitchFamily="18" charset="0"/>
                <a:ea typeface="Cambria" panose="02040503050406030204" pitchFamily="18" charset="0"/>
              </a:rPr>
              <a:t> </a:t>
            </a:r>
            <a:r>
              <a:rPr lang="hu-HU" sz="1800" b="1" i="1" dirty="0" err="1">
                <a:latin typeface="Cambria" panose="02040503050406030204" pitchFamily="18" charset="0"/>
                <a:ea typeface="Cambria" panose="02040503050406030204" pitchFamily="18" charset="0"/>
              </a:rPr>
              <a:t>Value:PV</a:t>
            </a:r>
            <a:r>
              <a:rPr lang="hu-HU" sz="1800" b="1" i="1" dirty="0">
                <a:latin typeface="Cambria" panose="02040503050406030204" pitchFamily="18" charset="0"/>
                <a:ea typeface="Cambria" panose="02040503050406030204" pitchFamily="18" charset="0"/>
              </a:rPr>
              <a:t>)</a:t>
            </a:r>
          </a:p>
          <a:p>
            <a:r>
              <a:rPr lang="hu-HU" sz="1800" dirty="0" err="1">
                <a:latin typeface="Cambria" panose="02040503050406030204" pitchFamily="18" charset="0"/>
                <a:ea typeface="Cambria" panose="02040503050406030204" pitchFamily="18" charset="0"/>
              </a:rPr>
              <a:t>Jelenbeli</a:t>
            </a:r>
            <a:r>
              <a:rPr lang="hu-HU" sz="1800" dirty="0">
                <a:latin typeface="Cambria" panose="02040503050406030204" pitchFamily="18" charset="0"/>
                <a:ea typeface="Cambria" panose="02040503050406030204" pitchFamily="18" charset="0"/>
              </a:rPr>
              <a:t> pénzáramlás, amelyre a különböző konkrét pénzügyi számításokban a kezdőtőke, indulótőke vagy névérték kifejezést is használjuk</a:t>
            </a:r>
          </a:p>
        </p:txBody>
      </p:sp>
      <p:sp>
        <p:nvSpPr>
          <p:cNvPr id="10" name="Cím 1">
            <a:extLst>
              <a:ext uri="{FF2B5EF4-FFF2-40B4-BE49-F238E27FC236}">
                <a16:creationId xmlns:a16="http://schemas.microsoft.com/office/drawing/2014/main" id="{B8FE57AA-9B9D-679C-7407-69F6D8ED653B}"/>
              </a:ext>
            </a:extLst>
          </p:cNvPr>
          <p:cNvSpPr txBox="1">
            <a:spLocks/>
          </p:cNvSpPr>
          <p:nvPr/>
        </p:nvSpPr>
        <p:spPr>
          <a:xfrm>
            <a:off x="640644" y="342322"/>
            <a:ext cx="7987489" cy="611835"/>
          </a:xfrm>
          <a:prstGeom prst="rect">
            <a:avLst/>
          </a:prstGeom>
          <a:solidFill>
            <a:srgbClr val="FFC000"/>
          </a:solidFill>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3300" dirty="0">
                <a:latin typeface="Cambria" panose="02040503050406030204" pitchFamily="18" charset="0"/>
                <a:ea typeface="Cambria" panose="02040503050406030204" pitchFamily="18" charset="0"/>
              </a:rPr>
              <a:t>A pénz időértéke (The Time </a:t>
            </a:r>
            <a:r>
              <a:rPr lang="hu-HU" sz="3300" dirty="0" err="1">
                <a:latin typeface="Cambria" panose="02040503050406030204" pitchFamily="18" charset="0"/>
                <a:ea typeface="Cambria" panose="02040503050406030204" pitchFamily="18" charset="0"/>
              </a:rPr>
              <a:t>Value</a:t>
            </a:r>
            <a:r>
              <a:rPr lang="hu-HU" sz="3300" dirty="0">
                <a:latin typeface="Cambria" panose="02040503050406030204" pitchFamily="18" charset="0"/>
                <a:ea typeface="Cambria" panose="02040503050406030204" pitchFamily="18" charset="0"/>
              </a:rPr>
              <a:t> of Money)</a:t>
            </a:r>
          </a:p>
        </p:txBody>
      </p:sp>
    </p:spTree>
    <p:extLst>
      <p:ext uri="{BB962C8B-B14F-4D97-AF65-F5344CB8AC3E}">
        <p14:creationId xmlns:p14="http://schemas.microsoft.com/office/powerpoint/2010/main" val="920722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91C93-6C55-E0D5-4221-3DFFA049E850}"/>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2A759C19-E4CD-9EAC-E9D3-91E0D2802889}"/>
              </a:ext>
            </a:extLst>
          </p:cNvPr>
          <p:cNvSpPr>
            <a:spLocks noGrp="1"/>
          </p:cNvSpPr>
          <p:nvPr>
            <p:ph type="title"/>
          </p:nvPr>
        </p:nvSpPr>
        <p:spPr>
          <a:xfrm>
            <a:off x="0" y="0"/>
            <a:ext cx="9144000" cy="531846"/>
          </a:xfrm>
          <a:solidFill>
            <a:srgbClr val="FFC000"/>
          </a:solidFill>
        </p:spPr>
        <p:txBody>
          <a:bodyPr anchor="ctr" anchorCtr="0"/>
          <a:lstStyle/>
          <a:p>
            <a:r>
              <a:rPr lang="hu-HU" dirty="0"/>
              <a:t>Definíciók</a:t>
            </a:r>
          </a:p>
        </p:txBody>
      </p:sp>
      <p:sp>
        <p:nvSpPr>
          <p:cNvPr id="2" name="Tartalom helye 5">
            <a:extLst>
              <a:ext uri="{FF2B5EF4-FFF2-40B4-BE49-F238E27FC236}">
                <a16:creationId xmlns:a16="http://schemas.microsoft.com/office/drawing/2014/main" id="{2E8A5985-C689-43F4-F502-BEEFDB5C5E85}"/>
              </a:ext>
            </a:extLst>
          </p:cNvPr>
          <p:cNvSpPr txBox="1">
            <a:spLocks/>
          </p:cNvSpPr>
          <p:nvPr/>
        </p:nvSpPr>
        <p:spPr>
          <a:xfrm>
            <a:off x="86139" y="735566"/>
            <a:ext cx="8984974" cy="3564763"/>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gn="just"/>
            <a:r>
              <a:rPr lang="hu-HU" sz="1600" b="0" dirty="0">
                <a:solidFill>
                  <a:srgbClr val="000000"/>
                </a:solidFill>
                <a:latin typeface="Cambria" panose="02040503050406030204" pitchFamily="18" charset="0"/>
                <a:ea typeface="Cambria" panose="02040503050406030204" pitchFamily="18" charset="0"/>
                <a:cs typeface="Arial"/>
              </a:rPr>
              <a:t>A </a:t>
            </a:r>
            <a:r>
              <a:rPr lang="hu-HU" sz="1600" dirty="0">
                <a:solidFill>
                  <a:srgbClr val="C00000"/>
                </a:solidFill>
                <a:latin typeface="Cambria" panose="02040503050406030204" pitchFamily="18" charset="0"/>
                <a:ea typeface="Cambria" panose="02040503050406030204" pitchFamily="18" charset="0"/>
                <a:cs typeface="Arial"/>
              </a:rPr>
              <a:t>kamat</a:t>
            </a:r>
            <a:r>
              <a:rPr lang="hu-HU" sz="1600" b="0" dirty="0">
                <a:solidFill>
                  <a:srgbClr val="000000"/>
                </a:solidFill>
                <a:latin typeface="Cambria" panose="02040503050406030204" pitchFamily="18" charset="0"/>
                <a:ea typeface="Cambria" panose="02040503050406030204" pitchFamily="18" charset="0"/>
                <a:cs typeface="Arial"/>
              </a:rPr>
              <a:t> az a pénzmennyiség, amellyel a lekötött pénz egy adott kamatozási időtartam alatt növekszik. </a:t>
            </a:r>
          </a:p>
          <a:p>
            <a:pPr algn="just"/>
            <a:r>
              <a:rPr lang="hu-HU" sz="1600" b="0" dirty="0">
                <a:solidFill>
                  <a:srgbClr val="000000"/>
                </a:solidFill>
                <a:latin typeface="Cambria" panose="02040503050406030204" pitchFamily="18" charset="0"/>
                <a:ea typeface="Cambria" panose="02040503050406030204" pitchFamily="18" charset="0"/>
                <a:cs typeface="Arial"/>
              </a:rPr>
              <a:t>A kamat az a pénzösszeg, amelyet a megtakarító azért kap, mert a pénzét kölcsönadja, illetve melyet az adós azért fizet, mert jövőbeli pénzéért </a:t>
            </a:r>
            <a:r>
              <a:rPr lang="hu-HU" sz="1600" b="0" dirty="0" err="1">
                <a:solidFill>
                  <a:srgbClr val="000000"/>
                </a:solidFill>
                <a:latin typeface="Cambria" panose="02040503050406030204" pitchFamily="18" charset="0"/>
                <a:ea typeface="Cambria" panose="02040503050406030204" pitchFamily="18" charset="0"/>
                <a:cs typeface="Arial"/>
              </a:rPr>
              <a:t>jelenbeli</a:t>
            </a:r>
            <a:r>
              <a:rPr lang="hu-HU" sz="1600" b="0" dirty="0">
                <a:solidFill>
                  <a:srgbClr val="000000"/>
                </a:solidFill>
                <a:latin typeface="Cambria" panose="02040503050406030204" pitchFamily="18" charset="0"/>
                <a:ea typeface="Cambria" panose="02040503050406030204" pitchFamily="18" charset="0"/>
                <a:cs typeface="Arial"/>
              </a:rPr>
              <a:t> pénzt kap, azaz más pénzét használja. </a:t>
            </a:r>
          </a:p>
          <a:p>
            <a:pPr algn="just"/>
            <a:r>
              <a:rPr lang="hu-HU" sz="1600" dirty="0">
                <a:solidFill>
                  <a:srgbClr val="0070C0"/>
                </a:solidFill>
                <a:latin typeface="Cambria" panose="02040503050406030204" pitchFamily="18" charset="0"/>
                <a:ea typeface="Cambria" panose="02040503050406030204" pitchFamily="18" charset="0"/>
                <a:cs typeface="Arial"/>
              </a:rPr>
              <a:t>Jövőbeli pénz </a:t>
            </a:r>
            <a:r>
              <a:rPr lang="hu-HU" sz="1600" b="0" dirty="0">
                <a:solidFill>
                  <a:srgbClr val="000000"/>
                </a:solidFill>
                <a:latin typeface="Cambria" panose="02040503050406030204" pitchFamily="18" charset="0"/>
                <a:ea typeface="Cambria" panose="02040503050406030204" pitchFamily="18" charset="0"/>
                <a:cs typeface="Arial"/>
              </a:rPr>
              <a:t>= jelenlegi pénz és a teljes időszak alatt kapott kamatok összege. </a:t>
            </a:r>
            <a:r>
              <a:rPr lang="hu-HU" sz="1600" dirty="0">
                <a:solidFill>
                  <a:srgbClr val="0070C0"/>
                </a:solidFill>
                <a:latin typeface="Cambria" panose="02040503050406030204" pitchFamily="18" charset="0"/>
                <a:ea typeface="Cambria" panose="02040503050406030204" pitchFamily="18" charset="0"/>
                <a:cs typeface="Arial"/>
              </a:rPr>
              <a:t>(FV = PV + kamat)</a:t>
            </a:r>
          </a:p>
          <a:p>
            <a:pPr algn="just"/>
            <a:r>
              <a:rPr lang="hu-HU" sz="1600" dirty="0">
                <a:latin typeface="Cambria" panose="02040503050406030204" pitchFamily="18" charset="0"/>
                <a:ea typeface="Cambria" panose="02040503050406030204" pitchFamily="18" charset="0"/>
              </a:rPr>
              <a:t>Jövőérték számítás: A mai (</a:t>
            </a:r>
            <a:r>
              <a:rPr lang="hu-HU" sz="1600" dirty="0" err="1">
                <a:latin typeface="Cambria" panose="02040503050406030204" pitchFamily="18" charset="0"/>
                <a:ea typeface="Cambria" panose="02040503050406030204" pitchFamily="18" charset="0"/>
              </a:rPr>
              <a:t>jelenbeli</a:t>
            </a:r>
            <a:r>
              <a:rPr lang="hu-HU" sz="1600" dirty="0">
                <a:latin typeface="Cambria" panose="02040503050406030204" pitchFamily="18" charset="0"/>
                <a:ea typeface="Cambria" panose="02040503050406030204" pitchFamily="18" charset="0"/>
              </a:rPr>
              <a:t>) pénzösszeg valamely jövőbeli időpontra vonatkozó értékének a meghatározása</a:t>
            </a:r>
            <a:endParaRPr lang="hu-HU" sz="1600" b="0" dirty="0">
              <a:solidFill>
                <a:srgbClr val="000000"/>
              </a:solidFill>
              <a:latin typeface="Cambria" panose="02040503050406030204" pitchFamily="18" charset="0"/>
              <a:ea typeface="Cambria" panose="02040503050406030204" pitchFamily="18" charset="0"/>
              <a:cs typeface="Arial"/>
            </a:endParaRPr>
          </a:p>
          <a:p>
            <a:r>
              <a:rPr lang="hu-HU" sz="1600" i="1" dirty="0">
                <a:latin typeface="Cambria" panose="02040503050406030204" pitchFamily="18" charset="0"/>
                <a:ea typeface="Cambria" panose="02040503050406030204" pitchFamily="18" charset="0"/>
              </a:rPr>
              <a:t>A jövőérték számítás a kamatszámítás módszerén alapul</a:t>
            </a:r>
          </a:p>
          <a:p>
            <a:r>
              <a:rPr lang="hu-HU" sz="1600" b="0" u="sng" dirty="0">
                <a:latin typeface="Cambria" panose="02040503050406030204" pitchFamily="18" charset="0"/>
                <a:ea typeface="Cambria" panose="02040503050406030204" pitchFamily="18" charset="0"/>
              </a:rPr>
              <a:t>Kamatozási időtartam: </a:t>
            </a:r>
            <a:r>
              <a:rPr lang="hu-HU" sz="1600" b="0" dirty="0">
                <a:latin typeface="Cambria" panose="02040503050406030204" pitchFamily="18" charset="0"/>
                <a:ea typeface="Cambria" panose="02040503050406030204" pitchFamily="18" charset="0"/>
              </a:rPr>
              <a:t>a </a:t>
            </a:r>
            <a:r>
              <a:rPr lang="hu-HU" sz="1600" b="0" dirty="0" err="1">
                <a:latin typeface="Cambria" panose="02040503050406030204" pitchFamily="18" charset="0"/>
                <a:ea typeface="Cambria" panose="02040503050406030204" pitchFamily="18" charset="0"/>
              </a:rPr>
              <a:t>jelenbeli</a:t>
            </a:r>
            <a:r>
              <a:rPr lang="hu-HU" sz="1600" b="0" dirty="0">
                <a:latin typeface="Cambria" panose="02040503050406030204" pitchFamily="18" charset="0"/>
                <a:ea typeface="Cambria" panose="02040503050406030204" pitchFamily="18" charset="0"/>
              </a:rPr>
              <a:t> és jövőbeli időpont, a befektetés megkezdése és lezárása között eltelt idő hossza</a:t>
            </a:r>
          </a:p>
          <a:p>
            <a:r>
              <a:rPr lang="hu-HU" sz="1600" b="0" u="sng" dirty="0">
                <a:latin typeface="Cambria" panose="02040503050406030204" pitchFamily="18" charset="0"/>
                <a:ea typeface="Cambria" panose="02040503050406030204" pitchFamily="18" charset="0"/>
              </a:rPr>
              <a:t>Kamatperiódus: </a:t>
            </a:r>
            <a:r>
              <a:rPr lang="hu-HU" sz="1600" b="0" dirty="0">
                <a:latin typeface="Cambria" panose="02040503050406030204" pitchFamily="18" charset="0"/>
                <a:ea typeface="Cambria" panose="02040503050406030204" pitchFamily="18" charset="0"/>
              </a:rPr>
              <a:t>a kamatozás gyakoriságára utal. Ha a kamatperiódus egy évnél rövidebb, akkor azt külön jelölni kell</a:t>
            </a:r>
          </a:p>
          <a:p>
            <a:pPr algn="just"/>
            <a:endParaRPr lang="en-GB" sz="1600" b="0" dirty="0">
              <a:solidFill>
                <a:srgbClr val="000000"/>
              </a:solidFill>
              <a:latin typeface="Cambria" panose="02040503050406030204" pitchFamily="18" charset="0"/>
              <a:ea typeface="Cambria" panose="02040503050406030204" pitchFamily="18" charset="0"/>
              <a:cs typeface="Arial"/>
            </a:endParaRPr>
          </a:p>
        </p:txBody>
      </p:sp>
    </p:spTree>
    <p:extLst>
      <p:ext uri="{BB962C8B-B14F-4D97-AF65-F5344CB8AC3E}">
        <p14:creationId xmlns:p14="http://schemas.microsoft.com/office/powerpoint/2010/main" val="279510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05769-C06C-4E2E-B194-E7E3F9F0F5BC}"/>
            </a:ext>
          </a:extLst>
        </p:cNvPr>
        <p:cNvGrpSpPr/>
        <p:nvPr/>
      </p:nvGrpSpPr>
      <p:grpSpPr>
        <a:xfrm>
          <a:off x="0" y="0"/>
          <a:ext cx="0" cy="0"/>
          <a:chOff x="0" y="0"/>
          <a:chExt cx="0" cy="0"/>
        </a:xfrm>
      </p:grpSpPr>
      <p:sp>
        <p:nvSpPr>
          <p:cNvPr id="5" name="Tartalom helye 2">
            <a:extLst>
              <a:ext uri="{FF2B5EF4-FFF2-40B4-BE49-F238E27FC236}">
                <a16:creationId xmlns:a16="http://schemas.microsoft.com/office/drawing/2014/main" id="{0055238A-9AD8-55F8-319C-64A2E94D797E}"/>
              </a:ext>
            </a:extLst>
          </p:cNvPr>
          <p:cNvSpPr txBox="1">
            <a:spLocks/>
          </p:cNvSpPr>
          <p:nvPr/>
        </p:nvSpPr>
        <p:spPr>
          <a:xfrm>
            <a:off x="523272" y="1311944"/>
            <a:ext cx="7543800" cy="282066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700" dirty="0">
                <a:latin typeface="Cambria" panose="02040503050406030204" pitchFamily="18" charset="0"/>
                <a:ea typeface="Cambria" panose="02040503050406030204" pitchFamily="18" charset="0"/>
              </a:rPr>
              <a:t>Tőke alternatív költsége</a:t>
            </a:r>
          </a:p>
          <a:p>
            <a:r>
              <a:rPr lang="hu-HU" sz="2700" dirty="0">
                <a:latin typeface="Cambria" panose="02040503050406030204" pitchFamily="18" charset="0"/>
                <a:ea typeface="Cambria" panose="02040503050406030204" pitchFamily="18" charset="0"/>
              </a:rPr>
              <a:t>Befektetők által elvárt hozam</a:t>
            </a:r>
          </a:p>
          <a:p>
            <a:r>
              <a:rPr lang="hu-HU" sz="2700" dirty="0">
                <a:latin typeface="Cambria" panose="02040503050406030204" pitchFamily="18" charset="0"/>
                <a:ea typeface="Cambria" panose="02040503050406030204" pitchFamily="18" charset="0"/>
              </a:rPr>
              <a:t>Tőkeköltség</a:t>
            </a:r>
          </a:p>
          <a:p>
            <a:r>
              <a:rPr lang="hu-HU" sz="2700" dirty="0">
                <a:latin typeface="Cambria" panose="02040503050406030204" pitchFamily="18" charset="0"/>
                <a:ea typeface="Cambria" panose="02040503050406030204" pitchFamily="18" charset="0"/>
              </a:rPr>
              <a:t>Aktuális piaci hozam</a:t>
            </a:r>
          </a:p>
          <a:p>
            <a:r>
              <a:rPr lang="hu-HU" sz="2700" dirty="0">
                <a:latin typeface="Cambria" panose="02040503050406030204" pitchFamily="18" charset="0"/>
                <a:ea typeface="Cambria" panose="02040503050406030204" pitchFamily="18" charset="0"/>
              </a:rPr>
              <a:t>i (nominális kamatláb)vagy r (reál kamatláb)??</a:t>
            </a:r>
          </a:p>
        </p:txBody>
      </p:sp>
      <p:sp>
        <p:nvSpPr>
          <p:cNvPr id="10" name="Cím 1">
            <a:extLst>
              <a:ext uri="{FF2B5EF4-FFF2-40B4-BE49-F238E27FC236}">
                <a16:creationId xmlns:a16="http://schemas.microsoft.com/office/drawing/2014/main" id="{E8FD5EAE-DD2F-4712-D354-937F0A9247D0}"/>
              </a:ext>
            </a:extLst>
          </p:cNvPr>
          <p:cNvSpPr txBox="1">
            <a:spLocks/>
          </p:cNvSpPr>
          <p:nvPr/>
        </p:nvSpPr>
        <p:spPr>
          <a:xfrm>
            <a:off x="3401376" y="243929"/>
            <a:ext cx="2341247" cy="667568"/>
          </a:xfrm>
          <a:prstGeom prst="rect">
            <a:avLst/>
          </a:prstGeom>
          <a:solidFill>
            <a:srgbClr val="FFC000"/>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4050" dirty="0">
                <a:latin typeface="Cambria" panose="02040503050406030204" pitchFamily="18" charset="0"/>
                <a:ea typeface="Cambria" panose="02040503050406030204" pitchFamily="18" charset="0"/>
              </a:rPr>
              <a:t>Kamatláb</a:t>
            </a:r>
            <a:r>
              <a:rPr lang="hu-HU" sz="4050" b="1" i="1" dirty="0"/>
              <a:t> </a:t>
            </a:r>
          </a:p>
        </p:txBody>
      </p:sp>
    </p:spTree>
    <p:extLst>
      <p:ext uri="{BB962C8B-B14F-4D97-AF65-F5344CB8AC3E}">
        <p14:creationId xmlns:p14="http://schemas.microsoft.com/office/powerpoint/2010/main" val="3425134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wipe(left)">
                                      <p:cBhvr>
                                        <p:cTn id="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artalom helye 5">
                <a:extLst>
                  <a:ext uri="{FF2B5EF4-FFF2-40B4-BE49-F238E27FC236}">
                    <a16:creationId xmlns:a16="http://schemas.microsoft.com/office/drawing/2014/main" id="{7E162777-3D03-8151-150E-FE2FCE0CEAF0}"/>
                  </a:ext>
                </a:extLst>
              </p:cNvPr>
              <p:cNvSpPr txBox="1">
                <a:spLocks/>
              </p:cNvSpPr>
              <p:nvPr/>
            </p:nvSpPr>
            <p:spPr>
              <a:xfrm>
                <a:off x="159342" y="795130"/>
                <a:ext cx="8692793" cy="2941982"/>
              </a:xfrm>
              <a:prstGeom prst="rect">
                <a:avLst/>
              </a:prstGeom>
              <a:solidFill>
                <a:schemeClr val="bg1">
                  <a:lumMod val="95000"/>
                </a:schemeClr>
              </a:solidFill>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pPr marL="228600" indent="-228600" algn="just">
                  <a:lnSpc>
                    <a:spcPct val="90000"/>
                  </a:lnSpc>
                  <a:spcBef>
                    <a:spcPts val="1000"/>
                  </a:spcBef>
                  <a:buFont typeface="Arial" panose="020B0604020202020204" pitchFamily="34" charset="0"/>
                  <a:buChar char="•"/>
                </a:pPr>
                <a:r>
                  <a:rPr lang="hu-HU" sz="1800" kern="1200" dirty="0">
                    <a:solidFill>
                      <a:srgbClr val="000000"/>
                    </a:solidFill>
                    <a:latin typeface="Cambria" panose="02040503050406030204" pitchFamily="18" charset="0"/>
                    <a:ea typeface="Cambria" panose="02040503050406030204" pitchFamily="18" charset="0"/>
                    <a:cs typeface="Arial"/>
                  </a:rPr>
                  <a:t>Kamatszámítás szempontjából megkülönböztetünk </a:t>
                </a:r>
                <a:r>
                  <a:rPr lang="hu-HU" sz="1800" b="1" kern="1200" dirty="0">
                    <a:solidFill>
                      <a:srgbClr val="C00000"/>
                    </a:solidFill>
                    <a:latin typeface="Cambria" panose="02040503050406030204" pitchFamily="18" charset="0"/>
                    <a:ea typeface="Cambria" panose="02040503050406030204" pitchFamily="18" charset="0"/>
                    <a:cs typeface="Arial"/>
                  </a:rPr>
                  <a:t>egyszerű </a:t>
                </a:r>
                <a:r>
                  <a:rPr lang="hu-HU" sz="1800" kern="1200" dirty="0">
                    <a:solidFill>
                      <a:srgbClr val="C00000"/>
                    </a:solidFill>
                    <a:latin typeface="Cambria" panose="02040503050406030204" pitchFamily="18" charset="0"/>
                    <a:ea typeface="Cambria" panose="02040503050406030204" pitchFamily="18" charset="0"/>
                    <a:cs typeface="Arial"/>
                  </a:rPr>
                  <a:t>(lineáris) kamatozást  és </a:t>
                </a:r>
                <a:r>
                  <a:rPr lang="hu-HU" sz="1800" b="1" kern="1200" dirty="0">
                    <a:solidFill>
                      <a:srgbClr val="C00000"/>
                    </a:solidFill>
                    <a:latin typeface="Cambria" panose="02040503050406030204" pitchFamily="18" charset="0"/>
                    <a:ea typeface="Cambria" panose="02040503050406030204" pitchFamily="18" charset="0"/>
                    <a:cs typeface="Arial"/>
                  </a:rPr>
                  <a:t>kamatos</a:t>
                </a:r>
                <a:r>
                  <a:rPr lang="hu-HU" sz="1800" kern="1200" dirty="0">
                    <a:solidFill>
                      <a:srgbClr val="FF0000"/>
                    </a:solidFill>
                    <a:latin typeface="Cambria" panose="02040503050406030204" pitchFamily="18" charset="0"/>
                    <a:ea typeface="Cambria" panose="02040503050406030204" pitchFamily="18" charset="0"/>
                    <a:cs typeface="Arial"/>
                  </a:rPr>
                  <a:t> </a:t>
                </a:r>
                <a:r>
                  <a:rPr lang="hu-HU" sz="1800" kern="1200" dirty="0">
                    <a:solidFill>
                      <a:srgbClr val="C00000"/>
                    </a:solidFill>
                    <a:latin typeface="Cambria" panose="02040503050406030204" pitchFamily="18" charset="0"/>
                    <a:ea typeface="Cambria" panose="02040503050406030204" pitchFamily="18" charset="0"/>
                    <a:cs typeface="Arial"/>
                  </a:rPr>
                  <a:t>kamatozást</a:t>
                </a:r>
                <a:r>
                  <a:rPr lang="hu-HU" sz="1800" kern="1200" dirty="0">
                    <a:solidFill>
                      <a:srgbClr val="FF0000"/>
                    </a:solidFill>
                    <a:latin typeface="Cambria" panose="02040503050406030204" pitchFamily="18" charset="0"/>
                    <a:ea typeface="Cambria" panose="02040503050406030204" pitchFamily="18" charset="0"/>
                    <a:cs typeface="Arial"/>
                  </a:rPr>
                  <a:t>.</a:t>
                </a:r>
                <a:r>
                  <a:rPr lang="hu-HU" sz="1800" kern="1200" dirty="0">
                    <a:solidFill>
                      <a:srgbClr val="000000"/>
                    </a:solidFill>
                    <a:latin typeface="Cambria" panose="02040503050406030204" pitchFamily="18" charset="0"/>
                    <a:ea typeface="Cambria" panose="02040503050406030204" pitchFamily="18" charset="0"/>
                    <a:cs typeface="Arial"/>
                  </a:rPr>
                  <a:t> </a:t>
                </a:r>
              </a:p>
              <a:p>
                <a:pPr marL="228600" indent="-228600" algn="just">
                  <a:lnSpc>
                    <a:spcPct val="90000"/>
                  </a:lnSpc>
                  <a:spcBef>
                    <a:spcPts val="1000"/>
                  </a:spcBef>
                  <a:buFont typeface="Arial" panose="020B0604020202020204" pitchFamily="34" charset="0"/>
                  <a:buChar char="•"/>
                </a:pPr>
                <a:r>
                  <a:rPr lang="hu-HU" sz="1800" kern="1200" dirty="0">
                    <a:solidFill>
                      <a:srgbClr val="000000"/>
                    </a:solidFill>
                    <a:latin typeface="Cambria" panose="02040503050406030204" pitchFamily="18" charset="0"/>
                    <a:ea typeface="Cambria" panose="02040503050406030204" pitchFamily="18" charset="0"/>
                    <a:cs typeface="Arial"/>
                  </a:rPr>
                  <a:t>Egyszerű (vagy lineáris) kamatozás esetében a futamidő alatt nem beszélhetünk tőkésítésről, így csak a kezdetben befektetett összeg kamatozik.</a:t>
                </a:r>
                <a:endParaRPr lang="en-GB" sz="1800" kern="1200" dirty="0">
                  <a:solidFill>
                    <a:srgbClr val="000000"/>
                  </a:solidFill>
                  <a:latin typeface="Cambria" panose="02040503050406030204" pitchFamily="18" charset="0"/>
                  <a:ea typeface="Cambria" panose="02040503050406030204" pitchFamily="18" charset="0"/>
                  <a:cs typeface="Arial"/>
                </a:endParaRPr>
              </a:p>
              <a:p>
                <a:pPr marL="228600" indent="-228600" algn="just">
                  <a:lnSpc>
                    <a:spcPct val="90000"/>
                  </a:lnSpc>
                  <a:spcBef>
                    <a:spcPts val="1000"/>
                  </a:spcBef>
                  <a:buFont typeface="Arial" panose="020B0604020202020204" pitchFamily="34" charset="0"/>
                  <a:buChar char="•"/>
                </a:pPr>
                <a:r>
                  <a:rPr lang="hu-HU" sz="1800" b="1" i="1" kern="1200" dirty="0">
                    <a:solidFill>
                      <a:srgbClr val="002060"/>
                    </a:solidFill>
                    <a:latin typeface="Cambria" panose="02040503050406030204" pitchFamily="18" charset="0"/>
                    <a:ea typeface="Cambria" panose="02040503050406030204" pitchFamily="18" charset="0"/>
                  </a:rPr>
                  <a:t>FV</a:t>
                </a:r>
                <a:r>
                  <a:rPr lang="hu-HU" sz="1800" b="1" kern="1200" dirty="0">
                    <a:solidFill>
                      <a:srgbClr val="002060"/>
                    </a:solidFill>
                    <a:latin typeface="Cambria" panose="02040503050406030204" pitchFamily="18" charset="0"/>
                    <a:ea typeface="Cambria" panose="02040503050406030204" pitchFamily="18" charset="0"/>
                  </a:rPr>
                  <a:t> </a:t>
                </a:r>
                <a14:m>
                  <m:oMath xmlns:m="http://schemas.openxmlformats.org/officeDocument/2006/math">
                    <m:r>
                      <a:rPr lang="hu-HU" sz="1800" b="1" kern="1200">
                        <a:solidFill>
                          <a:srgbClr val="002060"/>
                        </a:solidFill>
                        <a:latin typeface="Cambria Math" panose="02040503050406030204" pitchFamily="18" charset="0"/>
                      </a:rPr>
                      <m:t>=</m:t>
                    </m:r>
                    <m:r>
                      <a:rPr lang="hu-HU" sz="1800" b="1" i="1" kern="1200">
                        <a:solidFill>
                          <a:srgbClr val="002060"/>
                        </a:solidFill>
                        <a:latin typeface="Cambria Math" panose="02040503050406030204" pitchFamily="18" charset="0"/>
                      </a:rPr>
                      <m:t>𝑷𝑽</m:t>
                    </m:r>
                    <m:r>
                      <a:rPr lang="hu-HU" sz="1800" b="1" kern="1200">
                        <a:solidFill>
                          <a:srgbClr val="002060"/>
                        </a:solidFill>
                        <a:latin typeface="Cambria Math" panose="02040503050406030204" pitchFamily="18" charset="0"/>
                      </a:rPr>
                      <m:t>∙</m:t>
                    </m:r>
                    <m:d>
                      <m:dPr>
                        <m:ctrlPr>
                          <a:rPr lang="en-GB" sz="1800" b="1" i="1" kern="1200">
                            <a:solidFill>
                              <a:srgbClr val="002060"/>
                            </a:solidFill>
                            <a:latin typeface="Cambria Math" panose="02040503050406030204" pitchFamily="18" charset="0"/>
                          </a:rPr>
                        </m:ctrlPr>
                      </m:dPr>
                      <m:e>
                        <m:r>
                          <a:rPr lang="hu-HU" sz="1800" b="1" i="1" kern="1200">
                            <a:solidFill>
                              <a:srgbClr val="002060"/>
                            </a:solidFill>
                            <a:latin typeface="Cambria Math" panose="02040503050406030204" pitchFamily="18" charset="0"/>
                          </a:rPr>
                          <m:t>𝟏</m:t>
                        </m:r>
                        <m:r>
                          <a:rPr lang="hu-HU" sz="1800" b="1" kern="1200">
                            <a:solidFill>
                              <a:srgbClr val="002060"/>
                            </a:solidFill>
                            <a:latin typeface="Cambria Math" panose="02040503050406030204" pitchFamily="18" charset="0"/>
                          </a:rPr>
                          <m:t>+</m:t>
                        </m:r>
                        <m:r>
                          <a:rPr lang="hu-HU" sz="1800" b="1" i="1" kern="1200">
                            <a:solidFill>
                              <a:srgbClr val="002060"/>
                            </a:solidFill>
                            <a:latin typeface="Cambria Math" panose="02040503050406030204" pitchFamily="18" charset="0"/>
                          </a:rPr>
                          <m:t>𝒕</m:t>
                        </m:r>
                        <m:r>
                          <a:rPr lang="hu-HU" sz="1800" b="1" kern="1200">
                            <a:solidFill>
                              <a:srgbClr val="002060"/>
                            </a:solidFill>
                            <a:latin typeface="Cambria Math" panose="02040503050406030204" pitchFamily="18" charset="0"/>
                          </a:rPr>
                          <m:t>∙</m:t>
                        </m:r>
                        <m:r>
                          <a:rPr lang="hu-HU" sz="1800" b="1" kern="1200">
                            <a:solidFill>
                              <a:srgbClr val="002060"/>
                            </a:solidFill>
                            <a:latin typeface="Cambria Math" panose="02040503050406030204" pitchFamily="18" charset="0"/>
                          </a:rPr>
                          <m:t>𝐫</m:t>
                        </m:r>
                      </m:e>
                    </m:d>
                  </m:oMath>
                </a14:m>
                <a:endParaRPr lang="en-GB" sz="1800" kern="1200" dirty="0">
                  <a:solidFill>
                    <a:srgbClr val="000000"/>
                  </a:solidFill>
                  <a:latin typeface="Cambria" panose="02040503050406030204" pitchFamily="18" charset="0"/>
                  <a:ea typeface="Cambria" panose="02040503050406030204" pitchFamily="18" charset="0"/>
                  <a:cs typeface="Arial"/>
                </a:endParaRPr>
              </a:p>
              <a:p>
                <a:pPr marL="228600" indent="-228600" algn="just">
                  <a:lnSpc>
                    <a:spcPct val="90000"/>
                  </a:lnSpc>
                  <a:spcBef>
                    <a:spcPts val="1000"/>
                  </a:spcBef>
                  <a:buFont typeface="Arial" panose="020B0604020202020204" pitchFamily="34" charset="0"/>
                  <a:buChar char="•"/>
                </a:pPr>
                <a:r>
                  <a:rPr lang="hu-HU" sz="1800" kern="1200" dirty="0">
                    <a:solidFill>
                      <a:srgbClr val="000000"/>
                    </a:solidFill>
                    <a:latin typeface="Cambria" panose="02040503050406030204" pitchFamily="18" charset="0"/>
                    <a:ea typeface="Cambria" panose="02040503050406030204" pitchFamily="18" charset="0"/>
                    <a:cs typeface="Arial"/>
                  </a:rPr>
                  <a:t>Kamatos kamatozás esetében minden kifizetett kamat újra befektetésre, azaz tőkésítésre kerül, így a kamatfizetést követő időszakokra változik a kamatszámítás alapja, többletkamatot eredményez. </a:t>
                </a:r>
                <a:endParaRPr lang="en-GB" sz="1800" kern="1200" dirty="0">
                  <a:solidFill>
                    <a:srgbClr val="000000"/>
                  </a:solidFill>
                  <a:latin typeface="Cambria" panose="02040503050406030204" pitchFamily="18" charset="0"/>
                  <a:ea typeface="Cambria" panose="02040503050406030204" pitchFamily="18" charset="0"/>
                  <a:cs typeface="Arial"/>
                </a:endParaRPr>
              </a:p>
              <a:p>
                <a:pPr marL="228600" indent="-228600" algn="just">
                  <a:lnSpc>
                    <a:spcPct val="90000"/>
                  </a:lnSpc>
                  <a:spcBef>
                    <a:spcPts val="1000"/>
                  </a:spcBef>
                  <a:buFont typeface="Arial" panose="020B0604020202020204" pitchFamily="34" charset="0"/>
                  <a:buChar char="•"/>
                </a:pPr>
                <a:r>
                  <a:rPr lang="hu-HU" sz="1800" b="1" i="1" kern="1200" dirty="0">
                    <a:solidFill>
                      <a:srgbClr val="002060"/>
                    </a:solidFill>
                    <a:latin typeface="Cambria" panose="02040503050406030204" pitchFamily="18" charset="0"/>
                    <a:ea typeface="Cambria" panose="02040503050406030204" pitchFamily="18" charset="0"/>
                  </a:rPr>
                  <a:t>FV </a:t>
                </a:r>
                <a14:m>
                  <m:oMath xmlns:m="http://schemas.openxmlformats.org/officeDocument/2006/math">
                    <m:r>
                      <a:rPr lang="hu-HU" sz="1800" b="1" kern="1200">
                        <a:solidFill>
                          <a:srgbClr val="002060"/>
                        </a:solidFill>
                        <a:latin typeface="Cambria Math" panose="02040503050406030204" pitchFamily="18" charset="0"/>
                      </a:rPr>
                      <m:t>=</m:t>
                    </m:r>
                    <m:r>
                      <a:rPr lang="hu-HU" sz="1800" b="1" i="1" kern="1200">
                        <a:solidFill>
                          <a:srgbClr val="002060"/>
                        </a:solidFill>
                        <a:latin typeface="Cambria Math" panose="02040503050406030204" pitchFamily="18" charset="0"/>
                      </a:rPr>
                      <m:t>𝑷𝑽</m:t>
                    </m:r>
                    <m:r>
                      <a:rPr lang="hu-HU" sz="1800" b="1" kern="1200">
                        <a:solidFill>
                          <a:srgbClr val="002060"/>
                        </a:solidFill>
                        <a:latin typeface="Cambria Math" panose="02040503050406030204" pitchFamily="18" charset="0"/>
                      </a:rPr>
                      <m:t>∙</m:t>
                    </m:r>
                    <m:sSup>
                      <m:sSupPr>
                        <m:ctrlPr>
                          <a:rPr lang="en-GB" sz="1800" b="1" i="1" kern="1200">
                            <a:solidFill>
                              <a:srgbClr val="002060"/>
                            </a:solidFill>
                            <a:latin typeface="Cambria Math" panose="02040503050406030204" pitchFamily="18" charset="0"/>
                          </a:rPr>
                        </m:ctrlPr>
                      </m:sSupPr>
                      <m:e>
                        <m:r>
                          <a:rPr lang="hu-HU" sz="1800" b="1" kern="1200">
                            <a:solidFill>
                              <a:srgbClr val="002060"/>
                            </a:solidFill>
                            <a:latin typeface="Cambria Math" panose="02040503050406030204" pitchFamily="18" charset="0"/>
                          </a:rPr>
                          <m:t>(</m:t>
                        </m:r>
                        <m:r>
                          <a:rPr lang="hu-HU" sz="1800" b="1" i="1" kern="1200">
                            <a:solidFill>
                              <a:srgbClr val="002060"/>
                            </a:solidFill>
                            <a:latin typeface="Cambria Math" panose="02040503050406030204" pitchFamily="18" charset="0"/>
                          </a:rPr>
                          <m:t>𝟏</m:t>
                        </m:r>
                        <m:r>
                          <a:rPr lang="hu-HU" sz="1800" b="1" kern="1200">
                            <a:solidFill>
                              <a:srgbClr val="002060"/>
                            </a:solidFill>
                            <a:latin typeface="Cambria Math" panose="02040503050406030204" pitchFamily="18" charset="0"/>
                          </a:rPr>
                          <m:t>+</m:t>
                        </m:r>
                        <m:r>
                          <a:rPr lang="hu-HU" sz="1800" b="1" i="1" kern="1200">
                            <a:solidFill>
                              <a:srgbClr val="002060"/>
                            </a:solidFill>
                            <a:latin typeface="Cambria Math" panose="02040503050406030204" pitchFamily="18" charset="0"/>
                          </a:rPr>
                          <m:t>𝒓</m:t>
                        </m:r>
                        <m:r>
                          <a:rPr lang="hu-HU" sz="1800" b="1" kern="1200">
                            <a:solidFill>
                              <a:srgbClr val="002060"/>
                            </a:solidFill>
                            <a:latin typeface="Cambria Math" panose="02040503050406030204" pitchFamily="18" charset="0"/>
                          </a:rPr>
                          <m:t>)</m:t>
                        </m:r>
                      </m:e>
                      <m:sup>
                        <m:r>
                          <a:rPr lang="hu-HU" sz="1800" b="1" i="1" kern="1200">
                            <a:solidFill>
                              <a:srgbClr val="002060"/>
                            </a:solidFill>
                            <a:latin typeface="Cambria Math" panose="02040503050406030204" pitchFamily="18" charset="0"/>
                          </a:rPr>
                          <m:t>𝒕</m:t>
                        </m:r>
                      </m:sup>
                    </m:sSup>
                  </m:oMath>
                </a14:m>
                <a:endParaRPr lang="en-GB" sz="1800" b="1" kern="1200" dirty="0">
                  <a:solidFill>
                    <a:srgbClr val="000000"/>
                  </a:solidFill>
                  <a:latin typeface="Cambria" panose="02040503050406030204" pitchFamily="18" charset="0"/>
                  <a:ea typeface="Cambria" panose="02040503050406030204" pitchFamily="18" charset="0"/>
                  <a:cs typeface="Arial"/>
                </a:endParaRPr>
              </a:p>
            </p:txBody>
          </p:sp>
        </mc:Choice>
        <mc:Fallback xmlns="">
          <p:sp>
            <p:nvSpPr>
              <p:cNvPr id="2" name="Tartalom helye 5">
                <a:extLst>
                  <a:ext uri="{FF2B5EF4-FFF2-40B4-BE49-F238E27FC236}">
                    <a16:creationId xmlns:a16="http://schemas.microsoft.com/office/drawing/2014/main" id="{7E162777-3D03-8151-150E-FE2FCE0CEAF0}"/>
                  </a:ext>
                </a:extLst>
              </p:cNvPr>
              <p:cNvSpPr txBox="1">
                <a:spLocks noRot="1" noChangeAspect="1" noMove="1" noResize="1" noEditPoints="1" noAdjustHandles="1" noChangeArrowheads="1" noChangeShapeType="1" noTextEdit="1"/>
              </p:cNvSpPr>
              <p:nvPr/>
            </p:nvSpPr>
            <p:spPr>
              <a:xfrm>
                <a:off x="159342" y="795130"/>
                <a:ext cx="8692793" cy="2941982"/>
              </a:xfrm>
              <a:prstGeom prst="rect">
                <a:avLst/>
              </a:prstGeom>
              <a:blipFill>
                <a:blip r:embed="rId2"/>
                <a:stretch>
                  <a:fillRect l="-350" t="-1856" r="-560"/>
                </a:stretch>
              </a:blipFill>
              <a:ln w="12700" cap="flat" cmpd="sng" algn="ctr">
                <a:solidFill>
                  <a:schemeClr val="accent1"/>
                </a:solidFill>
                <a:prstDash val="solid"/>
              </a:ln>
            </p:spPr>
            <p:txBody>
              <a:bodyPr/>
              <a:lstStyle/>
              <a:p>
                <a:r>
                  <a:rPr lang="hu-HU">
                    <a:noFill/>
                  </a:rPr>
                  <a:t> </a:t>
                </a:r>
              </a:p>
            </p:txBody>
          </p:sp>
        </mc:Fallback>
      </mc:AlternateContent>
    </p:spTree>
    <p:extLst>
      <p:ext uri="{BB962C8B-B14F-4D97-AF65-F5344CB8AC3E}">
        <p14:creationId xmlns:p14="http://schemas.microsoft.com/office/powerpoint/2010/main" val="20748700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left)">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left)">
                                      <p:cBhvr>
                                        <p:cTn id="15" dur="500"/>
                                        <p:tgtEl>
                                          <p:spTgt spid="2">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left)">
                                      <p:cBhvr>
                                        <p:cTn id="18"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DC176-70CA-6FF9-8F57-7ED93732A27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artalom helye 2">
                <a:extLst>
                  <a:ext uri="{FF2B5EF4-FFF2-40B4-BE49-F238E27FC236}">
                    <a16:creationId xmlns:a16="http://schemas.microsoft.com/office/drawing/2014/main" id="{9C64BC62-6EF7-0D5D-15BD-D8324F6C7EC5}"/>
                  </a:ext>
                </a:extLst>
              </p:cNvPr>
              <p:cNvSpPr txBox="1">
                <a:spLocks/>
              </p:cNvSpPr>
              <p:nvPr/>
            </p:nvSpPr>
            <p:spPr>
              <a:xfrm>
                <a:off x="431590" y="1263098"/>
                <a:ext cx="8586216" cy="282066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1</m:t>
                        </m:r>
                      </m:sub>
                    </m:sSub>
                  </m:oMath>
                </a14:m>
                <a:r>
                  <a:rPr lang="hu-HU" sz="2400" dirty="0">
                    <a:latin typeface="Cambria" panose="02040503050406030204" pitchFamily="18" charset="0"/>
                    <a:ea typeface="Cambria" panose="02040503050406030204" pitchFamily="18" charset="0"/>
                  </a:rPr>
                  <a:t>=</a:t>
                </a:r>
                <a:r>
                  <a:rPr lang="hu-HU" sz="2400" dirty="0">
                    <a:ea typeface="Cambria" panose="02040503050406030204" pitchFamily="18" charset="0"/>
                  </a:rPr>
                  <a:t> </a:t>
                </a:r>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0</m:t>
                        </m:r>
                      </m:sub>
                    </m:sSub>
                    <m:r>
                      <a:rPr lang="hu-HU" sz="2400" i="1">
                        <a:latin typeface="Cambria Math" panose="02040503050406030204" pitchFamily="18" charset="0"/>
                        <a:ea typeface="Cambria" panose="02040503050406030204" pitchFamily="18" charset="0"/>
                      </a:rPr>
                      <m:t> </m:t>
                    </m:r>
                  </m:oMath>
                </a14:m>
                <a:r>
                  <a:rPr lang="hu-HU" sz="2400" dirty="0">
                    <a:latin typeface="Cambria" panose="02040503050406030204" pitchFamily="18" charset="0"/>
                    <a:ea typeface="Cambria" panose="02040503050406030204" pitchFamily="18" charset="0"/>
                  </a:rPr>
                  <a:t>+K </a:t>
                </a:r>
                <a:r>
                  <a:rPr lang="hu-HU" sz="2400" dirty="0">
                    <a:solidFill>
                      <a:srgbClr val="C00000"/>
                    </a:solidFill>
                    <a:latin typeface="Cambria" panose="02040503050406030204" pitchFamily="18" charset="0"/>
                    <a:ea typeface="Cambria" panose="02040503050406030204" pitchFamily="18" charset="0"/>
                  </a:rPr>
                  <a:t>(Például </a:t>
                </a:r>
                <a14:m>
                  <m:oMath xmlns:m="http://schemas.openxmlformats.org/officeDocument/2006/math">
                    <m:sSub>
                      <m:sSubPr>
                        <m:ctrlPr>
                          <a:rPr lang="hu-HU" sz="2400" i="1">
                            <a:solidFill>
                              <a:srgbClr val="C00000"/>
                            </a:solidFill>
                            <a:latin typeface="Cambria Math" panose="02040503050406030204" pitchFamily="18" charset="0"/>
                            <a:ea typeface="Cambria" panose="02040503050406030204" pitchFamily="18" charset="0"/>
                          </a:rPr>
                        </m:ctrlPr>
                      </m:sSubPr>
                      <m:e>
                        <m:r>
                          <a:rPr lang="hu-HU" sz="2400" i="1">
                            <a:solidFill>
                              <a:srgbClr val="C00000"/>
                            </a:solidFill>
                            <a:latin typeface="Cambria Math" panose="02040503050406030204" pitchFamily="18" charset="0"/>
                            <a:ea typeface="Cambria" panose="02040503050406030204" pitchFamily="18" charset="0"/>
                          </a:rPr>
                          <m:t>𝐶</m:t>
                        </m:r>
                      </m:e>
                      <m:sub>
                        <m:r>
                          <a:rPr lang="hu-HU" sz="2400" i="1">
                            <a:solidFill>
                              <a:srgbClr val="C00000"/>
                            </a:solidFill>
                            <a:latin typeface="Cambria Math" panose="02040503050406030204" pitchFamily="18" charset="0"/>
                            <a:ea typeface="Cambria" panose="02040503050406030204" pitchFamily="18" charset="0"/>
                          </a:rPr>
                          <m:t>0</m:t>
                        </m:r>
                      </m:sub>
                    </m:sSub>
                    <m:r>
                      <a:rPr lang="hu-HU" sz="2400" i="1">
                        <a:solidFill>
                          <a:srgbClr val="C00000"/>
                        </a:solidFill>
                        <a:latin typeface="Cambria Math" panose="02040503050406030204" pitchFamily="18" charset="0"/>
                        <a:ea typeface="Cambria" panose="02040503050406030204" pitchFamily="18" charset="0"/>
                      </a:rPr>
                      <m:t> </m:t>
                    </m:r>
                  </m:oMath>
                </a14:m>
                <a:r>
                  <a:rPr lang="hu-HU" sz="2400" dirty="0">
                    <a:solidFill>
                      <a:srgbClr val="C00000"/>
                    </a:solidFill>
                    <a:latin typeface="Cambria" panose="02040503050406030204" pitchFamily="18" charset="0"/>
                    <a:ea typeface="Cambria" panose="02040503050406030204" pitchFamily="18" charset="0"/>
                  </a:rPr>
                  <a:t>=100 000 és r=10%)</a:t>
                </a:r>
              </a:p>
              <a:p>
                <a:r>
                  <a:rPr lang="hu-HU" sz="2400" dirty="0">
                    <a:latin typeface="Cambria" panose="02040503050406030204" pitchFamily="18" charset="0"/>
                    <a:ea typeface="Cambria" panose="02040503050406030204" pitchFamily="18" charset="0"/>
                  </a:rPr>
                  <a:t>K=</a:t>
                </a:r>
                <a:r>
                  <a:rPr lang="hu-HU" sz="2400" dirty="0">
                    <a:ea typeface="Cambria" panose="02040503050406030204" pitchFamily="18" charset="0"/>
                  </a:rPr>
                  <a:t> </a:t>
                </a:r>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0</m:t>
                        </m:r>
                      </m:sub>
                    </m:sSub>
                    <m:r>
                      <a:rPr lang="hu-HU" sz="2400" i="1">
                        <a:latin typeface="Cambria Math" panose="02040503050406030204" pitchFamily="18" charset="0"/>
                        <a:ea typeface="Cambria" panose="02040503050406030204" pitchFamily="18" charset="0"/>
                      </a:rPr>
                      <m:t> </m:t>
                    </m:r>
                  </m:oMath>
                </a14:m>
                <a:r>
                  <a:rPr lang="hu-HU" sz="2400" dirty="0">
                    <a:latin typeface="Cambria" panose="02040503050406030204" pitchFamily="18" charset="0"/>
                    <a:ea typeface="Cambria" panose="02040503050406030204" pitchFamily="18" charset="0"/>
                  </a:rPr>
                  <a:t>*r  </a:t>
                </a:r>
                <a:r>
                  <a:rPr lang="hu-HU" sz="2400" dirty="0">
                    <a:solidFill>
                      <a:srgbClr val="C00000"/>
                    </a:solidFill>
                    <a:latin typeface="Cambria" panose="02040503050406030204" pitchFamily="18" charset="0"/>
                    <a:ea typeface="Cambria" panose="02040503050406030204" pitchFamily="18" charset="0"/>
                  </a:rPr>
                  <a:t>(K=100 000*0,1=10 000)</a:t>
                </a:r>
              </a:p>
              <a:p>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1</m:t>
                        </m:r>
                      </m:sub>
                    </m:sSub>
                    <m:r>
                      <a:rPr lang="hu-HU" sz="2400" i="1">
                        <a:latin typeface="Cambria Math" panose="02040503050406030204" pitchFamily="18" charset="0"/>
                        <a:ea typeface="Cambria" panose="02040503050406030204" pitchFamily="18" charset="0"/>
                      </a:rPr>
                      <m:t> </m:t>
                    </m:r>
                  </m:oMath>
                </a14:m>
                <a:r>
                  <a:rPr lang="hu-HU" sz="2400" dirty="0">
                    <a:latin typeface="Cambria" panose="02040503050406030204" pitchFamily="18" charset="0"/>
                    <a:ea typeface="Cambria" panose="02040503050406030204" pitchFamily="18" charset="0"/>
                  </a:rPr>
                  <a:t>=</a:t>
                </a:r>
                <a:r>
                  <a:rPr lang="hu-HU" sz="2400" dirty="0">
                    <a:ea typeface="Cambria" panose="02040503050406030204" pitchFamily="18" charset="0"/>
                  </a:rPr>
                  <a:t> </a:t>
                </a:r>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0</m:t>
                        </m:r>
                      </m:sub>
                    </m:sSub>
                    <m:r>
                      <a:rPr lang="hu-HU" sz="2400" i="1">
                        <a:latin typeface="Cambria Math" panose="02040503050406030204" pitchFamily="18" charset="0"/>
                        <a:ea typeface="Cambria" panose="02040503050406030204" pitchFamily="18" charset="0"/>
                      </a:rPr>
                      <m:t> </m:t>
                    </m:r>
                  </m:oMath>
                </a14:m>
                <a:r>
                  <a:rPr lang="hu-HU" sz="2400" dirty="0">
                    <a:latin typeface="Cambria" panose="02040503050406030204" pitchFamily="18" charset="0"/>
                    <a:ea typeface="Cambria" panose="02040503050406030204" pitchFamily="18" charset="0"/>
                  </a:rPr>
                  <a:t>+</a:t>
                </a:r>
                <a:r>
                  <a:rPr lang="hu-HU" sz="2400" dirty="0">
                    <a:ea typeface="Cambria" panose="02040503050406030204" pitchFamily="18" charset="0"/>
                  </a:rPr>
                  <a:t> </a:t>
                </a:r>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0</m:t>
                        </m:r>
                      </m:sub>
                    </m:sSub>
                    <m:r>
                      <a:rPr lang="hu-HU" sz="2400" i="1">
                        <a:latin typeface="Cambria Math" panose="02040503050406030204" pitchFamily="18" charset="0"/>
                        <a:ea typeface="Cambria" panose="02040503050406030204" pitchFamily="18" charset="0"/>
                      </a:rPr>
                      <m:t> </m:t>
                    </m:r>
                  </m:oMath>
                </a14:m>
                <a:r>
                  <a:rPr lang="hu-HU" sz="2400" dirty="0">
                    <a:latin typeface="Cambria" panose="02040503050406030204" pitchFamily="18" charset="0"/>
                    <a:ea typeface="Cambria" panose="02040503050406030204" pitchFamily="18" charset="0"/>
                  </a:rPr>
                  <a:t>*r=</a:t>
                </a:r>
                <a:r>
                  <a:rPr lang="hu-HU" sz="2400" dirty="0">
                    <a:ea typeface="Cambria" panose="02040503050406030204" pitchFamily="18" charset="0"/>
                  </a:rPr>
                  <a:t> </a:t>
                </a:r>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0</m:t>
                        </m:r>
                      </m:sub>
                    </m:sSub>
                    <m:r>
                      <a:rPr lang="hu-HU" sz="2400" i="1">
                        <a:latin typeface="Cambria Math" panose="02040503050406030204" pitchFamily="18" charset="0"/>
                        <a:ea typeface="Cambria" panose="02040503050406030204" pitchFamily="18" charset="0"/>
                      </a:rPr>
                      <m:t> </m:t>
                    </m:r>
                  </m:oMath>
                </a14:m>
                <a:r>
                  <a:rPr lang="hu-HU" sz="2400" dirty="0">
                    <a:latin typeface="Cambria" panose="02040503050406030204" pitchFamily="18" charset="0"/>
                    <a:ea typeface="Cambria" panose="02040503050406030204" pitchFamily="18" charset="0"/>
                  </a:rPr>
                  <a:t>(1+r)=</a:t>
                </a:r>
                <a:r>
                  <a:rPr lang="hu-HU" sz="2400" dirty="0">
                    <a:solidFill>
                      <a:srgbClr val="C00000"/>
                    </a:solidFill>
                    <a:latin typeface="Cambria" panose="02040503050406030204" pitchFamily="18" charset="0"/>
                    <a:ea typeface="Cambria" panose="02040503050406030204" pitchFamily="18" charset="0"/>
                  </a:rPr>
                  <a:t>100 000+10 000=100 000*1,1=110 000</a:t>
                </a:r>
              </a:p>
              <a:p>
                <a:r>
                  <a:rPr lang="hu-HU" sz="2400" dirty="0">
                    <a:latin typeface="Cambria" panose="02040503050406030204" pitchFamily="18" charset="0"/>
                    <a:ea typeface="Cambria" panose="02040503050406030204" pitchFamily="18" charset="0"/>
                  </a:rPr>
                  <a:t>Nem tőkésített kamat: </a:t>
                </a:r>
                <a14:m>
                  <m:oMath xmlns:m="http://schemas.openxmlformats.org/officeDocument/2006/math">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𝑡</m:t>
                        </m:r>
                      </m:sub>
                    </m:sSub>
                    <m:r>
                      <a:rPr lang="hu-HU" sz="2400" i="1">
                        <a:latin typeface="Cambria Math" panose="02040503050406030204" pitchFamily="18" charset="0"/>
                        <a:ea typeface="Cambria" panose="02040503050406030204" pitchFamily="18" charset="0"/>
                      </a:rPr>
                      <m:t>=</m:t>
                    </m:r>
                    <m:sSub>
                      <m:sSubPr>
                        <m:ctrlPr>
                          <a:rPr lang="hu-HU" sz="2400" i="1">
                            <a:latin typeface="Cambria Math" panose="02040503050406030204" pitchFamily="18" charset="0"/>
                            <a:ea typeface="Cambria" panose="02040503050406030204" pitchFamily="18" charset="0"/>
                          </a:rPr>
                        </m:ctrlPr>
                      </m:sSubPr>
                      <m:e>
                        <m:r>
                          <a:rPr lang="hu-HU" sz="2400" i="1">
                            <a:latin typeface="Cambria Math" panose="02040503050406030204" pitchFamily="18" charset="0"/>
                            <a:ea typeface="Cambria" panose="02040503050406030204" pitchFamily="18" charset="0"/>
                          </a:rPr>
                          <m:t>𝐶</m:t>
                        </m:r>
                      </m:e>
                      <m:sub>
                        <m:r>
                          <a:rPr lang="hu-HU" sz="2400" i="1">
                            <a:latin typeface="Cambria Math" panose="02040503050406030204" pitchFamily="18" charset="0"/>
                            <a:ea typeface="Cambria" panose="02040503050406030204" pitchFamily="18" charset="0"/>
                          </a:rPr>
                          <m:t>0</m:t>
                        </m:r>
                      </m:sub>
                    </m:sSub>
                    <m:r>
                      <a:rPr lang="hu-HU" sz="2400" i="1">
                        <a:latin typeface="Cambria Math" panose="02040503050406030204" pitchFamily="18" charset="0"/>
                        <a:ea typeface="Cambria" panose="02040503050406030204" pitchFamily="18" charset="0"/>
                      </a:rPr>
                      <m:t> </m:t>
                    </m:r>
                  </m:oMath>
                </a14:m>
                <a:r>
                  <a:rPr lang="hu-HU" sz="2400" dirty="0">
                    <a:latin typeface="Cambria" panose="02040503050406030204" pitchFamily="18" charset="0"/>
                    <a:ea typeface="Cambria" panose="02040503050406030204" pitchFamily="18" charset="0"/>
                  </a:rPr>
                  <a:t>(1+t*r)</a:t>
                </a:r>
              </a:p>
              <a:p>
                <a:r>
                  <a:rPr lang="hu-HU" sz="2400" dirty="0">
                    <a:latin typeface="Cambria" panose="02040503050406030204" pitchFamily="18" charset="0"/>
                    <a:ea typeface="Cambria" panose="02040503050406030204" pitchFamily="18" charset="0"/>
                  </a:rPr>
                  <a:t>Vagy: Kiszámítod az egy évre jutó kamatot, és azt szorzod az évek számával</a:t>
                </a:r>
              </a:p>
              <a:p>
                <a:r>
                  <a:rPr lang="hu-HU" sz="2400" dirty="0">
                    <a:latin typeface="Cambria" panose="02040503050406030204" pitchFamily="18" charset="0"/>
                    <a:ea typeface="Cambria" panose="02040503050406030204" pitchFamily="18" charset="0"/>
                  </a:rPr>
                  <a:t>Nézzünk egy példát:</a:t>
                </a:r>
              </a:p>
            </p:txBody>
          </p:sp>
        </mc:Choice>
        <mc:Fallback xmlns="">
          <p:sp>
            <p:nvSpPr>
              <p:cNvPr id="5" name="Tartalom helye 2">
                <a:extLst>
                  <a:ext uri="{FF2B5EF4-FFF2-40B4-BE49-F238E27FC236}">
                    <a16:creationId xmlns:a16="http://schemas.microsoft.com/office/drawing/2014/main" id="{9C64BC62-6EF7-0D5D-15BD-D8324F6C7EC5}"/>
                  </a:ext>
                </a:extLst>
              </p:cNvPr>
              <p:cNvSpPr txBox="1">
                <a:spLocks noRot="1" noChangeAspect="1" noMove="1" noResize="1" noEditPoints="1" noAdjustHandles="1" noChangeArrowheads="1" noChangeShapeType="1" noTextEdit="1"/>
              </p:cNvSpPr>
              <p:nvPr/>
            </p:nvSpPr>
            <p:spPr>
              <a:xfrm>
                <a:off x="431590" y="1263098"/>
                <a:ext cx="8586216" cy="2820668"/>
              </a:xfrm>
              <a:prstGeom prst="rect">
                <a:avLst/>
              </a:prstGeom>
              <a:blipFill>
                <a:blip r:embed="rId2"/>
                <a:stretch>
                  <a:fillRect l="-852" t="-3888"/>
                </a:stretch>
              </a:blipFill>
            </p:spPr>
            <p:txBody>
              <a:bodyPr/>
              <a:lstStyle/>
              <a:p>
                <a:r>
                  <a:rPr lang="hu-HU">
                    <a:noFill/>
                  </a:rPr>
                  <a:t> </a:t>
                </a:r>
              </a:p>
            </p:txBody>
          </p:sp>
        </mc:Fallback>
      </mc:AlternateContent>
      <p:sp>
        <p:nvSpPr>
          <p:cNvPr id="10" name="Cím 1">
            <a:extLst>
              <a:ext uri="{FF2B5EF4-FFF2-40B4-BE49-F238E27FC236}">
                <a16:creationId xmlns:a16="http://schemas.microsoft.com/office/drawing/2014/main" id="{24764E5A-733D-7677-0884-A001246A50F7}"/>
              </a:ext>
            </a:extLst>
          </p:cNvPr>
          <p:cNvSpPr txBox="1">
            <a:spLocks/>
          </p:cNvSpPr>
          <p:nvPr/>
        </p:nvSpPr>
        <p:spPr>
          <a:xfrm>
            <a:off x="2256879" y="173504"/>
            <a:ext cx="4753521" cy="568177"/>
          </a:xfrm>
          <a:prstGeom prst="rect">
            <a:avLst/>
          </a:prstGeom>
          <a:solidFill>
            <a:srgbClr val="FFC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hu-HU" sz="3300" dirty="0">
                <a:latin typeface="Cambria" panose="02040503050406030204" pitchFamily="18" charset="0"/>
                <a:ea typeface="Cambria" panose="02040503050406030204" pitchFamily="18" charset="0"/>
              </a:rPr>
              <a:t>Egyszerű kamatszámítás</a:t>
            </a:r>
          </a:p>
        </p:txBody>
      </p:sp>
    </p:spTree>
    <p:extLst>
      <p:ext uri="{BB962C8B-B14F-4D97-AF65-F5344CB8AC3E}">
        <p14:creationId xmlns:p14="http://schemas.microsoft.com/office/powerpoint/2010/main" val="3579463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CB84B-7139-CA91-D2EE-E7218CE7A4AF}"/>
            </a:ext>
          </a:extLst>
        </p:cNvPr>
        <p:cNvGrpSpPr/>
        <p:nvPr/>
      </p:nvGrpSpPr>
      <p:grpSpPr>
        <a:xfrm>
          <a:off x="0" y="0"/>
          <a:ext cx="0" cy="0"/>
          <a:chOff x="0" y="0"/>
          <a:chExt cx="0" cy="0"/>
        </a:xfrm>
      </p:grpSpPr>
      <p:sp>
        <p:nvSpPr>
          <p:cNvPr id="5" name="Tartalom helye 2">
            <a:extLst>
              <a:ext uri="{FF2B5EF4-FFF2-40B4-BE49-F238E27FC236}">
                <a16:creationId xmlns:a16="http://schemas.microsoft.com/office/drawing/2014/main" id="{2F2F5DD8-180C-7A6C-B9CF-2520DAD85847}"/>
              </a:ext>
            </a:extLst>
          </p:cNvPr>
          <p:cNvSpPr txBox="1">
            <a:spLocks/>
          </p:cNvSpPr>
          <p:nvPr/>
        </p:nvSpPr>
        <p:spPr>
          <a:xfrm>
            <a:off x="330529" y="1113715"/>
            <a:ext cx="8622437" cy="24996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100" dirty="0">
                <a:latin typeface="Cambria" panose="02040503050406030204" pitchFamily="18" charset="0"/>
                <a:ea typeface="Cambria" panose="02040503050406030204" pitchFamily="18" charset="0"/>
              </a:rPr>
              <a:t>Egy befektető elhelyez a bankban 2 000 000 Ft-ot öt évre 4%-os kamat mellett, de a kamatokat minden év végén kiveszi és azt egy másik számlájára utaltatja. </a:t>
            </a:r>
          </a:p>
          <a:p>
            <a:r>
              <a:rPr lang="hu-HU" sz="2100" dirty="0">
                <a:latin typeface="Cambria" panose="02040503050406030204" pitchFamily="18" charset="0"/>
                <a:ea typeface="Cambria" panose="02040503050406030204" pitchFamily="18" charset="0"/>
              </a:rPr>
              <a:t>Mennyi pénze lesz az ötödik év végén összesen? </a:t>
            </a:r>
          </a:p>
          <a:p>
            <a:r>
              <a:rPr lang="hu-HU" sz="2100" dirty="0">
                <a:latin typeface="Cambria" panose="02040503050406030204" pitchFamily="18" charset="0"/>
                <a:ea typeface="Cambria" panose="02040503050406030204" pitchFamily="18" charset="0"/>
              </a:rPr>
              <a:t>Mennyi kamatot realizált az adott időszak alatt?</a:t>
            </a:r>
          </a:p>
        </p:txBody>
      </p:sp>
    </p:spTree>
    <p:extLst>
      <p:ext uri="{BB962C8B-B14F-4D97-AF65-F5344CB8AC3E}">
        <p14:creationId xmlns:p14="http://schemas.microsoft.com/office/powerpoint/2010/main" val="26115952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BFAD6-2C68-5279-153A-B6E1B7F2DBFC}"/>
            </a:ext>
          </a:extLst>
        </p:cNvPr>
        <p:cNvGrpSpPr/>
        <p:nvPr/>
      </p:nvGrpSpPr>
      <p:grpSpPr>
        <a:xfrm>
          <a:off x="0" y="0"/>
          <a:ext cx="0" cy="0"/>
          <a:chOff x="0" y="0"/>
          <a:chExt cx="0" cy="0"/>
        </a:xfrm>
      </p:grpSpPr>
      <p:sp>
        <p:nvSpPr>
          <p:cNvPr id="5" name="Tartalom helye 2">
            <a:extLst>
              <a:ext uri="{FF2B5EF4-FFF2-40B4-BE49-F238E27FC236}">
                <a16:creationId xmlns:a16="http://schemas.microsoft.com/office/drawing/2014/main" id="{D1618C2F-F37F-5EE2-B56A-C8ECB62A6C59}"/>
              </a:ext>
            </a:extLst>
          </p:cNvPr>
          <p:cNvSpPr txBox="1">
            <a:spLocks/>
          </p:cNvSpPr>
          <p:nvPr/>
        </p:nvSpPr>
        <p:spPr>
          <a:xfrm>
            <a:off x="444880" y="936549"/>
            <a:ext cx="7543800" cy="3541469"/>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400" dirty="0">
                <a:latin typeface="Cambria" panose="02040503050406030204" pitchFamily="18" charset="0"/>
                <a:ea typeface="Cambria" panose="02040503050406030204" pitchFamily="18" charset="0"/>
              </a:rPr>
              <a:t>FV=</a:t>
            </a:r>
            <a:r>
              <a:rPr lang="hu-HU" sz="2400" dirty="0">
                <a:ea typeface="Cambria" panose="02040503050406030204" pitchFamily="18" charset="0"/>
              </a:rPr>
              <a:t> PV</a:t>
            </a:r>
            <a:r>
              <a:rPr lang="hu-HU" sz="2400" dirty="0">
                <a:latin typeface="Cambria" panose="02040503050406030204" pitchFamily="18" charset="0"/>
                <a:ea typeface="Cambria" panose="02040503050406030204" pitchFamily="18" charset="0"/>
              </a:rPr>
              <a:t>(1+t*r)</a:t>
            </a:r>
          </a:p>
          <a:p>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FV= 2 000 000*(1+5*0,04)= 2 400 000 Ft</a:t>
            </a:r>
          </a:p>
          <a:p>
            <a:pPr marL="0" indent="0">
              <a:buNone/>
            </a:pPr>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Kamat: 400 000 Ft</a:t>
            </a:r>
          </a:p>
          <a:p>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Vagy: Egy év kamata= 2 000 000*0,04=80 000 Ft</a:t>
            </a:r>
          </a:p>
          <a:p>
            <a:pPr marL="0" indent="0">
              <a:buNone/>
            </a:pPr>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Összes kamat=5*80 000= 400 000 Ft</a:t>
            </a:r>
          </a:p>
          <a:p>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Teljes összeg=2 000 000+400 000=2 400 000 Ft</a:t>
            </a:r>
          </a:p>
        </p:txBody>
      </p:sp>
      <p:sp>
        <p:nvSpPr>
          <p:cNvPr id="10" name="Cím 1">
            <a:extLst>
              <a:ext uri="{FF2B5EF4-FFF2-40B4-BE49-F238E27FC236}">
                <a16:creationId xmlns:a16="http://schemas.microsoft.com/office/drawing/2014/main" id="{3B8D3A2F-A05E-4B68-5E2A-961DFE4C8049}"/>
              </a:ext>
            </a:extLst>
          </p:cNvPr>
          <p:cNvSpPr txBox="1">
            <a:spLocks/>
          </p:cNvSpPr>
          <p:nvPr/>
        </p:nvSpPr>
        <p:spPr>
          <a:xfrm>
            <a:off x="3426254" y="145448"/>
            <a:ext cx="1954128" cy="636430"/>
          </a:xfrm>
          <a:prstGeom prst="rect">
            <a:avLst/>
          </a:prstGeom>
          <a:solidFill>
            <a:srgbClr val="FFC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3300" dirty="0">
                <a:latin typeface="Cambria" panose="02040503050406030204" pitchFamily="18" charset="0"/>
                <a:ea typeface="Cambria" panose="02040503050406030204" pitchFamily="18" charset="0"/>
              </a:rPr>
              <a:t>Megoldás</a:t>
            </a:r>
          </a:p>
        </p:txBody>
      </p:sp>
    </p:spTree>
    <p:extLst>
      <p:ext uri="{BB962C8B-B14F-4D97-AF65-F5344CB8AC3E}">
        <p14:creationId xmlns:p14="http://schemas.microsoft.com/office/powerpoint/2010/main" val="185350145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B4B8-4B4F-B03B-576B-849F3BE6CAA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Szövegdoboz 9">
                <a:extLst>
                  <a:ext uri="{FF2B5EF4-FFF2-40B4-BE49-F238E27FC236}">
                    <a16:creationId xmlns:a16="http://schemas.microsoft.com/office/drawing/2014/main" id="{4649DED9-991D-9E29-9287-406E2F3C4EBA}"/>
                  </a:ext>
                </a:extLst>
              </p:cNvPr>
              <p:cNvSpPr txBox="1"/>
              <p:nvPr/>
            </p:nvSpPr>
            <p:spPr>
              <a:xfrm>
                <a:off x="659555" y="1048256"/>
                <a:ext cx="7278497" cy="3046988"/>
              </a:xfrm>
              <a:prstGeom prst="rect">
                <a:avLst/>
              </a:prstGeom>
              <a:noFill/>
            </p:spPr>
            <p:txBody>
              <a:bodyPr wrap="square">
                <a:spAutoFit/>
              </a:bodyPr>
              <a:lstStyle/>
              <a:p>
                <a:r>
                  <a:rPr lang="hu-HU" sz="2400" dirty="0">
                    <a:latin typeface="Cambria" panose="02040503050406030204" pitchFamily="18" charset="0"/>
                    <a:ea typeface="Cambria" panose="02040503050406030204" pitchFamily="18" charset="0"/>
                  </a:rPr>
                  <a:t>Tőkésített kamat(kamatos kamat): FV=</a:t>
                </a:r>
                <a:r>
                  <a:rPr lang="hu-HU" sz="2400" dirty="0">
                    <a:ea typeface="Cambria" panose="02040503050406030204" pitchFamily="18" charset="0"/>
                  </a:rPr>
                  <a:t> PV*</a:t>
                </a:r>
                <a:r>
                  <a:rPr lang="hu-HU" sz="2400" dirty="0">
                    <a:latin typeface="Cambria" panose="02040503050406030204" pitchFamily="18" charset="0"/>
                    <a:ea typeface="Cambria" panose="02040503050406030204" pitchFamily="18" charset="0"/>
                  </a:rPr>
                  <a:t>(1+r)</a:t>
                </a:r>
                <a:r>
                  <a:rPr lang="hu-HU" sz="2400" baseline="30000" dirty="0">
                    <a:latin typeface="Cambria" panose="02040503050406030204" pitchFamily="18" charset="0"/>
                    <a:ea typeface="Cambria" panose="02040503050406030204" pitchFamily="18" charset="0"/>
                  </a:rPr>
                  <a:t>t</a:t>
                </a:r>
                <a:r>
                  <a:rPr lang="hu-HU" sz="2400" dirty="0">
                    <a:latin typeface="Cambria" panose="02040503050406030204" pitchFamily="18" charset="0"/>
                    <a:ea typeface="Cambria" panose="02040503050406030204" pitchFamily="18" charset="0"/>
                  </a:rPr>
                  <a:t> </a:t>
                </a:r>
              </a:p>
              <a:p>
                <a:r>
                  <a:rPr lang="hu-HU" sz="2400" dirty="0">
                    <a:latin typeface="Cambria" panose="02040503050406030204" pitchFamily="18" charset="0"/>
                    <a:ea typeface="Cambria" panose="02040503050406030204" pitchFamily="18" charset="0"/>
                  </a:rPr>
                  <a:t>Kezdőtőke= 100 000 Ft</a:t>
                </a:r>
              </a:p>
              <a:p>
                <a:r>
                  <a:rPr lang="hu-HU" sz="2400" dirty="0">
                    <a:latin typeface="Cambria" panose="02040503050406030204" pitchFamily="18" charset="0"/>
                    <a:ea typeface="Cambria" panose="02040503050406030204" pitchFamily="18" charset="0"/>
                  </a:rPr>
                  <a:t>Évek száma= 4 év</a:t>
                </a:r>
              </a:p>
              <a:p>
                <a:r>
                  <a:rPr lang="hu-HU" sz="2400" dirty="0">
                    <a:latin typeface="Cambria" panose="02040503050406030204" pitchFamily="18" charset="0"/>
                    <a:ea typeface="Cambria" panose="02040503050406030204" pitchFamily="18" charset="0"/>
                  </a:rPr>
                  <a:t>Kamatláb= 10%</a:t>
                </a:r>
              </a:p>
              <a:p>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FV=</a:t>
                </a:r>
                <a:r>
                  <a:rPr lang="hu-HU" sz="2400" dirty="0">
                    <a:solidFill>
                      <a:srgbClr val="00B050"/>
                    </a:solidFill>
                    <a:latin typeface="Cambria" panose="02040503050406030204" pitchFamily="18" charset="0"/>
                    <a:ea typeface="Cambria" panose="02040503050406030204" pitchFamily="18" charset="0"/>
                  </a:rPr>
                  <a:t>{</a:t>
                </a:r>
                <a:r>
                  <a:rPr lang="hu-HU" sz="2400" dirty="0">
                    <a:solidFill>
                      <a:srgbClr val="C00000"/>
                    </a:solidFill>
                    <a:latin typeface="Cambria" panose="02040503050406030204" pitchFamily="18" charset="0"/>
                    <a:ea typeface="Cambria" panose="02040503050406030204" pitchFamily="18" charset="0"/>
                  </a:rPr>
                  <a:t>[</a:t>
                </a:r>
                <a:r>
                  <a:rPr lang="hu-HU" sz="2400" dirty="0">
                    <a:solidFill>
                      <a:srgbClr val="0070C0"/>
                    </a:solidFill>
                    <a:latin typeface="Cambria" panose="02040503050406030204" pitchFamily="18" charset="0"/>
                    <a:ea typeface="Cambria" panose="02040503050406030204" pitchFamily="18" charset="0"/>
                  </a:rPr>
                  <a:t>(</a:t>
                </a:r>
                <a:r>
                  <a:rPr lang="hu-HU" sz="2400" dirty="0">
                    <a:latin typeface="Cambria" panose="02040503050406030204" pitchFamily="18" charset="0"/>
                    <a:ea typeface="Cambria" panose="02040503050406030204" pitchFamily="18" charset="0"/>
                  </a:rPr>
                  <a:t>100 000*1,1</a:t>
                </a:r>
                <a:r>
                  <a:rPr lang="hu-HU" sz="2400" dirty="0">
                    <a:solidFill>
                      <a:srgbClr val="0070C0"/>
                    </a:solidFill>
                    <a:latin typeface="Cambria" panose="02040503050406030204" pitchFamily="18" charset="0"/>
                    <a:ea typeface="Cambria" panose="02040503050406030204" pitchFamily="18" charset="0"/>
                  </a:rPr>
                  <a:t>)</a:t>
                </a:r>
                <a:r>
                  <a:rPr lang="hu-HU" sz="2400" dirty="0">
                    <a:latin typeface="Cambria" panose="02040503050406030204" pitchFamily="18" charset="0"/>
                    <a:ea typeface="Cambria" panose="02040503050406030204" pitchFamily="18" charset="0"/>
                  </a:rPr>
                  <a:t>*1,1</a:t>
                </a:r>
                <a:r>
                  <a:rPr lang="hu-HU" sz="2400" dirty="0">
                    <a:solidFill>
                      <a:srgbClr val="C00000"/>
                    </a:solidFill>
                    <a:latin typeface="Cambria" panose="02040503050406030204" pitchFamily="18" charset="0"/>
                    <a:ea typeface="Cambria" panose="02040503050406030204" pitchFamily="18" charset="0"/>
                  </a:rPr>
                  <a:t>]</a:t>
                </a:r>
                <a:r>
                  <a:rPr lang="hu-HU" sz="2400" dirty="0">
                    <a:latin typeface="Cambria" panose="02040503050406030204" pitchFamily="18" charset="0"/>
                    <a:ea typeface="Cambria" panose="02040503050406030204" pitchFamily="18" charset="0"/>
                  </a:rPr>
                  <a:t>1,1</a:t>
                </a:r>
                <a:r>
                  <a:rPr lang="hu-HU" sz="2400" dirty="0">
                    <a:solidFill>
                      <a:srgbClr val="00B050"/>
                    </a:solidFill>
                    <a:latin typeface="Cambria" panose="02040503050406030204" pitchFamily="18" charset="0"/>
                    <a:ea typeface="Cambria" panose="02040503050406030204" pitchFamily="18" charset="0"/>
                  </a:rPr>
                  <a:t>}</a:t>
                </a:r>
                <a:r>
                  <a:rPr lang="hu-HU" sz="2400" dirty="0">
                    <a:latin typeface="Cambria" panose="02040503050406030204" pitchFamily="18" charset="0"/>
                    <a:ea typeface="Cambria" panose="02040503050406030204" pitchFamily="18" charset="0"/>
                  </a:rPr>
                  <a:t>1,1=</a:t>
                </a:r>
                <a14:m>
                  <m:oMath xmlns:m="http://schemas.openxmlformats.org/officeDocument/2006/math">
                    <m:sSup>
                      <m:sSupPr>
                        <m:ctrlPr>
                          <a:rPr lang="hu-HU" sz="2400" i="1">
                            <a:latin typeface="Cambria Math" panose="02040503050406030204" pitchFamily="18" charset="0"/>
                            <a:ea typeface="Cambria" panose="02040503050406030204" pitchFamily="18" charset="0"/>
                          </a:rPr>
                        </m:ctrlPr>
                      </m:sSupPr>
                      <m:e>
                        <m:r>
                          <a:rPr lang="hu-HU" sz="2400" i="1">
                            <a:latin typeface="Cambria Math" panose="02040503050406030204" pitchFamily="18" charset="0"/>
                            <a:ea typeface="Cambria" panose="02040503050406030204" pitchFamily="18" charset="0"/>
                          </a:rPr>
                          <m:t>100 000∗1,1</m:t>
                        </m:r>
                      </m:e>
                      <m:sup>
                        <m:r>
                          <a:rPr lang="hu-HU" sz="2400" i="1">
                            <a:latin typeface="Cambria Math" panose="02040503050406030204" pitchFamily="18" charset="0"/>
                            <a:ea typeface="Cambria" panose="02040503050406030204" pitchFamily="18" charset="0"/>
                          </a:rPr>
                          <m:t>4</m:t>
                        </m:r>
                      </m:sup>
                    </m:sSup>
                  </m:oMath>
                </a14:m>
                <a:endParaRPr lang="hu-HU" sz="2400" dirty="0">
                  <a:latin typeface="Cambria" panose="02040503050406030204" pitchFamily="18" charset="0"/>
                  <a:ea typeface="Cambria" panose="02040503050406030204" pitchFamily="18" charset="0"/>
                </a:endParaRPr>
              </a:p>
              <a:p>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FV=146 410 Ft</a:t>
                </a:r>
              </a:p>
            </p:txBody>
          </p:sp>
        </mc:Choice>
        <mc:Fallback xmlns="">
          <p:sp>
            <p:nvSpPr>
              <p:cNvPr id="10" name="Szövegdoboz 9">
                <a:extLst>
                  <a:ext uri="{FF2B5EF4-FFF2-40B4-BE49-F238E27FC236}">
                    <a16:creationId xmlns:a16="http://schemas.microsoft.com/office/drawing/2014/main" id="{4649DED9-991D-9E29-9287-406E2F3C4EBA}"/>
                  </a:ext>
                </a:extLst>
              </p:cNvPr>
              <p:cNvSpPr txBox="1">
                <a:spLocks noRot="1" noChangeAspect="1" noMove="1" noResize="1" noEditPoints="1" noAdjustHandles="1" noChangeArrowheads="1" noChangeShapeType="1" noTextEdit="1"/>
              </p:cNvSpPr>
              <p:nvPr/>
            </p:nvSpPr>
            <p:spPr>
              <a:xfrm>
                <a:off x="659555" y="1048256"/>
                <a:ext cx="7278497" cy="3046988"/>
              </a:xfrm>
              <a:prstGeom prst="rect">
                <a:avLst/>
              </a:prstGeom>
              <a:blipFill>
                <a:blip r:embed="rId2"/>
                <a:stretch>
                  <a:fillRect l="-1256" t="-1600" b="-3600"/>
                </a:stretch>
              </a:blipFill>
            </p:spPr>
            <p:txBody>
              <a:bodyPr/>
              <a:lstStyle/>
              <a:p>
                <a:r>
                  <a:rPr lang="hu-HU">
                    <a:noFill/>
                  </a:rPr>
                  <a:t> </a:t>
                </a:r>
              </a:p>
            </p:txBody>
          </p:sp>
        </mc:Fallback>
      </mc:AlternateContent>
      <p:sp>
        <p:nvSpPr>
          <p:cNvPr id="12" name="Szövegdoboz 11">
            <a:extLst>
              <a:ext uri="{FF2B5EF4-FFF2-40B4-BE49-F238E27FC236}">
                <a16:creationId xmlns:a16="http://schemas.microsoft.com/office/drawing/2014/main" id="{E060A852-A74C-2A21-A41C-7EAC29C8145B}"/>
              </a:ext>
            </a:extLst>
          </p:cNvPr>
          <p:cNvSpPr txBox="1"/>
          <p:nvPr/>
        </p:nvSpPr>
        <p:spPr>
          <a:xfrm>
            <a:off x="1712969" y="109434"/>
            <a:ext cx="5718062" cy="553998"/>
          </a:xfrm>
          <a:prstGeom prst="rect">
            <a:avLst/>
          </a:prstGeom>
          <a:solidFill>
            <a:srgbClr val="FFC000"/>
          </a:solidFill>
        </p:spPr>
        <p:txBody>
          <a:bodyPr wrap="square">
            <a:spAutoFit/>
          </a:bodyPr>
          <a:lstStyle/>
          <a:p>
            <a:r>
              <a:rPr lang="hu-HU" sz="3000" dirty="0">
                <a:latin typeface="Cambria" panose="02040503050406030204" pitchFamily="18" charset="0"/>
                <a:ea typeface="Cambria" panose="02040503050406030204" pitchFamily="18" charset="0"/>
              </a:rPr>
              <a:t>Tőkésített kamat(kamatos kamat)</a:t>
            </a:r>
          </a:p>
        </p:txBody>
      </p:sp>
    </p:spTree>
    <p:extLst>
      <p:ext uri="{BB962C8B-B14F-4D97-AF65-F5344CB8AC3E}">
        <p14:creationId xmlns:p14="http://schemas.microsoft.com/office/powerpoint/2010/main" val="10630573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left)">
                                      <p:cBhvr>
                                        <p:cTn id="12" dur="500"/>
                                        <p:tgtEl>
                                          <p:spTgt spid="10">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0">
                                            <p:txEl>
                                              <p:pRg st="3" end="3"/>
                                            </p:txEl>
                                          </p:spTgt>
                                        </p:tgtEl>
                                        <p:attrNameLst>
                                          <p:attrName>style.visibility</p:attrName>
                                        </p:attrNameLst>
                                      </p:cBhvr>
                                      <p:to>
                                        <p:strVal val="visible"/>
                                      </p:to>
                                    </p:set>
                                    <p:animEffect transition="in" filter="wipe(left)">
                                      <p:cBhvr>
                                        <p:cTn id="18" dur="500"/>
                                        <p:tgtEl>
                                          <p:spTgt spid="10">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animEffect transition="in" filter="wipe(left)">
                                      <p:cBhvr>
                                        <p:cTn id="23" dur="500"/>
                                        <p:tgtEl>
                                          <p:spTgt spid="10">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
                                            <p:txEl>
                                              <p:pRg st="7" end="7"/>
                                            </p:txEl>
                                          </p:spTgt>
                                        </p:tgtEl>
                                        <p:attrNameLst>
                                          <p:attrName>style.visibility</p:attrName>
                                        </p:attrNameLst>
                                      </p:cBhvr>
                                      <p:to>
                                        <p:strVal val="visible"/>
                                      </p:to>
                                    </p:set>
                                    <p:animEffect transition="in" filter="wipe(left)">
                                      <p:cBhvr>
                                        <p:cTn id="28"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39AE0-A3B5-13E4-D469-BF51D515B082}"/>
            </a:ext>
          </a:extLst>
        </p:cNvPr>
        <p:cNvGrpSpPr/>
        <p:nvPr/>
      </p:nvGrpSpPr>
      <p:grpSpPr>
        <a:xfrm>
          <a:off x="0" y="0"/>
          <a:ext cx="0" cy="0"/>
          <a:chOff x="0" y="0"/>
          <a:chExt cx="0" cy="0"/>
        </a:xfrm>
      </p:grpSpPr>
      <p:sp>
        <p:nvSpPr>
          <p:cNvPr id="5" name="Tartalom helye 2">
            <a:extLst>
              <a:ext uri="{FF2B5EF4-FFF2-40B4-BE49-F238E27FC236}">
                <a16:creationId xmlns:a16="http://schemas.microsoft.com/office/drawing/2014/main" id="{7F754780-4B8A-7CD5-1AA4-30B0C9CD592B}"/>
              </a:ext>
            </a:extLst>
          </p:cNvPr>
          <p:cNvSpPr txBox="1">
            <a:spLocks/>
          </p:cNvSpPr>
          <p:nvPr/>
        </p:nvSpPr>
        <p:spPr>
          <a:xfrm>
            <a:off x="405796" y="745458"/>
            <a:ext cx="8615778" cy="15140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700" dirty="0">
                <a:latin typeface="Cambria" panose="02040503050406030204" pitchFamily="18" charset="0"/>
                <a:ea typeface="Cambria" panose="02040503050406030204" pitchFamily="18" charset="0"/>
              </a:rPr>
              <a:t>Egy lakossági befektető 3 000 000 Ft-ot helyez el év elején a bankjában 4%-os kamat mellett. </a:t>
            </a:r>
          </a:p>
          <a:p>
            <a:r>
              <a:rPr lang="hu-HU" sz="2700" dirty="0">
                <a:latin typeface="Cambria" panose="02040503050406030204" pitchFamily="18" charset="0"/>
                <a:ea typeface="Cambria" panose="02040503050406030204" pitchFamily="18" charset="0"/>
              </a:rPr>
              <a:t>Mennyi pénze lesz 6 év múlva, ha a kamatot tőkésítik?</a:t>
            </a:r>
          </a:p>
        </p:txBody>
      </p:sp>
    </p:spTree>
    <p:extLst>
      <p:ext uri="{BB962C8B-B14F-4D97-AF65-F5344CB8AC3E}">
        <p14:creationId xmlns:p14="http://schemas.microsoft.com/office/powerpoint/2010/main" val="28972322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F7C9A-72EF-CEB2-1402-3A5F06F242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artalom helye 2">
                <a:extLst>
                  <a:ext uri="{FF2B5EF4-FFF2-40B4-BE49-F238E27FC236}">
                    <a16:creationId xmlns:a16="http://schemas.microsoft.com/office/drawing/2014/main" id="{564BC928-668C-8BB2-C7AC-7FD3C5471BC8}"/>
                  </a:ext>
                </a:extLst>
              </p:cNvPr>
              <p:cNvSpPr txBox="1">
                <a:spLocks/>
              </p:cNvSpPr>
              <p:nvPr/>
            </p:nvSpPr>
            <p:spPr>
              <a:xfrm>
                <a:off x="800100" y="1381558"/>
                <a:ext cx="7543800" cy="282066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700" dirty="0">
                    <a:latin typeface="Cambria" panose="02040503050406030204" pitchFamily="18" charset="0"/>
                    <a:ea typeface="Cambria" panose="02040503050406030204" pitchFamily="18" charset="0"/>
                  </a:rPr>
                  <a:t>FV=</a:t>
                </a:r>
                <a:r>
                  <a:rPr lang="hu-HU" sz="2700" dirty="0">
                    <a:ea typeface="Cambria" panose="02040503050406030204" pitchFamily="18" charset="0"/>
                  </a:rPr>
                  <a:t> PV</a:t>
                </a:r>
                <a:r>
                  <a:rPr lang="hu-HU" sz="2700" dirty="0">
                    <a:latin typeface="Cambria" panose="02040503050406030204" pitchFamily="18" charset="0"/>
                    <a:ea typeface="Cambria" panose="02040503050406030204" pitchFamily="18" charset="0"/>
                  </a:rPr>
                  <a:t>(1+r)</a:t>
                </a:r>
                <a:r>
                  <a:rPr lang="hu-HU" sz="2700" baseline="30000" dirty="0">
                    <a:latin typeface="Cambria" panose="02040503050406030204" pitchFamily="18" charset="0"/>
                    <a:ea typeface="Cambria" panose="02040503050406030204" pitchFamily="18" charset="0"/>
                  </a:rPr>
                  <a:t>t</a:t>
                </a:r>
              </a:p>
              <a:p>
                <a:pPr marL="0" indent="0">
                  <a:buNone/>
                </a:pPr>
                <a:endParaRPr lang="hu-HU" sz="2700" dirty="0">
                  <a:latin typeface="Cambria" panose="02040503050406030204" pitchFamily="18" charset="0"/>
                  <a:ea typeface="Cambria" panose="02040503050406030204" pitchFamily="18" charset="0"/>
                </a:endParaRPr>
              </a:p>
              <a:p>
                <a:r>
                  <a:rPr lang="hu-HU" sz="2700" dirty="0">
                    <a:latin typeface="Cambria" panose="02040503050406030204" pitchFamily="18" charset="0"/>
                    <a:ea typeface="Cambria" panose="02040503050406030204" pitchFamily="18" charset="0"/>
                  </a:rPr>
                  <a:t>FV= 3 000 000 *</a:t>
                </a:r>
                <a14:m>
                  <m:oMath xmlns:m="http://schemas.openxmlformats.org/officeDocument/2006/math">
                    <m:sSup>
                      <m:sSupPr>
                        <m:ctrlPr>
                          <a:rPr lang="hu-HU" sz="2700" i="1">
                            <a:latin typeface="Cambria Math" panose="02040503050406030204" pitchFamily="18" charset="0"/>
                          </a:rPr>
                        </m:ctrlPr>
                      </m:sSupPr>
                      <m:e>
                        <m:r>
                          <a:rPr lang="hu-HU" sz="2700" i="1">
                            <a:latin typeface="Cambria Math" panose="02040503050406030204" pitchFamily="18" charset="0"/>
                          </a:rPr>
                          <m:t>1,04</m:t>
                        </m:r>
                      </m:e>
                      <m:sup>
                        <m:r>
                          <a:rPr lang="hu-HU" sz="2700" i="1">
                            <a:latin typeface="Cambria Math" panose="02040503050406030204" pitchFamily="18" charset="0"/>
                          </a:rPr>
                          <m:t>6</m:t>
                        </m:r>
                      </m:sup>
                    </m:sSup>
                  </m:oMath>
                </a14:m>
                <a:r>
                  <a:rPr lang="hu-HU" sz="2700" dirty="0">
                    <a:latin typeface="Cambria" panose="02040503050406030204" pitchFamily="18" charset="0"/>
                    <a:ea typeface="Cambria" panose="02040503050406030204" pitchFamily="18" charset="0"/>
                  </a:rPr>
                  <a:t>=3 795 957</a:t>
                </a:r>
              </a:p>
              <a:p>
                <a:endParaRPr lang="hu-HU" sz="2700" dirty="0">
                  <a:latin typeface="Cambria" panose="02040503050406030204" pitchFamily="18" charset="0"/>
                  <a:ea typeface="Cambria" panose="02040503050406030204" pitchFamily="18" charset="0"/>
                </a:endParaRPr>
              </a:p>
              <a:p>
                <a:r>
                  <a:rPr lang="hu-HU" sz="2700" dirty="0">
                    <a:latin typeface="Cambria" panose="02040503050406030204" pitchFamily="18" charset="0"/>
                    <a:ea typeface="Cambria" panose="02040503050406030204" pitchFamily="18" charset="0"/>
                  </a:rPr>
                  <a:t>FV= 3 000 000*1,265= 3 795 000</a:t>
                </a:r>
              </a:p>
            </p:txBody>
          </p:sp>
        </mc:Choice>
        <mc:Fallback xmlns="">
          <p:sp>
            <p:nvSpPr>
              <p:cNvPr id="5" name="Tartalom helye 2">
                <a:extLst>
                  <a:ext uri="{FF2B5EF4-FFF2-40B4-BE49-F238E27FC236}">
                    <a16:creationId xmlns:a16="http://schemas.microsoft.com/office/drawing/2014/main" id="{564BC928-668C-8BB2-C7AC-7FD3C5471BC8}"/>
                  </a:ext>
                </a:extLst>
              </p:cNvPr>
              <p:cNvSpPr txBox="1">
                <a:spLocks noRot="1" noChangeAspect="1" noMove="1" noResize="1" noEditPoints="1" noAdjustHandles="1" noChangeArrowheads="1" noChangeShapeType="1" noTextEdit="1"/>
              </p:cNvSpPr>
              <p:nvPr/>
            </p:nvSpPr>
            <p:spPr>
              <a:xfrm>
                <a:off x="800100" y="1381558"/>
                <a:ext cx="7543800" cy="2820668"/>
              </a:xfrm>
              <a:prstGeom prst="rect">
                <a:avLst/>
              </a:prstGeom>
              <a:blipFill>
                <a:blip r:embed="rId2"/>
                <a:stretch>
                  <a:fillRect l="-1373" t="-3680"/>
                </a:stretch>
              </a:blipFill>
            </p:spPr>
            <p:txBody>
              <a:bodyPr/>
              <a:lstStyle/>
              <a:p>
                <a:r>
                  <a:rPr lang="hu-HU">
                    <a:noFill/>
                  </a:rPr>
                  <a:t> </a:t>
                </a:r>
              </a:p>
            </p:txBody>
          </p:sp>
        </mc:Fallback>
      </mc:AlternateContent>
      <p:sp>
        <p:nvSpPr>
          <p:cNvPr id="10" name="Cím 1">
            <a:extLst>
              <a:ext uri="{FF2B5EF4-FFF2-40B4-BE49-F238E27FC236}">
                <a16:creationId xmlns:a16="http://schemas.microsoft.com/office/drawing/2014/main" id="{4ABBEB70-F085-AA41-D91F-C375AD904821}"/>
              </a:ext>
            </a:extLst>
          </p:cNvPr>
          <p:cNvSpPr txBox="1">
            <a:spLocks/>
          </p:cNvSpPr>
          <p:nvPr/>
        </p:nvSpPr>
        <p:spPr>
          <a:xfrm>
            <a:off x="3095625" y="293490"/>
            <a:ext cx="2516671" cy="740180"/>
          </a:xfrm>
          <a:prstGeom prst="rect">
            <a:avLst/>
          </a:prstGeom>
          <a:solidFill>
            <a:srgbClr val="FFC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4500" dirty="0">
                <a:latin typeface="Cambria" panose="02040503050406030204" pitchFamily="18" charset="0"/>
                <a:ea typeface="Cambria" panose="02040503050406030204" pitchFamily="18" charset="0"/>
              </a:rPr>
              <a:t>Megoldás</a:t>
            </a:r>
          </a:p>
        </p:txBody>
      </p:sp>
    </p:spTree>
    <p:extLst>
      <p:ext uri="{BB962C8B-B14F-4D97-AF65-F5344CB8AC3E}">
        <p14:creationId xmlns:p14="http://schemas.microsoft.com/office/powerpoint/2010/main" val="30733600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1831A-1483-9949-24A8-87B7550BE45A}"/>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5796E0CD-B095-D802-96D5-64C96D3719AE}"/>
              </a:ext>
            </a:extLst>
          </p:cNvPr>
          <p:cNvSpPr>
            <a:spLocks noGrp="1"/>
          </p:cNvSpPr>
          <p:nvPr>
            <p:ph type="title"/>
          </p:nvPr>
        </p:nvSpPr>
        <p:spPr>
          <a:xfrm>
            <a:off x="0" y="0"/>
            <a:ext cx="9144000" cy="531846"/>
          </a:xfrm>
          <a:solidFill>
            <a:srgbClr val="FFC000"/>
          </a:solidFill>
        </p:spPr>
        <p:txBody>
          <a:bodyPr anchor="ctr" anchorCtr="0"/>
          <a:lstStyle/>
          <a:p>
            <a:r>
              <a:rPr lang="hu-HU" dirty="0"/>
              <a:t>1. feladat</a:t>
            </a:r>
          </a:p>
        </p:txBody>
      </p:sp>
      <p:sp>
        <p:nvSpPr>
          <p:cNvPr id="3" name="TextBox 2">
            <a:extLst>
              <a:ext uri="{FF2B5EF4-FFF2-40B4-BE49-F238E27FC236}">
                <a16:creationId xmlns:a16="http://schemas.microsoft.com/office/drawing/2014/main" id="{A4F67BAD-C444-BD3C-1639-93D1440E5A85}"/>
              </a:ext>
            </a:extLst>
          </p:cNvPr>
          <p:cNvSpPr txBox="1"/>
          <p:nvPr/>
        </p:nvSpPr>
        <p:spPr>
          <a:xfrm>
            <a:off x="343177" y="784448"/>
            <a:ext cx="8454834" cy="615553"/>
          </a:xfrm>
          <a:prstGeom prst="rect">
            <a:avLst/>
          </a:prstGeom>
          <a:noFill/>
        </p:spPr>
        <p:txBody>
          <a:bodyPr wrap="square">
            <a:spAutoFit/>
          </a:bodyPr>
          <a:lstStyle/>
          <a:p>
            <a:pPr marL="0" indent="0">
              <a:buNone/>
            </a:pPr>
            <a:r>
              <a:rPr lang="hu-HU" sz="1700" dirty="0">
                <a:solidFill>
                  <a:srgbClr val="002060"/>
                </a:solidFill>
                <a:latin typeface="Cambria" panose="02040503050406030204" pitchFamily="18" charset="0"/>
                <a:ea typeface="Cambria" panose="02040503050406030204" pitchFamily="18" charset="0"/>
              </a:rPr>
              <a:t>Ha ma rendelkezem 1,2 millió Ft-tal, mennyi lesz ennek a pénzösszegnek az értéke öt év múlva, 8,8%-os piaci kamatláb mellett, ha a kamatokat </a:t>
            </a:r>
            <a:r>
              <a:rPr lang="hu-HU" sz="1700" b="1" i="1" dirty="0">
                <a:solidFill>
                  <a:srgbClr val="002060"/>
                </a:solidFill>
                <a:latin typeface="Cambria" panose="02040503050406030204" pitchFamily="18" charset="0"/>
                <a:ea typeface="Cambria" panose="02040503050406030204" pitchFamily="18" charset="0"/>
              </a:rPr>
              <a:t>nem</a:t>
            </a:r>
            <a:r>
              <a:rPr lang="hu-HU" sz="1700" b="1" dirty="0">
                <a:solidFill>
                  <a:srgbClr val="002060"/>
                </a:solidFill>
                <a:latin typeface="Cambria" panose="02040503050406030204" pitchFamily="18" charset="0"/>
                <a:ea typeface="Cambria" panose="02040503050406030204" pitchFamily="18" charset="0"/>
              </a:rPr>
              <a:t> tőkésítjük</a:t>
            </a:r>
            <a:r>
              <a:rPr lang="hu-HU" sz="1700" dirty="0">
                <a:solidFill>
                  <a:srgbClr val="002060"/>
                </a:solidFill>
                <a:latin typeface="Cambria" panose="02040503050406030204" pitchFamily="18" charset="0"/>
                <a:ea typeface="Cambria" panose="02040503050406030204" pitchFamily="18" charset="0"/>
              </a:rPr>
              <a:t>?</a:t>
            </a:r>
            <a:endParaRPr lang="en-GB" sz="1700" dirty="0">
              <a:solidFill>
                <a:srgbClr val="002060"/>
              </a:solidFill>
              <a:latin typeface="Cambria" panose="02040503050406030204" pitchFamily="18" charset="0"/>
              <a:ea typeface="Cambria" panose="02040503050406030204" pitchFamily="18" charset="0"/>
            </a:endParaRPr>
          </a:p>
        </p:txBody>
      </p:sp>
      <p:sp>
        <p:nvSpPr>
          <p:cNvPr id="4" name="Tartalom helye 5">
            <a:extLst>
              <a:ext uri="{FF2B5EF4-FFF2-40B4-BE49-F238E27FC236}">
                <a16:creationId xmlns:a16="http://schemas.microsoft.com/office/drawing/2014/main" id="{1FE2C876-AE1B-AD64-BE8D-E906B30002E2}"/>
              </a:ext>
            </a:extLst>
          </p:cNvPr>
          <p:cNvSpPr txBox="1">
            <a:spLocks/>
          </p:cNvSpPr>
          <p:nvPr/>
        </p:nvSpPr>
        <p:spPr>
          <a:xfrm>
            <a:off x="403654" y="1453819"/>
            <a:ext cx="8394357" cy="2839885"/>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sz="1600" dirty="0">
                <a:solidFill>
                  <a:srgbClr val="C00000"/>
                </a:solidFill>
                <a:latin typeface="Cambria" panose="02040503050406030204" pitchFamily="18" charset="0"/>
                <a:ea typeface="Cambria" panose="02040503050406030204" pitchFamily="18" charset="0"/>
                <a:cs typeface="Arial"/>
              </a:rPr>
              <a:t>Megoldás – Jövőérték-számítás</a:t>
            </a:r>
          </a:p>
          <a:p>
            <a:endParaRPr lang="hu-HU" sz="1600" dirty="0">
              <a:solidFill>
                <a:srgbClr val="000000"/>
              </a:solidFill>
              <a:latin typeface="Cambria" panose="02040503050406030204" pitchFamily="18" charset="0"/>
              <a:ea typeface="Cambria" panose="02040503050406030204" pitchFamily="18" charset="0"/>
              <a:cs typeface="Arial"/>
            </a:endParaRPr>
          </a:p>
          <a:p>
            <a:r>
              <a:rPr lang="hu-HU" sz="1600" dirty="0">
                <a:solidFill>
                  <a:srgbClr val="000000"/>
                </a:solidFill>
                <a:latin typeface="Cambria" panose="02040503050406030204" pitchFamily="18" charset="0"/>
                <a:ea typeface="Cambria" panose="02040503050406030204" pitchFamily="18" charset="0"/>
                <a:cs typeface="Arial"/>
              </a:rPr>
              <a:t>PV = 1 200 000	t = 5 év  	r = 8,8%</a:t>
            </a:r>
          </a:p>
          <a:p>
            <a:endParaRPr lang="hu-HU" sz="1600" dirty="0">
              <a:solidFill>
                <a:srgbClr val="000000"/>
              </a:solidFill>
              <a:latin typeface="Cambria" panose="02040503050406030204" pitchFamily="18" charset="0"/>
              <a:ea typeface="Cambria" panose="02040503050406030204" pitchFamily="18" charset="0"/>
              <a:cs typeface="Arial"/>
            </a:endParaRPr>
          </a:p>
          <a:p>
            <a:r>
              <a:rPr lang="hu-HU" sz="1600" dirty="0">
                <a:solidFill>
                  <a:srgbClr val="000000"/>
                </a:solidFill>
                <a:latin typeface="Cambria" panose="02040503050406030204" pitchFamily="18" charset="0"/>
                <a:ea typeface="Cambria" panose="02040503050406030204" pitchFamily="18" charset="0"/>
                <a:cs typeface="Arial"/>
              </a:rPr>
              <a:t>FV(</a:t>
            </a:r>
            <a:r>
              <a:rPr lang="hu-HU" sz="1600" dirty="0" err="1">
                <a:solidFill>
                  <a:srgbClr val="000000"/>
                </a:solidFill>
                <a:latin typeface="Cambria" panose="02040503050406030204" pitchFamily="18" charset="0"/>
                <a:ea typeface="Cambria" panose="02040503050406030204" pitchFamily="18" charset="0"/>
                <a:cs typeface="Arial"/>
              </a:rPr>
              <a:t>PV,t,r</a:t>
            </a:r>
            <a:r>
              <a:rPr lang="hu-HU" sz="1600" dirty="0">
                <a:solidFill>
                  <a:srgbClr val="000000"/>
                </a:solidFill>
                <a:latin typeface="Cambria" panose="02040503050406030204" pitchFamily="18" charset="0"/>
                <a:ea typeface="Cambria" panose="02040503050406030204" pitchFamily="18" charset="0"/>
                <a:cs typeface="Arial"/>
              </a:rPr>
              <a:t>) = PV * (1 + t * r)</a:t>
            </a:r>
          </a:p>
          <a:p>
            <a:endParaRPr lang="hu-HU" sz="1600" dirty="0">
              <a:solidFill>
                <a:srgbClr val="000000"/>
              </a:solidFill>
              <a:latin typeface="Cambria" panose="02040503050406030204" pitchFamily="18" charset="0"/>
              <a:ea typeface="Cambria" panose="02040503050406030204" pitchFamily="18" charset="0"/>
              <a:cs typeface="Arial"/>
            </a:endParaRPr>
          </a:p>
          <a:p>
            <a:r>
              <a:rPr lang="hu-HU" sz="1600" dirty="0">
                <a:solidFill>
                  <a:srgbClr val="000000"/>
                </a:solidFill>
                <a:latin typeface="Cambria" panose="02040503050406030204" pitchFamily="18" charset="0"/>
                <a:ea typeface="Cambria" panose="02040503050406030204" pitchFamily="18" charset="0"/>
                <a:cs typeface="Arial"/>
              </a:rPr>
              <a:t>Függvényként: FV a PV (ma rendelkezésre álló összeg), a t (időtartam) és az r (kamatláb) függvénye, tehát FV(</a:t>
            </a:r>
            <a:r>
              <a:rPr lang="hu-HU" sz="1600" dirty="0" err="1">
                <a:solidFill>
                  <a:srgbClr val="000000"/>
                </a:solidFill>
                <a:latin typeface="Cambria" panose="02040503050406030204" pitchFamily="18" charset="0"/>
                <a:ea typeface="Cambria" panose="02040503050406030204" pitchFamily="18" charset="0"/>
                <a:cs typeface="Arial"/>
              </a:rPr>
              <a:t>PV,t,r</a:t>
            </a:r>
            <a:r>
              <a:rPr lang="hu-HU" sz="1600" dirty="0">
                <a:solidFill>
                  <a:srgbClr val="000000"/>
                </a:solidFill>
                <a:latin typeface="Cambria" panose="02040503050406030204" pitchFamily="18" charset="0"/>
                <a:ea typeface="Cambria" panose="02040503050406030204" pitchFamily="18" charset="0"/>
                <a:cs typeface="Arial"/>
              </a:rPr>
              <a:t>). Az egyszerűség kedvéért a későbbiekben ezt a jelölést elhagyjuk.</a:t>
            </a:r>
          </a:p>
          <a:p>
            <a:r>
              <a:rPr lang="hu-HU" sz="1600" dirty="0">
                <a:solidFill>
                  <a:srgbClr val="000000"/>
                </a:solidFill>
                <a:latin typeface="Cambria" panose="02040503050406030204" pitchFamily="18" charset="0"/>
                <a:ea typeface="Cambria" panose="02040503050406030204" pitchFamily="18" charset="0"/>
                <a:cs typeface="Arial"/>
              </a:rPr>
              <a:t> </a:t>
            </a:r>
          </a:p>
          <a:p>
            <a:r>
              <a:rPr lang="hu-HU" sz="1600" dirty="0">
                <a:solidFill>
                  <a:srgbClr val="000000"/>
                </a:solidFill>
                <a:latin typeface="Cambria" panose="02040503050406030204" pitchFamily="18" charset="0"/>
                <a:ea typeface="Cambria" panose="02040503050406030204" pitchFamily="18" charset="0"/>
                <a:cs typeface="Arial"/>
              </a:rPr>
              <a:t>Figyelem, nincs tőkésítés – lineáris kamatszámítás!</a:t>
            </a:r>
          </a:p>
          <a:p>
            <a:endParaRPr lang="hu-HU" dirty="0">
              <a:solidFill>
                <a:srgbClr val="000000"/>
              </a:solidFill>
              <a:latin typeface="Cambria" panose="02040503050406030204" pitchFamily="18" charset="0"/>
              <a:ea typeface="Cambria" panose="02040503050406030204" pitchFamily="18" charset="0"/>
              <a:cs typeface="Arial"/>
            </a:endParaRPr>
          </a:p>
          <a:p>
            <a:endParaRPr lang="hu-HU" sz="1200" dirty="0">
              <a:solidFill>
                <a:srgbClr val="000000"/>
              </a:solidFill>
              <a:latin typeface="Cambria" panose="02040503050406030204" pitchFamily="18" charset="0"/>
              <a:ea typeface="Cambria" panose="02040503050406030204" pitchFamily="18" charset="0"/>
              <a:cs typeface="Arial"/>
            </a:endParaRPr>
          </a:p>
          <a:p>
            <a:r>
              <a:rPr lang="hu-HU" sz="1900" b="1" dirty="0">
                <a:solidFill>
                  <a:srgbClr val="C00000"/>
                </a:solidFill>
                <a:latin typeface="Cambria" panose="02040503050406030204" pitchFamily="18" charset="0"/>
                <a:ea typeface="Cambria" panose="02040503050406030204" pitchFamily="18" charset="0"/>
                <a:cs typeface="Arial"/>
              </a:rPr>
              <a:t>FV</a:t>
            </a:r>
            <a:r>
              <a:rPr lang="hu-HU" sz="1900" dirty="0">
                <a:solidFill>
                  <a:srgbClr val="C00000"/>
                </a:solidFill>
                <a:latin typeface="Cambria" panose="02040503050406030204" pitchFamily="18" charset="0"/>
                <a:ea typeface="Cambria" panose="02040503050406030204" pitchFamily="18" charset="0"/>
                <a:cs typeface="Arial"/>
              </a:rPr>
              <a:t> = 1 200 000 * (1 + 5 * 0,088 ) = </a:t>
            </a:r>
            <a:r>
              <a:rPr lang="hu-HU" sz="1900" b="1" dirty="0">
                <a:solidFill>
                  <a:srgbClr val="C00000"/>
                </a:solidFill>
                <a:latin typeface="Cambria" panose="02040503050406030204" pitchFamily="18" charset="0"/>
                <a:ea typeface="Cambria" panose="02040503050406030204" pitchFamily="18" charset="0"/>
                <a:cs typeface="Arial"/>
              </a:rPr>
              <a:t>1 728 000 Ft </a:t>
            </a:r>
          </a:p>
          <a:p>
            <a:endParaRPr lang="hu-HU" sz="1900" b="1" dirty="0">
              <a:solidFill>
                <a:srgbClr val="C00000"/>
              </a:solidFill>
              <a:latin typeface="Cambria" panose="02040503050406030204" pitchFamily="18" charset="0"/>
              <a:ea typeface="Cambria" panose="02040503050406030204" pitchFamily="18" charset="0"/>
              <a:cs typeface="Arial"/>
            </a:endParaRPr>
          </a:p>
          <a:p>
            <a:r>
              <a:rPr lang="hu-HU" sz="1900" b="1" dirty="0">
                <a:solidFill>
                  <a:srgbClr val="C00000"/>
                </a:solidFill>
                <a:latin typeface="Cambria" panose="02040503050406030204" pitchFamily="18" charset="0"/>
                <a:ea typeface="Cambria" panose="02040503050406030204" pitchFamily="18" charset="0"/>
                <a:cs typeface="Arial"/>
              </a:rPr>
              <a:t>5*8,8%=44%, tehát 1 200 000*1,44</a:t>
            </a:r>
          </a:p>
          <a:p>
            <a:endParaRPr lang="hu-HU" sz="1900" b="1" dirty="0">
              <a:solidFill>
                <a:srgbClr val="C00000"/>
              </a:solidFill>
              <a:latin typeface="Cambria" panose="02040503050406030204" pitchFamily="18" charset="0"/>
              <a:ea typeface="Cambria" panose="02040503050406030204" pitchFamily="18" charset="0"/>
              <a:cs typeface="Arial"/>
            </a:endParaRPr>
          </a:p>
          <a:p>
            <a:r>
              <a:rPr lang="hu-HU" sz="1900" b="1" dirty="0">
                <a:solidFill>
                  <a:srgbClr val="C00000"/>
                </a:solidFill>
                <a:latin typeface="Cambria" panose="02040503050406030204" pitchFamily="18" charset="0"/>
                <a:ea typeface="Cambria" panose="02040503050406030204" pitchFamily="18" charset="0"/>
                <a:cs typeface="Arial"/>
              </a:rPr>
              <a:t>Vagy: 1 200 000*0,088=105 600 Ft (ez az éves kamat), összes kamat 5*105 600=528 000 Ft</a:t>
            </a:r>
          </a:p>
          <a:p>
            <a:endParaRPr lang="hu-HU" sz="1900" b="1" dirty="0">
              <a:solidFill>
                <a:srgbClr val="C00000"/>
              </a:solidFill>
              <a:latin typeface="Cambria" panose="02040503050406030204" pitchFamily="18" charset="0"/>
              <a:ea typeface="Cambria" panose="02040503050406030204" pitchFamily="18" charset="0"/>
              <a:cs typeface="Arial"/>
            </a:endParaRPr>
          </a:p>
          <a:p>
            <a:endParaRPr lang="hu-HU" dirty="0"/>
          </a:p>
        </p:txBody>
      </p:sp>
    </p:spTree>
    <p:extLst>
      <p:ext uri="{BB962C8B-B14F-4D97-AF65-F5344CB8AC3E}">
        <p14:creationId xmlns:p14="http://schemas.microsoft.com/office/powerpoint/2010/main" val="3991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A4849-E40B-9DA1-1D4D-E14B2D92AE9B}"/>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565349AC-6FDD-C201-F90D-94C6EE3DD571}"/>
              </a:ext>
            </a:extLst>
          </p:cNvPr>
          <p:cNvSpPr>
            <a:spLocks noGrp="1"/>
          </p:cNvSpPr>
          <p:nvPr>
            <p:ph type="title"/>
          </p:nvPr>
        </p:nvSpPr>
        <p:spPr>
          <a:xfrm>
            <a:off x="0" y="0"/>
            <a:ext cx="9144000" cy="531846"/>
          </a:xfrm>
          <a:solidFill>
            <a:srgbClr val="FFC000"/>
          </a:solidFill>
        </p:spPr>
        <p:txBody>
          <a:bodyPr anchor="ctr" anchorCtr="0"/>
          <a:lstStyle/>
          <a:p>
            <a:r>
              <a:rPr lang="hu-HU" dirty="0"/>
              <a:t>2. feladat</a:t>
            </a:r>
          </a:p>
        </p:txBody>
      </p:sp>
      <p:sp>
        <p:nvSpPr>
          <p:cNvPr id="3" name="TextBox 2">
            <a:extLst>
              <a:ext uri="{FF2B5EF4-FFF2-40B4-BE49-F238E27FC236}">
                <a16:creationId xmlns:a16="http://schemas.microsoft.com/office/drawing/2014/main" id="{95150A2F-CABE-8964-1317-E21E0360AD10}"/>
              </a:ext>
            </a:extLst>
          </p:cNvPr>
          <p:cNvSpPr txBox="1"/>
          <p:nvPr/>
        </p:nvSpPr>
        <p:spPr>
          <a:xfrm>
            <a:off x="343176" y="758648"/>
            <a:ext cx="8343624" cy="877163"/>
          </a:xfrm>
          <a:prstGeom prst="rect">
            <a:avLst/>
          </a:prstGeom>
          <a:noFill/>
        </p:spPr>
        <p:txBody>
          <a:bodyPr wrap="square">
            <a:spAutoFit/>
          </a:bodyPr>
          <a:lstStyle/>
          <a:p>
            <a:r>
              <a:rPr lang="hu-HU" sz="1700" dirty="0">
                <a:solidFill>
                  <a:srgbClr val="002060"/>
                </a:solidFill>
                <a:latin typeface="Cambria" panose="02040503050406030204" pitchFamily="18" charset="0"/>
                <a:ea typeface="Cambria" panose="02040503050406030204" pitchFamily="18" charset="0"/>
              </a:rPr>
              <a:t>Ma kaptunk 500 000 Ft jutalmat a munkahelyünkön, amelyet hosszabb távra szeretnénk befektetni. </a:t>
            </a:r>
            <a:r>
              <a:rPr lang="hu-HU" sz="1700" dirty="0">
                <a:solidFill>
                  <a:srgbClr val="C00000"/>
                </a:solidFill>
                <a:latin typeface="Cambria" panose="02040503050406030204" pitchFamily="18" charset="0"/>
                <a:ea typeface="Cambria" panose="02040503050406030204" pitchFamily="18" charset="0"/>
              </a:rPr>
              <a:t>Mennyi lesz ennek a pénzösszegnek az értéke öt év múlva 5%-os piaci kamatláb mellett, ha a kamatokat </a:t>
            </a:r>
            <a:r>
              <a:rPr lang="hu-HU" sz="1700" b="1" dirty="0">
                <a:solidFill>
                  <a:srgbClr val="002060"/>
                </a:solidFill>
                <a:latin typeface="Cambria" panose="02040503050406030204" pitchFamily="18" charset="0"/>
                <a:ea typeface="Cambria" panose="02040503050406030204" pitchFamily="18" charset="0"/>
              </a:rPr>
              <a:t>évente </a:t>
            </a:r>
            <a:r>
              <a:rPr lang="hu-HU" sz="1700" b="1" i="1" dirty="0">
                <a:solidFill>
                  <a:srgbClr val="002060"/>
                </a:solidFill>
                <a:latin typeface="Cambria" panose="02040503050406030204" pitchFamily="18" charset="0"/>
                <a:ea typeface="Cambria" panose="02040503050406030204" pitchFamily="18" charset="0"/>
              </a:rPr>
              <a:t>tőkésítjük</a:t>
            </a:r>
            <a:r>
              <a:rPr lang="hu-HU" sz="1700" dirty="0">
                <a:solidFill>
                  <a:srgbClr val="002060"/>
                </a:solidFill>
                <a:latin typeface="Cambria" panose="02040503050406030204" pitchFamily="18" charset="0"/>
                <a:ea typeface="Cambria" panose="02040503050406030204" pitchFamily="18" charset="0"/>
              </a:rPr>
              <a:t>?</a:t>
            </a:r>
            <a:endParaRPr lang="en-GB" sz="1700" dirty="0">
              <a:solidFill>
                <a:srgbClr val="002060"/>
              </a:solidFill>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4" name="Tartalom helye 5">
                <a:extLst>
                  <a:ext uri="{FF2B5EF4-FFF2-40B4-BE49-F238E27FC236}">
                    <a16:creationId xmlns:a16="http://schemas.microsoft.com/office/drawing/2014/main" id="{788E6543-5EC2-5C45-3D1F-36272EED9F98}"/>
                  </a:ext>
                </a:extLst>
              </p:cNvPr>
              <p:cNvSpPr txBox="1">
                <a:spLocks/>
              </p:cNvSpPr>
              <p:nvPr/>
            </p:nvSpPr>
            <p:spPr>
              <a:xfrm>
                <a:off x="483219" y="1989539"/>
                <a:ext cx="7886423" cy="2092131"/>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sz="1900" dirty="0">
                    <a:solidFill>
                      <a:srgbClr val="C00000"/>
                    </a:solidFill>
                    <a:latin typeface="Cambria" panose="02040503050406030204" pitchFamily="18" charset="0"/>
                    <a:ea typeface="Cambria" panose="02040503050406030204" pitchFamily="18" charset="0"/>
                    <a:cs typeface="Arial"/>
                  </a:rPr>
                  <a:t>Megoldás – Jövőérték-számítás</a:t>
                </a:r>
              </a:p>
              <a:p>
                <a:endParaRPr lang="hu-HU" sz="1900" dirty="0">
                  <a:solidFill>
                    <a:srgbClr val="000000"/>
                  </a:solidFill>
                  <a:latin typeface="Cambria" panose="02040503050406030204" pitchFamily="18" charset="0"/>
                  <a:ea typeface="Cambria" panose="02040503050406030204" pitchFamily="18" charset="0"/>
                  <a:cs typeface="Arial"/>
                </a:endParaRPr>
              </a:p>
              <a:p>
                <a:r>
                  <a:rPr lang="hu-HU" sz="1900" dirty="0">
                    <a:solidFill>
                      <a:srgbClr val="000000"/>
                    </a:solidFill>
                    <a:latin typeface="Cambria" panose="02040503050406030204" pitchFamily="18" charset="0"/>
                    <a:ea typeface="Cambria" panose="02040503050406030204" pitchFamily="18" charset="0"/>
                    <a:cs typeface="Arial"/>
                  </a:rPr>
                  <a:t>PV = 500 000	t = 5 év  	r = 5%</a:t>
                </a:r>
              </a:p>
              <a:p>
                <a:endParaRPr lang="hu-HU" sz="1900" dirty="0">
                  <a:solidFill>
                    <a:srgbClr val="000000"/>
                  </a:solidFill>
                  <a:latin typeface="Cambria" panose="02040503050406030204" pitchFamily="18" charset="0"/>
                  <a:ea typeface="Cambria" panose="02040503050406030204" pitchFamily="18" charset="0"/>
                  <a:cs typeface="Arial"/>
                </a:endParaRPr>
              </a:p>
              <a:p>
                <a:r>
                  <a:rPr lang="hu-HU" sz="1900" dirty="0">
                    <a:solidFill>
                      <a:srgbClr val="000000"/>
                    </a:solidFill>
                    <a:latin typeface="Cambria" panose="02040503050406030204" pitchFamily="18" charset="0"/>
                    <a:ea typeface="Cambria" panose="02040503050406030204" pitchFamily="18" charset="0"/>
                    <a:cs typeface="Arial"/>
                  </a:rPr>
                  <a:t>FV = PV * </a:t>
                </a:r>
                <a14:m>
                  <m:oMath xmlns:m="http://schemas.openxmlformats.org/officeDocument/2006/math">
                    <m:sSup>
                      <m:sSupPr>
                        <m:ctrlPr>
                          <a:rPr lang="hu-HU" sz="1900" i="1" smtClean="0">
                            <a:solidFill>
                              <a:srgbClr val="000000"/>
                            </a:solidFill>
                            <a:latin typeface="Cambria Math" panose="02040503050406030204" pitchFamily="18" charset="0"/>
                            <a:cs typeface="Arial"/>
                          </a:rPr>
                        </m:ctrlPr>
                      </m:sSupPr>
                      <m:e>
                        <m:d>
                          <m:dPr>
                            <m:ctrlPr>
                              <a:rPr lang="hu-HU" sz="1900" i="1" smtClean="0">
                                <a:solidFill>
                                  <a:srgbClr val="000000"/>
                                </a:solidFill>
                                <a:latin typeface="Cambria Math" panose="02040503050406030204" pitchFamily="18" charset="0"/>
                                <a:cs typeface="Arial"/>
                              </a:rPr>
                            </m:ctrlPr>
                          </m:dPr>
                          <m:e>
                            <m:r>
                              <a:rPr lang="hu-HU" sz="1900" b="0" i="1" smtClean="0">
                                <a:solidFill>
                                  <a:srgbClr val="000000"/>
                                </a:solidFill>
                                <a:latin typeface="Cambria Math" panose="02040503050406030204" pitchFamily="18" charset="0"/>
                                <a:cs typeface="Arial"/>
                              </a:rPr>
                              <m:t>1+</m:t>
                            </m:r>
                            <m:r>
                              <a:rPr lang="hu-HU" sz="1900" b="0" i="1" smtClean="0">
                                <a:solidFill>
                                  <a:srgbClr val="000000"/>
                                </a:solidFill>
                                <a:latin typeface="Cambria Math" panose="02040503050406030204" pitchFamily="18" charset="0"/>
                                <a:cs typeface="Arial"/>
                              </a:rPr>
                              <m:t>𝑟</m:t>
                            </m:r>
                          </m:e>
                        </m:d>
                      </m:e>
                      <m:sup>
                        <m:r>
                          <a:rPr lang="hu-HU" sz="1900" b="0" i="1" smtClean="0">
                            <a:solidFill>
                              <a:srgbClr val="000000"/>
                            </a:solidFill>
                            <a:latin typeface="Cambria Math" panose="02040503050406030204" pitchFamily="18" charset="0"/>
                            <a:cs typeface="Arial"/>
                          </a:rPr>
                          <m:t>𝑡</m:t>
                        </m:r>
                      </m:sup>
                    </m:sSup>
                  </m:oMath>
                </a14:m>
                <a:endParaRPr lang="hu-HU" sz="19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endParaRPr lang="hu-HU" sz="1900" b="1" dirty="0">
                  <a:solidFill>
                    <a:srgbClr val="C00000"/>
                  </a:solidFill>
                  <a:latin typeface="Cambria" panose="02040503050406030204" pitchFamily="18" charset="0"/>
                  <a:ea typeface="Cambria" panose="02040503050406030204" pitchFamily="18" charset="0"/>
                  <a:cs typeface="Arial"/>
                </a:endParaRPr>
              </a:p>
              <a:p>
                <a:r>
                  <a:rPr lang="hu-HU" sz="1900" b="1" dirty="0">
                    <a:solidFill>
                      <a:srgbClr val="C00000"/>
                    </a:solidFill>
                    <a:latin typeface="Cambria" panose="02040503050406030204" pitchFamily="18" charset="0"/>
                    <a:ea typeface="Cambria" panose="02040503050406030204" pitchFamily="18" charset="0"/>
                    <a:cs typeface="Arial"/>
                  </a:rPr>
                  <a:t>FV</a:t>
                </a:r>
                <a:r>
                  <a:rPr lang="hu-HU" sz="1900" dirty="0">
                    <a:solidFill>
                      <a:srgbClr val="C00000"/>
                    </a:solidFill>
                    <a:latin typeface="Cambria" panose="02040503050406030204" pitchFamily="18" charset="0"/>
                    <a:ea typeface="Cambria" panose="02040503050406030204" pitchFamily="18" charset="0"/>
                    <a:cs typeface="Arial"/>
                  </a:rPr>
                  <a:t> = 500 000 * </a:t>
                </a:r>
                <a14:m>
                  <m:oMath xmlns:m="http://schemas.openxmlformats.org/officeDocument/2006/math">
                    <m:sSup>
                      <m:sSupPr>
                        <m:ctrlPr>
                          <a:rPr lang="hu-HU" sz="1900" i="1">
                            <a:solidFill>
                              <a:srgbClr val="C00000"/>
                            </a:solidFill>
                            <a:latin typeface="Cambria Math" panose="02040503050406030204" pitchFamily="18" charset="0"/>
                            <a:cs typeface="Arial"/>
                          </a:rPr>
                        </m:ctrlPr>
                      </m:sSupPr>
                      <m:e>
                        <m:d>
                          <m:dPr>
                            <m:ctrlPr>
                              <a:rPr lang="hu-HU" sz="1900" i="1">
                                <a:solidFill>
                                  <a:srgbClr val="C00000"/>
                                </a:solidFill>
                                <a:latin typeface="Cambria Math" panose="02040503050406030204" pitchFamily="18" charset="0"/>
                                <a:cs typeface="Arial"/>
                              </a:rPr>
                            </m:ctrlPr>
                          </m:dPr>
                          <m:e>
                            <m:r>
                              <a:rPr lang="hu-HU" sz="1900" i="1">
                                <a:solidFill>
                                  <a:srgbClr val="C00000"/>
                                </a:solidFill>
                                <a:latin typeface="Cambria Math" panose="02040503050406030204" pitchFamily="18" charset="0"/>
                                <a:cs typeface="Arial"/>
                              </a:rPr>
                              <m:t>1+0</m:t>
                            </m:r>
                            <m:r>
                              <a:rPr lang="hu-HU" sz="1900" b="0" i="1" smtClean="0">
                                <a:solidFill>
                                  <a:srgbClr val="C00000"/>
                                </a:solidFill>
                                <a:latin typeface="Cambria Math" panose="02040503050406030204" pitchFamily="18" charset="0"/>
                                <a:cs typeface="Arial"/>
                              </a:rPr>
                              <m:t>,</m:t>
                            </m:r>
                            <m:r>
                              <a:rPr lang="hu-HU" sz="1900" i="1">
                                <a:solidFill>
                                  <a:srgbClr val="C00000"/>
                                </a:solidFill>
                                <a:latin typeface="Cambria Math" panose="02040503050406030204" pitchFamily="18" charset="0"/>
                                <a:cs typeface="Arial"/>
                              </a:rPr>
                              <m:t>05</m:t>
                            </m:r>
                          </m:e>
                        </m:d>
                      </m:e>
                      <m:sup>
                        <m:r>
                          <a:rPr lang="hu-HU" sz="1900" i="1">
                            <a:solidFill>
                              <a:srgbClr val="C00000"/>
                            </a:solidFill>
                            <a:latin typeface="Cambria Math" panose="02040503050406030204" pitchFamily="18" charset="0"/>
                            <a:cs typeface="Arial"/>
                          </a:rPr>
                          <m:t>5</m:t>
                        </m:r>
                      </m:sup>
                    </m:sSup>
                  </m:oMath>
                </a14:m>
                <a:r>
                  <a:rPr lang="hu-HU" sz="1900" dirty="0">
                    <a:solidFill>
                      <a:srgbClr val="C00000"/>
                    </a:solidFill>
                    <a:latin typeface="Cambria" panose="02040503050406030204" pitchFamily="18" charset="0"/>
                    <a:ea typeface="Cambria" panose="02040503050406030204" pitchFamily="18" charset="0"/>
                    <a:cs typeface="Arial"/>
                  </a:rPr>
                  <a:t> = </a:t>
                </a:r>
                <a:r>
                  <a:rPr lang="hu-HU" sz="1900" b="1" dirty="0">
                    <a:solidFill>
                      <a:srgbClr val="C00000"/>
                    </a:solidFill>
                    <a:latin typeface="Cambria" panose="02040503050406030204" pitchFamily="18" charset="0"/>
                    <a:ea typeface="Cambria" panose="02040503050406030204" pitchFamily="18" charset="0"/>
                    <a:cs typeface="Arial"/>
                  </a:rPr>
                  <a:t>638 141 Ft</a:t>
                </a:r>
              </a:p>
              <a:p>
                <a:endParaRPr lang="hu-HU" sz="1200" dirty="0">
                  <a:solidFill>
                    <a:srgbClr val="000000"/>
                  </a:solidFill>
                  <a:latin typeface="Arial"/>
                  <a:ea typeface="Arial"/>
                  <a:cs typeface="Arial"/>
                </a:endParaRPr>
              </a:p>
            </p:txBody>
          </p:sp>
        </mc:Choice>
        <mc:Fallback xmlns="">
          <p:sp>
            <p:nvSpPr>
              <p:cNvPr id="4" name="Tartalom helye 5">
                <a:extLst>
                  <a:ext uri="{FF2B5EF4-FFF2-40B4-BE49-F238E27FC236}">
                    <a16:creationId xmlns:a16="http://schemas.microsoft.com/office/drawing/2014/main" id="{788E6543-5EC2-5C45-3D1F-36272EED9F98}"/>
                  </a:ext>
                </a:extLst>
              </p:cNvPr>
              <p:cNvSpPr txBox="1">
                <a:spLocks noRot="1" noChangeAspect="1" noMove="1" noResize="1" noEditPoints="1" noAdjustHandles="1" noChangeArrowheads="1" noChangeShapeType="1" noTextEdit="1"/>
              </p:cNvSpPr>
              <p:nvPr/>
            </p:nvSpPr>
            <p:spPr>
              <a:xfrm>
                <a:off x="483219" y="1989539"/>
                <a:ext cx="7886423" cy="2092131"/>
              </a:xfrm>
              <a:prstGeom prst="rect">
                <a:avLst/>
              </a:prstGeom>
              <a:blipFill>
                <a:blip r:embed="rId2"/>
                <a:stretch>
                  <a:fillRect l="-617" t="-2601"/>
                </a:stretch>
              </a:blipFill>
              <a:ln w="12700" cap="flat" cmpd="sng" algn="ctr">
                <a:solidFill>
                  <a:schemeClr val="accent1"/>
                </a:solidFill>
                <a:prstDash val="solid"/>
              </a:ln>
            </p:spPr>
            <p:txBody>
              <a:bodyPr/>
              <a:lstStyle/>
              <a:p>
                <a:r>
                  <a:rPr lang="hu-HU">
                    <a:noFill/>
                  </a:rPr>
                  <a:t> </a:t>
                </a:r>
              </a:p>
            </p:txBody>
          </p:sp>
        </mc:Fallback>
      </mc:AlternateContent>
    </p:spTree>
    <p:extLst>
      <p:ext uri="{BB962C8B-B14F-4D97-AF65-F5344CB8AC3E}">
        <p14:creationId xmlns:p14="http://schemas.microsoft.com/office/powerpoint/2010/main" val="375136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9544-DF57-0279-2CA6-2885425B502C}"/>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022EC8E1-7146-C7F0-0EE1-C5B929DA92AD}"/>
              </a:ext>
            </a:extLst>
          </p:cNvPr>
          <p:cNvSpPr>
            <a:spLocks noGrp="1"/>
          </p:cNvSpPr>
          <p:nvPr>
            <p:ph type="title"/>
          </p:nvPr>
        </p:nvSpPr>
        <p:spPr>
          <a:xfrm>
            <a:off x="0" y="0"/>
            <a:ext cx="9144000" cy="531846"/>
          </a:xfrm>
          <a:solidFill>
            <a:srgbClr val="FFC000"/>
          </a:solidFill>
        </p:spPr>
        <p:txBody>
          <a:bodyPr anchor="ctr" anchorCtr="0"/>
          <a:lstStyle/>
          <a:p>
            <a:r>
              <a:rPr lang="hu-HU" dirty="0"/>
              <a:t>3. feladat</a:t>
            </a:r>
          </a:p>
        </p:txBody>
      </p:sp>
      <p:sp>
        <p:nvSpPr>
          <p:cNvPr id="3" name="TextBox 2">
            <a:extLst>
              <a:ext uri="{FF2B5EF4-FFF2-40B4-BE49-F238E27FC236}">
                <a16:creationId xmlns:a16="http://schemas.microsoft.com/office/drawing/2014/main" id="{7C5C021C-7213-E9AB-32CD-B120A78FB993}"/>
              </a:ext>
            </a:extLst>
          </p:cNvPr>
          <p:cNvSpPr txBox="1"/>
          <p:nvPr/>
        </p:nvSpPr>
        <p:spPr>
          <a:xfrm>
            <a:off x="311631" y="660079"/>
            <a:ext cx="8306553" cy="1323439"/>
          </a:xfrm>
          <a:prstGeom prst="rect">
            <a:avLst/>
          </a:prstGeom>
          <a:noFill/>
        </p:spPr>
        <p:txBody>
          <a:bodyPr wrap="square">
            <a:spAutoFit/>
          </a:bodyPr>
          <a:lstStyle/>
          <a:p>
            <a:pPr algn="just"/>
            <a:r>
              <a:rPr lang="hu-HU" sz="1600" kern="1200" dirty="0">
                <a:solidFill>
                  <a:srgbClr val="002060"/>
                </a:solidFill>
                <a:latin typeface="Cambria" panose="02040503050406030204" pitchFamily="18" charset="0"/>
                <a:ea typeface="Cambria" panose="02040503050406030204" pitchFamily="18" charset="0"/>
              </a:rPr>
              <a:t>Ma lekötünk 1 millió Ft-ot betétben, 4%-os betéti kamatláb mellett. </a:t>
            </a:r>
            <a:r>
              <a:rPr lang="hu-HU" sz="1600" kern="1200" dirty="0">
                <a:solidFill>
                  <a:srgbClr val="C00000"/>
                </a:solidFill>
                <a:latin typeface="Cambria" panose="02040503050406030204" pitchFamily="18" charset="0"/>
                <a:ea typeface="Cambria" panose="02040503050406030204" pitchFamily="18" charset="0"/>
              </a:rPr>
              <a:t>Hány forintunk lesz a 3. év végén</a:t>
            </a:r>
            <a:r>
              <a:rPr lang="hu-HU" sz="1600" kern="1200" dirty="0">
                <a:solidFill>
                  <a:srgbClr val="002060"/>
                </a:solidFill>
                <a:latin typeface="Cambria" panose="02040503050406030204" pitchFamily="18" charset="0"/>
                <a:ea typeface="Cambria" panose="02040503050406030204" pitchFamily="18" charset="0"/>
              </a:rPr>
              <a:t>… </a:t>
            </a:r>
          </a:p>
          <a:p>
            <a:pPr algn="just"/>
            <a:r>
              <a:rPr lang="hu-HU" sz="1600" kern="1200" dirty="0">
                <a:solidFill>
                  <a:srgbClr val="002060"/>
                </a:solidFill>
                <a:latin typeface="Cambria" panose="02040503050406030204" pitchFamily="18" charset="0"/>
                <a:ea typeface="Cambria" panose="02040503050406030204" pitchFamily="18" charset="0"/>
              </a:rPr>
              <a:t>    … egyszerű (lineáris) kamatozás mellett, ha bankunk az éves kamatokat nem tőkésíti? </a:t>
            </a:r>
            <a:endParaRPr lang="en-GB" sz="1600" kern="1200" dirty="0">
              <a:solidFill>
                <a:srgbClr val="002060"/>
              </a:solidFill>
              <a:latin typeface="Cambria" panose="02040503050406030204" pitchFamily="18" charset="0"/>
              <a:ea typeface="Cambria" panose="02040503050406030204" pitchFamily="18" charset="0"/>
            </a:endParaRPr>
          </a:p>
          <a:p>
            <a:pPr lvl="0" algn="just"/>
            <a:r>
              <a:rPr lang="hu-HU" sz="1600" kern="1200" dirty="0">
                <a:solidFill>
                  <a:srgbClr val="002060"/>
                </a:solidFill>
                <a:latin typeface="Cambria" panose="02040503050406030204" pitchFamily="18" charset="0"/>
                <a:ea typeface="Cambria" panose="02040503050406030204" pitchFamily="18" charset="0"/>
              </a:rPr>
              <a:t>    … kamatos kamatozás mellett, ha a kamatokat bankunk évente tőkésíti?</a:t>
            </a:r>
            <a:endParaRPr lang="en-GB" sz="1600" kern="1200" dirty="0">
              <a:solidFill>
                <a:srgbClr val="002060"/>
              </a:solidFill>
              <a:latin typeface="Cambria" panose="02040503050406030204" pitchFamily="18" charset="0"/>
              <a:ea typeface="Cambria" panose="02040503050406030204" pitchFamily="18" charset="0"/>
            </a:endParaRPr>
          </a:p>
          <a:p>
            <a:pPr algn="just"/>
            <a:r>
              <a:rPr lang="hu-HU" sz="1600" kern="1200" dirty="0">
                <a:solidFill>
                  <a:srgbClr val="C00000"/>
                </a:solidFill>
                <a:latin typeface="Cambria" panose="02040503050406030204" pitchFamily="18" charset="0"/>
                <a:ea typeface="Cambria" panose="02040503050406030204" pitchFamily="18" charset="0"/>
              </a:rPr>
              <a:t>Melyikkel járunk jobban? Mi okozza a különbséget?</a:t>
            </a:r>
            <a:endParaRPr lang="en-GB" sz="1600" kern="1200" dirty="0">
              <a:solidFill>
                <a:srgbClr val="C00000"/>
              </a:solidFill>
              <a:latin typeface="Cambria" panose="02040503050406030204" pitchFamily="18" charset="0"/>
              <a:ea typeface="Cambria" panose="02040503050406030204" pitchFamily="18" charset="0"/>
            </a:endParaRPr>
          </a:p>
        </p:txBody>
      </p:sp>
      <p:sp>
        <p:nvSpPr>
          <p:cNvPr id="2" name="Tartalom helye 5">
            <a:extLst>
              <a:ext uri="{FF2B5EF4-FFF2-40B4-BE49-F238E27FC236}">
                <a16:creationId xmlns:a16="http://schemas.microsoft.com/office/drawing/2014/main" id="{7073283E-34D9-FE1E-0180-042650014EA2}"/>
              </a:ext>
            </a:extLst>
          </p:cNvPr>
          <p:cNvSpPr txBox="1">
            <a:spLocks/>
          </p:cNvSpPr>
          <p:nvPr/>
        </p:nvSpPr>
        <p:spPr>
          <a:xfrm>
            <a:off x="879971" y="2111751"/>
            <a:ext cx="2155796" cy="1954727"/>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buNone/>
            </a:pPr>
            <a:endParaRPr lang="hu-HU" dirty="0"/>
          </a:p>
          <a:p>
            <a:pPr marL="0" indent="0" algn="ctr">
              <a:buNone/>
            </a:pPr>
            <a:r>
              <a:rPr lang="hu-HU" dirty="0">
                <a:solidFill>
                  <a:srgbClr val="002060"/>
                </a:solidFill>
                <a:latin typeface="Cambria" panose="02040503050406030204" pitchFamily="18" charset="0"/>
                <a:ea typeface="Cambria" panose="02040503050406030204" pitchFamily="18" charset="0"/>
              </a:rPr>
              <a:t>lineáris kamatozás</a:t>
            </a:r>
            <a:endParaRPr lang="en-GB" dirty="0">
              <a:solidFill>
                <a:srgbClr val="002060"/>
              </a:solidFill>
              <a:latin typeface="Cambria" panose="02040503050406030204" pitchFamily="18" charset="0"/>
              <a:ea typeface="Cambria" panose="02040503050406030204" pitchFamily="18" charset="0"/>
            </a:endParaRPr>
          </a:p>
        </p:txBody>
      </p:sp>
      <p:sp>
        <p:nvSpPr>
          <p:cNvPr id="4" name="Tartalom helye 5">
            <a:extLst>
              <a:ext uri="{FF2B5EF4-FFF2-40B4-BE49-F238E27FC236}">
                <a16:creationId xmlns:a16="http://schemas.microsoft.com/office/drawing/2014/main" id="{8D2A28FF-9F1B-665E-E0DB-93FDCF617CB5}"/>
              </a:ext>
            </a:extLst>
          </p:cNvPr>
          <p:cNvSpPr txBox="1">
            <a:spLocks/>
          </p:cNvSpPr>
          <p:nvPr/>
        </p:nvSpPr>
        <p:spPr>
          <a:xfrm>
            <a:off x="3260667" y="2111751"/>
            <a:ext cx="467558" cy="1954727"/>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buNone/>
            </a:pPr>
            <a:endParaRPr lang="hu-HU" dirty="0"/>
          </a:p>
          <a:p>
            <a:pPr marL="0" indent="0" algn="ctr">
              <a:buNone/>
            </a:pPr>
            <a:r>
              <a:rPr lang="hu-HU" dirty="0">
                <a:latin typeface="Times New Roman" panose="02020603050405020304" pitchFamily="18" charset="0"/>
                <a:cs typeface="Times New Roman" panose="02020603050405020304" pitchFamily="18" charset="0"/>
              </a:rPr>
              <a:t>&lt;</a:t>
            </a:r>
          </a:p>
          <a:p>
            <a:pPr marL="0" indent="0" algn="ctr">
              <a:buNone/>
            </a:pPr>
            <a:r>
              <a:rPr lang="hu-HU" dirty="0">
                <a:latin typeface="Times New Roman" panose="02020603050405020304" pitchFamily="18" charset="0"/>
                <a:cs typeface="Times New Roman" panose="02020603050405020304" pitchFamily="18" charset="0"/>
              </a:rPr>
              <a:t>&gt;</a:t>
            </a:r>
          </a:p>
          <a:p>
            <a:pPr marL="0" indent="0" algn="ctr">
              <a:buNone/>
            </a:pPr>
            <a:r>
              <a:rPr lang="hu-HU" dirty="0">
                <a:latin typeface="Times New Roman" panose="02020603050405020304" pitchFamily="18" charset="0"/>
                <a:cs typeface="Times New Roman" panose="02020603050405020304" pitchFamily="18" charset="0"/>
              </a:rPr>
              <a:t>=</a:t>
            </a:r>
          </a:p>
          <a:p>
            <a:pPr marL="0" indent="0" algn="ctr">
              <a:buNone/>
            </a:pPr>
            <a:r>
              <a:rPr lang="hu-HU" dirty="0">
                <a:solidFill>
                  <a:srgbClr val="FF0000"/>
                </a:solidFill>
                <a:latin typeface="Times New Roman" panose="02020603050405020304" pitchFamily="18" charset="0"/>
                <a:cs typeface="Times New Roman" panose="02020603050405020304" pitchFamily="18" charset="0"/>
              </a:rPr>
              <a:t>?</a:t>
            </a:r>
            <a:endParaRPr lang="en-GB" dirty="0">
              <a:solidFill>
                <a:srgbClr val="FF0000"/>
              </a:solidFill>
              <a:latin typeface="Times New Roman" panose="02020603050405020304" pitchFamily="18" charset="0"/>
              <a:cs typeface="Times New Roman" panose="02020603050405020304" pitchFamily="18" charset="0"/>
            </a:endParaRPr>
          </a:p>
        </p:txBody>
      </p:sp>
      <p:sp>
        <p:nvSpPr>
          <p:cNvPr id="5" name="Tartalom helye 5">
            <a:extLst>
              <a:ext uri="{FF2B5EF4-FFF2-40B4-BE49-F238E27FC236}">
                <a16:creationId xmlns:a16="http://schemas.microsoft.com/office/drawing/2014/main" id="{099442FA-B1F3-141A-8C00-8E528DB774E5}"/>
              </a:ext>
            </a:extLst>
          </p:cNvPr>
          <p:cNvSpPr txBox="1">
            <a:spLocks/>
          </p:cNvSpPr>
          <p:nvPr/>
        </p:nvSpPr>
        <p:spPr>
          <a:xfrm>
            <a:off x="3953125" y="2111751"/>
            <a:ext cx="2155796" cy="1954727"/>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buNone/>
            </a:pPr>
            <a:endParaRPr lang="hu-HU" dirty="0"/>
          </a:p>
          <a:p>
            <a:pPr marL="0" indent="0" algn="ctr">
              <a:buNone/>
            </a:pPr>
            <a:r>
              <a:rPr lang="hu-HU" dirty="0">
                <a:solidFill>
                  <a:srgbClr val="002060"/>
                </a:solidFill>
                <a:latin typeface="Cambria" panose="02040503050406030204" pitchFamily="18" charset="0"/>
                <a:ea typeface="Cambria" panose="02040503050406030204" pitchFamily="18" charset="0"/>
              </a:rPr>
              <a:t>kamatos kamatozás</a:t>
            </a:r>
            <a:endParaRPr lang="en-GB" dirty="0">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75053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35D0-62D4-95BA-8A80-95179265348B}"/>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48B792D6-33BA-2C75-2E5B-B8B198722D92}"/>
              </a:ext>
            </a:extLst>
          </p:cNvPr>
          <p:cNvSpPr>
            <a:spLocks noGrp="1"/>
          </p:cNvSpPr>
          <p:nvPr>
            <p:ph type="title"/>
          </p:nvPr>
        </p:nvSpPr>
        <p:spPr>
          <a:xfrm>
            <a:off x="0" y="0"/>
            <a:ext cx="9144000" cy="531846"/>
          </a:xfrm>
          <a:solidFill>
            <a:srgbClr val="FFC000"/>
          </a:solidFill>
        </p:spPr>
        <p:txBody>
          <a:bodyPr anchor="ctr" anchorCtr="0"/>
          <a:lstStyle/>
          <a:p>
            <a:r>
              <a:rPr lang="hu-HU" dirty="0"/>
              <a:t>3. feladat</a:t>
            </a:r>
          </a:p>
        </p:txBody>
      </p:sp>
      <p:sp>
        <p:nvSpPr>
          <p:cNvPr id="3" name="TextBox 2">
            <a:extLst>
              <a:ext uri="{FF2B5EF4-FFF2-40B4-BE49-F238E27FC236}">
                <a16:creationId xmlns:a16="http://schemas.microsoft.com/office/drawing/2014/main" id="{1BD00FC3-3C32-AFE9-0BB9-9D311BB8D635}"/>
              </a:ext>
            </a:extLst>
          </p:cNvPr>
          <p:cNvSpPr txBox="1"/>
          <p:nvPr/>
        </p:nvSpPr>
        <p:spPr>
          <a:xfrm>
            <a:off x="79513" y="659794"/>
            <a:ext cx="8677309" cy="1323439"/>
          </a:xfrm>
          <a:prstGeom prst="rect">
            <a:avLst/>
          </a:prstGeom>
          <a:noFill/>
        </p:spPr>
        <p:txBody>
          <a:bodyPr wrap="square">
            <a:spAutoFit/>
          </a:bodyPr>
          <a:lstStyle/>
          <a:p>
            <a:pPr algn="just"/>
            <a:r>
              <a:rPr lang="hu-HU" sz="1600" kern="1200" dirty="0">
                <a:solidFill>
                  <a:srgbClr val="002060"/>
                </a:solidFill>
                <a:latin typeface="Cambria" panose="02040503050406030204" pitchFamily="18" charset="0"/>
                <a:ea typeface="Cambria" panose="02040503050406030204" pitchFamily="18" charset="0"/>
              </a:rPr>
              <a:t>Ma lekötünk 1 millió Ft-ot betétben, 4%-os betéti kamatláb mellett. </a:t>
            </a:r>
          </a:p>
          <a:p>
            <a:pPr algn="just"/>
            <a:r>
              <a:rPr lang="hu-HU" sz="1600" kern="1200" dirty="0">
                <a:solidFill>
                  <a:srgbClr val="002060"/>
                </a:solidFill>
                <a:latin typeface="Cambria" panose="02040503050406030204" pitchFamily="18" charset="0"/>
                <a:ea typeface="Cambria" panose="02040503050406030204" pitchFamily="18" charset="0"/>
              </a:rPr>
              <a:t>Hány forintunk lesz a 3. év végén… </a:t>
            </a:r>
          </a:p>
          <a:p>
            <a:pPr algn="just"/>
            <a:r>
              <a:rPr lang="hu-HU" sz="1600" kern="1200" dirty="0">
                <a:solidFill>
                  <a:srgbClr val="002060"/>
                </a:solidFill>
                <a:latin typeface="Cambria" panose="02040503050406030204" pitchFamily="18" charset="0"/>
                <a:ea typeface="Cambria" panose="02040503050406030204" pitchFamily="18" charset="0"/>
              </a:rPr>
              <a:t>    </a:t>
            </a:r>
            <a:r>
              <a:rPr lang="hu-HU" sz="1600" b="1" kern="1200" dirty="0">
                <a:solidFill>
                  <a:srgbClr val="002060"/>
                </a:solidFill>
                <a:latin typeface="Cambria" panose="02040503050406030204" pitchFamily="18" charset="0"/>
                <a:ea typeface="Cambria" panose="02040503050406030204" pitchFamily="18" charset="0"/>
              </a:rPr>
              <a:t>… egyszerű (lineáris) kamatozás mellett, ha bankunk az éves kamatokat nem tőkésíti? </a:t>
            </a:r>
            <a:endParaRPr lang="en-GB" sz="1600" b="1" kern="1200" dirty="0">
              <a:solidFill>
                <a:srgbClr val="002060"/>
              </a:solidFill>
              <a:latin typeface="Cambria" panose="02040503050406030204" pitchFamily="18" charset="0"/>
              <a:ea typeface="Cambria" panose="02040503050406030204" pitchFamily="18" charset="0"/>
            </a:endParaRPr>
          </a:p>
          <a:p>
            <a:pPr lvl="0" algn="just"/>
            <a:r>
              <a:rPr lang="hu-HU" sz="1600" kern="1200" dirty="0">
                <a:solidFill>
                  <a:srgbClr val="002060"/>
                </a:solidFill>
                <a:latin typeface="Cambria" panose="02040503050406030204" pitchFamily="18" charset="0"/>
                <a:ea typeface="Cambria" panose="02040503050406030204" pitchFamily="18" charset="0"/>
              </a:rPr>
              <a:t>    … kamatos kamatozás mellett, ha a kamatokat bankunk évente tőkésíti?</a:t>
            </a:r>
            <a:endParaRPr lang="en-GB" sz="1600" kern="1200" dirty="0">
              <a:solidFill>
                <a:srgbClr val="002060"/>
              </a:solidFill>
              <a:latin typeface="Cambria" panose="02040503050406030204" pitchFamily="18" charset="0"/>
              <a:ea typeface="Cambria" panose="02040503050406030204" pitchFamily="18" charset="0"/>
            </a:endParaRPr>
          </a:p>
          <a:p>
            <a:pPr algn="just"/>
            <a:r>
              <a:rPr lang="hu-HU" sz="1600" kern="1200" dirty="0">
                <a:solidFill>
                  <a:srgbClr val="C00000"/>
                </a:solidFill>
                <a:latin typeface="Cambria" panose="02040503050406030204" pitchFamily="18" charset="0"/>
                <a:ea typeface="Cambria" panose="02040503050406030204" pitchFamily="18" charset="0"/>
              </a:rPr>
              <a:t>Melyikkel járunk jobban? Mi okozza a különbséget?</a:t>
            </a:r>
            <a:endParaRPr lang="en-GB" sz="1600" kern="1200" dirty="0">
              <a:solidFill>
                <a:srgbClr val="C00000"/>
              </a:solidFill>
              <a:latin typeface="Cambria" panose="02040503050406030204" pitchFamily="18" charset="0"/>
              <a:ea typeface="Cambria" panose="02040503050406030204" pitchFamily="18" charset="0"/>
            </a:endParaRPr>
          </a:p>
        </p:txBody>
      </p:sp>
      <p:sp>
        <p:nvSpPr>
          <p:cNvPr id="6" name="Tartalom helye 5">
            <a:extLst>
              <a:ext uri="{FF2B5EF4-FFF2-40B4-BE49-F238E27FC236}">
                <a16:creationId xmlns:a16="http://schemas.microsoft.com/office/drawing/2014/main" id="{0909F3B3-4890-C39E-6784-71381ECD9595}"/>
              </a:ext>
            </a:extLst>
          </p:cNvPr>
          <p:cNvSpPr txBox="1">
            <a:spLocks/>
          </p:cNvSpPr>
          <p:nvPr/>
        </p:nvSpPr>
        <p:spPr>
          <a:xfrm>
            <a:off x="414790" y="2111181"/>
            <a:ext cx="8314420" cy="2063254"/>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sz="1800" kern="1200" dirty="0">
                <a:solidFill>
                  <a:srgbClr val="C00000"/>
                </a:solidFill>
                <a:latin typeface="Cambria" panose="02040503050406030204" pitchFamily="18" charset="0"/>
                <a:ea typeface="Cambria" panose="02040503050406030204" pitchFamily="18" charset="0"/>
                <a:cs typeface="Arial"/>
              </a:rPr>
              <a:t>Megoldás – Jövőérték-számítás </a:t>
            </a:r>
            <a:r>
              <a:rPr lang="hu-HU" sz="1800" b="1" kern="1200" dirty="0">
                <a:solidFill>
                  <a:srgbClr val="C00000"/>
                </a:solidFill>
                <a:latin typeface="Cambria" panose="02040503050406030204" pitchFamily="18" charset="0"/>
                <a:ea typeface="Cambria" panose="02040503050406030204" pitchFamily="18" charset="0"/>
                <a:cs typeface="Arial"/>
              </a:rPr>
              <a:t>lineáris kamatozással</a:t>
            </a:r>
          </a:p>
          <a:p>
            <a:endParaRPr lang="hu-HU" sz="1800" kern="1200" dirty="0">
              <a:solidFill>
                <a:srgbClr val="000000"/>
              </a:solidFill>
              <a:latin typeface="Cambria" panose="02040503050406030204" pitchFamily="18" charset="0"/>
              <a:ea typeface="Cambria" panose="02040503050406030204" pitchFamily="18" charset="0"/>
              <a:cs typeface="Arial"/>
            </a:endParaRPr>
          </a:p>
          <a:p>
            <a:r>
              <a:rPr lang="hu-HU" sz="1800" kern="1200" dirty="0">
                <a:solidFill>
                  <a:srgbClr val="000000"/>
                </a:solidFill>
                <a:latin typeface="Cambria" panose="02040503050406030204" pitchFamily="18" charset="0"/>
                <a:ea typeface="Cambria" panose="02040503050406030204" pitchFamily="18" charset="0"/>
                <a:cs typeface="Arial"/>
              </a:rPr>
              <a:t>PV = 1000000	t = 3 év  	r = 4%</a:t>
            </a:r>
          </a:p>
          <a:p>
            <a:endParaRPr lang="hu-HU" sz="1800" kern="1200" dirty="0">
              <a:solidFill>
                <a:srgbClr val="000000"/>
              </a:solidFill>
              <a:latin typeface="Cambria" panose="02040503050406030204" pitchFamily="18" charset="0"/>
              <a:ea typeface="Cambria" panose="02040503050406030204" pitchFamily="18" charset="0"/>
              <a:cs typeface="Arial"/>
            </a:endParaRPr>
          </a:p>
          <a:p>
            <a:r>
              <a:rPr lang="hu-HU" sz="1800" kern="1200" dirty="0">
                <a:solidFill>
                  <a:srgbClr val="000000"/>
                </a:solidFill>
                <a:latin typeface="Cambria" panose="02040503050406030204" pitchFamily="18" charset="0"/>
                <a:ea typeface="Cambria" panose="02040503050406030204" pitchFamily="18" charset="0"/>
                <a:cs typeface="Arial"/>
              </a:rPr>
              <a:t>FV =PV * (1 + t * r)</a:t>
            </a:r>
          </a:p>
          <a:p>
            <a:endParaRPr lang="hu-HU" sz="1800" kern="1200" dirty="0">
              <a:solidFill>
                <a:srgbClr val="000000"/>
              </a:solidFill>
              <a:latin typeface="Cambria" panose="02040503050406030204" pitchFamily="18" charset="0"/>
              <a:ea typeface="Cambria" panose="02040503050406030204" pitchFamily="18" charset="0"/>
              <a:cs typeface="Arial"/>
            </a:endParaRPr>
          </a:p>
          <a:p>
            <a:r>
              <a:rPr lang="hu-HU" sz="1800" b="1" kern="1200" dirty="0">
                <a:solidFill>
                  <a:srgbClr val="C00000"/>
                </a:solidFill>
                <a:latin typeface="Cambria" panose="02040503050406030204" pitchFamily="18" charset="0"/>
                <a:ea typeface="Cambria" panose="02040503050406030204" pitchFamily="18" charset="0"/>
                <a:cs typeface="Arial"/>
              </a:rPr>
              <a:t>FV</a:t>
            </a:r>
            <a:r>
              <a:rPr lang="hu-HU" sz="1800" kern="1200" dirty="0">
                <a:solidFill>
                  <a:srgbClr val="C00000"/>
                </a:solidFill>
                <a:latin typeface="Cambria" panose="02040503050406030204" pitchFamily="18" charset="0"/>
                <a:ea typeface="Cambria" panose="02040503050406030204" pitchFamily="18" charset="0"/>
                <a:cs typeface="Arial"/>
              </a:rPr>
              <a:t> = 1 000 000 * (1 + 3 * 0,04) = </a:t>
            </a:r>
            <a:r>
              <a:rPr lang="hu-HU" sz="1800" b="1" kern="1200" dirty="0">
                <a:solidFill>
                  <a:srgbClr val="C00000"/>
                </a:solidFill>
                <a:latin typeface="Cambria" panose="02040503050406030204" pitchFamily="18" charset="0"/>
                <a:ea typeface="Cambria" panose="02040503050406030204" pitchFamily="18" charset="0"/>
                <a:cs typeface="Arial"/>
              </a:rPr>
              <a:t>1 120 000 Ft</a:t>
            </a:r>
          </a:p>
          <a:p>
            <a:endParaRPr lang="hu-HU" dirty="0"/>
          </a:p>
        </p:txBody>
      </p:sp>
    </p:spTree>
    <p:extLst>
      <p:ext uri="{BB962C8B-B14F-4D97-AF65-F5344CB8AC3E}">
        <p14:creationId xmlns:p14="http://schemas.microsoft.com/office/powerpoint/2010/main" val="179550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62E19-320D-B4E2-FD2C-D7679F663678}"/>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25ED8FFB-1AF1-C3DE-43E3-CD5F77015707}"/>
              </a:ext>
            </a:extLst>
          </p:cNvPr>
          <p:cNvSpPr>
            <a:spLocks noGrp="1"/>
          </p:cNvSpPr>
          <p:nvPr>
            <p:ph type="title"/>
          </p:nvPr>
        </p:nvSpPr>
        <p:spPr>
          <a:xfrm>
            <a:off x="0" y="0"/>
            <a:ext cx="9144000" cy="531846"/>
          </a:xfrm>
          <a:solidFill>
            <a:srgbClr val="FFC000"/>
          </a:solidFill>
        </p:spPr>
        <p:txBody>
          <a:bodyPr anchor="ctr" anchorCtr="0"/>
          <a:lstStyle/>
          <a:p>
            <a:r>
              <a:rPr lang="hu-HU" dirty="0"/>
              <a:t>3. feladat</a:t>
            </a:r>
          </a:p>
        </p:txBody>
      </p:sp>
      <p:sp>
        <p:nvSpPr>
          <p:cNvPr id="3" name="TextBox 2">
            <a:extLst>
              <a:ext uri="{FF2B5EF4-FFF2-40B4-BE49-F238E27FC236}">
                <a16:creationId xmlns:a16="http://schemas.microsoft.com/office/drawing/2014/main" id="{8D1A4929-80B7-8F4E-EF03-E33DC414717C}"/>
              </a:ext>
            </a:extLst>
          </p:cNvPr>
          <p:cNvSpPr txBox="1"/>
          <p:nvPr/>
        </p:nvSpPr>
        <p:spPr>
          <a:xfrm>
            <a:off x="483220" y="699869"/>
            <a:ext cx="7895064" cy="1323439"/>
          </a:xfrm>
          <a:prstGeom prst="rect">
            <a:avLst/>
          </a:prstGeom>
          <a:noFill/>
        </p:spPr>
        <p:txBody>
          <a:bodyPr wrap="square">
            <a:spAutoFit/>
          </a:bodyPr>
          <a:lstStyle/>
          <a:p>
            <a:pPr algn="just"/>
            <a:r>
              <a:rPr lang="hu-HU" sz="1600" kern="1200" dirty="0">
                <a:solidFill>
                  <a:srgbClr val="002060"/>
                </a:solidFill>
                <a:latin typeface="Cambria" panose="02040503050406030204" pitchFamily="18" charset="0"/>
                <a:ea typeface="Cambria" panose="02040503050406030204" pitchFamily="18" charset="0"/>
              </a:rPr>
              <a:t>Ma lekötünk 1 millió Ft-ot betétben, 4%-os betéti kamatláb mellett. Hány forintunk lesz a 3. év végén… </a:t>
            </a:r>
          </a:p>
          <a:p>
            <a:pPr algn="just"/>
            <a:r>
              <a:rPr lang="hu-HU" sz="1600" kern="1200" dirty="0">
                <a:solidFill>
                  <a:srgbClr val="002060"/>
                </a:solidFill>
                <a:latin typeface="Cambria" panose="02040503050406030204" pitchFamily="18" charset="0"/>
                <a:ea typeface="Cambria" panose="02040503050406030204" pitchFamily="18" charset="0"/>
              </a:rPr>
              <a:t>    … egyszerű (lineáris) kamatozás mellett, ha bankunk az éves kamatokat nem tőkésíti? </a:t>
            </a:r>
            <a:endParaRPr lang="en-GB" sz="1600" kern="1200" dirty="0">
              <a:solidFill>
                <a:srgbClr val="002060"/>
              </a:solidFill>
              <a:latin typeface="Cambria" panose="02040503050406030204" pitchFamily="18" charset="0"/>
              <a:ea typeface="Cambria" panose="02040503050406030204" pitchFamily="18" charset="0"/>
            </a:endParaRPr>
          </a:p>
          <a:p>
            <a:pPr lvl="0" algn="just"/>
            <a:r>
              <a:rPr lang="hu-HU" sz="1600" kern="1200" dirty="0">
                <a:solidFill>
                  <a:srgbClr val="002060"/>
                </a:solidFill>
                <a:latin typeface="Cambria" panose="02040503050406030204" pitchFamily="18" charset="0"/>
                <a:ea typeface="Cambria" panose="02040503050406030204" pitchFamily="18" charset="0"/>
              </a:rPr>
              <a:t>    </a:t>
            </a:r>
            <a:r>
              <a:rPr lang="hu-HU" sz="1600" b="1" kern="1200" dirty="0">
                <a:solidFill>
                  <a:srgbClr val="002060"/>
                </a:solidFill>
                <a:latin typeface="Cambria" panose="02040503050406030204" pitchFamily="18" charset="0"/>
                <a:ea typeface="Cambria" panose="02040503050406030204" pitchFamily="18" charset="0"/>
              </a:rPr>
              <a:t>… kamatos kamatozás mellett, ha a kamatokat bankunk évente tőkésíti?</a:t>
            </a:r>
            <a:endParaRPr lang="en-GB" sz="1600" b="1" kern="1200" dirty="0">
              <a:solidFill>
                <a:srgbClr val="002060"/>
              </a:solidFill>
              <a:latin typeface="Cambria" panose="02040503050406030204" pitchFamily="18" charset="0"/>
              <a:ea typeface="Cambria" panose="02040503050406030204" pitchFamily="18" charset="0"/>
            </a:endParaRPr>
          </a:p>
          <a:p>
            <a:pPr algn="just"/>
            <a:r>
              <a:rPr lang="hu-HU" sz="1600" kern="1200" dirty="0">
                <a:solidFill>
                  <a:srgbClr val="C00000"/>
                </a:solidFill>
                <a:latin typeface="Cambria" panose="02040503050406030204" pitchFamily="18" charset="0"/>
                <a:ea typeface="Cambria" panose="02040503050406030204" pitchFamily="18" charset="0"/>
              </a:rPr>
              <a:t>Melyikkel járunk jobban? Mi okozza a különbséget?</a:t>
            </a:r>
            <a:endParaRPr lang="en-GB" sz="1600" kern="1200" dirty="0">
              <a:solidFill>
                <a:srgbClr val="C00000"/>
              </a:solidFill>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2" name="Tartalom helye 5">
                <a:extLst>
                  <a:ext uri="{FF2B5EF4-FFF2-40B4-BE49-F238E27FC236}">
                    <a16:creationId xmlns:a16="http://schemas.microsoft.com/office/drawing/2014/main" id="{1371AFCD-9177-2C32-06C3-24F8AD2709F2}"/>
                  </a:ext>
                </a:extLst>
              </p:cNvPr>
              <p:cNvSpPr txBox="1">
                <a:spLocks/>
              </p:cNvSpPr>
              <p:nvPr/>
            </p:nvSpPr>
            <p:spPr>
              <a:xfrm>
                <a:off x="483220" y="2191331"/>
                <a:ext cx="7895064" cy="2115625"/>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sz="1600" kern="1200" dirty="0">
                    <a:solidFill>
                      <a:srgbClr val="C00000"/>
                    </a:solidFill>
                    <a:latin typeface="Cambria" panose="02040503050406030204" pitchFamily="18" charset="0"/>
                    <a:ea typeface="Cambria" panose="02040503050406030204" pitchFamily="18" charset="0"/>
                    <a:cs typeface="Arial"/>
                  </a:rPr>
                  <a:t>Megoldás – Jövőérték-számítás </a:t>
                </a:r>
                <a:r>
                  <a:rPr lang="hu-HU" sz="1600" b="1" kern="1200" dirty="0">
                    <a:solidFill>
                      <a:srgbClr val="C00000"/>
                    </a:solidFill>
                    <a:latin typeface="Cambria" panose="02040503050406030204" pitchFamily="18" charset="0"/>
                    <a:ea typeface="Cambria" panose="02040503050406030204" pitchFamily="18" charset="0"/>
                    <a:cs typeface="Arial"/>
                  </a:rPr>
                  <a:t>kamatos kamatozással</a:t>
                </a:r>
              </a:p>
              <a:p>
                <a:endParaRPr lang="hu-HU" sz="1600" kern="1200" dirty="0">
                  <a:solidFill>
                    <a:srgbClr val="000000"/>
                  </a:solidFill>
                  <a:latin typeface="Cambria" panose="02040503050406030204" pitchFamily="18" charset="0"/>
                  <a:ea typeface="Cambria" panose="02040503050406030204" pitchFamily="18" charset="0"/>
                  <a:cs typeface="Arial"/>
                </a:endParaRPr>
              </a:p>
              <a:p>
                <a:r>
                  <a:rPr lang="hu-HU" sz="1600" kern="1200" dirty="0">
                    <a:solidFill>
                      <a:srgbClr val="000000"/>
                    </a:solidFill>
                    <a:latin typeface="Cambria" panose="02040503050406030204" pitchFamily="18" charset="0"/>
                    <a:ea typeface="Cambria" panose="02040503050406030204" pitchFamily="18" charset="0"/>
                    <a:cs typeface="Arial"/>
                  </a:rPr>
                  <a:t>PV = 1000000	t = 3 év  	r = 4%</a:t>
                </a:r>
              </a:p>
              <a:p>
                <a:endParaRPr lang="hu-HU" sz="1600" kern="1200" dirty="0">
                  <a:solidFill>
                    <a:srgbClr val="000000"/>
                  </a:solidFill>
                  <a:latin typeface="Cambria" panose="02040503050406030204" pitchFamily="18" charset="0"/>
                  <a:ea typeface="Cambria" panose="02040503050406030204" pitchFamily="18" charset="0"/>
                  <a:cs typeface="Arial"/>
                </a:endParaRPr>
              </a:p>
              <a:p>
                <a:r>
                  <a:rPr lang="hu-HU" sz="1600" kern="1200" dirty="0">
                    <a:solidFill>
                      <a:srgbClr val="000000"/>
                    </a:solidFill>
                    <a:latin typeface="Cambria" panose="02040503050406030204" pitchFamily="18" charset="0"/>
                    <a:ea typeface="Cambria" panose="02040503050406030204" pitchFamily="18" charset="0"/>
                    <a:cs typeface="Arial"/>
                  </a:rPr>
                  <a:t>FV = PV * </a:t>
                </a:r>
                <a14:m>
                  <m:oMath xmlns:m="http://schemas.openxmlformats.org/officeDocument/2006/math">
                    <m:sSup>
                      <m:sSupPr>
                        <m:ctrlPr>
                          <a:rPr lang="hu-HU" sz="1600" i="1" kern="1200">
                            <a:solidFill>
                              <a:srgbClr val="000000"/>
                            </a:solidFill>
                            <a:latin typeface="Cambria Math" panose="02040503050406030204" pitchFamily="18" charset="0"/>
                            <a:cs typeface="Arial"/>
                          </a:rPr>
                        </m:ctrlPr>
                      </m:sSupPr>
                      <m:e>
                        <m:d>
                          <m:dPr>
                            <m:ctrlPr>
                              <a:rPr lang="hu-HU" sz="1600" i="1" kern="1200">
                                <a:solidFill>
                                  <a:srgbClr val="000000"/>
                                </a:solidFill>
                                <a:latin typeface="Cambria Math" panose="02040503050406030204" pitchFamily="18" charset="0"/>
                                <a:cs typeface="Arial"/>
                              </a:rPr>
                            </m:ctrlPr>
                          </m:dPr>
                          <m:e>
                            <m:r>
                              <a:rPr lang="hu-HU" sz="1600" i="1" kern="1200">
                                <a:solidFill>
                                  <a:srgbClr val="000000"/>
                                </a:solidFill>
                                <a:latin typeface="Cambria Math" panose="02040503050406030204" pitchFamily="18" charset="0"/>
                                <a:cs typeface="Arial"/>
                              </a:rPr>
                              <m:t>1+</m:t>
                            </m:r>
                            <m:r>
                              <a:rPr lang="hu-HU" sz="1600" b="0" i="1" kern="1200" smtClean="0">
                                <a:solidFill>
                                  <a:srgbClr val="000000"/>
                                </a:solidFill>
                                <a:latin typeface="Cambria Math" panose="02040503050406030204" pitchFamily="18" charset="0"/>
                                <a:cs typeface="Arial"/>
                              </a:rPr>
                              <m:t>𝑟</m:t>
                            </m:r>
                          </m:e>
                        </m:d>
                      </m:e>
                      <m:sup>
                        <m:r>
                          <a:rPr lang="hu-HU" sz="1600" b="0" i="1" kern="1200" smtClean="0">
                            <a:solidFill>
                              <a:srgbClr val="000000"/>
                            </a:solidFill>
                            <a:latin typeface="Cambria Math" panose="02040503050406030204" pitchFamily="18" charset="0"/>
                            <a:cs typeface="Arial"/>
                          </a:rPr>
                          <m:t>𝑡</m:t>
                        </m:r>
                      </m:sup>
                    </m:sSup>
                  </m:oMath>
                </a14:m>
                <a:r>
                  <a:rPr lang="hu-HU" sz="1600" kern="1200" dirty="0">
                    <a:solidFill>
                      <a:srgbClr val="000000"/>
                    </a:solidFill>
                    <a:latin typeface="Cambria" panose="02040503050406030204" pitchFamily="18" charset="0"/>
                    <a:ea typeface="Cambria" panose="02040503050406030204" pitchFamily="18" charset="0"/>
                    <a:cs typeface="Arial"/>
                  </a:rPr>
                  <a:t> </a:t>
                </a:r>
              </a:p>
              <a:p>
                <a:endParaRPr lang="hu-HU" sz="1600" kern="1200" dirty="0">
                  <a:solidFill>
                    <a:srgbClr val="000000"/>
                  </a:solidFill>
                  <a:latin typeface="Cambria" panose="02040503050406030204" pitchFamily="18" charset="0"/>
                  <a:ea typeface="Cambria" panose="02040503050406030204" pitchFamily="18" charset="0"/>
                  <a:cs typeface="Arial"/>
                </a:endParaRPr>
              </a:p>
              <a:p>
                <a:r>
                  <a:rPr lang="hu-HU" sz="1600" b="1" kern="1200" dirty="0">
                    <a:solidFill>
                      <a:srgbClr val="C00000"/>
                    </a:solidFill>
                    <a:latin typeface="Cambria" panose="02040503050406030204" pitchFamily="18" charset="0"/>
                    <a:ea typeface="Cambria" panose="02040503050406030204" pitchFamily="18" charset="0"/>
                    <a:cs typeface="Arial"/>
                  </a:rPr>
                  <a:t>FV</a:t>
                </a:r>
                <a:r>
                  <a:rPr lang="hu-HU" sz="1600" kern="1200" dirty="0">
                    <a:solidFill>
                      <a:srgbClr val="C00000"/>
                    </a:solidFill>
                    <a:latin typeface="Cambria" panose="02040503050406030204" pitchFamily="18" charset="0"/>
                    <a:ea typeface="Cambria" panose="02040503050406030204" pitchFamily="18" charset="0"/>
                    <a:cs typeface="Arial"/>
                  </a:rPr>
                  <a:t> = 1 000 000 * </a:t>
                </a:r>
                <a14:m>
                  <m:oMath xmlns:m="http://schemas.openxmlformats.org/officeDocument/2006/math">
                    <m:sSup>
                      <m:sSupPr>
                        <m:ctrlPr>
                          <a:rPr lang="hu-HU" sz="1600" i="1" kern="1200" smtClean="0">
                            <a:solidFill>
                              <a:srgbClr val="C00000"/>
                            </a:solidFill>
                            <a:latin typeface="Cambria Math" panose="02040503050406030204" pitchFamily="18" charset="0"/>
                            <a:cs typeface="Arial"/>
                          </a:rPr>
                        </m:ctrlPr>
                      </m:sSupPr>
                      <m:e>
                        <m:d>
                          <m:dPr>
                            <m:ctrlPr>
                              <a:rPr lang="hu-HU" sz="1600" i="1" kern="1200" smtClean="0">
                                <a:solidFill>
                                  <a:srgbClr val="C00000"/>
                                </a:solidFill>
                                <a:latin typeface="Cambria Math" panose="02040503050406030204" pitchFamily="18" charset="0"/>
                                <a:cs typeface="Arial"/>
                              </a:rPr>
                            </m:ctrlPr>
                          </m:dPr>
                          <m:e>
                            <m:r>
                              <a:rPr lang="hu-HU" sz="1600" b="0" i="1" kern="1200" smtClean="0">
                                <a:solidFill>
                                  <a:srgbClr val="C00000"/>
                                </a:solidFill>
                                <a:latin typeface="Cambria Math" panose="02040503050406030204" pitchFamily="18" charset="0"/>
                                <a:cs typeface="Arial"/>
                              </a:rPr>
                              <m:t>1+0,04</m:t>
                            </m:r>
                          </m:e>
                        </m:d>
                      </m:e>
                      <m:sup>
                        <m:r>
                          <a:rPr lang="hu-HU" sz="1600" b="0" i="1" kern="1200" smtClean="0">
                            <a:solidFill>
                              <a:srgbClr val="C00000"/>
                            </a:solidFill>
                            <a:latin typeface="Cambria Math" panose="02040503050406030204" pitchFamily="18" charset="0"/>
                            <a:cs typeface="Arial"/>
                          </a:rPr>
                          <m:t>3</m:t>
                        </m:r>
                      </m:sup>
                    </m:sSup>
                  </m:oMath>
                </a14:m>
                <a:r>
                  <a:rPr lang="hu-HU" sz="1600" kern="1200" dirty="0">
                    <a:solidFill>
                      <a:srgbClr val="C00000"/>
                    </a:solidFill>
                    <a:latin typeface="Cambria" panose="02040503050406030204" pitchFamily="18" charset="0"/>
                    <a:ea typeface="Cambria" panose="02040503050406030204" pitchFamily="18" charset="0"/>
                    <a:cs typeface="Arial"/>
                  </a:rPr>
                  <a:t> = </a:t>
                </a:r>
                <a:r>
                  <a:rPr lang="hu-HU" sz="1600" b="1" kern="1200" dirty="0">
                    <a:solidFill>
                      <a:srgbClr val="C00000"/>
                    </a:solidFill>
                    <a:latin typeface="Cambria" panose="02040503050406030204" pitchFamily="18" charset="0"/>
                    <a:ea typeface="Cambria" panose="02040503050406030204" pitchFamily="18" charset="0"/>
                    <a:cs typeface="Arial"/>
                  </a:rPr>
                  <a:t>1 124 864 Ft.</a:t>
                </a:r>
              </a:p>
              <a:p>
                <a:endParaRPr lang="hu-HU" dirty="0"/>
              </a:p>
            </p:txBody>
          </p:sp>
        </mc:Choice>
        <mc:Fallback xmlns="">
          <p:sp>
            <p:nvSpPr>
              <p:cNvPr id="2" name="Tartalom helye 5">
                <a:extLst>
                  <a:ext uri="{FF2B5EF4-FFF2-40B4-BE49-F238E27FC236}">
                    <a16:creationId xmlns:a16="http://schemas.microsoft.com/office/drawing/2014/main" id="{1371AFCD-9177-2C32-06C3-24F8AD2709F2}"/>
                  </a:ext>
                </a:extLst>
              </p:cNvPr>
              <p:cNvSpPr txBox="1">
                <a:spLocks noRot="1" noChangeAspect="1" noMove="1" noResize="1" noEditPoints="1" noAdjustHandles="1" noChangeArrowheads="1" noChangeShapeType="1" noTextEdit="1"/>
              </p:cNvSpPr>
              <p:nvPr/>
            </p:nvSpPr>
            <p:spPr>
              <a:xfrm>
                <a:off x="483220" y="2191331"/>
                <a:ext cx="7895064" cy="2115625"/>
              </a:xfrm>
              <a:prstGeom prst="rect">
                <a:avLst/>
              </a:prstGeom>
              <a:blipFill>
                <a:blip r:embed="rId2"/>
                <a:stretch>
                  <a:fillRect l="-308" t="-857"/>
                </a:stretch>
              </a:blipFill>
              <a:ln w="12700" cap="flat" cmpd="sng" algn="ctr">
                <a:solidFill>
                  <a:schemeClr val="accent1"/>
                </a:solidFill>
                <a:prstDash val="solid"/>
              </a:ln>
            </p:spPr>
            <p:txBody>
              <a:bodyPr/>
              <a:lstStyle/>
              <a:p>
                <a:r>
                  <a:rPr lang="hu-HU">
                    <a:noFill/>
                  </a:rPr>
                  <a:t> </a:t>
                </a:r>
              </a:p>
            </p:txBody>
          </p:sp>
        </mc:Fallback>
      </mc:AlternateContent>
    </p:spTree>
    <p:extLst>
      <p:ext uri="{BB962C8B-B14F-4D97-AF65-F5344CB8AC3E}">
        <p14:creationId xmlns:p14="http://schemas.microsoft.com/office/powerpoint/2010/main" val="251907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1B580-C499-C2D9-BC50-E6303B755377}"/>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28648B4C-FD49-B46E-E9C6-38FC827DB1F6}"/>
              </a:ext>
            </a:extLst>
          </p:cNvPr>
          <p:cNvSpPr>
            <a:spLocks noGrp="1"/>
          </p:cNvSpPr>
          <p:nvPr>
            <p:ph type="title"/>
          </p:nvPr>
        </p:nvSpPr>
        <p:spPr>
          <a:xfrm>
            <a:off x="0" y="0"/>
            <a:ext cx="9144000" cy="531846"/>
          </a:xfrm>
          <a:solidFill>
            <a:srgbClr val="FFC000"/>
          </a:solidFill>
        </p:spPr>
        <p:txBody>
          <a:bodyPr anchor="ctr" anchorCtr="0"/>
          <a:lstStyle/>
          <a:p>
            <a:r>
              <a:rPr lang="hu-HU" dirty="0"/>
              <a:t>3. feladat</a:t>
            </a:r>
          </a:p>
        </p:txBody>
      </p:sp>
      <p:sp>
        <p:nvSpPr>
          <p:cNvPr id="3" name="TextBox 2">
            <a:extLst>
              <a:ext uri="{FF2B5EF4-FFF2-40B4-BE49-F238E27FC236}">
                <a16:creationId xmlns:a16="http://schemas.microsoft.com/office/drawing/2014/main" id="{122AA4C7-FA47-3346-F41E-EC872B56B7F9}"/>
              </a:ext>
            </a:extLst>
          </p:cNvPr>
          <p:cNvSpPr txBox="1"/>
          <p:nvPr/>
        </p:nvSpPr>
        <p:spPr>
          <a:xfrm>
            <a:off x="265043" y="678099"/>
            <a:ext cx="8615345" cy="1323439"/>
          </a:xfrm>
          <a:prstGeom prst="rect">
            <a:avLst/>
          </a:prstGeom>
          <a:noFill/>
        </p:spPr>
        <p:txBody>
          <a:bodyPr wrap="square">
            <a:spAutoFit/>
          </a:bodyPr>
          <a:lstStyle/>
          <a:p>
            <a:pPr algn="just"/>
            <a:r>
              <a:rPr lang="hu-HU" sz="1600" kern="1200" dirty="0">
                <a:solidFill>
                  <a:srgbClr val="002060"/>
                </a:solidFill>
                <a:latin typeface="Cambria" panose="02040503050406030204" pitchFamily="18" charset="0"/>
                <a:ea typeface="Cambria" panose="02040503050406030204" pitchFamily="18" charset="0"/>
              </a:rPr>
              <a:t>Ma lekötünk 1 000 000 Ft-ot betétben, 4%-os betéti kamatláb mellett. </a:t>
            </a:r>
          </a:p>
          <a:p>
            <a:pPr algn="just"/>
            <a:r>
              <a:rPr lang="hu-HU" sz="1600" kern="1200" dirty="0">
                <a:solidFill>
                  <a:srgbClr val="002060"/>
                </a:solidFill>
                <a:latin typeface="Cambria" panose="02040503050406030204" pitchFamily="18" charset="0"/>
                <a:ea typeface="Cambria" panose="02040503050406030204" pitchFamily="18" charset="0"/>
              </a:rPr>
              <a:t>Hány forintunk lesz a 3. év végén… </a:t>
            </a:r>
          </a:p>
          <a:p>
            <a:pPr algn="just"/>
            <a:r>
              <a:rPr lang="hu-HU" sz="1600" kern="1200" dirty="0">
                <a:solidFill>
                  <a:srgbClr val="002060"/>
                </a:solidFill>
                <a:latin typeface="Cambria" panose="02040503050406030204" pitchFamily="18" charset="0"/>
                <a:ea typeface="Cambria" panose="02040503050406030204" pitchFamily="18" charset="0"/>
              </a:rPr>
              <a:t>    … egyszerű (lineáris) kamatozás mellett, ha bankunk az éves kamatokat nem tőkésíti? </a:t>
            </a:r>
            <a:endParaRPr lang="en-GB" sz="1600" kern="1200" dirty="0">
              <a:solidFill>
                <a:srgbClr val="002060"/>
              </a:solidFill>
              <a:latin typeface="Cambria" panose="02040503050406030204" pitchFamily="18" charset="0"/>
              <a:ea typeface="Cambria" panose="02040503050406030204" pitchFamily="18" charset="0"/>
            </a:endParaRPr>
          </a:p>
          <a:p>
            <a:pPr lvl="0" algn="just"/>
            <a:r>
              <a:rPr lang="hu-HU" sz="1600" kern="1200" dirty="0">
                <a:solidFill>
                  <a:srgbClr val="002060"/>
                </a:solidFill>
                <a:latin typeface="Cambria" panose="02040503050406030204" pitchFamily="18" charset="0"/>
                <a:ea typeface="Cambria" panose="02040503050406030204" pitchFamily="18" charset="0"/>
              </a:rPr>
              <a:t>    … kamatos kamatozás mellett, ha a kamatokat bankunk évente tőkésíti?</a:t>
            </a:r>
            <a:endParaRPr lang="en-GB" sz="1600" kern="1200" dirty="0">
              <a:solidFill>
                <a:srgbClr val="002060"/>
              </a:solidFill>
              <a:latin typeface="Cambria" panose="02040503050406030204" pitchFamily="18" charset="0"/>
              <a:ea typeface="Cambria" panose="02040503050406030204" pitchFamily="18" charset="0"/>
            </a:endParaRPr>
          </a:p>
          <a:p>
            <a:pPr algn="just"/>
            <a:r>
              <a:rPr lang="hu-HU" sz="1600" b="1" kern="1200" dirty="0">
                <a:solidFill>
                  <a:srgbClr val="C00000"/>
                </a:solidFill>
                <a:latin typeface="Cambria" panose="02040503050406030204" pitchFamily="18" charset="0"/>
                <a:ea typeface="Cambria" panose="02040503050406030204" pitchFamily="18" charset="0"/>
              </a:rPr>
              <a:t>Melyikkel járunk jobban? Mi okozza a különbséget</a:t>
            </a:r>
            <a:r>
              <a:rPr lang="hu-HU" sz="1600" kern="1200" dirty="0">
                <a:solidFill>
                  <a:srgbClr val="C00000"/>
                </a:solidFill>
                <a:latin typeface="Cambria" panose="02040503050406030204" pitchFamily="18" charset="0"/>
                <a:ea typeface="Cambria" panose="02040503050406030204" pitchFamily="18" charset="0"/>
              </a:rPr>
              <a:t>?</a:t>
            </a:r>
            <a:endParaRPr lang="en-GB" sz="1600" kern="1200" dirty="0">
              <a:solidFill>
                <a:srgbClr val="C00000"/>
              </a:solidFill>
              <a:latin typeface="Cambria" panose="02040503050406030204" pitchFamily="18" charset="0"/>
              <a:ea typeface="Cambria" panose="02040503050406030204" pitchFamily="18" charset="0"/>
            </a:endParaRPr>
          </a:p>
        </p:txBody>
      </p:sp>
      <p:sp>
        <p:nvSpPr>
          <p:cNvPr id="4" name="Tartalom helye 5">
            <a:extLst>
              <a:ext uri="{FF2B5EF4-FFF2-40B4-BE49-F238E27FC236}">
                <a16:creationId xmlns:a16="http://schemas.microsoft.com/office/drawing/2014/main" id="{1A620575-1200-ED45-176F-0EB5FF1A0BF7}"/>
              </a:ext>
            </a:extLst>
          </p:cNvPr>
          <p:cNvSpPr txBox="1">
            <a:spLocks/>
          </p:cNvSpPr>
          <p:nvPr/>
        </p:nvSpPr>
        <p:spPr>
          <a:xfrm>
            <a:off x="543590" y="2268834"/>
            <a:ext cx="2155796" cy="191659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buNone/>
            </a:pPr>
            <a:endParaRPr lang="hu-HU" dirty="0"/>
          </a:p>
          <a:p>
            <a:pPr marL="0" indent="0" algn="ctr">
              <a:buNone/>
            </a:pPr>
            <a:r>
              <a:rPr lang="hu-HU" b="0" dirty="0">
                <a:latin typeface="Cambria" panose="02040503050406030204" pitchFamily="18" charset="0"/>
                <a:ea typeface="Cambria" panose="02040503050406030204" pitchFamily="18" charset="0"/>
                <a:cs typeface="Arial" panose="020B0604020202020204" pitchFamily="34" charset="0"/>
              </a:rPr>
              <a:t>lineáris kamatozás</a:t>
            </a:r>
          </a:p>
          <a:p>
            <a:pPr marL="0" indent="0" algn="ctr">
              <a:buNone/>
            </a:pPr>
            <a:r>
              <a:rPr lang="hu-HU" b="0" dirty="0">
                <a:latin typeface="Cambria" panose="02040503050406030204" pitchFamily="18" charset="0"/>
                <a:ea typeface="Cambria" panose="02040503050406030204" pitchFamily="18" charset="0"/>
                <a:cs typeface="Arial" panose="020B0604020202020204" pitchFamily="34" charset="0"/>
              </a:rPr>
              <a:t>1 120 000</a:t>
            </a:r>
            <a:endParaRPr lang="en-GB" b="0" dirty="0">
              <a:latin typeface="Cambria" panose="02040503050406030204" pitchFamily="18" charset="0"/>
              <a:ea typeface="Cambria" panose="02040503050406030204" pitchFamily="18" charset="0"/>
              <a:cs typeface="Arial" panose="020B0604020202020204" pitchFamily="34" charset="0"/>
            </a:endParaRPr>
          </a:p>
        </p:txBody>
      </p:sp>
      <p:sp>
        <p:nvSpPr>
          <p:cNvPr id="5" name="Tartalom helye 5">
            <a:extLst>
              <a:ext uri="{FF2B5EF4-FFF2-40B4-BE49-F238E27FC236}">
                <a16:creationId xmlns:a16="http://schemas.microsoft.com/office/drawing/2014/main" id="{F8C779D6-F785-C958-07E9-1077EF4F3BB2}"/>
              </a:ext>
            </a:extLst>
          </p:cNvPr>
          <p:cNvSpPr txBox="1">
            <a:spLocks/>
          </p:cNvSpPr>
          <p:nvPr/>
        </p:nvSpPr>
        <p:spPr>
          <a:xfrm>
            <a:off x="2792315" y="2268834"/>
            <a:ext cx="467558" cy="191659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buNone/>
            </a:pPr>
            <a:endParaRPr lang="hu-HU" dirty="0"/>
          </a:p>
          <a:p>
            <a:pPr marL="0" indent="0" algn="ctr">
              <a:buNone/>
            </a:pPr>
            <a:r>
              <a:rPr lang="hu-HU" dirty="0">
                <a:solidFill>
                  <a:schemeClr val="bg1"/>
                </a:solidFill>
                <a:highlight>
                  <a:srgbClr val="FF0000"/>
                </a:highlight>
                <a:latin typeface="Times New Roman" panose="02020603050405020304" pitchFamily="18" charset="0"/>
                <a:cs typeface="Times New Roman" panose="02020603050405020304" pitchFamily="18" charset="0"/>
              </a:rPr>
              <a:t>&lt;</a:t>
            </a:r>
          </a:p>
          <a:p>
            <a:pPr marL="0" indent="0" algn="ctr">
              <a:buNone/>
            </a:pPr>
            <a:r>
              <a:rPr lang="hu-HU" dirty="0">
                <a:latin typeface="Times New Roman" panose="02020603050405020304" pitchFamily="18" charset="0"/>
                <a:cs typeface="Times New Roman" panose="02020603050405020304" pitchFamily="18" charset="0"/>
              </a:rPr>
              <a:t>&gt;</a:t>
            </a:r>
          </a:p>
          <a:p>
            <a:pPr marL="0" indent="0" algn="ctr">
              <a:buNone/>
            </a:pPr>
            <a:r>
              <a:rPr lang="hu-HU"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
        <p:nvSpPr>
          <p:cNvPr id="6" name="Tartalom helye 5">
            <a:extLst>
              <a:ext uri="{FF2B5EF4-FFF2-40B4-BE49-F238E27FC236}">
                <a16:creationId xmlns:a16="http://schemas.microsoft.com/office/drawing/2014/main" id="{AE6FD8C9-8A8B-DE24-710A-821C90C5C583}"/>
              </a:ext>
            </a:extLst>
          </p:cNvPr>
          <p:cNvSpPr txBox="1">
            <a:spLocks/>
          </p:cNvSpPr>
          <p:nvPr/>
        </p:nvSpPr>
        <p:spPr>
          <a:xfrm>
            <a:off x="3382987" y="2268834"/>
            <a:ext cx="2378028" cy="191659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buNone/>
            </a:pPr>
            <a:endParaRPr lang="hu-HU" dirty="0"/>
          </a:p>
          <a:p>
            <a:pPr marL="0" indent="0" algn="ctr">
              <a:buNone/>
            </a:pPr>
            <a:r>
              <a:rPr lang="hu-HU" b="0" dirty="0">
                <a:solidFill>
                  <a:schemeClr val="bg1"/>
                </a:solidFill>
                <a:highlight>
                  <a:srgbClr val="FF0000"/>
                </a:highlight>
                <a:latin typeface="Cambria" panose="02040503050406030204" pitchFamily="18" charset="0"/>
                <a:ea typeface="Cambria" panose="02040503050406030204" pitchFamily="18" charset="0"/>
                <a:cs typeface="Arial" panose="020B0604020202020204" pitchFamily="34" charset="0"/>
              </a:rPr>
              <a:t>kamatos kamatozás</a:t>
            </a:r>
          </a:p>
          <a:p>
            <a:pPr marL="0" indent="0" algn="ctr">
              <a:buNone/>
            </a:pPr>
            <a:r>
              <a:rPr lang="hu-HU" sz="3200" b="0" dirty="0">
                <a:solidFill>
                  <a:schemeClr val="bg1"/>
                </a:solidFill>
                <a:highlight>
                  <a:srgbClr val="FF0000"/>
                </a:highlight>
                <a:latin typeface="Cambria" panose="02040503050406030204" pitchFamily="18" charset="0"/>
                <a:ea typeface="Cambria" panose="02040503050406030204" pitchFamily="18" charset="0"/>
                <a:cs typeface="Arial" panose="020B0604020202020204" pitchFamily="34" charset="0"/>
              </a:rPr>
              <a:t>1 124 864 Ft</a:t>
            </a:r>
          </a:p>
        </p:txBody>
      </p:sp>
      <p:pic>
        <p:nvPicPr>
          <p:cNvPr id="7" name="Tartalom helye 4" descr="Jars of pénzérmék">
            <a:extLst>
              <a:ext uri="{FF2B5EF4-FFF2-40B4-BE49-F238E27FC236}">
                <a16:creationId xmlns:a16="http://schemas.microsoft.com/office/drawing/2014/main" id="{0535AF96-05FC-4436-93AE-69E8000EF775}"/>
              </a:ext>
            </a:extLst>
          </p:cNvPr>
          <p:cNvPicPr>
            <a:picLocks/>
          </p:cNvPicPr>
          <p:nvPr/>
        </p:nvPicPr>
        <p:blipFill rotWithShape="1">
          <a:blip r:embed="rId2" cstate="print">
            <a:extLst>
              <a:ext uri="{28A0092B-C50C-407E-A947-70E740481C1C}">
                <a14:useLocalDpi xmlns:a14="http://schemas.microsoft.com/office/drawing/2010/main" val="0"/>
              </a:ext>
            </a:extLst>
          </a:blip>
          <a:srcRect l="428" r="3" b="3"/>
          <a:stretch/>
        </p:blipFill>
        <p:spPr>
          <a:xfrm>
            <a:off x="5887690" y="2268833"/>
            <a:ext cx="3066840" cy="1916591"/>
          </a:xfrm>
          <a:prstGeom prst="rect">
            <a:avLst/>
          </a:prstGeom>
        </p:spPr>
      </p:pic>
    </p:spTree>
    <p:extLst>
      <p:ext uri="{BB962C8B-B14F-4D97-AF65-F5344CB8AC3E}">
        <p14:creationId xmlns:p14="http://schemas.microsoft.com/office/powerpoint/2010/main" val="2871928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F30FA-69AF-AA7D-1246-5A06BCDB7DD5}"/>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FA1B678E-0258-BABE-1D02-626C94A8A3CD}"/>
              </a:ext>
            </a:extLst>
          </p:cNvPr>
          <p:cNvSpPr>
            <a:spLocks noGrp="1"/>
          </p:cNvSpPr>
          <p:nvPr>
            <p:ph type="title"/>
          </p:nvPr>
        </p:nvSpPr>
        <p:spPr>
          <a:xfrm>
            <a:off x="0" y="0"/>
            <a:ext cx="9144000" cy="531846"/>
          </a:xfrm>
          <a:solidFill>
            <a:srgbClr val="FFC000"/>
          </a:solidFill>
        </p:spPr>
        <p:txBody>
          <a:bodyPr anchor="ctr" anchorCtr="0"/>
          <a:lstStyle/>
          <a:p>
            <a:r>
              <a:rPr lang="hu-HU" dirty="0"/>
              <a:t>3. feladat</a:t>
            </a:r>
          </a:p>
        </p:txBody>
      </p:sp>
      <p:sp>
        <p:nvSpPr>
          <p:cNvPr id="3" name="TextBox 2">
            <a:extLst>
              <a:ext uri="{FF2B5EF4-FFF2-40B4-BE49-F238E27FC236}">
                <a16:creationId xmlns:a16="http://schemas.microsoft.com/office/drawing/2014/main" id="{0C408080-7B82-3001-E0D4-A247ABAA99E0}"/>
              </a:ext>
            </a:extLst>
          </p:cNvPr>
          <p:cNvSpPr txBox="1"/>
          <p:nvPr/>
        </p:nvSpPr>
        <p:spPr>
          <a:xfrm>
            <a:off x="483219" y="593818"/>
            <a:ext cx="8315998" cy="1400383"/>
          </a:xfrm>
          <a:prstGeom prst="rect">
            <a:avLst/>
          </a:prstGeom>
          <a:noFill/>
        </p:spPr>
        <p:txBody>
          <a:bodyPr wrap="square">
            <a:spAutoFit/>
          </a:bodyPr>
          <a:lstStyle/>
          <a:p>
            <a:pPr algn="just"/>
            <a:r>
              <a:rPr lang="hu-HU" sz="1700" kern="1200" dirty="0">
                <a:solidFill>
                  <a:srgbClr val="002060"/>
                </a:solidFill>
                <a:latin typeface="Cambria" panose="02040503050406030204" pitchFamily="18" charset="0"/>
                <a:ea typeface="Cambria" panose="02040503050406030204" pitchFamily="18" charset="0"/>
              </a:rPr>
              <a:t>Ma lekötünk 1 000 000 Ft-ot betétben, 4%-os betéti kamatláb mellett. </a:t>
            </a:r>
          </a:p>
          <a:p>
            <a:pPr algn="just"/>
            <a:r>
              <a:rPr lang="hu-HU" sz="1700" kern="1200" dirty="0">
                <a:solidFill>
                  <a:srgbClr val="002060"/>
                </a:solidFill>
                <a:latin typeface="Cambria" panose="02040503050406030204" pitchFamily="18" charset="0"/>
                <a:ea typeface="Cambria" panose="02040503050406030204" pitchFamily="18" charset="0"/>
              </a:rPr>
              <a:t>Hány forintunk lesz a 3. év végén… </a:t>
            </a:r>
          </a:p>
          <a:p>
            <a:pPr algn="just"/>
            <a:r>
              <a:rPr lang="hu-HU" sz="1700" kern="1200" dirty="0">
                <a:solidFill>
                  <a:srgbClr val="002060"/>
                </a:solidFill>
                <a:latin typeface="Cambria" panose="02040503050406030204" pitchFamily="18" charset="0"/>
                <a:ea typeface="Cambria" panose="02040503050406030204" pitchFamily="18" charset="0"/>
              </a:rPr>
              <a:t>    … egyszerű (lineáris) kamatozás mellett, ha bankunk az éves kamatokat nem tőkésíti? </a:t>
            </a:r>
            <a:endParaRPr lang="en-GB" sz="1700" kern="1200" dirty="0">
              <a:solidFill>
                <a:srgbClr val="002060"/>
              </a:solidFill>
              <a:latin typeface="Cambria" panose="02040503050406030204" pitchFamily="18" charset="0"/>
              <a:ea typeface="Cambria" panose="02040503050406030204" pitchFamily="18" charset="0"/>
            </a:endParaRPr>
          </a:p>
          <a:p>
            <a:pPr lvl="0" algn="just"/>
            <a:r>
              <a:rPr lang="hu-HU" sz="1700" kern="1200" dirty="0">
                <a:solidFill>
                  <a:srgbClr val="002060"/>
                </a:solidFill>
                <a:latin typeface="Cambria" panose="02040503050406030204" pitchFamily="18" charset="0"/>
                <a:ea typeface="Cambria" panose="02040503050406030204" pitchFamily="18" charset="0"/>
              </a:rPr>
              <a:t>    … kamatos kamatozás mellett, ha a kamatokat bankunk évente tőkésíti?</a:t>
            </a:r>
            <a:endParaRPr lang="en-GB" sz="1700" kern="1200" dirty="0">
              <a:solidFill>
                <a:srgbClr val="002060"/>
              </a:solidFill>
              <a:latin typeface="Cambria" panose="02040503050406030204" pitchFamily="18" charset="0"/>
              <a:ea typeface="Cambria" panose="02040503050406030204" pitchFamily="18" charset="0"/>
            </a:endParaRPr>
          </a:p>
          <a:p>
            <a:pPr algn="just"/>
            <a:r>
              <a:rPr lang="hu-HU" sz="1700" b="1" kern="1200" dirty="0">
                <a:solidFill>
                  <a:srgbClr val="C00000"/>
                </a:solidFill>
                <a:latin typeface="Cambria" panose="02040503050406030204" pitchFamily="18" charset="0"/>
                <a:ea typeface="Cambria" panose="02040503050406030204" pitchFamily="18" charset="0"/>
              </a:rPr>
              <a:t>Hogyan tudjuk megválaszolni a kérdést a hozamfaktor alapján</a:t>
            </a:r>
            <a:r>
              <a:rPr lang="hu-HU" sz="1700" kern="1200" dirty="0">
                <a:solidFill>
                  <a:srgbClr val="C00000"/>
                </a:solidFill>
                <a:latin typeface="Cambria" panose="02040503050406030204" pitchFamily="18" charset="0"/>
                <a:ea typeface="Cambria" panose="02040503050406030204" pitchFamily="18" charset="0"/>
              </a:rPr>
              <a:t>?</a:t>
            </a:r>
            <a:endParaRPr lang="en-GB" sz="1700" kern="1200" dirty="0">
              <a:solidFill>
                <a:srgbClr val="C00000"/>
              </a:solidFill>
              <a:latin typeface="Cambria" panose="02040503050406030204" pitchFamily="18" charset="0"/>
              <a:ea typeface="Cambria" panose="02040503050406030204" pitchFamily="18" charset="0"/>
            </a:endParaRPr>
          </a:p>
        </p:txBody>
      </p:sp>
      <p:sp>
        <p:nvSpPr>
          <p:cNvPr id="2" name="Tartalom helye 5">
            <a:extLst>
              <a:ext uri="{FF2B5EF4-FFF2-40B4-BE49-F238E27FC236}">
                <a16:creationId xmlns:a16="http://schemas.microsoft.com/office/drawing/2014/main" id="{C4FF74B9-C3A9-6476-877D-FCBCB4A5ACAE}"/>
              </a:ext>
            </a:extLst>
          </p:cNvPr>
          <p:cNvSpPr txBox="1">
            <a:spLocks/>
          </p:cNvSpPr>
          <p:nvPr/>
        </p:nvSpPr>
        <p:spPr>
          <a:xfrm>
            <a:off x="483219" y="2317783"/>
            <a:ext cx="3989927" cy="2035697"/>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dirty="0">
                <a:solidFill>
                  <a:srgbClr val="C00000"/>
                </a:solidFill>
                <a:latin typeface="Cambria" panose="02040503050406030204" pitchFamily="18" charset="0"/>
                <a:ea typeface="Cambria" panose="02040503050406030204" pitchFamily="18" charset="0"/>
                <a:cs typeface="Arial" panose="020B0604020202020204" pitchFamily="34" charset="0"/>
              </a:rPr>
              <a:t>Megoldás – Egyszerű kamatozás</a:t>
            </a:r>
          </a:p>
          <a:p>
            <a:endParaRPr lang="hu-HU" dirty="0">
              <a:latin typeface="Cambria" panose="02040503050406030204" pitchFamily="18" charset="0"/>
              <a:ea typeface="Cambria" panose="02040503050406030204" pitchFamily="18" charset="0"/>
              <a:cs typeface="Arial" panose="020B0604020202020204" pitchFamily="34" charset="0"/>
            </a:endParaRPr>
          </a:p>
          <a:p>
            <a:r>
              <a:rPr lang="hu-HU" dirty="0">
                <a:latin typeface="Cambria" panose="02040503050406030204" pitchFamily="18" charset="0"/>
                <a:ea typeface="Cambria" panose="02040503050406030204" pitchFamily="18" charset="0"/>
                <a:cs typeface="Arial" panose="020B0604020202020204" pitchFamily="34" charset="0"/>
              </a:rPr>
              <a:t>PV = 1 000 000	t = 3 év  	r = 4%</a:t>
            </a:r>
          </a:p>
          <a:p>
            <a:endParaRPr lang="hu-HU" dirty="0">
              <a:latin typeface="Cambria" panose="02040503050406030204" pitchFamily="18" charset="0"/>
              <a:ea typeface="Cambria" panose="02040503050406030204" pitchFamily="18" charset="0"/>
              <a:cs typeface="Arial" panose="020B0604020202020204" pitchFamily="34" charset="0"/>
            </a:endParaRPr>
          </a:p>
          <a:p>
            <a:r>
              <a:rPr lang="hu-HU" dirty="0">
                <a:latin typeface="Cambria" panose="02040503050406030204" pitchFamily="18" charset="0"/>
                <a:ea typeface="Cambria" panose="02040503050406030204" pitchFamily="18" charset="0"/>
                <a:cs typeface="Arial" panose="020B0604020202020204" pitchFamily="34" charset="0"/>
              </a:rPr>
              <a:t>Hozamfaktor (FVIF) = (1 + t * r) (egyszerű kamatozás)</a:t>
            </a:r>
            <a:endParaRPr lang="hu-HU" baseline="30000" dirty="0">
              <a:latin typeface="Cambria" panose="02040503050406030204" pitchFamily="18" charset="0"/>
              <a:ea typeface="Cambria" panose="02040503050406030204" pitchFamily="18" charset="0"/>
              <a:cs typeface="Arial" panose="020B0604020202020204" pitchFamily="34" charset="0"/>
            </a:endParaRPr>
          </a:p>
          <a:p>
            <a:endParaRPr lang="hu-HU" dirty="0">
              <a:latin typeface="Cambria" panose="02040503050406030204" pitchFamily="18" charset="0"/>
              <a:ea typeface="Cambria" panose="02040503050406030204" pitchFamily="18" charset="0"/>
              <a:cs typeface="Arial" panose="020B0604020202020204" pitchFamily="34" charset="0"/>
            </a:endParaRPr>
          </a:p>
          <a:p>
            <a:endParaRPr lang="hu-HU" dirty="0">
              <a:latin typeface="Cambria" panose="02040503050406030204" pitchFamily="18" charset="0"/>
              <a:ea typeface="Cambria" panose="02040503050406030204" pitchFamily="18" charset="0"/>
              <a:cs typeface="Arial" panose="020B0604020202020204" pitchFamily="34" charset="0"/>
            </a:endParaRPr>
          </a:p>
          <a:p>
            <a:r>
              <a:rPr lang="hu-HU" sz="1600" dirty="0">
                <a:latin typeface="Cambria" panose="02040503050406030204" pitchFamily="18" charset="0"/>
                <a:ea typeface="Cambria" panose="02040503050406030204" pitchFamily="18" charset="0"/>
                <a:cs typeface="Arial" panose="020B0604020202020204" pitchFamily="34" charset="0"/>
              </a:rPr>
              <a:t>Hozamfaktor = (1 + 3 * 0,04) = </a:t>
            </a:r>
            <a:r>
              <a:rPr lang="hu-HU" sz="1600" b="1" dirty="0">
                <a:solidFill>
                  <a:schemeClr val="bg1"/>
                </a:solidFill>
                <a:highlight>
                  <a:srgbClr val="FF0000"/>
                </a:highlight>
                <a:latin typeface="Cambria" panose="02040503050406030204" pitchFamily="18" charset="0"/>
                <a:ea typeface="Cambria" panose="02040503050406030204" pitchFamily="18" charset="0"/>
                <a:cs typeface="Arial" panose="020B0604020202020204" pitchFamily="34" charset="0"/>
              </a:rPr>
              <a:t>1,12</a:t>
            </a:r>
          </a:p>
          <a:p>
            <a:endParaRPr lang="hu-HU" dirty="0"/>
          </a:p>
        </p:txBody>
      </p:sp>
      <p:sp>
        <p:nvSpPr>
          <p:cNvPr id="4" name="Tartalom helye 5">
            <a:extLst>
              <a:ext uri="{FF2B5EF4-FFF2-40B4-BE49-F238E27FC236}">
                <a16:creationId xmlns:a16="http://schemas.microsoft.com/office/drawing/2014/main" id="{018A9DD5-AEB4-F0A4-5387-F1E662789BEE}"/>
              </a:ext>
            </a:extLst>
          </p:cNvPr>
          <p:cNvSpPr txBox="1">
            <a:spLocks/>
          </p:cNvSpPr>
          <p:nvPr/>
        </p:nvSpPr>
        <p:spPr>
          <a:xfrm>
            <a:off x="4572000" y="2317783"/>
            <a:ext cx="4227217" cy="2035697"/>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1"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Font typeface="Arial" panose="020B0604020202020204" pitchFamily="34" charset="0"/>
              <a:buNone/>
            </a:pPr>
            <a:r>
              <a:rPr lang="hu-HU" sz="1400" b="0" dirty="0">
                <a:solidFill>
                  <a:srgbClr val="C00000"/>
                </a:solidFill>
                <a:latin typeface="Cambria" panose="02040503050406030204" pitchFamily="18" charset="0"/>
                <a:ea typeface="Cambria" panose="02040503050406030204" pitchFamily="18" charset="0"/>
                <a:cs typeface="Arial" panose="020B0604020202020204" pitchFamily="34" charset="0"/>
              </a:rPr>
              <a:t>Megoldás – Kamatos kamatszámítás</a:t>
            </a:r>
          </a:p>
          <a:p>
            <a:r>
              <a:rPr lang="hu-HU" sz="1400" b="0" dirty="0">
                <a:latin typeface="Cambria" panose="02040503050406030204" pitchFamily="18" charset="0"/>
                <a:ea typeface="Cambria" panose="02040503050406030204" pitchFamily="18" charset="0"/>
                <a:cs typeface="Arial" panose="020B0604020202020204" pitchFamily="34" charset="0"/>
              </a:rPr>
              <a:t>PV = 1 000 000	t = 3 év  	r = 4%</a:t>
            </a:r>
          </a:p>
          <a:p>
            <a:endParaRPr lang="hu-HU" sz="1400" b="0" dirty="0">
              <a:latin typeface="Cambria" panose="02040503050406030204" pitchFamily="18" charset="0"/>
              <a:ea typeface="Cambria" panose="02040503050406030204" pitchFamily="18" charset="0"/>
              <a:cs typeface="Arial" panose="020B0604020202020204" pitchFamily="34" charset="0"/>
            </a:endParaRPr>
          </a:p>
          <a:p>
            <a:r>
              <a:rPr lang="hu-HU" sz="1400" b="0" dirty="0">
                <a:latin typeface="Cambria" panose="02040503050406030204" pitchFamily="18" charset="0"/>
                <a:ea typeface="Cambria" panose="02040503050406030204" pitchFamily="18" charset="0"/>
                <a:cs typeface="Arial" panose="020B0604020202020204" pitchFamily="34" charset="0"/>
              </a:rPr>
              <a:t>Hozamfaktor (FVIF) = (1 + r)</a:t>
            </a:r>
            <a:r>
              <a:rPr lang="hu-HU" sz="1400" b="0" baseline="30000" dirty="0">
                <a:latin typeface="Cambria" panose="02040503050406030204" pitchFamily="18" charset="0"/>
                <a:ea typeface="Cambria" panose="02040503050406030204" pitchFamily="18" charset="0"/>
                <a:cs typeface="Arial" panose="020B0604020202020204" pitchFamily="34" charset="0"/>
              </a:rPr>
              <a:t>t (kamatos kamatozás)</a:t>
            </a:r>
          </a:p>
          <a:p>
            <a:pPr marL="0" indent="0">
              <a:buFont typeface="Arial" panose="020B0604020202020204" pitchFamily="34" charset="0"/>
              <a:buNone/>
            </a:pPr>
            <a:endParaRPr lang="hu-HU" sz="1400" b="0" dirty="0">
              <a:latin typeface="Cambria" panose="02040503050406030204" pitchFamily="18" charset="0"/>
              <a:ea typeface="Cambria" panose="02040503050406030204" pitchFamily="18" charset="0"/>
              <a:cs typeface="Arial" panose="020B0604020202020204" pitchFamily="34" charset="0"/>
            </a:endParaRPr>
          </a:p>
          <a:p>
            <a:r>
              <a:rPr lang="hu-HU" sz="1600" b="0" dirty="0">
                <a:latin typeface="Cambria" panose="02040503050406030204" pitchFamily="18" charset="0"/>
                <a:ea typeface="Cambria" panose="02040503050406030204" pitchFamily="18" charset="0"/>
                <a:cs typeface="Arial" panose="020B0604020202020204" pitchFamily="34" charset="0"/>
              </a:rPr>
              <a:t>Hozamfaktor = (1 + 0,04)</a:t>
            </a:r>
            <a:r>
              <a:rPr lang="hu-HU" sz="1600" b="0" baseline="30000" dirty="0">
                <a:latin typeface="Cambria" panose="02040503050406030204" pitchFamily="18" charset="0"/>
                <a:ea typeface="Cambria" panose="02040503050406030204" pitchFamily="18" charset="0"/>
                <a:cs typeface="Arial" panose="020B0604020202020204" pitchFamily="34" charset="0"/>
              </a:rPr>
              <a:t>3</a:t>
            </a:r>
            <a:r>
              <a:rPr lang="hu-HU" sz="1600" b="0" dirty="0">
                <a:latin typeface="Cambria" panose="02040503050406030204" pitchFamily="18" charset="0"/>
                <a:ea typeface="Cambria" panose="02040503050406030204" pitchFamily="18" charset="0"/>
                <a:cs typeface="Arial" panose="020B0604020202020204" pitchFamily="34" charset="0"/>
              </a:rPr>
              <a:t> = </a:t>
            </a:r>
            <a:r>
              <a:rPr lang="hu-HU" sz="1800" dirty="0">
                <a:solidFill>
                  <a:schemeClr val="bg1"/>
                </a:solidFill>
                <a:highlight>
                  <a:srgbClr val="FF0000"/>
                </a:highlight>
                <a:latin typeface="Cambria" panose="02040503050406030204" pitchFamily="18" charset="0"/>
                <a:ea typeface="Cambria" panose="02040503050406030204" pitchFamily="18" charset="0"/>
                <a:cs typeface="Arial" panose="020B0604020202020204" pitchFamily="34" charset="0"/>
              </a:rPr>
              <a:t>1,1249</a:t>
            </a:r>
          </a:p>
          <a:p>
            <a:endParaRPr lang="hu-HU" dirty="0"/>
          </a:p>
        </p:txBody>
      </p:sp>
    </p:spTree>
    <p:extLst>
      <p:ext uri="{BB962C8B-B14F-4D97-AF65-F5344CB8AC3E}">
        <p14:creationId xmlns:p14="http://schemas.microsoft.com/office/powerpoint/2010/main" val="209635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AC953-BAE4-703A-0E22-07B509AD3024}"/>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ED7F8DE6-C693-0133-A784-29A93EB75B0A}"/>
              </a:ext>
            </a:extLst>
          </p:cNvPr>
          <p:cNvSpPr>
            <a:spLocks noGrp="1"/>
          </p:cNvSpPr>
          <p:nvPr>
            <p:ph type="title"/>
          </p:nvPr>
        </p:nvSpPr>
        <p:spPr>
          <a:xfrm>
            <a:off x="0" y="0"/>
            <a:ext cx="9144000" cy="531846"/>
          </a:xfrm>
          <a:solidFill>
            <a:srgbClr val="FFC000"/>
          </a:solidFill>
        </p:spPr>
        <p:txBody>
          <a:bodyPr anchor="ctr" anchorCtr="0"/>
          <a:lstStyle/>
          <a:p>
            <a:r>
              <a:rPr lang="hu-HU" dirty="0"/>
              <a:t>Jövőérték-számítás: lineáris és kamatos kamatozás</a:t>
            </a:r>
          </a:p>
        </p:txBody>
      </p:sp>
      <p:pic>
        <p:nvPicPr>
          <p:cNvPr id="5" name="Tartalom helye 5" descr="A képen szöveg, sor, képernyőkép, Diagram látható&#10;&#10;Automatikusan generált leírás">
            <a:extLst>
              <a:ext uri="{FF2B5EF4-FFF2-40B4-BE49-F238E27FC236}">
                <a16:creationId xmlns:a16="http://schemas.microsoft.com/office/drawing/2014/main" id="{8F0C15C3-A673-E9ED-F89C-9DA169830D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016" y="531846"/>
            <a:ext cx="6936260" cy="3801257"/>
          </a:xfrm>
          <a:prstGeom prst="rect">
            <a:avLst/>
          </a:prstGeom>
        </p:spPr>
      </p:pic>
    </p:spTree>
    <p:extLst>
      <p:ext uri="{BB962C8B-B14F-4D97-AF65-F5344CB8AC3E}">
        <p14:creationId xmlns:p14="http://schemas.microsoft.com/office/powerpoint/2010/main" val="3147774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3A51A-EBC3-5D58-9CEF-8853E7266DA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artalom helye 2">
                <a:extLst>
                  <a:ext uri="{FF2B5EF4-FFF2-40B4-BE49-F238E27FC236}">
                    <a16:creationId xmlns:a16="http://schemas.microsoft.com/office/drawing/2014/main" id="{0564797A-E032-30F6-E6F9-129D020CADEF}"/>
                  </a:ext>
                </a:extLst>
              </p:cNvPr>
              <p:cNvSpPr txBox="1">
                <a:spLocks/>
              </p:cNvSpPr>
              <p:nvPr/>
            </p:nvSpPr>
            <p:spPr>
              <a:xfrm>
                <a:off x="475999" y="1655885"/>
                <a:ext cx="7395100" cy="24787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3000" dirty="0">
                    <a:latin typeface="Cambria" panose="02040503050406030204" pitchFamily="18" charset="0"/>
                    <a:ea typeface="Cambria" panose="02040503050406030204" pitchFamily="18" charset="0"/>
                    <a:cs typeface="Aharoni" panose="02010803020104030203" pitchFamily="2" charset="-79"/>
                  </a:rPr>
                  <a:t>FV=</a:t>
                </a:r>
                <a:r>
                  <a:rPr lang="hu-HU" sz="3000" dirty="0">
                    <a:ea typeface="Cambria" panose="02040503050406030204" pitchFamily="18" charset="0"/>
                  </a:rPr>
                  <a:t> PV</a:t>
                </a:r>
                <a:r>
                  <a:rPr lang="hu-HU" sz="3000" dirty="0">
                    <a:latin typeface="Cambria" panose="02040503050406030204" pitchFamily="18" charset="0"/>
                    <a:ea typeface="Cambria" panose="02040503050406030204" pitchFamily="18" charset="0"/>
                    <a:cs typeface="Aharoni" panose="02010803020104030203" pitchFamily="2" charset="-79"/>
                  </a:rPr>
                  <a:t>*(1+</a:t>
                </a:r>
                <a14:m>
                  <m:oMath xmlns:m="http://schemas.openxmlformats.org/officeDocument/2006/math">
                    <m:sSup>
                      <m:sSupPr>
                        <m:ctrlPr>
                          <a:rPr lang="hu-HU" sz="3000" i="1">
                            <a:latin typeface="Cambria Math" panose="02040503050406030204" pitchFamily="18" charset="0"/>
                          </a:rPr>
                        </m:ctrlPr>
                      </m:sSupPr>
                      <m:e>
                        <m:f>
                          <m:fPr>
                            <m:ctrlPr>
                              <a:rPr lang="hu-HU" sz="3000" i="1">
                                <a:latin typeface="Cambria Math" panose="02040503050406030204" pitchFamily="18" charset="0"/>
                              </a:rPr>
                            </m:ctrlPr>
                          </m:fPr>
                          <m:num>
                            <m:r>
                              <m:rPr>
                                <m:sty m:val="p"/>
                              </m:rPr>
                              <a:rPr lang="hu-HU" sz="3000" i="1">
                                <a:latin typeface="Cambria Math" panose="02040503050406030204" pitchFamily="18" charset="0"/>
                              </a:rPr>
                              <m:t>r</m:t>
                            </m:r>
                          </m:num>
                          <m:den>
                            <m:r>
                              <m:rPr>
                                <m:sty m:val="p"/>
                              </m:rPr>
                              <a:rPr lang="hu-HU" sz="3000" i="1">
                                <a:latin typeface="Cambria Math" panose="02040503050406030204" pitchFamily="18" charset="0"/>
                              </a:rPr>
                              <m:t>m</m:t>
                            </m:r>
                          </m:den>
                        </m:f>
                        <m:r>
                          <a:rPr lang="hu-HU" sz="3000">
                            <a:latin typeface="Cambria Math" panose="02040503050406030204" pitchFamily="18" charset="0"/>
                          </a:rPr>
                          <m:t>)</m:t>
                        </m:r>
                      </m:e>
                      <m:sup>
                        <m:r>
                          <m:rPr>
                            <m:sty m:val="p"/>
                          </m:rPr>
                          <a:rPr lang="hu-HU" sz="3000" i="1">
                            <a:latin typeface="Cambria Math" panose="02040503050406030204" pitchFamily="18" charset="0"/>
                          </a:rPr>
                          <m:t>m</m:t>
                        </m:r>
                        <m:r>
                          <a:rPr lang="hu-HU" sz="3000" i="1">
                            <a:latin typeface="Cambria Math" panose="02040503050406030204" pitchFamily="18" charset="0"/>
                          </a:rPr>
                          <m:t>∗</m:t>
                        </m:r>
                        <m:r>
                          <a:rPr lang="hu-HU" sz="3000" b="0" i="1" smtClean="0">
                            <a:latin typeface="Cambria Math" panose="02040503050406030204" pitchFamily="18" charset="0"/>
                          </a:rPr>
                          <m:t>𝑡</m:t>
                        </m:r>
                      </m:sup>
                    </m:sSup>
                  </m:oMath>
                </a14:m>
                <a:endParaRPr lang="hu-HU" sz="3000" dirty="0">
                  <a:latin typeface="Cambria" panose="02040503050406030204" pitchFamily="18" charset="0"/>
                  <a:ea typeface="Cambria" panose="02040503050406030204" pitchFamily="18" charset="0"/>
                  <a:cs typeface="Aharoni" panose="02010803020104030203" pitchFamily="2" charset="-79"/>
                </a:endParaRPr>
              </a:p>
              <a:p>
                <a:r>
                  <a:rPr lang="hu-HU" sz="3000" dirty="0">
                    <a:latin typeface="Cambria" panose="02040503050406030204" pitchFamily="18" charset="0"/>
                    <a:ea typeface="Cambria" panose="02040503050406030204" pitchFamily="18" charset="0"/>
                    <a:cs typeface="Aharoni" panose="02010803020104030203" pitchFamily="2" charset="-79"/>
                  </a:rPr>
                  <a:t>r=általában az éves szintű kamat</a:t>
                </a:r>
              </a:p>
              <a:p>
                <a:pPr>
                  <a:buFont typeface="Wingdings 2" pitchFamily="18" charset="2"/>
                  <a:buNone/>
                </a:pPr>
                <a:r>
                  <a:rPr lang="hu-HU" sz="3000" dirty="0">
                    <a:latin typeface="Cambria" panose="02040503050406030204" pitchFamily="18" charset="0"/>
                    <a:ea typeface="Cambria" panose="02040503050406030204" pitchFamily="18" charset="0"/>
                  </a:rPr>
                  <a:t> m= éven belüli tőkésítések száma</a:t>
                </a:r>
              </a:p>
              <a:p>
                <a:pPr>
                  <a:buFont typeface="Wingdings 2" pitchFamily="18" charset="2"/>
                  <a:buNone/>
                </a:pPr>
                <a:r>
                  <a:rPr lang="hu-HU" sz="3000" dirty="0">
                    <a:latin typeface="Cambria" panose="02040503050406030204" pitchFamily="18" charset="0"/>
                    <a:ea typeface="Cambria" panose="02040503050406030204" pitchFamily="18" charset="0"/>
                  </a:rPr>
                  <a:t> t=évek száma</a:t>
                </a:r>
              </a:p>
              <a:p>
                <a:pPr>
                  <a:buFont typeface="Wingdings 2" pitchFamily="18" charset="2"/>
                  <a:buNone/>
                </a:pPr>
                <a:endParaRPr lang="hu-HU" sz="2400" dirty="0">
                  <a:latin typeface="Cambria" panose="02040503050406030204" pitchFamily="18" charset="0"/>
                  <a:ea typeface="Cambria" panose="02040503050406030204" pitchFamily="18" charset="0"/>
                </a:endParaRPr>
              </a:p>
              <a:p>
                <a:endParaRPr lang="hu-HU" sz="2100" b="1" dirty="0">
                  <a:latin typeface="Arial Black" pitchFamily="34" charset="0"/>
                </a:endParaRPr>
              </a:p>
            </p:txBody>
          </p:sp>
        </mc:Choice>
        <mc:Fallback xmlns="">
          <p:sp>
            <p:nvSpPr>
              <p:cNvPr id="5" name="Tartalom helye 2">
                <a:extLst>
                  <a:ext uri="{FF2B5EF4-FFF2-40B4-BE49-F238E27FC236}">
                    <a16:creationId xmlns:a16="http://schemas.microsoft.com/office/drawing/2014/main" id="{0564797A-E032-30F6-E6F9-129D020CADEF}"/>
                  </a:ext>
                </a:extLst>
              </p:cNvPr>
              <p:cNvSpPr txBox="1">
                <a:spLocks noRot="1" noChangeAspect="1" noMove="1" noResize="1" noEditPoints="1" noAdjustHandles="1" noChangeArrowheads="1" noChangeShapeType="1" noTextEdit="1"/>
              </p:cNvSpPr>
              <p:nvPr/>
            </p:nvSpPr>
            <p:spPr>
              <a:xfrm>
                <a:off x="475999" y="1655885"/>
                <a:ext cx="7395100" cy="2478793"/>
              </a:xfrm>
              <a:prstGeom prst="rect">
                <a:avLst/>
              </a:prstGeom>
              <a:blipFill>
                <a:blip r:embed="rId2"/>
                <a:stretch>
                  <a:fillRect l="-1649" t="-3202"/>
                </a:stretch>
              </a:blipFill>
            </p:spPr>
            <p:txBody>
              <a:bodyPr/>
              <a:lstStyle/>
              <a:p>
                <a:r>
                  <a:rPr lang="hu-HU">
                    <a:noFill/>
                  </a:rPr>
                  <a:t> </a:t>
                </a:r>
              </a:p>
            </p:txBody>
          </p:sp>
        </mc:Fallback>
      </mc:AlternateContent>
      <p:sp>
        <p:nvSpPr>
          <p:cNvPr id="10" name="Cím 1">
            <a:extLst>
              <a:ext uri="{FF2B5EF4-FFF2-40B4-BE49-F238E27FC236}">
                <a16:creationId xmlns:a16="http://schemas.microsoft.com/office/drawing/2014/main" id="{65C57F22-C1DD-7771-DD1B-C4CC151E4DD1}"/>
              </a:ext>
            </a:extLst>
          </p:cNvPr>
          <p:cNvSpPr txBox="1">
            <a:spLocks/>
          </p:cNvSpPr>
          <p:nvPr/>
        </p:nvSpPr>
        <p:spPr>
          <a:xfrm>
            <a:off x="746387" y="404421"/>
            <a:ext cx="7927316" cy="702136"/>
          </a:xfrm>
          <a:prstGeom prst="rect">
            <a:avLst/>
          </a:prstGeom>
          <a:solidFill>
            <a:srgbClr val="FFC000"/>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hu-HU" sz="4050" dirty="0">
                <a:latin typeface="Cambria" panose="02040503050406030204" pitchFamily="18" charset="0"/>
                <a:ea typeface="Cambria" panose="02040503050406030204" pitchFamily="18" charset="0"/>
              </a:rPr>
              <a:t>Egy évnél rövidebb kamatperiódus</a:t>
            </a:r>
          </a:p>
        </p:txBody>
      </p:sp>
    </p:spTree>
    <p:extLst>
      <p:ext uri="{BB962C8B-B14F-4D97-AF65-F5344CB8AC3E}">
        <p14:creationId xmlns:p14="http://schemas.microsoft.com/office/powerpoint/2010/main" val="55433584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C281B-2AEC-5788-6A19-FE211ADBDD22}"/>
            </a:ext>
          </a:extLst>
        </p:cNvPr>
        <p:cNvGrpSpPr/>
        <p:nvPr/>
      </p:nvGrpSpPr>
      <p:grpSpPr>
        <a:xfrm>
          <a:off x="0" y="0"/>
          <a:ext cx="0" cy="0"/>
          <a:chOff x="0" y="0"/>
          <a:chExt cx="0" cy="0"/>
        </a:xfrm>
      </p:grpSpPr>
      <p:sp>
        <p:nvSpPr>
          <p:cNvPr id="5" name="Tartalom helye 2">
            <a:extLst>
              <a:ext uri="{FF2B5EF4-FFF2-40B4-BE49-F238E27FC236}">
                <a16:creationId xmlns:a16="http://schemas.microsoft.com/office/drawing/2014/main" id="{7C650B9B-4605-E194-F8F9-89E84522E5C4}"/>
              </a:ext>
            </a:extLst>
          </p:cNvPr>
          <p:cNvSpPr txBox="1">
            <a:spLocks/>
          </p:cNvSpPr>
          <p:nvPr/>
        </p:nvSpPr>
        <p:spPr>
          <a:xfrm>
            <a:off x="378619" y="1720492"/>
            <a:ext cx="8608627" cy="170251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100" dirty="0">
                <a:latin typeface="Cambria" panose="02040503050406030204" pitchFamily="18" charset="0"/>
                <a:ea typeface="Cambria" panose="02040503050406030204" pitchFamily="18" charset="0"/>
                <a:cs typeface="Times New Roman" panose="02020603050405020304" pitchFamily="18" charset="0"/>
              </a:rPr>
              <a:t>20 000 000 FT-OS MEGTAKARÍTÁSÁT BANKBAN AKARJA ELHELYEZNI. </a:t>
            </a:r>
            <a:r>
              <a:rPr lang="hu-HU" sz="2100" b="1" i="1" dirty="0">
                <a:solidFill>
                  <a:srgbClr val="C00000"/>
                </a:solidFill>
                <a:latin typeface="Cambria" panose="02040503050406030204" pitchFamily="18" charset="0"/>
                <a:ea typeface="Cambria" panose="02040503050406030204" pitchFamily="18" charset="0"/>
                <a:cs typeface="Times New Roman" panose="02020603050405020304" pitchFamily="18" charset="0"/>
              </a:rPr>
              <a:t>BETÉTI KAMAT ÉVI 2%, </a:t>
            </a:r>
            <a:r>
              <a:rPr lang="hu-HU" sz="2100" dirty="0">
                <a:latin typeface="Cambria" panose="02040503050406030204" pitchFamily="18" charset="0"/>
                <a:ea typeface="Cambria" panose="02040503050406030204" pitchFamily="18" charset="0"/>
                <a:cs typeface="Times New Roman" panose="02020603050405020304" pitchFamily="18" charset="0"/>
              </a:rPr>
              <a:t>LEKÖTÉSI IDŐ 18 HÓNAP.</a:t>
            </a:r>
          </a:p>
          <a:p>
            <a:r>
              <a:rPr lang="hu-HU" sz="2100" dirty="0">
                <a:latin typeface="Cambria" panose="02040503050406030204" pitchFamily="18" charset="0"/>
                <a:ea typeface="Cambria" panose="02040503050406030204" pitchFamily="18" charset="0"/>
                <a:cs typeface="Times New Roman" panose="02020603050405020304" pitchFamily="18" charset="0"/>
              </a:rPr>
              <a:t>KAMATOS KAMATOZÁS, NEGYEDÉVENTE TÖRTÉNIK JÓVÁÍRÁS.</a:t>
            </a:r>
          </a:p>
          <a:p>
            <a:r>
              <a:rPr lang="hu-HU" sz="2100" dirty="0">
                <a:latin typeface="Cambria" panose="02040503050406030204" pitchFamily="18" charset="0"/>
                <a:ea typeface="Cambria" panose="02040503050406030204" pitchFamily="18" charset="0"/>
                <a:cs typeface="Times New Roman" panose="02020603050405020304" pitchFamily="18" charset="0"/>
              </a:rPr>
              <a:t>HÁNY FORINTOT VEHET FEL 18 HÓNAP MÚLVA?</a:t>
            </a:r>
          </a:p>
          <a:p>
            <a:pPr marL="0" indent="0">
              <a:buNone/>
            </a:pPr>
            <a:endParaRPr lang="hu-HU" sz="21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520886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37BC-73C4-9BC1-B410-1451892A01C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artalom helye 2">
                <a:extLst>
                  <a:ext uri="{FF2B5EF4-FFF2-40B4-BE49-F238E27FC236}">
                    <a16:creationId xmlns:a16="http://schemas.microsoft.com/office/drawing/2014/main" id="{C3AF4B01-A647-719C-28D4-9A2CAEB4D900}"/>
                  </a:ext>
                </a:extLst>
              </p:cNvPr>
              <p:cNvSpPr txBox="1">
                <a:spLocks/>
              </p:cNvSpPr>
              <p:nvPr/>
            </p:nvSpPr>
            <p:spPr>
              <a:xfrm>
                <a:off x="418376" y="1539103"/>
                <a:ext cx="8811087" cy="28206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400" dirty="0">
                    <a:latin typeface="Cambria" panose="02040503050406030204" pitchFamily="18" charset="0"/>
                    <a:ea typeface="Cambria" panose="02040503050406030204" pitchFamily="18" charset="0"/>
                    <a:cs typeface="Aharoni" panose="02010803020104030203" pitchFamily="2" charset="-79"/>
                  </a:rPr>
                  <a:t>FV=</a:t>
                </a:r>
                <a:r>
                  <a:rPr lang="hu-HU" sz="2400" dirty="0">
                    <a:ea typeface="Cambria" panose="02040503050406030204" pitchFamily="18" charset="0"/>
                  </a:rPr>
                  <a:t> PV</a:t>
                </a:r>
                <a:r>
                  <a:rPr lang="hu-HU" sz="2400" dirty="0">
                    <a:latin typeface="Cambria" panose="02040503050406030204" pitchFamily="18" charset="0"/>
                    <a:ea typeface="Cambria" panose="02040503050406030204" pitchFamily="18" charset="0"/>
                    <a:cs typeface="Aharoni" panose="02010803020104030203" pitchFamily="2" charset="-79"/>
                  </a:rPr>
                  <a:t>*(1+</a:t>
                </a:r>
                <a14:m>
                  <m:oMath xmlns:m="http://schemas.openxmlformats.org/officeDocument/2006/math">
                    <m:sSup>
                      <m:sSupPr>
                        <m:ctrlPr>
                          <a:rPr lang="hu-HU" sz="2400" i="1">
                            <a:latin typeface="Cambria Math" panose="02040503050406030204" pitchFamily="18" charset="0"/>
                          </a:rPr>
                        </m:ctrlPr>
                      </m:sSupPr>
                      <m:e>
                        <m:f>
                          <m:fPr>
                            <m:ctrlPr>
                              <a:rPr lang="hu-HU" sz="2400" i="1">
                                <a:latin typeface="Cambria Math" panose="02040503050406030204" pitchFamily="18" charset="0"/>
                              </a:rPr>
                            </m:ctrlPr>
                          </m:fPr>
                          <m:num>
                            <m:r>
                              <m:rPr>
                                <m:sty m:val="p"/>
                              </m:rPr>
                              <a:rPr lang="hu-HU" sz="2400" i="1">
                                <a:latin typeface="Cambria Math" panose="02040503050406030204" pitchFamily="18" charset="0"/>
                              </a:rPr>
                              <m:t>r</m:t>
                            </m:r>
                          </m:num>
                          <m:den>
                            <m:r>
                              <m:rPr>
                                <m:sty m:val="p"/>
                              </m:rPr>
                              <a:rPr lang="hu-HU" sz="2400" i="1">
                                <a:latin typeface="Cambria Math" panose="02040503050406030204" pitchFamily="18" charset="0"/>
                              </a:rPr>
                              <m:t>m</m:t>
                            </m:r>
                          </m:den>
                        </m:f>
                        <m:r>
                          <a:rPr lang="hu-HU" sz="2400">
                            <a:latin typeface="Cambria Math" panose="02040503050406030204" pitchFamily="18" charset="0"/>
                          </a:rPr>
                          <m:t>)</m:t>
                        </m:r>
                      </m:e>
                      <m:sup>
                        <m:r>
                          <m:rPr>
                            <m:sty m:val="p"/>
                          </m:rPr>
                          <a:rPr lang="hu-HU" sz="2400" i="1">
                            <a:latin typeface="Cambria Math" panose="02040503050406030204" pitchFamily="18" charset="0"/>
                          </a:rPr>
                          <m:t>m</m:t>
                        </m:r>
                        <m:r>
                          <a:rPr lang="hu-HU" sz="2400" i="1">
                            <a:latin typeface="Cambria Math" panose="02040503050406030204" pitchFamily="18" charset="0"/>
                          </a:rPr>
                          <m:t>∗</m:t>
                        </m:r>
                        <m:r>
                          <a:rPr lang="hu-HU" sz="2400" b="0" i="1" smtClean="0">
                            <a:latin typeface="Cambria Math" panose="02040503050406030204" pitchFamily="18" charset="0"/>
                          </a:rPr>
                          <m:t>𝑡</m:t>
                        </m:r>
                      </m:sup>
                    </m:sSup>
                  </m:oMath>
                </a14:m>
                <a:endParaRPr lang="hu-HU" sz="2100" dirty="0">
                  <a:latin typeface="Cambria" panose="02040503050406030204" pitchFamily="18" charset="0"/>
                  <a:ea typeface="Cambria" panose="02040503050406030204" pitchFamily="18" charset="0"/>
                </a:endParaRPr>
              </a:p>
              <a:p>
                <a:r>
                  <a:rPr lang="hu-HU" sz="1800" dirty="0">
                    <a:latin typeface="Cambria" panose="02040503050406030204" pitchFamily="18" charset="0"/>
                    <a:ea typeface="Cambria" panose="02040503050406030204" pitchFamily="18" charset="0"/>
                  </a:rPr>
                  <a:t>FV=20 000 000*(</a:t>
                </a:r>
                <a14:m>
                  <m:oMath xmlns:m="http://schemas.openxmlformats.org/officeDocument/2006/math">
                    <m:sSup>
                      <m:sSupPr>
                        <m:ctrlPr>
                          <a:rPr lang="hu-HU" sz="1800" i="1">
                            <a:latin typeface="Cambria Math" panose="02040503050406030204" pitchFamily="18" charset="0"/>
                          </a:rPr>
                        </m:ctrlPr>
                      </m:sSupPr>
                      <m:e>
                        <m:r>
                          <m:rPr>
                            <m:nor/>
                          </m:rPr>
                          <a:rPr lang="hu-HU" sz="1800" dirty="0">
                            <a:latin typeface="Cambria" panose="02040503050406030204" pitchFamily="18" charset="0"/>
                            <a:ea typeface="Cambria" panose="02040503050406030204" pitchFamily="18" charset="0"/>
                          </a:rPr>
                          <m:t>1+</m:t>
                        </m:r>
                        <m:f>
                          <m:fPr>
                            <m:ctrlPr>
                              <a:rPr lang="hu-HU" sz="1800" i="1">
                                <a:latin typeface="Cambria Math" panose="02040503050406030204" pitchFamily="18" charset="0"/>
                              </a:rPr>
                            </m:ctrlPr>
                          </m:fPr>
                          <m:num>
                            <m:r>
                              <a:rPr lang="hu-HU" sz="1800" i="1">
                                <a:latin typeface="Cambria Math" panose="02040503050406030204" pitchFamily="18" charset="0"/>
                              </a:rPr>
                              <m:t>0,02</m:t>
                            </m:r>
                          </m:num>
                          <m:den>
                            <m:r>
                              <a:rPr lang="hu-HU" sz="1800" i="1">
                                <a:latin typeface="Cambria Math" panose="02040503050406030204" pitchFamily="18" charset="0"/>
                              </a:rPr>
                              <m:t>4</m:t>
                            </m:r>
                          </m:den>
                        </m:f>
                        <m:r>
                          <a:rPr lang="hu-HU" sz="1800" i="1">
                            <a:latin typeface="Cambria Math" panose="02040503050406030204" pitchFamily="18" charset="0"/>
                          </a:rPr>
                          <m:t>)</m:t>
                        </m:r>
                      </m:e>
                      <m:sup>
                        <m:r>
                          <a:rPr lang="hu-HU" sz="1800" i="1">
                            <a:latin typeface="Cambria Math" panose="02040503050406030204" pitchFamily="18" charset="0"/>
                          </a:rPr>
                          <m:t>4∗1,5</m:t>
                        </m:r>
                      </m:sup>
                    </m:sSup>
                  </m:oMath>
                </a14:m>
                <a:r>
                  <a:rPr lang="hu-HU" sz="1800" dirty="0">
                    <a:latin typeface="Cambria" panose="02040503050406030204" pitchFamily="18" charset="0"/>
                    <a:ea typeface="Cambria" panose="02040503050406030204" pitchFamily="18" charset="0"/>
                  </a:rPr>
                  <a:t>=20 000 000*</a:t>
                </a:r>
                <a14:m>
                  <m:oMath xmlns:m="http://schemas.openxmlformats.org/officeDocument/2006/math">
                    <m:sSup>
                      <m:sSupPr>
                        <m:ctrlPr>
                          <a:rPr lang="hu-HU" sz="1800" i="1">
                            <a:latin typeface="Cambria Math" panose="02040503050406030204" pitchFamily="18" charset="0"/>
                          </a:rPr>
                        </m:ctrlPr>
                      </m:sSupPr>
                      <m:e>
                        <m:r>
                          <m:rPr>
                            <m:nor/>
                          </m:rPr>
                          <a:rPr lang="hu-HU" sz="1800" dirty="0">
                            <a:latin typeface="Cambria" panose="02040503050406030204" pitchFamily="18" charset="0"/>
                            <a:ea typeface="Cambria" panose="02040503050406030204" pitchFamily="18" charset="0"/>
                          </a:rPr>
                          <m:t>1,005</m:t>
                        </m:r>
                      </m:e>
                      <m:sup>
                        <m:r>
                          <a:rPr lang="hu-HU" sz="1800" i="1">
                            <a:latin typeface="Cambria Math" panose="02040503050406030204" pitchFamily="18" charset="0"/>
                          </a:rPr>
                          <m:t>6</m:t>
                        </m:r>
                      </m:sup>
                    </m:sSup>
                  </m:oMath>
                </a14:m>
                <a:r>
                  <a:rPr lang="hu-HU" sz="1800" dirty="0">
                    <a:latin typeface="Cambria" panose="02040503050406030204" pitchFamily="18" charset="0"/>
                    <a:ea typeface="Cambria" panose="02040503050406030204" pitchFamily="18" charset="0"/>
                  </a:rPr>
                  <a:t>=</a:t>
                </a:r>
                <a:r>
                  <a:rPr lang="hu-HU" sz="1800" b="1" i="1" dirty="0">
                    <a:latin typeface="Cambria" panose="02040503050406030204" pitchFamily="18" charset="0"/>
                    <a:ea typeface="Cambria" panose="02040503050406030204" pitchFamily="18" charset="0"/>
                  </a:rPr>
                  <a:t>20 607 550 Ft</a:t>
                </a:r>
                <a:endParaRPr lang="hu-HU" sz="2100" b="1" i="1" dirty="0">
                  <a:latin typeface="Cambria" panose="02040503050406030204" pitchFamily="18" charset="0"/>
                  <a:ea typeface="Cambria" panose="02040503050406030204" pitchFamily="18" charset="0"/>
                </a:endParaRPr>
              </a:p>
              <a:p>
                <a14:m>
                  <m:oMath xmlns:m="http://schemas.openxmlformats.org/officeDocument/2006/math">
                    <m:sSup>
                      <m:sSupPr>
                        <m:ctrlPr>
                          <a:rPr lang="hu-HU" sz="2100" i="1">
                            <a:solidFill>
                              <a:srgbClr val="C00000"/>
                            </a:solidFill>
                            <a:latin typeface="Cambria Math" panose="02040503050406030204" pitchFamily="18" charset="0"/>
                            <a:ea typeface="Cambria" panose="02040503050406030204" pitchFamily="18" charset="0"/>
                          </a:rPr>
                        </m:ctrlPr>
                      </m:sSupPr>
                      <m:e>
                        <m:r>
                          <a:rPr lang="hu-HU" sz="2100" i="1">
                            <a:solidFill>
                              <a:srgbClr val="C00000"/>
                            </a:solidFill>
                            <a:latin typeface="Cambria Math" panose="02040503050406030204" pitchFamily="18" charset="0"/>
                            <a:ea typeface="Cambria" panose="02040503050406030204" pitchFamily="18" charset="0"/>
                          </a:rPr>
                          <m:t>𝑟</m:t>
                        </m:r>
                      </m:e>
                      <m:sup>
                        <m:r>
                          <a:rPr lang="hu-HU" sz="2100" i="1">
                            <a:solidFill>
                              <a:srgbClr val="C00000"/>
                            </a:solidFill>
                            <a:latin typeface="Cambria Math" panose="02040503050406030204" pitchFamily="18" charset="0"/>
                            <a:ea typeface="Cambria" panose="02040503050406030204" pitchFamily="18" charset="0"/>
                          </a:rPr>
                          <m:t>∗</m:t>
                        </m:r>
                      </m:sup>
                    </m:sSup>
                  </m:oMath>
                </a14:m>
                <a:r>
                  <a:rPr lang="hu-HU" sz="2100" dirty="0">
                    <a:solidFill>
                      <a:srgbClr val="C00000"/>
                    </a:solidFill>
                    <a:latin typeface="Cambria" panose="02040503050406030204" pitchFamily="18" charset="0"/>
                    <a:ea typeface="Cambria" panose="02040503050406030204" pitchFamily="18" charset="0"/>
                  </a:rPr>
                  <a:t>=0,5%</a:t>
                </a:r>
              </a:p>
              <a:p>
                <a14:m>
                  <m:oMath xmlns:m="http://schemas.openxmlformats.org/officeDocument/2006/math">
                    <m:sSup>
                      <m:sSupPr>
                        <m:ctrlPr>
                          <a:rPr lang="hu-HU" sz="2100" i="1">
                            <a:solidFill>
                              <a:srgbClr val="C00000"/>
                            </a:solidFill>
                            <a:latin typeface="Cambria Math" panose="02040503050406030204" pitchFamily="18" charset="0"/>
                            <a:ea typeface="Cambria" panose="02040503050406030204" pitchFamily="18" charset="0"/>
                          </a:rPr>
                        </m:ctrlPr>
                      </m:sSupPr>
                      <m:e>
                        <m:r>
                          <a:rPr lang="hu-HU" sz="2100" b="0" i="1" smtClean="0">
                            <a:solidFill>
                              <a:srgbClr val="C00000"/>
                            </a:solidFill>
                            <a:latin typeface="Cambria Math" panose="02040503050406030204" pitchFamily="18" charset="0"/>
                            <a:ea typeface="Cambria" panose="02040503050406030204" pitchFamily="18" charset="0"/>
                          </a:rPr>
                          <m:t>𝑡</m:t>
                        </m:r>
                      </m:e>
                      <m:sup>
                        <m:r>
                          <a:rPr lang="hu-HU" sz="2100" i="1">
                            <a:solidFill>
                              <a:srgbClr val="C00000"/>
                            </a:solidFill>
                            <a:latin typeface="Cambria Math" panose="02040503050406030204" pitchFamily="18" charset="0"/>
                            <a:ea typeface="Cambria" panose="02040503050406030204" pitchFamily="18" charset="0"/>
                          </a:rPr>
                          <m:t>∗</m:t>
                        </m:r>
                      </m:sup>
                    </m:sSup>
                  </m:oMath>
                </a14:m>
                <a:r>
                  <a:rPr lang="hu-HU" sz="2100" dirty="0">
                    <a:solidFill>
                      <a:srgbClr val="C00000"/>
                    </a:solidFill>
                    <a:latin typeface="Cambria" panose="02040503050406030204" pitchFamily="18" charset="0"/>
                    <a:ea typeface="Cambria" panose="02040503050406030204" pitchFamily="18" charset="0"/>
                  </a:rPr>
                  <a:t>= 18/3=6</a:t>
                </a:r>
              </a:p>
              <a:p>
                <a:r>
                  <a:rPr lang="hu-HU" sz="2100" dirty="0">
                    <a:latin typeface="Cambria" panose="02040503050406030204" pitchFamily="18" charset="0"/>
                    <a:ea typeface="Cambria" panose="02040503050406030204" pitchFamily="18" charset="0"/>
                  </a:rPr>
                  <a:t>FV= 20 000 000*</a:t>
                </a:r>
                <a14:m>
                  <m:oMath xmlns:m="http://schemas.openxmlformats.org/officeDocument/2006/math">
                    <m:sSup>
                      <m:sSupPr>
                        <m:ctrlPr>
                          <a:rPr lang="hu-HU" sz="2100" i="1">
                            <a:latin typeface="Cambria Math" panose="02040503050406030204" pitchFamily="18" charset="0"/>
                          </a:rPr>
                        </m:ctrlPr>
                      </m:sSupPr>
                      <m:e>
                        <m:r>
                          <m:rPr>
                            <m:nor/>
                          </m:rPr>
                          <a:rPr lang="hu-HU" sz="2100" dirty="0">
                            <a:latin typeface="Cambria" panose="02040503050406030204" pitchFamily="18" charset="0"/>
                            <a:ea typeface="Cambria" panose="02040503050406030204" pitchFamily="18" charset="0"/>
                          </a:rPr>
                          <m:t>1,005</m:t>
                        </m:r>
                      </m:e>
                      <m:sup>
                        <m:r>
                          <a:rPr lang="hu-HU" sz="2100" i="1">
                            <a:latin typeface="Cambria Math" panose="02040503050406030204" pitchFamily="18" charset="0"/>
                          </a:rPr>
                          <m:t>6</m:t>
                        </m:r>
                      </m:sup>
                    </m:sSup>
                  </m:oMath>
                </a14:m>
                <a:r>
                  <a:rPr lang="hu-HU" sz="2100" dirty="0">
                    <a:latin typeface="Cambria" panose="02040503050406030204" pitchFamily="18" charset="0"/>
                    <a:ea typeface="Cambria" panose="02040503050406030204" pitchFamily="18" charset="0"/>
                  </a:rPr>
                  <a:t>=</a:t>
                </a:r>
                <a:r>
                  <a:rPr lang="hu-HU" sz="2400" b="1" i="1" dirty="0">
                    <a:latin typeface="Cambria" panose="02040503050406030204" pitchFamily="18" charset="0"/>
                    <a:ea typeface="Cambria" panose="02040503050406030204" pitchFamily="18" charset="0"/>
                  </a:rPr>
                  <a:t>20 607 550 Ft</a:t>
                </a:r>
                <a:endParaRPr lang="hu-HU" sz="3200" b="1" i="1" dirty="0">
                  <a:latin typeface="Cambria" panose="02040503050406030204" pitchFamily="18" charset="0"/>
                  <a:ea typeface="Cambria" panose="02040503050406030204" pitchFamily="18" charset="0"/>
                </a:endParaRPr>
              </a:p>
              <a:p>
                <a:endParaRPr lang="hu-HU" sz="2100" dirty="0">
                  <a:latin typeface="Cambria" panose="02040503050406030204" pitchFamily="18" charset="0"/>
                  <a:ea typeface="Cambria" panose="02040503050406030204" pitchFamily="18" charset="0"/>
                </a:endParaRPr>
              </a:p>
            </p:txBody>
          </p:sp>
        </mc:Choice>
        <mc:Fallback xmlns="">
          <p:sp>
            <p:nvSpPr>
              <p:cNvPr id="5" name="Tartalom helye 2">
                <a:extLst>
                  <a:ext uri="{FF2B5EF4-FFF2-40B4-BE49-F238E27FC236}">
                    <a16:creationId xmlns:a16="http://schemas.microsoft.com/office/drawing/2014/main" id="{C3AF4B01-A647-719C-28D4-9A2CAEB4D900}"/>
                  </a:ext>
                </a:extLst>
              </p:cNvPr>
              <p:cNvSpPr txBox="1">
                <a:spLocks noRot="1" noChangeAspect="1" noMove="1" noResize="1" noEditPoints="1" noAdjustHandles="1" noChangeArrowheads="1" noChangeShapeType="1" noTextEdit="1"/>
              </p:cNvSpPr>
              <p:nvPr/>
            </p:nvSpPr>
            <p:spPr>
              <a:xfrm>
                <a:off x="418376" y="1539103"/>
                <a:ext cx="8811087" cy="2820668"/>
              </a:xfrm>
              <a:prstGeom prst="rect">
                <a:avLst/>
              </a:prstGeom>
              <a:blipFill>
                <a:blip r:embed="rId2"/>
                <a:stretch>
                  <a:fillRect l="-969" t="-1728"/>
                </a:stretch>
              </a:blipFill>
            </p:spPr>
            <p:txBody>
              <a:bodyPr/>
              <a:lstStyle/>
              <a:p>
                <a:r>
                  <a:rPr lang="hu-HU">
                    <a:noFill/>
                  </a:rPr>
                  <a:t> </a:t>
                </a:r>
              </a:p>
            </p:txBody>
          </p:sp>
        </mc:Fallback>
      </mc:AlternateContent>
      <p:sp>
        <p:nvSpPr>
          <p:cNvPr id="10" name="Cím 1">
            <a:extLst>
              <a:ext uri="{FF2B5EF4-FFF2-40B4-BE49-F238E27FC236}">
                <a16:creationId xmlns:a16="http://schemas.microsoft.com/office/drawing/2014/main" id="{1C063173-D058-EB36-B457-55A6DF274D1A}"/>
              </a:ext>
            </a:extLst>
          </p:cNvPr>
          <p:cNvSpPr txBox="1">
            <a:spLocks/>
          </p:cNvSpPr>
          <p:nvPr/>
        </p:nvSpPr>
        <p:spPr>
          <a:xfrm>
            <a:off x="3128756" y="174220"/>
            <a:ext cx="2589558" cy="779936"/>
          </a:xfrm>
          <a:prstGeom prst="rect">
            <a:avLst/>
          </a:prstGeom>
          <a:solidFill>
            <a:srgbClr val="FFC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4500" dirty="0">
                <a:latin typeface="Cambria" panose="02040503050406030204" pitchFamily="18" charset="0"/>
                <a:ea typeface="Cambria" panose="02040503050406030204" pitchFamily="18" charset="0"/>
              </a:rPr>
              <a:t>Megoldás</a:t>
            </a:r>
          </a:p>
        </p:txBody>
      </p:sp>
    </p:spTree>
    <p:extLst>
      <p:ext uri="{BB962C8B-B14F-4D97-AF65-F5344CB8AC3E}">
        <p14:creationId xmlns:p14="http://schemas.microsoft.com/office/powerpoint/2010/main" val="2541005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2F981-1968-3C31-C376-19B1BFC1477B}"/>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FE6448CD-EB17-AC1D-C6D6-736A7E5B5F2B}"/>
              </a:ext>
            </a:extLst>
          </p:cNvPr>
          <p:cNvSpPr>
            <a:spLocks noGrp="1"/>
          </p:cNvSpPr>
          <p:nvPr>
            <p:ph type="title"/>
          </p:nvPr>
        </p:nvSpPr>
        <p:spPr>
          <a:xfrm>
            <a:off x="0" y="0"/>
            <a:ext cx="9144000" cy="531846"/>
          </a:xfrm>
          <a:solidFill>
            <a:srgbClr val="FFC000"/>
          </a:solidFill>
        </p:spPr>
        <p:txBody>
          <a:bodyPr anchor="ctr" anchorCtr="0"/>
          <a:lstStyle/>
          <a:p>
            <a:r>
              <a:rPr lang="hu-HU" dirty="0"/>
              <a:t>4. feladat</a:t>
            </a:r>
          </a:p>
        </p:txBody>
      </p:sp>
      <p:sp>
        <p:nvSpPr>
          <p:cNvPr id="2" name="TextBox 1">
            <a:extLst>
              <a:ext uri="{FF2B5EF4-FFF2-40B4-BE49-F238E27FC236}">
                <a16:creationId xmlns:a16="http://schemas.microsoft.com/office/drawing/2014/main" id="{732091BF-1591-0A5A-1108-583850664315}"/>
              </a:ext>
            </a:extLst>
          </p:cNvPr>
          <p:cNvSpPr txBox="1"/>
          <p:nvPr/>
        </p:nvSpPr>
        <p:spPr>
          <a:xfrm>
            <a:off x="446049" y="712672"/>
            <a:ext cx="8251902" cy="2134239"/>
          </a:xfrm>
          <a:prstGeom prst="rect">
            <a:avLst/>
          </a:prstGeom>
          <a:noFill/>
        </p:spPr>
        <p:txBody>
          <a:bodyPr wrap="square" rtlCol="0">
            <a:spAutoFit/>
          </a:bodyPr>
          <a:lstStyle/>
          <a:p>
            <a:pPr>
              <a:lnSpc>
                <a:spcPct val="107000"/>
              </a:lnSpc>
              <a:spcAft>
                <a:spcPts val="800"/>
              </a:spcAft>
            </a:pPr>
            <a:r>
              <a:rPr lang="hu-HU" sz="1700" dirty="0">
                <a:solidFill>
                  <a:srgbClr val="002060"/>
                </a:solidFill>
                <a:latin typeface="Cambria" panose="02040503050406030204" pitchFamily="18" charset="0"/>
                <a:ea typeface="Cambria" panose="02040503050406030204" pitchFamily="18" charset="0"/>
                <a:cs typeface="Arial" panose="020B0604020202020204" pitchFamily="34" charset="0"/>
              </a:rPr>
              <a:t>Két éves időtartamra beteszünk a bankba 500 ezer Ft-ot. A bank által meghirdetett évi névleges kamatláb 6 %. </a:t>
            </a:r>
            <a:r>
              <a:rPr lang="hu-HU" sz="1700" dirty="0">
                <a:solidFill>
                  <a:srgbClr val="C00000"/>
                </a:solidFill>
                <a:latin typeface="Cambria" panose="02040503050406030204" pitchFamily="18" charset="0"/>
                <a:ea typeface="Cambria" panose="02040503050406030204" pitchFamily="18" charset="0"/>
                <a:cs typeface="Arial" panose="020B0604020202020204" pitchFamily="34" charset="0"/>
              </a:rPr>
              <a:t>Mekkora összeggel rendelkezünk a második év végén, ha a bank a kamatokat:</a:t>
            </a:r>
          </a:p>
          <a:p>
            <a:pPr marL="342900" lvl="0" indent="-342900">
              <a:lnSpc>
                <a:spcPct val="107000"/>
              </a:lnSpc>
              <a:buFont typeface="Symbol" panose="05050102010706020507" pitchFamily="18" charset="2"/>
              <a:buChar char=""/>
            </a:pPr>
            <a:r>
              <a:rPr lang="hu-HU" sz="1700" dirty="0">
                <a:solidFill>
                  <a:srgbClr val="C00000"/>
                </a:solidFill>
                <a:latin typeface="Cambria" panose="02040503050406030204" pitchFamily="18" charset="0"/>
                <a:ea typeface="Cambria" panose="02040503050406030204" pitchFamily="18" charset="0"/>
                <a:cs typeface="Arial" panose="020B0604020202020204" pitchFamily="34" charset="0"/>
              </a:rPr>
              <a:t>évente</a:t>
            </a:r>
          </a:p>
          <a:p>
            <a:pPr marL="342900" lvl="0" indent="-342900">
              <a:lnSpc>
                <a:spcPct val="107000"/>
              </a:lnSpc>
              <a:buFont typeface="Symbol" panose="05050102010706020507" pitchFamily="18" charset="2"/>
              <a:buChar char=""/>
            </a:pPr>
            <a:r>
              <a:rPr lang="hu-HU" sz="1700" dirty="0">
                <a:solidFill>
                  <a:srgbClr val="C00000"/>
                </a:solidFill>
                <a:latin typeface="Cambria" panose="02040503050406030204" pitchFamily="18" charset="0"/>
                <a:ea typeface="Cambria" panose="02040503050406030204" pitchFamily="18" charset="0"/>
                <a:cs typeface="Arial" panose="020B0604020202020204" pitchFamily="34" charset="0"/>
              </a:rPr>
              <a:t>félévente</a:t>
            </a:r>
          </a:p>
          <a:p>
            <a:pPr marL="342900" lvl="0" indent="-342900">
              <a:lnSpc>
                <a:spcPct val="107000"/>
              </a:lnSpc>
              <a:buFont typeface="Symbol" panose="05050102010706020507" pitchFamily="18" charset="2"/>
              <a:buChar char=""/>
            </a:pPr>
            <a:r>
              <a:rPr lang="hu-HU" sz="1700" dirty="0">
                <a:solidFill>
                  <a:srgbClr val="C00000"/>
                </a:solidFill>
                <a:latin typeface="Cambria" panose="02040503050406030204" pitchFamily="18" charset="0"/>
                <a:ea typeface="Cambria" panose="02040503050406030204" pitchFamily="18" charset="0"/>
                <a:cs typeface="Arial" panose="020B0604020202020204" pitchFamily="34" charset="0"/>
              </a:rPr>
              <a:t>negyedévente</a:t>
            </a:r>
          </a:p>
          <a:p>
            <a:pPr marL="342900" lvl="0" indent="-342900">
              <a:lnSpc>
                <a:spcPct val="107000"/>
              </a:lnSpc>
              <a:spcAft>
                <a:spcPts val="800"/>
              </a:spcAft>
              <a:buFont typeface="Symbol" panose="05050102010706020507" pitchFamily="18" charset="2"/>
              <a:buChar char=""/>
            </a:pPr>
            <a:r>
              <a:rPr lang="hu-HU" sz="1700" dirty="0">
                <a:solidFill>
                  <a:srgbClr val="C00000"/>
                </a:solidFill>
                <a:latin typeface="Cambria" panose="02040503050406030204" pitchFamily="18" charset="0"/>
                <a:ea typeface="Cambria" panose="02040503050406030204" pitchFamily="18" charset="0"/>
                <a:cs typeface="Arial" panose="020B0604020202020204" pitchFamily="34" charset="0"/>
              </a:rPr>
              <a:t>havonta tőkésíti?</a:t>
            </a:r>
          </a:p>
        </p:txBody>
      </p:sp>
      <p:sp>
        <p:nvSpPr>
          <p:cNvPr id="3" name="Szövegdoboz 9">
            <a:extLst>
              <a:ext uri="{FF2B5EF4-FFF2-40B4-BE49-F238E27FC236}">
                <a16:creationId xmlns:a16="http://schemas.microsoft.com/office/drawing/2014/main" id="{391B74A1-4196-6B94-676D-452C70E5EE4F}"/>
              </a:ext>
            </a:extLst>
          </p:cNvPr>
          <p:cNvSpPr txBox="1"/>
          <p:nvPr/>
        </p:nvSpPr>
        <p:spPr>
          <a:xfrm>
            <a:off x="3117402" y="1450893"/>
            <a:ext cx="5580550" cy="369332"/>
          </a:xfrm>
          <a:prstGeom prst="rect">
            <a:avLst/>
          </a:prstGeom>
          <a:noFill/>
        </p:spPr>
        <p:txBody>
          <a:bodyPr wrap="square">
            <a:spAutoFit/>
          </a:bodyPr>
          <a:lstStyle/>
          <a:p>
            <a:r>
              <a:rPr lang="hu-HU" sz="1800" dirty="0">
                <a:solidFill>
                  <a:srgbClr val="4472C4"/>
                </a:solidFill>
                <a:effectLst/>
                <a:latin typeface="Times New Roman" panose="02020603050405020304" pitchFamily="18" charset="0"/>
                <a:ea typeface="Calibri" panose="020F0502020204030204" pitchFamily="34" charset="0"/>
                <a:cs typeface="Arial" panose="020B0604020202020204" pitchFamily="34" charset="0"/>
              </a:rPr>
              <a:t> PV = 500 000 Ft   </a:t>
            </a:r>
            <a:r>
              <a:rPr lang="hu-HU" sz="1800" dirty="0" err="1">
                <a:solidFill>
                  <a:srgbClr val="4472C4"/>
                </a:solidFill>
                <a:effectLst/>
                <a:latin typeface="Times New Roman" panose="02020603050405020304" pitchFamily="18" charset="0"/>
                <a:ea typeface="Calibri" panose="020F0502020204030204" pitchFamily="34" charset="0"/>
                <a:cs typeface="Arial" panose="020B0604020202020204" pitchFamily="34" charset="0"/>
              </a:rPr>
              <a:t>r</a:t>
            </a:r>
            <a:r>
              <a:rPr lang="hu-HU" sz="1800" baseline="-25000" dirty="0" err="1">
                <a:solidFill>
                  <a:srgbClr val="4472C4"/>
                </a:solidFill>
                <a:effectLst/>
                <a:latin typeface="Times New Roman" panose="02020603050405020304" pitchFamily="18" charset="0"/>
                <a:ea typeface="Calibri" panose="020F0502020204030204" pitchFamily="34" charset="0"/>
                <a:cs typeface="Arial" panose="020B0604020202020204" pitchFamily="34" charset="0"/>
              </a:rPr>
              <a:t>n</a:t>
            </a:r>
            <a:r>
              <a:rPr lang="hu-HU" sz="1800" dirty="0">
                <a:solidFill>
                  <a:srgbClr val="4472C4"/>
                </a:solidFill>
                <a:effectLst/>
                <a:latin typeface="Times New Roman" panose="02020603050405020304" pitchFamily="18" charset="0"/>
                <a:ea typeface="Calibri" panose="020F0502020204030204" pitchFamily="34" charset="0"/>
                <a:cs typeface="Arial" panose="020B0604020202020204" pitchFamily="34" charset="0"/>
              </a:rPr>
              <a:t>= 6%   t = 2 év</a:t>
            </a:r>
            <a:endParaRPr lang="hu-HU" dirty="0"/>
          </a:p>
        </p:txBody>
      </p:sp>
      <mc:AlternateContent xmlns:mc="http://schemas.openxmlformats.org/markup-compatibility/2006" xmlns:a14="http://schemas.microsoft.com/office/drawing/2010/main">
        <mc:Choice Requires="a14">
          <p:sp>
            <p:nvSpPr>
              <p:cNvPr id="4" name="Szövegdoboz 11">
                <a:extLst>
                  <a:ext uri="{FF2B5EF4-FFF2-40B4-BE49-F238E27FC236}">
                    <a16:creationId xmlns:a16="http://schemas.microsoft.com/office/drawing/2014/main" id="{B1BD97C7-309B-4916-61ED-A3F8E6473A17}"/>
                  </a:ext>
                </a:extLst>
              </p:cNvPr>
              <p:cNvSpPr txBox="1"/>
              <p:nvPr/>
            </p:nvSpPr>
            <p:spPr>
              <a:xfrm>
                <a:off x="2735310" y="1953329"/>
                <a:ext cx="4745231" cy="378565"/>
              </a:xfrm>
              <a:prstGeom prst="rect">
                <a:avLst/>
              </a:prstGeom>
              <a:noFill/>
            </p:spPr>
            <p:txBody>
              <a:bodyPr wrap="square">
                <a:spAutoFit/>
              </a:bodyPr>
              <a:lstStyle/>
              <a:p>
                <a:pPr marL="457200">
                  <a:lnSpc>
                    <a:spcPct val="107000"/>
                  </a:lnSpc>
                  <a:spcAft>
                    <a:spcPts val="800"/>
                  </a:spcAft>
                </a:pPr>
                <a:r>
                  <a:rPr lang="hu-HU" sz="1800" b="1" i="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Évente: </a:t>
                </a:r>
                <a14:m>
                  <m:oMath xmlns:m="http://schemas.openxmlformats.org/officeDocument/2006/math">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𝑭𝑽</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𝟓𝟎𝟎</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 </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𝟎𝟎𝟎</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𝟏</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𝟎</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m:t>
                            </m:r>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𝟎𝟔</m:t>
                            </m:r>
                          </m:e>
                        </m:d>
                      </m:e>
                      <m:sup>
                        <m:r>
                          <a:rPr lang="hu-HU" sz="1800" b="1" i="1">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𝟐</m:t>
                        </m:r>
                      </m:sup>
                    </m:sSup>
                  </m:oMath>
                </a14:m>
                <a:endParaRPr lang="hu-HU" sz="1600" b="1"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4" name="Szövegdoboz 11">
                <a:extLst>
                  <a:ext uri="{FF2B5EF4-FFF2-40B4-BE49-F238E27FC236}">
                    <a16:creationId xmlns:a16="http://schemas.microsoft.com/office/drawing/2014/main" id="{B1BD97C7-309B-4916-61ED-A3F8E6473A17}"/>
                  </a:ext>
                </a:extLst>
              </p:cNvPr>
              <p:cNvSpPr txBox="1">
                <a:spLocks noRot="1" noChangeAspect="1" noMove="1" noResize="1" noEditPoints="1" noAdjustHandles="1" noChangeArrowheads="1" noChangeShapeType="1" noTextEdit="1"/>
              </p:cNvSpPr>
              <p:nvPr/>
            </p:nvSpPr>
            <p:spPr>
              <a:xfrm>
                <a:off x="2735310" y="1953329"/>
                <a:ext cx="4745231" cy="378565"/>
              </a:xfrm>
              <a:prstGeom prst="rect">
                <a:avLst/>
              </a:prstGeom>
              <a:blipFill>
                <a:blip r:embed="rId2"/>
                <a:stretch>
                  <a:fillRect t="-6349" b="-22222"/>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5" name="Szövegdoboz 15">
                <a:extLst>
                  <a:ext uri="{FF2B5EF4-FFF2-40B4-BE49-F238E27FC236}">
                    <a16:creationId xmlns:a16="http://schemas.microsoft.com/office/drawing/2014/main" id="{D3AF5951-7EC9-4834-F510-F0A4C9F8B0EC}"/>
                  </a:ext>
                </a:extLst>
              </p:cNvPr>
              <p:cNvSpPr txBox="1"/>
              <p:nvPr/>
            </p:nvSpPr>
            <p:spPr>
              <a:xfrm>
                <a:off x="3952720" y="2327021"/>
                <a:ext cx="474523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hu-HU" sz="1600" b="1" i="1" smtClean="0">
                          <a:solidFill>
                            <a:srgbClr val="0070C0"/>
                          </a:solidFill>
                          <a:latin typeface="Cambria Math" panose="02040503050406030204" pitchFamily="18" charset="0"/>
                        </a:rPr>
                        <m:t>𝑭𝑽</m:t>
                      </m:r>
                      <m:r>
                        <a:rPr lang="hu-HU" sz="1600" b="1" i="0">
                          <a:solidFill>
                            <a:srgbClr val="0070C0"/>
                          </a:solidFill>
                          <a:latin typeface="Cambria Math" panose="02040503050406030204" pitchFamily="18" charset="0"/>
                        </a:rPr>
                        <m:t>=</m:t>
                      </m:r>
                      <m:r>
                        <a:rPr lang="hu-HU" sz="1600" b="1" i="0">
                          <a:solidFill>
                            <a:srgbClr val="0070C0"/>
                          </a:solidFill>
                          <a:latin typeface="Cambria Math" panose="02040503050406030204" pitchFamily="18" charset="0"/>
                        </a:rPr>
                        <m:t>𝟓𝟎𝟎</m:t>
                      </m:r>
                      <m:r>
                        <a:rPr lang="hu-HU" sz="1600" b="1" i="0">
                          <a:solidFill>
                            <a:srgbClr val="0070C0"/>
                          </a:solidFill>
                          <a:latin typeface="Cambria Math" panose="02040503050406030204" pitchFamily="18" charset="0"/>
                        </a:rPr>
                        <m:t> </m:t>
                      </m:r>
                      <m:r>
                        <a:rPr lang="hu-HU" sz="1600" b="1" i="0">
                          <a:solidFill>
                            <a:srgbClr val="0070C0"/>
                          </a:solidFill>
                          <a:latin typeface="Cambria Math" panose="02040503050406030204" pitchFamily="18" charset="0"/>
                        </a:rPr>
                        <m:t>𝟎𝟎𝟎</m:t>
                      </m:r>
                      <m:r>
                        <a:rPr lang="hu-HU" sz="1600" b="1" i="0">
                          <a:solidFill>
                            <a:srgbClr val="0070C0"/>
                          </a:solidFill>
                          <a:latin typeface="Cambria Math" panose="02040503050406030204" pitchFamily="18" charset="0"/>
                        </a:rPr>
                        <m:t>∙</m:t>
                      </m:r>
                      <m:r>
                        <a:rPr lang="hu-HU" sz="1600" b="1" i="0">
                          <a:solidFill>
                            <a:srgbClr val="0070C0"/>
                          </a:solidFill>
                          <a:latin typeface="Cambria Math" panose="02040503050406030204" pitchFamily="18" charset="0"/>
                        </a:rPr>
                        <m:t>𝟏</m:t>
                      </m:r>
                      <m:r>
                        <a:rPr lang="hu-HU" sz="1600" b="1" i="0">
                          <a:solidFill>
                            <a:srgbClr val="0070C0"/>
                          </a:solidFill>
                          <a:latin typeface="Cambria Math" panose="02040503050406030204" pitchFamily="18" charset="0"/>
                        </a:rPr>
                        <m:t>,</m:t>
                      </m:r>
                      <m:r>
                        <a:rPr lang="hu-HU" sz="1600" b="1" i="0">
                          <a:solidFill>
                            <a:srgbClr val="0070C0"/>
                          </a:solidFill>
                          <a:latin typeface="Cambria Math" panose="02040503050406030204" pitchFamily="18" charset="0"/>
                        </a:rPr>
                        <m:t>𝟏𝟐𝟑𝟔</m:t>
                      </m:r>
                      <m:r>
                        <a:rPr lang="hu-HU" sz="1600" b="1" i="0">
                          <a:solidFill>
                            <a:srgbClr val="0070C0"/>
                          </a:solidFill>
                          <a:latin typeface="Cambria Math" panose="02040503050406030204" pitchFamily="18" charset="0"/>
                        </a:rPr>
                        <m:t>=</m:t>
                      </m:r>
                      <m:r>
                        <a:rPr lang="hu-HU" sz="1600" b="1" i="0">
                          <a:solidFill>
                            <a:srgbClr val="0070C0"/>
                          </a:solidFill>
                          <a:latin typeface="Cambria Math" panose="02040503050406030204" pitchFamily="18" charset="0"/>
                        </a:rPr>
                        <m:t>𝟓𝟔𝟏</m:t>
                      </m:r>
                      <m:r>
                        <a:rPr lang="hu-HU" sz="1600" b="1" i="0" smtClean="0">
                          <a:solidFill>
                            <a:srgbClr val="0070C0"/>
                          </a:solidFill>
                          <a:latin typeface="Cambria Math" panose="02040503050406030204" pitchFamily="18" charset="0"/>
                        </a:rPr>
                        <m:t> </m:t>
                      </m:r>
                      <m:r>
                        <a:rPr lang="hu-HU" sz="1600" b="1" i="0">
                          <a:solidFill>
                            <a:srgbClr val="0070C0"/>
                          </a:solidFill>
                          <a:latin typeface="Cambria Math" panose="02040503050406030204" pitchFamily="18" charset="0"/>
                        </a:rPr>
                        <m:t>𝟖𝟎𝟎</m:t>
                      </m:r>
                      <m:r>
                        <a:rPr lang="hu-HU" sz="1600" b="1" i="0">
                          <a:solidFill>
                            <a:srgbClr val="0070C0"/>
                          </a:solidFill>
                          <a:latin typeface="Cambria Math" panose="02040503050406030204" pitchFamily="18" charset="0"/>
                        </a:rPr>
                        <m:t> </m:t>
                      </m:r>
                      <m:r>
                        <a:rPr lang="hu-HU" sz="1600" b="1" i="0">
                          <a:solidFill>
                            <a:srgbClr val="0070C0"/>
                          </a:solidFill>
                          <a:latin typeface="Cambria Math" panose="02040503050406030204" pitchFamily="18" charset="0"/>
                        </a:rPr>
                        <m:t>𝐅𝐭</m:t>
                      </m:r>
                    </m:oMath>
                  </m:oMathPara>
                </a14:m>
                <a:endParaRPr lang="hu-HU" b="1" dirty="0">
                  <a:solidFill>
                    <a:srgbClr val="0070C0"/>
                  </a:solidFill>
                </a:endParaRPr>
              </a:p>
            </p:txBody>
          </p:sp>
        </mc:Choice>
        <mc:Fallback xmlns="">
          <p:sp>
            <p:nvSpPr>
              <p:cNvPr id="5" name="Szövegdoboz 15">
                <a:extLst>
                  <a:ext uri="{FF2B5EF4-FFF2-40B4-BE49-F238E27FC236}">
                    <a16:creationId xmlns:a16="http://schemas.microsoft.com/office/drawing/2014/main" id="{D3AF5951-7EC9-4834-F510-F0A4C9F8B0EC}"/>
                  </a:ext>
                </a:extLst>
              </p:cNvPr>
              <p:cNvSpPr txBox="1">
                <a:spLocks noRot="1" noChangeAspect="1" noMove="1" noResize="1" noEditPoints="1" noAdjustHandles="1" noChangeArrowheads="1" noChangeShapeType="1" noTextEdit="1"/>
              </p:cNvSpPr>
              <p:nvPr/>
            </p:nvSpPr>
            <p:spPr>
              <a:xfrm>
                <a:off x="3952720" y="2327021"/>
                <a:ext cx="4745231" cy="338554"/>
              </a:xfrm>
              <a:prstGeom prst="rect">
                <a:avLst/>
              </a:prstGeom>
              <a:blipFill>
                <a:blip r:embed="rId3"/>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6" name="Szövegdoboz 17">
                <a:extLst>
                  <a:ext uri="{FF2B5EF4-FFF2-40B4-BE49-F238E27FC236}">
                    <a16:creationId xmlns:a16="http://schemas.microsoft.com/office/drawing/2014/main" id="{8F32ECC3-8CDF-01CE-14C1-883698EB06BE}"/>
                  </a:ext>
                </a:extLst>
              </p:cNvPr>
              <p:cNvSpPr txBox="1"/>
              <p:nvPr/>
            </p:nvSpPr>
            <p:spPr>
              <a:xfrm>
                <a:off x="3208015" y="2732712"/>
                <a:ext cx="2125985" cy="573362"/>
              </a:xfrm>
              <a:prstGeom prst="rect">
                <a:avLst/>
              </a:prstGeom>
              <a:solidFill>
                <a:srgbClr val="FFC000"/>
              </a:solid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hu-HU" sz="1600" smtClean="0">
                          <a:solidFill>
                            <a:schemeClr val="tx1"/>
                          </a:solidFill>
                          <a:latin typeface="Cambria Math" panose="02040503050406030204" pitchFamily="18" charset="0"/>
                        </a:rPr>
                        <m:t>F</m:t>
                      </m:r>
                      <m:r>
                        <m:rPr>
                          <m:sty m:val="p"/>
                        </m:rPr>
                        <a:rPr lang="hu-HU" sz="1600" i="0">
                          <a:solidFill>
                            <a:schemeClr val="tx1"/>
                          </a:solidFill>
                          <a:latin typeface="Cambria Math" panose="02040503050406030204" pitchFamily="18" charset="0"/>
                        </a:rPr>
                        <m:t>V</m:t>
                      </m:r>
                      <m:r>
                        <a:rPr lang="hu-HU" sz="1600" i="0">
                          <a:solidFill>
                            <a:schemeClr val="tx1"/>
                          </a:solidFill>
                          <a:latin typeface="Cambria Math" panose="02040503050406030204" pitchFamily="18" charset="0"/>
                        </a:rPr>
                        <m:t>=</m:t>
                      </m:r>
                      <m:r>
                        <m:rPr>
                          <m:sty m:val="p"/>
                        </m:rPr>
                        <a:rPr lang="hu-HU" sz="1600" i="0">
                          <a:solidFill>
                            <a:schemeClr val="tx1"/>
                          </a:solidFill>
                          <a:latin typeface="Cambria Math" panose="02040503050406030204" pitchFamily="18" charset="0"/>
                        </a:rPr>
                        <m:t>PV</m:t>
                      </m:r>
                      <m:r>
                        <a:rPr lang="hu-HU" sz="1600" i="0">
                          <a:solidFill>
                            <a:schemeClr val="tx1"/>
                          </a:solidFill>
                          <a:latin typeface="Cambria Math" panose="02040503050406030204" pitchFamily="18" charset="0"/>
                        </a:rPr>
                        <m:t>∙</m:t>
                      </m:r>
                      <m:sSup>
                        <m:sSupPr>
                          <m:ctrlPr>
                            <a:rPr lang="hu-HU" sz="1600" i="1">
                              <a:solidFill>
                                <a:schemeClr val="tx1"/>
                              </a:solidFill>
                              <a:latin typeface="Cambria Math" panose="02040503050406030204" pitchFamily="18" charset="0"/>
                            </a:rPr>
                          </m:ctrlPr>
                        </m:sSupPr>
                        <m:e>
                          <m:d>
                            <m:dPr>
                              <m:ctrlPr>
                                <a:rPr lang="hu-HU" sz="1600" i="1">
                                  <a:solidFill>
                                    <a:schemeClr val="tx1"/>
                                  </a:solidFill>
                                  <a:latin typeface="Cambria Math" panose="02040503050406030204" pitchFamily="18" charset="0"/>
                                </a:rPr>
                              </m:ctrlPr>
                            </m:dPr>
                            <m:e>
                              <m:r>
                                <a:rPr lang="hu-HU" sz="1600" i="0">
                                  <a:solidFill>
                                    <a:schemeClr val="tx1"/>
                                  </a:solidFill>
                                  <a:latin typeface="Cambria Math" panose="02040503050406030204" pitchFamily="18" charset="0"/>
                                </a:rPr>
                                <m:t>1+</m:t>
                              </m:r>
                              <m:f>
                                <m:fPr>
                                  <m:ctrlPr>
                                    <a:rPr lang="hu-HU" sz="1600" i="1">
                                      <a:solidFill>
                                        <a:schemeClr val="tx1"/>
                                      </a:solidFill>
                                      <a:latin typeface="Cambria Math" panose="02040503050406030204" pitchFamily="18" charset="0"/>
                                    </a:rPr>
                                  </m:ctrlPr>
                                </m:fPr>
                                <m:num>
                                  <m:sSub>
                                    <m:sSubPr>
                                      <m:ctrlPr>
                                        <a:rPr lang="hu-HU" sz="1600" i="1">
                                          <a:solidFill>
                                            <a:schemeClr val="tx1"/>
                                          </a:solidFill>
                                          <a:latin typeface="Cambria Math" panose="02040503050406030204" pitchFamily="18" charset="0"/>
                                        </a:rPr>
                                      </m:ctrlPr>
                                    </m:sSubPr>
                                    <m:e>
                                      <m:r>
                                        <m:rPr>
                                          <m:sty m:val="p"/>
                                        </m:rPr>
                                        <a:rPr lang="hu-HU" sz="1600" i="0">
                                          <a:solidFill>
                                            <a:schemeClr val="tx1"/>
                                          </a:solidFill>
                                          <a:latin typeface="Cambria Math" panose="02040503050406030204" pitchFamily="18" charset="0"/>
                                        </a:rPr>
                                        <m:t>r</m:t>
                                      </m:r>
                                    </m:e>
                                    <m:sub>
                                      <m:r>
                                        <m:rPr>
                                          <m:sty m:val="p"/>
                                        </m:rPr>
                                        <a:rPr lang="hu-HU" sz="1600" i="0">
                                          <a:solidFill>
                                            <a:schemeClr val="tx1"/>
                                          </a:solidFill>
                                          <a:latin typeface="Cambria Math" panose="02040503050406030204" pitchFamily="18" charset="0"/>
                                        </a:rPr>
                                        <m:t>n</m:t>
                                      </m:r>
                                    </m:sub>
                                  </m:sSub>
                                </m:num>
                                <m:den>
                                  <m:r>
                                    <m:rPr>
                                      <m:sty m:val="p"/>
                                    </m:rPr>
                                    <a:rPr lang="hu-HU" sz="1600" i="0">
                                      <a:solidFill>
                                        <a:schemeClr val="tx1"/>
                                      </a:solidFill>
                                      <a:latin typeface="Cambria Math" panose="02040503050406030204" pitchFamily="18" charset="0"/>
                                    </a:rPr>
                                    <m:t>m</m:t>
                                  </m:r>
                                </m:den>
                              </m:f>
                            </m:e>
                          </m:d>
                        </m:e>
                        <m:sup>
                          <m:r>
                            <m:rPr>
                              <m:sty m:val="p"/>
                            </m:rPr>
                            <a:rPr lang="hu-HU" sz="1600" b="0" i="0" smtClean="0">
                              <a:solidFill>
                                <a:schemeClr val="tx1"/>
                              </a:solidFill>
                              <a:latin typeface="Cambria Math" panose="02040503050406030204" pitchFamily="18" charset="0"/>
                            </a:rPr>
                            <m:t>t</m:t>
                          </m:r>
                          <m:r>
                            <a:rPr lang="hu-HU" sz="1600" i="0">
                              <a:solidFill>
                                <a:schemeClr val="tx1"/>
                              </a:solidFill>
                              <a:latin typeface="Cambria Math" panose="02040503050406030204" pitchFamily="18" charset="0"/>
                            </a:rPr>
                            <m:t>∙</m:t>
                          </m:r>
                          <m:r>
                            <m:rPr>
                              <m:sty m:val="p"/>
                            </m:rPr>
                            <a:rPr lang="hu-HU" sz="1600" i="0">
                              <a:solidFill>
                                <a:schemeClr val="tx1"/>
                              </a:solidFill>
                              <a:latin typeface="Cambria Math" panose="02040503050406030204" pitchFamily="18" charset="0"/>
                            </a:rPr>
                            <m:t>m</m:t>
                          </m:r>
                        </m:sup>
                      </m:sSup>
                    </m:oMath>
                  </m:oMathPara>
                </a14:m>
                <a:endParaRPr lang="hu-HU" dirty="0">
                  <a:solidFill>
                    <a:schemeClr val="tx1"/>
                  </a:solidFill>
                </a:endParaRPr>
              </a:p>
            </p:txBody>
          </p:sp>
        </mc:Choice>
        <mc:Fallback xmlns="">
          <p:sp>
            <p:nvSpPr>
              <p:cNvPr id="6" name="Szövegdoboz 17">
                <a:extLst>
                  <a:ext uri="{FF2B5EF4-FFF2-40B4-BE49-F238E27FC236}">
                    <a16:creationId xmlns:a16="http://schemas.microsoft.com/office/drawing/2014/main" id="{8F32ECC3-8CDF-01CE-14C1-883698EB06BE}"/>
                  </a:ext>
                </a:extLst>
              </p:cNvPr>
              <p:cNvSpPr txBox="1">
                <a:spLocks noRot="1" noChangeAspect="1" noMove="1" noResize="1" noEditPoints="1" noAdjustHandles="1" noChangeArrowheads="1" noChangeShapeType="1" noTextEdit="1"/>
              </p:cNvSpPr>
              <p:nvPr/>
            </p:nvSpPr>
            <p:spPr>
              <a:xfrm>
                <a:off x="3208015" y="2732712"/>
                <a:ext cx="2125985" cy="573362"/>
              </a:xfrm>
              <a:prstGeom prst="rect">
                <a:avLst/>
              </a:prstGeom>
              <a:blipFill>
                <a:blip r:embed="rId4"/>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7" name="Téglalap 18">
                <a:extLst>
                  <a:ext uri="{FF2B5EF4-FFF2-40B4-BE49-F238E27FC236}">
                    <a16:creationId xmlns:a16="http://schemas.microsoft.com/office/drawing/2014/main" id="{61072D9E-16CB-9374-D7A7-86DA98DDE257}"/>
                  </a:ext>
                </a:extLst>
              </p:cNvPr>
              <p:cNvSpPr/>
              <p:nvPr/>
            </p:nvSpPr>
            <p:spPr>
              <a:xfrm>
                <a:off x="2735309" y="3289083"/>
                <a:ext cx="5962641" cy="563245"/>
              </a:xfrm>
              <a:prstGeom prst="rect">
                <a:avLst/>
              </a:prstGeom>
            </p:spPr>
            <p:txBody>
              <a:bodyPr wrap="square">
                <a:noAutofit/>
              </a:bodyPr>
              <a:lstStyle/>
              <a:p>
                <a:pPr marL="457200">
                  <a:lnSpc>
                    <a:spcPct val="107000"/>
                  </a:lnSpc>
                  <a:spcAft>
                    <a:spcPts val="800"/>
                  </a:spcAft>
                </a:pPr>
                <a:r>
                  <a:rPr lang="hu-HU" sz="1600" b="1" i="1" dirty="0">
                    <a:solidFill>
                      <a:schemeClr val="accent5">
                        <a:lumMod val="75000"/>
                      </a:schemeClr>
                    </a:solidFill>
                    <a:effectLst/>
                    <a:latin typeface="Times New Roman" panose="02020603050405020304" pitchFamily="18" charset="0"/>
                    <a:ea typeface="Times New Roman" panose="02020603050405020304" pitchFamily="18" charset="0"/>
                    <a:cs typeface="Arial" panose="020B0604020202020204" pitchFamily="34" charset="0"/>
                  </a:rPr>
                  <a:t>Félévente:</a:t>
                </a:r>
                <a14:m>
                  <m:oMath xmlns:m="http://schemas.openxmlformats.org/officeDocument/2006/math">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𝐅𝐕</m:t>
                    </m:r>
                    <m:r>
                      <a:rPr lang="hu-HU" sz="1600" b="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𝟓𝟎𝟎</m:t>
                    </m:r>
                    <m:r>
                      <a:rPr lang="hu-HU" sz="1600" b="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 </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𝟎𝟎𝟎</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m:t>
                    </m:r>
                    <m:sSup>
                      <m:sSupPr>
                        <m:ctrlPr>
                          <a:rPr lang="hu-HU" sz="1600" b="1" i="1" kern="1200">
                            <a:solidFill>
                              <a:schemeClr val="accent5">
                                <a:lumMod val="75000"/>
                              </a:schemeClr>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hu-HU" sz="1600" b="1" i="1" kern="1200">
                                <a:solidFill>
                                  <a:schemeClr val="accent5">
                                    <a:lumMod val="75000"/>
                                  </a:schemeClr>
                                </a:solidFill>
                                <a:effectLst/>
                                <a:latin typeface="Cambria Math" panose="02040503050406030204" pitchFamily="18" charset="0"/>
                                <a:ea typeface="Times New Roman" panose="02020603050405020304" pitchFamily="18" charset="0"/>
                                <a:cs typeface="Arial" panose="020B0604020202020204" pitchFamily="34" charset="0"/>
                              </a:rPr>
                            </m:ctrlPr>
                          </m:dPr>
                          <m:e>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𝟏</m:t>
                            </m:r>
                            <m:r>
                              <a:rPr lang="hu-HU" sz="1600" b="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m:t>
                            </m:r>
                            <m:f>
                              <m:fPr>
                                <m:ctrlPr>
                                  <a:rPr lang="hu-HU" sz="1600" b="1" i="1" kern="1200">
                                    <a:solidFill>
                                      <a:schemeClr val="accent5">
                                        <a:lumMod val="75000"/>
                                      </a:schemeClr>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𝟎</m:t>
                                </m:r>
                                <m:r>
                                  <a:rPr lang="hu-HU" sz="1600" b="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𝟎𝟔</m:t>
                                </m:r>
                              </m:num>
                              <m:den>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𝟐</m:t>
                                </m:r>
                              </m:den>
                            </m:f>
                          </m:e>
                        </m:d>
                      </m:e>
                      <m:sup>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𝟐</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𝟐</m:t>
                        </m:r>
                      </m:sup>
                    </m:sSup>
                    <m:r>
                      <a:rPr lang="hu-HU" sz="1600" b="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𝟓𝟔𝟐</m:t>
                    </m:r>
                    <m:r>
                      <a:rPr lang="hu-HU" sz="1600" b="1" i="0" kern="1200" smtClean="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 </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𝟕𝟓𝟒</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 </m:t>
                    </m:r>
                    <m:r>
                      <a:rPr lang="hu-HU" sz="1600" b="1" i="1" kern="1200">
                        <a:solidFill>
                          <a:schemeClr val="accent5">
                            <a:lumMod val="75000"/>
                          </a:schemeClr>
                        </a:solidFill>
                        <a:effectLst/>
                        <a:latin typeface="Cambria Math" panose="02040503050406030204" pitchFamily="18" charset="0"/>
                        <a:ea typeface="Calibri" panose="020F0502020204030204" pitchFamily="34" charset="0"/>
                        <a:cs typeface="Arial" panose="020B0604020202020204" pitchFamily="34" charset="0"/>
                      </a:rPr>
                      <m:t>𝐅𝐭</m:t>
                    </m:r>
                  </m:oMath>
                </a14:m>
                <a:endParaRPr lang="hu-HU" sz="1600" b="1" dirty="0">
                  <a:solidFill>
                    <a:schemeClr val="accent5">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7" name="Téglalap 18">
                <a:extLst>
                  <a:ext uri="{FF2B5EF4-FFF2-40B4-BE49-F238E27FC236}">
                    <a16:creationId xmlns:a16="http://schemas.microsoft.com/office/drawing/2014/main" id="{61072D9E-16CB-9374-D7A7-86DA98DDE257}"/>
                  </a:ext>
                </a:extLst>
              </p:cNvPr>
              <p:cNvSpPr>
                <a:spLocks noRot="1" noChangeAspect="1" noMove="1" noResize="1" noEditPoints="1" noAdjustHandles="1" noChangeArrowheads="1" noChangeShapeType="1" noTextEdit="1"/>
              </p:cNvSpPr>
              <p:nvPr/>
            </p:nvSpPr>
            <p:spPr>
              <a:xfrm>
                <a:off x="2735309" y="3289083"/>
                <a:ext cx="5962641" cy="563245"/>
              </a:xfrm>
              <a:prstGeom prst="rect">
                <a:avLst/>
              </a:prstGeom>
              <a:blipFill>
                <a:blip r:embed="rId5"/>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8" name="Szövegdoboz 3">
                <a:extLst>
                  <a:ext uri="{FF2B5EF4-FFF2-40B4-BE49-F238E27FC236}">
                    <a16:creationId xmlns:a16="http://schemas.microsoft.com/office/drawing/2014/main" id="{F96F54BF-770B-BE68-D27E-2C32F4F0FCA3}"/>
                  </a:ext>
                </a:extLst>
              </p:cNvPr>
              <p:cNvSpPr txBox="1"/>
              <p:nvPr/>
            </p:nvSpPr>
            <p:spPr>
              <a:xfrm>
                <a:off x="3208018" y="3852328"/>
                <a:ext cx="5489932" cy="537968"/>
              </a:xfrm>
              <a:prstGeom prst="rect">
                <a:avLst/>
              </a:prstGeom>
              <a:noFill/>
            </p:spPr>
            <p:txBody>
              <a:bodyPr wrap="square">
                <a:spAutoFit/>
              </a:bodyPr>
              <a:lstStyle/>
              <a:p>
                <a:pPr>
                  <a:lnSpc>
                    <a:spcPct val="107000"/>
                  </a:lnSpc>
                  <a:spcAft>
                    <a:spcPts val="1800"/>
                  </a:spcAft>
                </a:pPr>
                <a:r>
                  <a:rPr lang="hu-HU" sz="1600" b="1" i="1"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Negyedévente: </a:t>
                </a:r>
                <a14:m>
                  <m:oMath xmlns:m="http://schemas.openxmlformats.org/officeDocument/2006/math">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𝑭𝑽</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𝟓𝟎𝟎</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𝟎𝟎𝟎</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𝟎𝟔</m:t>
                                </m:r>
                              </m:num>
                              <m:den>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den>
                            </m:f>
                          </m:e>
                        </m:d>
                      </m:e>
                      <m:sup>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sup>
                    </m:sSup>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𝟓𝟔𝟑</m:t>
                    </m:r>
                    <m:r>
                      <a:rPr lang="hu-HU" sz="1600" b="1" i="1" smtClean="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𝟐𝟒𝟔</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𝐅𝐭</m:t>
                    </m:r>
                  </m:oMath>
                </a14:m>
                <a:endParaRPr lang="hu-HU" sz="1600" b="1"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8" name="Szövegdoboz 3">
                <a:extLst>
                  <a:ext uri="{FF2B5EF4-FFF2-40B4-BE49-F238E27FC236}">
                    <a16:creationId xmlns:a16="http://schemas.microsoft.com/office/drawing/2014/main" id="{F96F54BF-770B-BE68-D27E-2C32F4F0FCA3}"/>
                  </a:ext>
                </a:extLst>
              </p:cNvPr>
              <p:cNvSpPr txBox="1">
                <a:spLocks noRot="1" noChangeAspect="1" noMove="1" noResize="1" noEditPoints="1" noAdjustHandles="1" noChangeArrowheads="1" noChangeShapeType="1" noTextEdit="1"/>
              </p:cNvSpPr>
              <p:nvPr/>
            </p:nvSpPr>
            <p:spPr>
              <a:xfrm>
                <a:off x="3208018" y="3852328"/>
                <a:ext cx="5489932" cy="537968"/>
              </a:xfrm>
              <a:prstGeom prst="rect">
                <a:avLst/>
              </a:prstGeom>
              <a:blipFill>
                <a:blip r:embed="rId6"/>
                <a:stretch>
                  <a:fillRect l="-555" b="-2273"/>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9" name="Szövegdoboz 8">
                <a:extLst>
                  <a:ext uri="{FF2B5EF4-FFF2-40B4-BE49-F238E27FC236}">
                    <a16:creationId xmlns:a16="http://schemas.microsoft.com/office/drawing/2014/main" id="{24DBC95D-838A-3065-91BB-EC8A4C49FD15}"/>
                  </a:ext>
                </a:extLst>
              </p:cNvPr>
              <p:cNvSpPr txBox="1"/>
              <p:nvPr/>
            </p:nvSpPr>
            <p:spPr>
              <a:xfrm>
                <a:off x="3208015" y="4470815"/>
                <a:ext cx="5539408" cy="731162"/>
              </a:xfrm>
              <a:prstGeom prst="rect">
                <a:avLst/>
              </a:prstGeom>
              <a:noFill/>
            </p:spPr>
            <p:txBody>
              <a:bodyPr wrap="square" rtlCol="0">
                <a:spAutoFit/>
              </a:bodyPr>
              <a:lstStyle/>
              <a:p>
                <a:r>
                  <a:rPr lang="hu-HU" sz="1600" b="1" i="1" dirty="0">
                    <a:solidFill>
                      <a:schemeClr val="accent4">
                        <a:lumMod val="50000"/>
                      </a:schemeClr>
                    </a:solidFill>
                    <a:latin typeface="Times New Roman" panose="02020603050405020304" pitchFamily="18" charset="0"/>
                    <a:ea typeface="Times New Roman" panose="02020603050405020304" pitchFamily="18" charset="0"/>
                    <a:cs typeface="Arial" panose="020B0604020202020204" pitchFamily="34" charset="0"/>
                  </a:rPr>
                  <a:t>Havonta: </a:t>
                </a:r>
                <a14:m>
                  <m:oMath xmlns:m="http://schemas.openxmlformats.org/officeDocument/2006/math">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𝑭𝑽</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𝟓𝟎𝟎</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𝟎𝟎𝟎</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ctrlPr>
                          </m:dPr>
                          <m:e>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𝟏</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𝟎</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𝟎𝟔</m:t>
                                </m:r>
                              </m:num>
                              <m:den>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𝟏𝟐</m:t>
                                </m:r>
                              </m:den>
                            </m:f>
                          </m:e>
                        </m:d>
                      </m:e>
                      <m:sup>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𝟐</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𝟏𝟐</m:t>
                        </m:r>
                      </m:sup>
                    </m:sSup>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𝟓𝟔𝟑</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𝟓𝟖𝟎</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 </m:t>
                    </m:r>
                    <m:r>
                      <a:rPr lang="hu-HU" sz="1600" b="1" i="1">
                        <a:solidFill>
                          <a:schemeClr val="accent4">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𝐅𝐭</m:t>
                    </m:r>
                  </m:oMath>
                </a14:m>
                <a:endParaRPr lang="hu-HU" sz="1600" b="1" dirty="0">
                  <a:solidFill>
                    <a:schemeClr val="accent4">
                      <a:lumMod val="50000"/>
                    </a:schemeClr>
                  </a:solidFill>
                  <a:latin typeface="Calibri" panose="020F0502020204030204" pitchFamily="34" charset="0"/>
                  <a:ea typeface="Calibri" panose="020F0502020204030204" pitchFamily="34" charset="0"/>
                  <a:cs typeface="Arial" panose="020B0604020202020204" pitchFamily="34" charset="0"/>
                </a:endParaRPr>
              </a:p>
              <a:p>
                <a:endParaRPr lang="hu-HU" dirty="0"/>
              </a:p>
            </p:txBody>
          </p:sp>
        </mc:Choice>
        <mc:Fallback xmlns="">
          <p:sp>
            <p:nvSpPr>
              <p:cNvPr id="9" name="Szövegdoboz 8">
                <a:extLst>
                  <a:ext uri="{FF2B5EF4-FFF2-40B4-BE49-F238E27FC236}">
                    <a16:creationId xmlns:a16="http://schemas.microsoft.com/office/drawing/2014/main" id="{24DBC95D-838A-3065-91BB-EC8A4C49FD15}"/>
                  </a:ext>
                </a:extLst>
              </p:cNvPr>
              <p:cNvSpPr txBox="1">
                <a:spLocks noRot="1" noChangeAspect="1" noMove="1" noResize="1" noEditPoints="1" noAdjustHandles="1" noChangeArrowheads="1" noChangeShapeType="1" noTextEdit="1"/>
              </p:cNvSpPr>
              <p:nvPr/>
            </p:nvSpPr>
            <p:spPr>
              <a:xfrm>
                <a:off x="3208015" y="4470815"/>
                <a:ext cx="5539408" cy="731162"/>
              </a:xfrm>
              <a:prstGeom prst="rect">
                <a:avLst/>
              </a:prstGeom>
              <a:blipFill>
                <a:blip r:embed="rId7"/>
                <a:stretch>
                  <a:fillRect l="-550"/>
                </a:stretch>
              </a:blipFill>
            </p:spPr>
            <p:txBody>
              <a:bodyPr/>
              <a:lstStyle/>
              <a:p>
                <a:r>
                  <a:rPr lang="hu-HU">
                    <a:noFill/>
                  </a:rPr>
                  <a:t> </a:t>
                </a:r>
              </a:p>
            </p:txBody>
          </p:sp>
        </mc:Fallback>
      </mc:AlternateContent>
    </p:spTree>
    <p:extLst>
      <p:ext uri="{BB962C8B-B14F-4D97-AF65-F5344CB8AC3E}">
        <p14:creationId xmlns:p14="http://schemas.microsoft.com/office/powerpoint/2010/main" val="74487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animBg="1"/>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4ADE1-4A63-0292-9886-51542109B087}"/>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6BB312CD-E405-667C-6F0F-68120EF04A64}"/>
              </a:ext>
            </a:extLst>
          </p:cNvPr>
          <p:cNvSpPr>
            <a:spLocks noGrp="1"/>
          </p:cNvSpPr>
          <p:nvPr>
            <p:ph type="title"/>
          </p:nvPr>
        </p:nvSpPr>
        <p:spPr>
          <a:xfrm>
            <a:off x="0" y="0"/>
            <a:ext cx="9144000" cy="531846"/>
          </a:xfrm>
          <a:solidFill>
            <a:srgbClr val="FFC000"/>
          </a:solidFill>
        </p:spPr>
        <p:txBody>
          <a:bodyPr anchor="ctr" anchorCtr="0"/>
          <a:lstStyle/>
          <a:p>
            <a:r>
              <a:rPr lang="hu-HU" dirty="0"/>
              <a:t>5. feladat</a:t>
            </a:r>
          </a:p>
        </p:txBody>
      </p:sp>
      <p:sp>
        <p:nvSpPr>
          <p:cNvPr id="2" name="TextBox 1">
            <a:extLst>
              <a:ext uri="{FF2B5EF4-FFF2-40B4-BE49-F238E27FC236}">
                <a16:creationId xmlns:a16="http://schemas.microsoft.com/office/drawing/2014/main" id="{9CC71AF8-3A98-B498-53A1-F93EE733F6D5}"/>
              </a:ext>
            </a:extLst>
          </p:cNvPr>
          <p:cNvSpPr txBox="1"/>
          <p:nvPr/>
        </p:nvSpPr>
        <p:spPr>
          <a:xfrm>
            <a:off x="219609" y="582985"/>
            <a:ext cx="8586638" cy="2554545"/>
          </a:xfrm>
          <a:prstGeom prst="rect">
            <a:avLst/>
          </a:prstGeom>
          <a:noFill/>
        </p:spPr>
        <p:txBody>
          <a:bodyPr wrap="square" rtlCol="0">
            <a:spAutoFit/>
          </a:bodyPr>
          <a:lstStyle/>
          <a:p>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A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Hegycsúcs Bank </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egyik népszerű betéti terméke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8%-os </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névleges kamatot biztosít éves szinten, a kamatot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havonta tőkésítik</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 A piaci verseny fokozódása miatt a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Hegyalja Bank </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új betéti terméket kíván meghirdetni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8,1%-os </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névleges kamattal, azonban a kisbetűs részben az szerepel, hogy itt a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tőkésítés</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 csak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félévente</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 esedékes. A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Hegyoldal Bank </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tovább emelte a névleges kamatot,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8,2%-os </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névleges kamatot ígér, de csak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egyszerű kamatozás </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mellett. 3 millió Ft megtakarítást szeretnénk befektetni.</a:t>
            </a:r>
          </a:p>
          <a:p>
            <a:pPr marL="228600" indent="-228600">
              <a:buAutoNum type="alphaLcParenR"/>
            </a:pP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Jövőérték számítás segítségével döntsük el, melyik bankbetéttel járunk jól, ha másfél éves időtávra szeretnék befektetni.</a:t>
            </a:r>
          </a:p>
          <a:p>
            <a:pPr marL="228600" indent="-228600">
              <a:buFontTx/>
              <a:buAutoNum type="alphaLcParenR"/>
            </a:pPr>
            <a:r>
              <a:rPr lang="hu-HU" sz="1600" dirty="0">
                <a:solidFill>
                  <a:srgbClr val="C00000"/>
                </a:solidFill>
                <a:latin typeface="Cambria" panose="02040503050406030204" pitchFamily="18" charset="0"/>
                <a:ea typeface="Cambria" panose="02040503050406030204" pitchFamily="18" charset="0"/>
                <a:cs typeface="Arial" panose="020B0604020202020204" pitchFamily="34" charset="0"/>
              </a:rPr>
              <a:t>Ha 3 millió forint helyett 10 millió forintot helyeznénk el ugyanezekben a konstrukciókban, változna-e a döntésünk? Miért?</a:t>
            </a:r>
          </a:p>
        </p:txBody>
      </p:sp>
      <mc:AlternateContent xmlns:mc="http://schemas.openxmlformats.org/markup-compatibility/2006" xmlns:a14="http://schemas.microsoft.com/office/drawing/2010/main">
        <mc:Choice Requires="a14">
          <p:sp>
            <p:nvSpPr>
              <p:cNvPr id="3" name="Tartalom helye 5">
                <a:extLst>
                  <a:ext uri="{FF2B5EF4-FFF2-40B4-BE49-F238E27FC236}">
                    <a16:creationId xmlns:a16="http://schemas.microsoft.com/office/drawing/2014/main" id="{C47B6AEC-8F6C-5BD7-7938-5EC964C39B15}"/>
                  </a:ext>
                </a:extLst>
              </p:cNvPr>
              <p:cNvSpPr txBox="1">
                <a:spLocks/>
              </p:cNvSpPr>
              <p:nvPr/>
            </p:nvSpPr>
            <p:spPr>
              <a:xfrm>
                <a:off x="219608" y="3331756"/>
                <a:ext cx="8586639" cy="1730574"/>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sz="1600" b="1" dirty="0">
                    <a:solidFill>
                      <a:srgbClr val="C00000"/>
                    </a:solidFill>
                    <a:latin typeface="Cambria" panose="02040503050406030204" pitchFamily="18" charset="0"/>
                    <a:ea typeface="Cambria" panose="02040503050406030204" pitchFamily="18" charset="0"/>
                    <a:cs typeface="Arial" panose="020B0604020202020204" pitchFamily="34" charset="0"/>
                  </a:rPr>
                  <a:t>Hegycsúcs Bank:</a:t>
                </a:r>
                <a:r>
                  <a:rPr lang="hu-HU" sz="1600" b="1" i="1" dirty="0">
                    <a:solidFill>
                      <a:srgbClr val="C00000"/>
                    </a:solidFill>
                    <a:latin typeface="Cambria" panose="02040503050406030204" pitchFamily="18" charset="0"/>
                    <a:ea typeface="Cambria" panose="02040503050406030204" pitchFamily="18" charset="0"/>
                    <a:cs typeface="Arial" panose="020B0604020202020204" pitchFamily="34" charset="0"/>
                  </a:rPr>
                  <a:t> </a:t>
                </a:r>
                <a14:m>
                  <m:oMath xmlns:m="http://schemas.openxmlformats.org/officeDocument/2006/math">
                    <m:r>
                      <a:rPr lang="hu-HU" sz="1600" b="1" i="1">
                        <a:solidFill>
                          <a:srgbClr val="C00000"/>
                        </a:solidFill>
                        <a:latin typeface="Cambria Math" panose="02040503050406030204" pitchFamily="18" charset="0"/>
                      </a:rPr>
                      <m:t>  </m:t>
                    </m:r>
                    <m:r>
                      <a:rPr lang="hu-HU" sz="1600" b="1" i="1">
                        <a:solidFill>
                          <a:srgbClr val="C00000"/>
                        </a:solidFill>
                        <a:latin typeface="Cambria Math" panose="02040503050406030204" pitchFamily="18" charset="0"/>
                      </a:rPr>
                      <m:t>𝑭𝑽</m:t>
                    </m:r>
                    <m:r>
                      <a:rPr lang="hu-HU" sz="1600" b="1" i="1">
                        <a:solidFill>
                          <a:srgbClr val="C00000"/>
                        </a:solidFill>
                        <a:latin typeface="Cambria Math" panose="02040503050406030204" pitchFamily="18" charset="0"/>
                      </a:rPr>
                      <m:t>=</m:t>
                    </m:r>
                    <m:r>
                      <a:rPr lang="hu-HU" sz="1600" b="1" i="1">
                        <a:solidFill>
                          <a:srgbClr val="C00000"/>
                        </a:solidFill>
                        <a:latin typeface="Cambria Math" panose="02040503050406030204" pitchFamily="18" charset="0"/>
                      </a:rPr>
                      <m:t>𝟑</m:t>
                    </m:r>
                    <m:r>
                      <a:rPr lang="hu-HU" sz="1600" b="1" i="1" smtClean="0">
                        <a:solidFill>
                          <a:srgbClr val="C00000"/>
                        </a:solidFill>
                        <a:latin typeface="Cambria Math" panose="02040503050406030204" pitchFamily="18" charset="0"/>
                      </a:rPr>
                      <m:t> </m:t>
                    </m:r>
                    <m:r>
                      <a:rPr lang="hu-HU" sz="1600" b="1" i="1">
                        <a:solidFill>
                          <a:srgbClr val="C00000"/>
                        </a:solidFill>
                        <a:latin typeface="Cambria Math" panose="02040503050406030204" pitchFamily="18" charset="0"/>
                      </a:rPr>
                      <m:t>𝟎𝟎𝟎</m:t>
                    </m:r>
                    <m:r>
                      <a:rPr lang="hu-HU" sz="1600" b="1" i="1" smtClean="0">
                        <a:solidFill>
                          <a:srgbClr val="C00000"/>
                        </a:solidFill>
                        <a:latin typeface="Cambria Math" panose="02040503050406030204" pitchFamily="18" charset="0"/>
                      </a:rPr>
                      <m:t> </m:t>
                    </m:r>
                    <m:r>
                      <a:rPr lang="hu-HU" sz="1600" b="1" i="1">
                        <a:solidFill>
                          <a:srgbClr val="C00000"/>
                        </a:solidFill>
                        <a:latin typeface="Cambria Math" panose="02040503050406030204" pitchFamily="18" charset="0"/>
                      </a:rPr>
                      <m:t>𝟎𝟎𝟎</m:t>
                    </m:r>
                    <m:r>
                      <a:rPr lang="hu-HU" sz="1600" b="1" i="1">
                        <a:solidFill>
                          <a:srgbClr val="C00000"/>
                        </a:solidFill>
                        <a:latin typeface="Cambria Math" panose="02040503050406030204" pitchFamily="18" charset="0"/>
                      </a:rPr>
                      <m:t>∙</m:t>
                    </m:r>
                    <m:sSup>
                      <m:sSupPr>
                        <m:ctrlPr>
                          <a:rPr lang="hu-HU" sz="1600" b="1" i="1">
                            <a:solidFill>
                              <a:srgbClr val="C00000"/>
                            </a:solidFill>
                            <a:latin typeface="Cambria Math" panose="02040503050406030204" pitchFamily="18" charset="0"/>
                          </a:rPr>
                        </m:ctrlPr>
                      </m:sSupPr>
                      <m:e>
                        <m:d>
                          <m:dPr>
                            <m:ctrlPr>
                              <a:rPr lang="hu-HU" sz="1600" b="1" i="1">
                                <a:solidFill>
                                  <a:srgbClr val="C00000"/>
                                </a:solidFill>
                                <a:latin typeface="Cambria Math" panose="02040503050406030204" pitchFamily="18" charset="0"/>
                              </a:rPr>
                            </m:ctrlPr>
                          </m:dPr>
                          <m:e>
                            <m:r>
                              <a:rPr lang="hu-HU" sz="1600" b="1" i="1">
                                <a:solidFill>
                                  <a:srgbClr val="C00000"/>
                                </a:solidFill>
                                <a:latin typeface="Cambria Math" panose="02040503050406030204" pitchFamily="18" charset="0"/>
                              </a:rPr>
                              <m:t>𝟏</m:t>
                            </m:r>
                            <m:r>
                              <a:rPr lang="hu-HU" sz="1600" b="1" i="1">
                                <a:solidFill>
                                  <a:srgbClr val="C00000"/>
                                </a:solidFill>
                                <a:latin typeface="Cambria Math" panose="02040503050406030204" pitchFamily="18" charset="0"/>
                              </a:rPr>
                              <m:t>+</m:t>
                            </m:r>
                            <m:f>
                              <m:fPr>
                                <m:ctrlPr>
                                  <a:rPr lang="hu-HU" sz="1600" b="1" i="1">
                                    <a:solidFill>
                                      <a:srgbClr val="C00000"/>
                                    </a:solidFill>
                                    <a:latin typeface="Cambria Math" panose="02040503050406030204" pitchFamily="18" charset="0"/>
                                  </a:rPr>
                                </m:ctrlPr>
                              </m:fPr>
                              <m:num>
                                <m:r>
                                  <a:rPr lang="hu-HU" sz="1600" b="1" i="1">
                                    <a:solidFill>
                                      <a:srgbClr val="C00000"/>
                                    </a:solidFill>
                                    <a:latin typeface="Cambria Math" panose="02040503050406030204" pitchFamily="18" charset="0"/>
                                  </a:rPr>
                                  <m:t>𝟎</m:t>
                                </m:r>
                                <m:r>
                                  <a:rPr lang="hu-HU" sz="1600" b="1" i="1" smtClean="0">
                                    <a:solidFill>
                                      <a:srgbClr val="C00000"/>
                                    </a:solidFill>
                                    <a:latin typeface="Cambria Math" panose="02040503050406030204" pitchFamily="18" charset="0"/>
                                  </a:rPr>
                                  <m:t>,</m:t>
                                </m:r>
                                <m:r>
                                  <a:rPr lang="hu-HU" sz="1600" b="1" i="1">
                                    <a:solidFill>
                                      <a:srgbClr val="C00000"/>
                                    </a:solidFill>
                                    <a:latin typeface="Cambria Math" panose="02040503050406030204" pitchFamily="18" charset="0"/>
                                  </a:rPr>
                                  <m:t>𝟎𝟖</m:t>
                                </m:r>
                              </m:num>
                              <m:den>
                                <m:r>
                                  <a:rPr lang="hu-HU" sz="1600" b="1" i="1">
                                    <a:solidFill>
                                      <a:srgbClr val="C00000"/>
                                    </a:solidFill>
                                    <a:latin typeface="Cambria Math" panose="02040503050406030204" pitchFamily="18" charset="0"/>
                                  </a:rPr>
                                  <m:t>𝟏𝟐</m:t>
                                </m:r>
                              </m:den>
                            </m:f>
                          </m:e>
                        </m:d>
                      </m:e>
                      <m:sup>
                        <m:r>
                          <a:rPr lang="hu-HU" sz="1600" b="1" i="1">
                            <a:solidFill>
                              <a:srgbClr val="C00000"/>
                            </a:solidFill>
                            <a:latin typeface="Cambria Math" panose="02040503050406030204" pitchFamily="18" charset="0"/>
                          </a:rPr>
                          <m:t>𝟏</m:t>
                        </m:r>
                        <m:r>
                          <a:rPr lang="hu-HU" sz="1600" b="1" i="1" smtClean="0">
                            <a:solidFill>
                              <a:srgbClr val="C00000"/>
                            </a:solidFill>
                            <a:latin typeface="Cambria Math" panose="02040503050406030204" pitchFamily="18" charset="0"/>
                          </a:rPr>
                          <m:t>,</m:t>
                        </m:r>
                        <m:r>
                          <a:rPr lang="hu-HU" sz="1600" b="1" i="1">
                            <a:solidFill>
                              <a:srgbClr val="C00000"/>
                            </a:solidFill>
                            <a:latin typeface="Cambria Math" panose="02040503050406030204" pitchFamily="18" charset="0"/>
                          </a:rPr>
                          <m:t>𝟓</m:t>
                        </m:r>
                        <m:r>
                          <a:rPr lang="hu-HU" sz="1600" b="1" i="1">
                            <a:solidFill>
                              <a:srgbClr val="C00000"/>
                            </a:solidFill>
                            <a:latin typeface="Cambria Math" panose="02040503050406030204" pitchFamily="18" charset="0"/>
                          </a:rPr>
                          <m:t>∙</m:t>
                        </m:r>
                        <m:r>
                          <a:rPr lang="hu-HU" sz="1600" b="1" i="1">
                            <a:solidFill>
                              <a:srgbClr val="C00000"/>
                            </a:solidFill>
                            <a:latin typeface="Cambria Math" panose="02040503050406030204" pitchFamily="18" charset="0"/>
                          </a:rPr>
                          <m:t>𝟏𝟐</m:t>
                        </m:r>
                      </m:sup>
                    </m:sSup>
                    <m:r>
                      <a:rPr lang="hu-HU" sz="1600" b="1" i="1">
                        <a:solidFill>
                          <a:srgbClr val="C00000"/>
                        </a:solidFill>
                        <a:latin typeface="Cambria Math" panose="02040503050406030204" pitchFamily="18" charset="0"/>
                      </a:rPr>
                      <m:t>=</m:t>
                    </m:r>
                    <m:r>
                      <a:rPr lang="hu-HU" sz="1600" b="1" i="1">
                        <a:solidFill>
                          <a:srgbClr val="C00000"/>
                        </a:solidFill>
                        <a:latin typeface="Cambria Math" panose="02040503050406030204" pitchFamily="18" charset="0"/>
                      </a:rPr>
                      <m:t>𝟑</m:t>
                    </m:r>
                    <m:r>
                      <a:rPr lang="hu-HU" sz="1600" b="1" i="1" smtClean="0">
                        <a:solidFill>
                          <a:srgbClr val="C00000"/>
                        </a:solidFill>
                        <a:latin typeface="Cambria Math" panose="02040503050406030204" pitchFamily="18" charset="0"/>
                      </a:rPr>
                      <m:t> </m:t>
                    </m:r>
                    <m:r>
                      <a:rPr lang="hu-HU" sz="1600" b="1" i="1">
                        <a:solidFill>
                          <a:srgbClr val="C00000"/>
                        </a:solidFill>
                        <a:latin typeface="Cambria Math" panose="02040503050406030204" pitchFamily="18" charset="0"/>
                      </a:rPr>
                      <m:t>𝟑𝟖𝟏</m:t>
                    </m:r>
                    <m:r>
                      <a:rPr lang="hu-HU" sz="1600" b="1" i="1" smtClean="0">
                        <a:solidFill>
                          <a:srgbClr val="C00000"/>
                        </a:solidFill>
                        <a:latin typeface="Cambria Math" panose="02040503050406030204" pitchFamily="18" charset="0"/>
                      </a:rPr>
                      <m:t> </m:t>
                    </m:r>
                    <m:r>
                      <a:rPr lang="hu-HU" sz="1600" b="1" i="1">
                        <a:solidFill>
                          <a:srgbClr val="C00000"/>
                        </a:solidFill>
                        <a:latin typeface="Cambria Math" panose="02040503050406030204" pitchFamily="18" charset="0"/>
                      </a:rPr>
                      <m:t>𝟏𝟒𝟒</m:t>
                    </m:r>
                    <m:r>
                      <a:rPr lang="hu-HU" sz="1600" b="1" i="1">
                        <a:solidFill>
                          <a:srgbClr val="C00000"/>
                        </a:solidFill>
                        <a:latin typeface="Cambria Math" panose="02040503050406030204" pitchFamily="18" charset="0"/>
                      </a:rPr>
                      <m:t> </m:t>
                    </m:r>
                    <m:r>
                      <a:rPr lang="hu-HU" sz="1600" b="1" i="1">
                        <a:solidFill>
                          <a:srgbClr val="C00000"/>
                        </a:solidFill>
                        <a:latin typeface="Cambria Math" panose="02040503050406030204" pitchFamily="18" charset="0"/>
                      </a:rPr>
                      <m:t>𝐅𝐭</m:t>
                    </m:r>
                  </m:oMath>
                </a14:m>
                <a:endParaRPr lang="hu-HU" sz="1600" b="1" dirty="0">
                  <a:solidFill>
                    <a:srgbClr val="C00000"/>
                  </a:solidFill>
                  <a:latin typeface="Cambria" panose="02040503050406030204" pitchFamily="18" charset="0"/>
                  <a:ea typeface="Cambria" panose="02040503050406030204" pitchFamily="18" charset="0"/>
                  <a:cs typeface="Arial" panose="020B0604020202020204" pitchFamily="34" charset="0"/>
                </a:endParaRPr>
              </a:p>
              <a:p>
                <a:endParaRPr lang="hu-HU" sz="1600" dirty="0">
                  <a:latin typeface="Cambria" panose="02040503050406030204" pitchFamily="18" charset="0"/>
                  <a:ea typeface="Cambria" panose="02040503050406030204" pitchFamily="18" charset="0"/>
                  <a:cs typeface="Arial" panose="020B0604020202020204" pitchFamily="34" charset="0"/>
                </a:endParaRPr>
              </a:p>
              <a:p>
                <a:r>
                  <a:rPr lang="hu-HU" sz="1600" b="1" i="1" dirty="0">
                    <a:solidFill>
                      <a:schemeClr val="accent4">
                        <a:lumMod val="50000"/>
                      </a:schemeClr>
                    </a:solidFill>
                    <a:latin typeface="Cambria" panose="02040503050406030204" pitchFamily="18" charset="0"/>
                    <a:ea typeface="Cambria" panose="02040503050406030204" pitchFamily="18" charset="0"/>
                    <a:cs typeface="Arial" panose="020B0604020202020204" pitchFamily="34" charset="0"/>
                  </a:rPr>
                  <a:t>Hegyalja Bank</a:t>
                </a:r>
                <a14:m>
                  <m:oMath xmlns:m="http://schemas.openxmlformats.org/officeDocument/2006/math">
                    <m:r>
                      <a:rPr lang="hu-HU" sz="1600" b="1" i="1" smtClean="0">
                        <a:solidFill>
                          <a:schemeClr val="accent4">
                            <a:lumMod val="50000"/>
                          </a:schemeClr>
                        </a:solidFill>
                        <a:latin typeface="Cambria Math" panose="02040503050406030204" pitchFamily="18" charset="0"/>
                      </a:rPr>
                      <m:t>:</m:t>
                    </m:r>
                    <m:r>
                      <a:rPr lang="hu-HU" sz="1600" b="1" i="1">
                        <a:solidFill>
                          <a:schemeClr val="accent4">
                            <a:lumMod val="50000"/>
                          </a:schemeClr>
                        </a:solidFill>
                        <a:latin typeface="Cambria Math" panose="02040503050406030204" pitchFamily="18" charset="0"/>
                      </a:rPr>
                      <m:t>  </m:t>
                    </m:r>
                    <m:r>
                      <a:rPr lang="hu-HU" sz="1600" b="1" i="1">
                        <a:solidFill>
                          <a:schemeClr val="accent4">
                            <a:lumMod val="50000"/>
                          </a:schemeClr>
                        </a:solidFill>
                        <a:latin typeface="Cambria Math" panose="02040503050406030204" pitchFamily="18" charset="0"/>
                      </a:rPr>
                      <m:t>𝑭𝑽</m:t>
                    </m:r>
                    <m:r>
                      <a:rPr lang="hu-HU" sz="1600" b="1" i="1">
                        <a:solidFill>
                          <a:schemeClr val="accent4">
                            <a:lumMod val="50000"/>
                          </a:schemeClr>
                        </a:solidFill>
                        <a:latin typeface="Cambria Math" panose="02040503050406030204" pitchFamily="18" charset="0"/>
                      </a:rPr>
                      <m:t>=</m:t>
                    </m:r>
                    <m:r>
                      <a:rPr lang="hu-HU" sz="1600" b="1" i="1">
                        <a:solidFill>
                          <a:schemeClr val="accent4">
                            <a:lumMod val="50000"/>
                          </a:schemeClr>
                        </a:solidFill>
                        <a:latin typeface="Cambria Math" panose="02040503050406030204" pitchFamily="18" charset="0"/>
                      </a:rPr>
                      <m:t>𝟑</m:t>
                    </m:r>
                    <m:r>
                      <a:rPr lang="hu-HU" sz="1600" b="1" i="1">
                        <a:solidFill>
                          <a:schemeClr val="accent4">
                            <a:lumMod val="50000"/>
                          </a:schemeClr>
                        </a:solidFill>
                        <a:latin typeface="Cambria Math" panose="02040503050406030204" pitchFamily="18" charset="0"/>
                      </a:rPr>
                      <m:t> </m:t>
                    </m:r>
                    <m:r>
                      <a:rPr lang="hu-HU" sz="1600" b="1" i="1">
                        <a:solidFill>
                          <a:schemeClr val="accent4">
                            <a:lumMod val="50000"/>
                          </a:schemeClr>
                        </a:solidFill>
                        <a:latin typeface="Cambria Math" panose="02040503050406030204" pitchFamily="18" charset="0"/>
                      </a:rPr>
                      <m:t>𝟎𝟎𝟎</m:t>
                    </m:r>
                    <m:r>
                      <a:rPr lang="hu-HU" sz="1600" b="1" i="1">
                        <a:solidFill>
                          <a:schemeClr val="accent4">
                            <a:lumMod val="50000"/>
                          </a:schemeClr>
                        </a:solidFill>
                        <a:latin typeface="Cambria Math" panose="02040503050406030204" pitchFamily="18" charset="0"/>
                      </a:rPr>
                      <m:t> </m:t>
                    </m:r>
                    <m:r>
                      <a:rPr lang="hu-HU" sz="1600" b="1" i="1">
                        <a:solidFill>
                          <a:schemeClr val="accent4">
                            <a:lumMod val="50000"/>
                          </a:schemeClr>
                        </a:solidFill>
                        <a:latin typeface="Cambria Math" panose="02040503050406030204" pitchFamily="18" charset="0"/>
                      </a:rPr>
                      <m:t>𝟎𝟎𝟎</m:t>
                    </m:r>
                    <m:r>
                      <a:rPr lang="hu-HU" sz="1600" b="1" i="1">
                        <a:solidFill>
                          <a:schemeClr val="accent4">
                            <a:lumMod val="50000"/>
                          </a:schemeClr>
                        </a:solidFill>
                        <a:latin typeface="Cambria Math" panose="02040503050406030204" pitchFamily="18" charset="0"/>
                      </a:rPr>
                      <m:t>∙</m:t>
                    </m:r>
                    <m:sSup>
                      <m:sSupPr>
                        <m:ctrlPr>
                          <a:rPr lang="hu-HU" sz="1600" b="1" i="1">
                            <a:solidFill>
                              <a:schemeClr val="accent4">
                                <a:lumMod val="50000"/>
                              </a:schemeClr>
                            </a:solidFill>
                            <a:latin typeface="Cambria Math" panose="02040503050406030204" pitchFamily="18" charset="0"/>
                          </a:rPr>
                        </m:ctrlPr>
                      </m:sSupPr>
                      <m:e>
                        <m:d>
                          <m:dPr>
                            <m:ctrlPr>
                              <a:rPr lang="hu-HU" sz="1600" b="1" i="1">
                                <a:solidFill>
                                  <a:schemeClr val="accent4">
                                    <a:lumMod val="50000"/>
                                  </a:schemeClr>
                                </a:solidFill>
                                <a:latin typeface="Cambria Math" panose="02040503050406030204" pitchFamily="18" charset="0"/>
                              </a:rPr>
                            </m:ctrlPr>
                          </m:dPr>
                          <m:e>
                            <m:r>
                              <a:rPr lang="hu-HU" sz="1600" b="1" i="1">
                                <a:solidFill>
                                  <a:schemeClr val="accent4">
                                    <a:lumMod val="50000"/>
                                  </a:schemeClr>
                                </a:solidFill>
                                <a:latin typeface="Cambria Math" panose="02040503050406030204" pitchFamily="18" charset="0"/>
                              </a:rPr>
                              <m:t>𝟏</m:t>
                            </m:r>
                            <m:r>
                              <a:rPr lang="hu-HU" sz="1600" b="1" i="1">
                                <a:solidFill>
                                  <a:schemeClr val="accent4">
                                    <a:lumMod val="50000"/>
                                  </a:schemeClr>
                                </a:solidFill>
                                <a:latin typeface="Cambria Math" panose="02040503050406030204" pitchFamily="18" charset="0"/>
                              </a:rPr>
                              <m:t>+</m:t>
                            </m:r>
                            <m:f>
                              <m:fPr>
                                <m:ctrlPr>
                                  <a:rPr lang="hu-HU" sz="1600" b="1" i="1">
                                    <a:solidFill>
                                      <a:schemeClr val="accent4">
                                        <a:lumMod val="50000"/>
                                      </a:schemeClr>
                                    </a:solidFill>
                                    <a:latin typeface="Cambria Math" panose="02040503050406030204" pitchFamily="18" charset="0"/>
                                  </a:rPr>
                                </m:ctrlPr>
                              </m:fPr>
                              <m:num>
                                <m:r>
                                  <a:rPr lang="hu-HU" sz="1600" b="1" i="1">
                                    <a:solidFill>
                                      <a:schemeClr val="accent4">
                                        <a:lumMod val="50000"/>
                                      </a:schemeClr>
                                    </a:solidFill>
                                    <a:latin typeface="Cambria Math" panose="02040503050406030204" pitchFamily="18" charset="0"/>
                                  </a:rPr>
                                  <m:t>𝟎</m:t>
                                </m:r>
                                <m:r>
                                  <a:rPr lang="hu-HU" sz="1600" b="1" i="1" smtClean="0">
                                    <a:solidFill>
                                      <a:schemeClr val="accent4">
                                        <a:lumMod val="50000"/>
                                      </a:schemeClr>
                                    </a:solidFill>
                                    <a:latin typeface="Cambria Math" panose="02040503050406030204" pitchFamily="18" charset="0"/>
                                  </a:rPr>
                                  <m:t>.</m:t>
                                </m:r>
                                <m:r>
                                  <a:rPr lang="hu-HU" sz="1600" b="1" i="1">
                                    <a:solidFill>
                                      <a:schemeClr val="accent4">
                                        <a:lumMod val="50000"/>
                                      </a:schemeClr>
                                    </a:solidFill>
                                    <a:latin typeface="Cambria Math" panose="02040503050406030204" pitchFamily="18" charset="0"/>
                                  </a:rPr>
                                  <m:t>𝟎𝟖𝟏</m:t>
                                </m:r>
                              </m:num>
                              <m:den>
                                <m:r>
                                  <a:rPr lang="hu-HU" sz="1600" b="1" i="1">
                                    <a:solidFill>
                                      <a:schemeClr val="accent4">
                                        <a:lumMod val="50000"/>
                                      </a:schemeClr>
                                    </a:solidFill>
                                    <a:latin typeface="Cambria Math" panose="02040503050406030204" pitchFamily="18" charset="0"/>
                                  </a:rPr>
                                  <m:t>𝟐</m:t>
                                </m:r>
                              </m:den>
                            </m:f>
                          </m:e>
                        </m:d>
                      </m:e>
                      <m:sup>
                        <m:r>
                          <a:rPr lang="hu-HU" sz="1600" b="1" i="1">
                            <a:solidFill>
                              <a:schemeClr val="accent4">
                                <a:lumMod val="50000"/>
                              </a:schemeClr>
                            </a:solidFill>
                            <a:latin typeface="Cambria Math" panose="02040503050406030204" pitchFamily="18" charset="0"/>
                          </a:rPr>
                          <m:t>𝟏</m:t>
                        </m:r>
                        <m:r>
                          <a:rPr lang="hu-HU" sz="1600" b="1" i="1" smtClean="0">
                            <a:solidFill>
                              <a:schemeClr val="accent4">
                                <a:lumMod val="50000"/>
                              </a:schemeClr>
                            </a:solidFill>
                            <a:latin typeface="Cambria Math" panose="02040503050406030204" pitchFamily="18" charset="0"/>
                          </a:rPr>
                          <m:t>,</m:t>
                        </m:r>
                        <m:r>
                          <a:rPr lang="hu-HU" sz="1600" b="1" i="1">
                            <a:solidFill>
                              <a:schemeClr val="accent4">
                                <a:lumMod val="50000"/>
                              </a:schemeClr>
                            </a:solidFill>
                            <a:latin typeface="Cambria Math" panose="02040503050406030204" pitchFamily="18" charset="0"/>
                          </a:rPr>
                          <m:t>𝟓</m:t>
                        </m:r>
                        <m:r>
                          <a:rPr lang="hu-HU" sz="1600" b="1" i="1">
                            <a:solidFill>
                              <a:schemeClr val="accent4">
                                <a:lumMod val="50000"/>
                              </a:schemeClr>
                            </a:solidFill>
                            <a:latin typeface="Cambria Math" panose="02040503050406030204" pitchFamily="18" charset="0"/>
                          </a:rPr>
                          <m:t>∙</m:t>
                        </m:r>
                        <m:r>
                          <a:rPr lang="hu-HU" sz="1600" b="1" i="1">
                            <a:solidFill>
                              <a:schemeClr val="accent4">
                                <a:lumMod val="50000"/>
                              </a:schemeClr>
                            </a:solidFill>
                            <a:latin typeface="Cambria Math" panose="02040503050406030204" pitchFamily="18" charset="0"/>
                          </a:rPr>
                          <m:t>𝟐</m:t>
                        </m:r>
                      </m:sup>
                    </m:sSup>
                    <m:r>
                      <a:rPr lang="hu-HU" sz="1600" b="1" i="1">
                        <a:solidFill>
                          <a:schemeClr val="accent4">
                            <a:lumMod val="50000"/>
                          </a:schemeClr>
                        </a:solidFill>
                        <a:latin typeface="Cambria Math" panose="02040503050406030204" pitchFamily="18" charset="0"/>
                      </a:rPr>
                      <m:t>=</m:t>
                    </m:r>
                    <m:r>
                      <a:rPr lang="hu-HU" sz="1600" b="1" i="1">
                        <a:solidFill>
                          <a:schemeClr val="accent4">
                            <a:lumMod val="50000"/>
                          </a:schemeClr>
                        </a:solidFill>
                        <a:latin typeface="Cambria Math" panose="02040503050406030204" pitchFamily="18" charset="0"/>
                      </a:rPr>
                      <m:t>𝟑</m:t>
                    </m:r>
                    <m:r>
                      <a:rPr lang="hu-HU" sz="1600" b="1" i="1" smtClean="0">
                        <a:solidFill>
                          <a:schemeClr val="accent4">
                            <a:lumMod val="50000"/>
                          </a:schemeClr>
                        </a:solidFill>
                        <a:latin typeface="Cambria Math" panose="02040503050406030204" pitchFamily="18" charset="0"/>
                      </a:rPr>
                      <m:t> </m:t>
                    </m:r>
                    <m:r>
                      <a:rPr lang="hu-HU" sz="1600" b="1" i="1">
                        <a:solidFill>
                          <a:schemeClr val="accent4">
                            <a:lumMod val="50000"/>
                          </a:schemeClr>
                        </a:solidFill>
                        <a:latin typeface="Cambria Math" panose="02040503050406030204" pitchFamily="18" charset="0"/>
                      </a:rPr>
                      <m:t>𝟑𝟕𝟗</m:t>
                    </m:r>
                    <m:r>
                      <a:rPr lang="hu-HU" sz="1600" b="1" i="1" smtClean="0">
                        <a:solidFill>
                          <a:schemeClr val="accent4">
                            <a:lumMod val="50000"/>
                          </a:schemeClr>
                        </a:solidFill>
                        <a:latin typeface="Cambria Math" panose="02040503050406030204" pitchFamily="18" charset="0"/>
                      </a:rPr>
                      <m:t> </m:t>
                    </m:r>
                    <m:r>
                      <a:rPr lang="hu-HU" sz="1600" b="1" i="1">
                        <a:solidFill>
                          <a:schemeClr val="accent4">
                            <a:lumMod val="50000"/>
                          </a:schemeClr>
                        </a:solidFill>
                        <a:latin typeface="Cambria Math" panose="02040503050406030204" pitchFamily="18" charset="0"/>
                      </a:rPr>
                      <m:t>𝟒𝟔𝟐</m:t>
                    </m:r>
                    <m:r>
                      <a:rPr lang="hu-HU" sz="1600" b="1" i="1">
                        <a:solidFill>
                          <a:schemeClr val="accent4">
                            <a:lumMod val="50000"/>
                          </a:schemeClr>
                        </a:solidFill>
                        <a:latin typeface="Cambria Math" panose="02040503050406030204" pitchFamily="18" charset="0"/>
                      </a:rPr>
                      <m:t> </m:t>
                    </m:r>
                    <m:r>
                      <a:rPr lang="hu-HU" sz="1600" b="1" i="1">
                        <a:solidFill>
                          <a:schemeClr val="accent4">
                            <a:lumMod val="50000"/>
                          </a:schemeClr>
                        </a:solidFill>
                        <a:latin typeface="Cambria Math" panose="02040503050406030204" pitchFamily="18" charset="0"/>
                      </a:rPr>
                      <m:t>𝑭𝒕</m:t>
                    </m:r>
                  </m:oMath>
                </a14:m>
                <a:endParaRPr lang="hu-HU" sz="1600" b="1" i="1" dirty="0">
                  <a:solidFill>
                    <a:schemeClr val="accent4">
                      <a:lumMod val="50000"/>
                    </a:schemeClr>
                  </a:solidFill>
                  <a:latin typeface="Cambria" panose="02040503050406030204" pitchFamily="18" charset="0"/>
                  <a:ea typeface="Cambria" panose="02040503050406030204" pitchFamily="18" charset="0"/>
                  <a:cs typeface="Arial" panose="020B0604020202020204" pitchFamily="34" charset="0"/>
                </a:endParaRPr>
              </a:p>
              <a:p>
                <a:endParaRPr lang="hu-HU" sz="1600" dirty="0">
                  <a:latin typeface="Cambria" panose="02040503050406030204" pitchFamily="18" charset="0"/>
                  <a:ea typeface="Cambria" panose="02040503050406030204" pitchFamily="18" charset="0"/>
                  <a:cs typeface="Arial" panose="020B0604020202020204" pitchFamily="34" charset="0"/>
                </a:endParaRPr>
              </a:p>
              <a:p>
                <a:r>
                  <a:rPr lang="hu-HU" sz="1600" b="1" i="1" dirty="0">
                    <a:solidFill>
                      <a:schemeClr val="accent5">
                        <a:lumMod val="75000"/>
                      </a:schemeClr>
                    </a:solidFill>
                    <a:latin typeface="Cambria" panose="02040503050406030204" pitchFamily="18" charset="0"/>
                    <a:ea typeface="Cambria" panose="02040503050406030204" pitchFamily="18" charset="0"/>
                    <a:cs typeface="Arial" panose="020B0604020202020204" pitchFamily="34" charset="0"/>
                  </a:rPr>
                  <a:t>Hegyoldal Bank:</a:t>
                </a:r>
                <a14:m>
                  <m:oMath xmlns:m="http://schemas.openxmlformats.org/officeDocument/2006/math">
                    <m:r>
                      <a:rPr lang="hu-HU" sz="1600" b="1" i="1">
                        <a:solidFill>
                          <a:schemeClr val="accent5">
                            <a:lumMod val="75000"/>
                          </a:schemeClr>
                        </a:solidFill>
                        <a:latin typeface="Cambria Math" panose="02040503050406030204" pitchFamily="18" charset="0"/>
                      </a:rPr>
                      <m:t>  </m:t>
                    </m:r>
                    <m:r>
                      <a:rPr lang="hu-HU" sz="1600" b="1" i="1">
                        <a:solidFill>
                          <a:schemeClr val="accent5">
                            <a:lumMod val="75000"/>
                          </a:schemeClr>
                        </a:solidFill>
                        <a:latin typeface="Cambria Math" panose="02040503050406030204" pitchFamily="18" charset="0"/>
                      </a:rPr>
                      <m:t>𝑭𝑽</m:t>
                    </m:r>
                    <m:r>
                      <a:rPr lang="hu-HU" sz="1600" b="1" i="1">
                        <a:solidFill>
                          <a:schemeClr val="accent5">
                            <a:lumMod val="75000"/>
                          </a:schemeClr>
                        </a:solidFill>
                        <a:latin typeface="Cambria Math" panose="02040503050406030204" pitchFamily="18" charset="0"/>
                      </a:rPr>
                      <m:t>=</m:t>
                    </m:r>
                    <m:r>
                      <a:rPr lang="hu-HU" sz="1600" b="1" i="1">
                        <a:solidFill>
                          <a:schemeClr val="accent5">
                            <a:lumMod val="75000"/>
                          </a:schemeClr>
                        </a:solidFill>
                        <a:latin typeface="Cambria Math" panose="02040503050406030204" pitchFamily="18" charset="0"/>
                      </a:rPr>
                      <m:t>𝟑</m:t>
                    </m:r>
                    <m:r>
                      <a:rPr lang="hu-HU" sz="1600" b="1" i="1">
                        <a:solidFill>
                          <a:schemeClr val="accent5">
                            <a:lumMod val="75000"/>
                          </a:schemeClr>
                        </a:solidFill>
                        <a:latin typeface="Cambria Math" panose="02040503050406030204" pitchFamily="18" charset="0"/>
                      </a:rPr>
                      <m:t> </m:t>
                    </m:r>
                    <m:r>
                      <a:rPr lang="hu-HU" sz="1600" b="1" i="1">
                        <a:solidFill>
                          <a:schemeClr val="accent5">
                            <a:lumMod val="75000"/>
                          </a:schemeClr>
                        </a:solidFill>
                        <a:latin typeface="Cambria Math" panose="02040503050406030204" pitchFamily="18" charset="0"/>
                      </a:rPr>
                      <m:t>𝟎𝟎𝟎</m:t>
                    </m:r>
                    <m:r>
                      <a:rPr lang="hu-HU" sz="1600" b="1" i="1">
                        <a:solidFill>
                          <a:schemeClr val="accent5">
                            <a:lumMod val="75000"/>
                          </a:schemeClr>
                        </a:solidFill>
                        <a:latin typeface="Cambria Math" panose="02040503050406030204" pitchFamily="18" charset="0"/>
                      </a:rPr>
                      <m:t> </m:t>
                    </m:r>
                    <m:r>
                      <a:rPr lang="hu-HU" sz="1600" b="1" i="1">
                        <a:solidFill>
                          <a:schemeClr val="accent5">
                            <a:lumMod val="75000"/>
                          </a:schemeClr>
                        </a:solidFill>
                        <a:latin typeface="Cambria Math" panose="02040503050406030204" pitchFamily="18" charset="0"/>
                      </a:rPr>
                      <m:t>𝟎𝟎𝟎</m:t>
                    </m:r>
                    <m:r>
                      <a:rPr lang="hu-HU" sz="1600" b="1" i="1">
                        <a:solidFill>
                          <a:schemeClr val="accent5">
                            <a:lumMod val="75000"/>
                          </a:schemeClr>
                        </a:solidFill>
                        <a:latin typeface="Cambria Math" panose="02040503050406030204" pitchFamily="18" charset="0"/>
                      </a:rPr>
                      <m:t>∙</m:t>
                    </m:r>
                    <m:d>
                      <m:dPr>
                        <m:ctrlPr>
                          <a:rPr lang="hu-HU" sz="1600" b="1" i="1">
                            <a:solidFill>
                              <a:schemeClr val="accent5">
                                <a:lumMod val="75000"/>
                              </a:schemeClr>
                            </a:solidFill>
                            <a:latin typeface="Cambria Math" panose="02040503050406030204" pitchFamily="18" charset="0"/>
                          </a:rPr>
                        </m:ctrlPr>
                      </m:dPr>
                      <m:e>
                        <m:r>
                          <a:rPr lang="hu-HU" sz="1600" b="1" i="1">
                            <a:solidFill>
                              <a:schemeClr val="accent5">
                                <a:lumMod val="75000"/>
                              </a:schemeClr>
                            </a:solidFill>
                            <a:latin typeface="Cambria Math" panose="02040503050406030204" pitchFamily="18" charset="0"/>
                          </a:rPr>
                          <m:t>𝟏</m:t>
                        </m:r>
                        <m:r>
                          <a:rPr lang="hu-HU" sz="1600" b="1" i="1">
                            <a:solidFill>
                              <a:schemeClr val="accent5">
                                <a:lumMod val="75000"/>
                              </a:schemeClr>
                            </a:solidFill>
                            <a:latin typeface="Cambria Math" panose="02040503050406030204" pitchFamily="18" charset="0"/>
                          </a:rPr>
                          <m:t>+</m:t>
                        </m:r>
                        <m:r>
                          <a:rPr lang="hu-HU" sz="1600" b="1" i="1">
                            <a:solidFill>
                              <a:schemeClr val="accent5">
                                <a:lumMod val="75000"/>
                              </a:schemeClr>
                            </a:solidFill>
                            <a:latin typeface="Cambria Math" panose="02040503050406030204" pitchFamily="18" charset="0"/>
                          </a:rPr>
                          <m:t>𝟏</m:t>
                        </m:r>
                        <m:r>
                          <a:rPr lang="hu-HU" sz="1600" b="1" i="1" smtClean="0">
                            <a:solidFill>
                              <a:schemeClr val="accent5">
                                <a:lumMod val="75000"/>
                              </a:schemeClr>
                            </a:solidFill>
                            <a:latin typeface="Cambria Math" panose="02040503050406030204" pitchFamily="18" charset="0"/>
                          </a:rPr>
                          <m:t>,</m:t>
                        </m:r>
                        <m:r>
                          <a:rPr lang="hu-HU" sz="1600" b="1" i="1">
                            <a:solidFill>
                              <a:schemeClr val="accent5">
                                <a:lumMod val="75000"/>
                              </a:schemeClr>
                            </a:solidFill>
                            <a:latin typeface="Cambria Math" panose="02040503050406030204" pitchFamily="18" charset="0"/>
                          </a:rPr>
                          <m:t>𝟓</m:t>
                        </m:r>
                        <m:r>
                          <a:rPr lang="hu-HU" sz="1600" b="1" i="1">
                            <a:solidFill>
                              <a:schemeClr val="accent5">
                                <a:lumMod val="75000"/>
                              </a:schemeClr>
                            </a:solidFill>
                            <a:latin typeface="Cambria Math" panose="02040503050406030204" pitchFamily="18" charset="0"/>
                          </a:rPr>
                          <m:t>∙</m:t>
                        </m:r>
                        <m:r>
                          <a:rPr lang="hu-HU" sz="1600" b="1" i="1">
                            <a:solidFill>
                              <a:schemeClr val="accent5">
                                <a:lumMod val="75000"/>
                              </a:schemeClr>
                            </a:solidFill>
                            <a:latin typeface="Cambria Math" panose="02040503050406030204" pitchFamily="18" charset="0"/>
                          </a:rPr>
                          <m:t>𝟎</m:t>
                        </m:r>
                        <m:r>
                          <a:rPr lang="hu-HU" sz="1600" b="1" i="1" smtClean="0">
                            <a:solidFill>
                              <a:schemeClr val="accent5">
                                <a:lumMod val="75000"/>
                              </a:schemeClr>
                            </a:solidFill>
                            <a:latin typeface="Cambria Math" panose="02040503050406030204" pitchFamily="18" charset="0"/>
                          </a:rPr>
                          <m:t>,</m:t>
                        </m:r>
                        <m:r>
                          <a:rPr lang="hu-HU" sz="1600" b="1" i="1">
                            <a:solidFill>
                              <a:schemeClr val="accent5">
                                <a:lumMod val="75000"/>
                              </a:schemeClr>
                            </a:solidFill>
                            <a:latin typeface="Cambria Math" panose="02040503050406030204" pitchFamily="18" charset="0"/>
                          </a:rPr>
                          <m:t>𝟎𝟖𝟐</m:t>
                        </m:r>
                      </m:e>
                    </m:d>
                    <m:r>
                      <a:rPr lang="hu-HU" sz="1600" b="1" i="1">
                        <a:solidFill>
                          <a:schemeClr val="accent5">
                            <a:lumMod val="75000"/>
                          </a:schemeClr>
                        </a:solidFill>
                        <a:latin typeface="Cambria Math" panose="02040503050406030204" pitchFamily="18" charset="0"/>
                      </a:rPr>
                      <m:t>=</m:t>
                    </m:r>
                    <m:r>
                      <a:rPr lang="hu-HU" sz="1600" b="1" i="1">
                        <a:solidFill>
                          <a:schemeClr val="accent5">
                            <a:lumMod val="75000"/>
                          </a:schemeClr>
                        </a:solidFill>
                        <a:latin typeface="Cambria Math" panose="02040503050406030204" pitchFamily="18" charset="0"/>
                      </a:rPr>
                      <m:t>𝟑</m:t>
                    </m:r>
                    <m:r>
                      <a:rPr lang="hu-HU" sz="1600" b="1" i="1" smtClean="0">
                        <a:solidFill>
                          <a:schemeClr val="accent5">
                            <a:lumMod val="75000"/>
                          </a:schemeClr>
                        </a:solidFill>
                        <a:latin typeface="Cambria Math" panose="02040503050406030204" pitchFamily="18" charset="0"/>
                      </a:rPr>
                      <m:t> </m:t>
                    </m:r>
                    <m:r>
                      <a:rPr lang="hu-HU" sz="1600" b="1" i="1">
                        <a:solidFill>
                          <a:schemeClr val="accent5">
                            <a:lumMod val="75000"/>
                          </a:schemeClr>
                        </a:solidFill>
                        <a:latin typeface="Cambria Math" panose="02040503050406030204" pitchFamily="18" charset="0"/>
                      </a:rPr>
                      <m:t>𝟑𝟔𝟗</m:t>
                    </m:r>
                    <m:r>
                      <a:rPr lang="hu-HU" sz="1600" b="1" i="1" smtClean="0">
                        <a:solidFill>
                          <a:schemeClr val="accent5">
                            <a:lumMod val="75000"/>
                          </a:schemeClr>
                        </a:solidFill>
                        <a:latin typeface="Cambria Math" panose="02040503050406030204" pitchFamily="18" charset="0"/>
                      </a:rPr>
                      <m:t> </m:t>
                    </m:r>
                    <m:r>
                      <a:rPr lang="hu-HU" sz="1600" b="1" i="1">
                        <a:solidFill>
                          <a:schemeClr val="accent5">
                            <a:lumMod val="75000"/>
                          </a:schemeClr>
                        </a:solidFill>
                        <a:latin typeface="Cambria Math" panose="02040503050406030204" pitchFamily="18" charset="0"/>
                      </a:rPr>
                      <m:t>𝟎𝟎𝟎</m:t>
                    </m:r>
                    <m:r>
                      <a:rPr lang="hu-HU" sz="1600" b="1" i="1">
                        <a:solidFill>
                          <a:schemeClr val="accent5">
                            <a:lumMod val="75000"/>
                          </a:schemeClr>
                        </a:solidFill>
                        <a:latin typeface="Cambria Math" panose="02040503050406030204" pitchFamily="18" charset="0"/>
                      </a:rPr>
                      <m:t> </m:t>
                    </m:r>
                    <m:r>
                      <a:rPr lang="hu-HU" sz="1600" b="1" i="1">
                        <a:solidFill>
                          <a:schemeClr val="accent5">
                            <a:lumMod val="75000"/>
                          </a:schemeClr>
                        </a:solidFill>
                        <a:latin typeface="Cambria Math" panose="02040503050406030204" pitchFamily="18" charset="0"/>
                      </a:rPr>
                      <m:t>𝑭𝒕</m:t>
                    </m:r>
                  </m:oMath>
                </a14:m>
                <a:endParaRPr lang="hu-HU" sz="1600" b="1" i="1" dirty="0">
                  <a:solidFill>
                    <a:schemeClr val="accent5">
                      <a:lumMod val="75000"/>
                    </a:schemeClr>
                  </a:solidFill>
                  <a:latin typeface="Cambria" panose="02040503050406030204" pitchFamily="18" charset="0"/>
                  <a:ea typeface="Cambria" panose="02040503050406030204" pitchFamily="18" charset="0"/>
                  <a:cs typeface="Arial" panose="020B0604020202020204" pitchFamily="34" charset="0"/>
                </a:endParaRPr>
              </a:p>
            </p:txBody>
          </p:sp>
        </mc:Choice>
        <mc:Fallback xmlns="">
          <p:sp>
            <p:nvSpPr>
              <p:cNvPr id="3" name="Tartalom helye 5">
                <a:extLst>
                  <a:ext uri="{FF2B5EF4-FFF2-40B4-BE49-F238E27FC236}">
                    <a16:creationId xmlns:a16="http://schemas.microsoft.com/office/drawing/2014/main" id="{C47B6AEC-8F6C-5BD7-7938-5EC964C39B15}"/>
                  </a:ext>
                </a:extLst>
              </p:cNvPr>
              <p:cNvSpPr txBox="1">
                <a:spLocks noRot="1" noChangeAspect="1" noMove="1" noResize="1" noEditPoints="1" noAdjustHandles="1" noChangeArrowheads="1" noChangeShapeType="1" noTextEdit="1"/>
              </p:cNvSpPr>
              <p:nvPr/>
            </p:nvSpPr>
            <p:spPr>
              <a:xfrm>
                <a:off x="219608" y="3331756"/>
                <a:ext cx="8586639" cy="1730574"/>
              </a:xfrm>
              <a:prstGeom prst="rect">
                <a:avLst/>
              </a:prstGeom>
              <a:blipFill>
                <a:blip r:embed="rId2"/>
                <a:stretch>
                  <a:fillRect l="-283" b="-702"/>
                </a:stretch>
              </a:blipFill>
              <a:ln w="12700" cap="flat" cmpd="sng" algn="ctr">
                <a:solidFill>
                  <a:schemeClr val="accent1"/>
                </a:solidFill>
                <a:prstDash val="solid"/>
              </a:ln>
            </p:spPr>
            <p:txBody>
              <a:bodyPr/>
              <a:lstStyle/>
              <a:p>
                <a:r>
                  <a:rPr lang="hu-HU">
                    <a:noFill/>
                  </a:rPr>
                  <a:t> </a:t>
                </a:r>
              </a:p>
            </p:txBody>
          </p:sp>
        </mc:Fallback>
      </mc:AlternateContent>
      <p:sp>
        <p:nvSpPr>
          <p:cNvPr id="4" name="Ellipszis 3">
            <a:extLst>
              <a:ext uri="{FF2B5EF4-FFF2-40B4-BE49-F238E27FC236}">
                <a16:creationId xmlns:a16="http://schemas.microsoft.com/office/drawing/2014/main" id="{16E943C9-B48F-BE0D-8B71-83FDDACDB7B1}"/>
              </a:ext>
            </a:extLst>
          </p:cNvPr>
          <p:cNvSpPr/>
          <p:nvPr/>
        </p:nvSpPr>
        <p:spPr>
          <a:xfrm>
            <a:off x="125895" y="3253409"/>
            <a:ext cx="6579705" cy="72224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329914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heel(1)">
                                      <p:cBhvr>
                                        <p:cTn id="2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BF8C4-2689-66BA-C15C-A81415852127}"/>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C6CD181D-0740-A50E-69B1-867E0ED994D9}"/>
              </a:ext>
            </a:extLst>
          </p:cNvPr>
          <p:cNvSpPr>
            <a:spLocks noGrp="1"/>
          </p:cNvSpPr>
          <p:nvPr>
            <p:ph type="title"/>
          </p:nvPr>
        </p:nvSpPr>
        <p:spPr>
          <a:xfrm>
            <a:off x="0" y="0"/>
            <a:ext cx="9144000" cy="531846"/>
          </a:xfrm>
          <a:solidFill>
            <a:srgbClr val="FFC000"/>
          </a:solidFill>
        </p:spPr>
        <p:txBody>
          <a:bodyPr anchor="ctr" anchorCtr="0"/>
          <a:lstStyle/>
          <a:p>
            <a:r>
              <a:rPr lang="hu-HU" dirty="0"/>
              <a:t>5. feladat</a:t>
            </a:r>
          </a:p>
        </p:txBody>
      </p:sp>
      <p:sp>
        <p:nvSpPr>
          <p:cNvPr id="2" name="TextBox 1">
            <a:extLst>
              <a:ext uri="{FF2B5EF4-FFF2-40B4-BE49-F238E27FC236}">
                <a16:creationId xmlns:a16="http://schemas.microsoft.com/office/drawing/2014/main" id="{4F3AC784-A2EA-68D0-A70E-BC3FFA07227F}"/>
              </a:ext>
            </a:extLst>
          </p:cNvPr>
          <p:cNvSpPr txBox="1"/>
          <p:nvPr/>
        </p:nvSpPr>
        <p:spPr>
          <a:xfrm>
            <a:off x="260799" y="746955"/>
            <a:ext cx="8751396" cy="3046988"/>
          </a:xfrm>
          <a:prstGeom prst="rect">
            <a:avLst/>
          </a:prstGeom>
          <a:noFill/>
        </p:spPr>
        <p:txBody>
          <a:bodyPr wrap="square" rtlCol="0">
            <a:spAutoFit/>
          </a:bodyPr>
          <a:lstStyle/>
          <a:p>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A Hegycsúcs Bank egyik népszerű betéti terméke 8%-os névleges kamatot biztosít éves szinten, a kamatot havonta tőkésítik. A piaci verseny fokozódása miatt a Hegyalja Bank új betéti terméket kíván meghirdetni 8,1%-os névleges kamattal, azonban a kisbetűs részben az szerepel, hogy itt a tőkésítés csak félévente esedékes. A Hegyoldal Bank tovább emelte a névleges kamatot, 8,2%-os névleges kamatot ígér, de csak egyszerű kamatozás mellett. 3 millió Ft megtakarítást szeretnénk befektetni.</a:t>
            </a:r>
          </a:p>
          <a:p>
            <a:pPr marL="228600" indent="-228600">
              <a:buAutoNum type="alphaLcParenR"/>
            </a:pP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Jövőérték számítás segítségével döntsük el, melyik bankbetéttel járunk jól, ha másfél éves időtávra szeretnék befektetni.</a:t>
            </a:r>
          </a:p>
          <a:p>
            <a:pPr marL="228600" indent="-228600">
              <a:buAutoNum type="alphaLcParenR"/>
            </a:pPr>
            <a:r>
              <a:rPr lang="hu-HU" sz="1600" b="1" dirty="0">
                <a:solidFill>
                  <a:srgbClr val="C00000"/>
                </a:solidFill>
                <a:latin typeface="Cambria" panose="02040503050406030204" pitchFamily="18" charset="0"/>
                <a:ea typeface="Cambria" panose="02040503050406030204" pitchFamily="18" charset="0"/>
                <a:cs typeface="Arial" panose="020B0604020202020204" pitchFamily="34" charset="0"/>
              </a:rPr>
              <a:t>Ha 3 millió forint helyett 10 millió forintot helyeznénk el ugyanezekben a konstrukciókban, változna-e a döntésünk? Miért?</a:t>
            </a:r>
          </a:p>
          <a:p>
            <a:pPr marL="228600" indent="-228600">
              <a:buAutoNum type="alphaLcParenR"/>
            </a:pPr>
            <a:r>
              <a:rPr lang="hu-HU" sz="1600" b="1" dirty="0">
                <a:solidFill>
                  <a:srgbClr val="C00000"/>
                </a:solidFill>
                <a:latin typeface="Cambria" panose="02040503050406030204" pitchFamily="18" charset="0"/>
                <a:ea typeface="Cambria" panose="02040503050406030204" pitchFamily="18" charset="0"/>
                <a:cs typeface="Arial" panose="020B0604020202020204" pitchFamily="34" charset="0"/>
              </a:rPr>
              <a:t>Milyen hatással lenne az időtáv növelése (pl. 10 évre), ha a bankok ugyanazt a kondíciót tartanák? Hogyan változna a sorrend?</a:t>
            </a:r>
          </a:p>
        </p:txBody>
      </p:sp>
      <p:sp>
        <p:nvSpPr>
          <p:cNvPr id="3" name="Tartalom helye 5">
            <a:extLst>
              <a:ext uri="{FF2B5EF4-FFF2-40B4-BE49-F238E27FC236}">
                <a16:creationId xmlns:a16="http://schemas.microsoft.com/office/drawing/2014/main" id="{2329419C-A07C-1CAF-DD43-1211FEBED218}"/>
              </a:ext>
            </a:extLst>
          </p:cNvPr>
          <p:cNvSpPr txBox="1">
            <a:spLocks/>
          </p:cNvSpPr>
          <p:nvPr/>
        </p:nvSpPr>
        <p:spPr>
          <a:xfrm>
            <a:off x="260799" y="4009053"/>
            <a:ext cx="8751396" cy="1040851"/>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pPr marL="171450" indent="-171450">
              <a:buFont typeface="Arial" panose="020B0604020202020204" pitchFamily="34" charset="0"/>
              <a:buChar char="•"/>
            </a:pP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Nem</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 a magasabb befektetett összeg csak arányosan növeli a jövőértéket, a konstrukciók közötti sorrenden nem változtat.</a:t>
            </a:r>
          </a:p>
          <a:p>
            <a:pPr marL="171450" indent="-171450">
              <a:buFont typeface="Arial" panose="020B0604020202020204" pitchFamily="34" charset="0"/>
              <a:buChar char="•"/>
            </a:pP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A </a:t>
            </a:r>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sorrend nem változna</a:t>
            </a:r>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 de a jövőértékek közötti különbségek hosszabb időtávon jelentősen felerősödnének.</a:t>
            </a:r>
          </a:p>
          <a:p>
            <a:endParaRPr lang="hu-HU" dirty="0"/>
          </a:p>
        </p:txBody>
      </p:sp>
    </p:spTree>
    <p:extLst>
      <p:ext uri="{BB962C8B-B14F-4D97-AF65-F5344CB8AC3E}">
        <p14:creationId xmlns:p14="http://schemas.microsoft.com/office/powerpoint/2010/main" val="403863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74A80-8509-6BCF-9559-6E1372F567CD}"/>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6650BFFB-F0AC-29A2-2B76-2DB941ADE075}"/>
              </a:ext>
            </a:extLst>
          </p:cNvPr>
          <p:cNvSpPr>
            <a:spLocks noGrp="1"/>
          </p:cNvSpPr>
          <p:nvPr>
            <p:ph type="title"/>
          </p:nvPr>
        </p:nvSpPr>
        <p:spPr>
          <a:xfrm>
            <a:off x="0" y="0"/>
            <a:ext cx="9144000" cy="531846"/>
          </a:xfrm>
          <a:solidFill>
            <a:srgbClr val="FFC000"/>
          </a:solidFill>
        </p:spPr>
        <p:txBody>
          <a:bodyPr anchor="ctr" anchorCtr="0"/>
          <a:lstStyle/>
          <a:p>
            <a:r>
              <a:rPr lang="hu-HU" dirty="0"/>
              <a:t>5. feladat</a:t>
            </a:r>
          </a:p>
        </p:txBody>
      </p:sp>
      <p:sp>
        <p:nvSpPr>
          <p:cNvPr id="2" name="TextBox 1">
            <a:extLst>
              <a:ext uri="{FF2B5EF4-FFF2-40B4-BE49-F238E27FC236}">
                <a16:creationId xmlns:a16="http://schemas.microsoft.com/office/drawing/2014/main" id="{C5A39D2D-CDAB-0789-30B6-7CA01AAE82BD}"/>
              </a:ext>
            </a:extLst>
          </p:cNvPr>
          <p:cNvSpPr txBox="1"/>
          <p:nvPr/>
        </p:nvSpPr>
        <p:spPr>
          <a:xfrm>
            <a:off x="288323" y="614020"/>
            <a:ext cx="8512889" cy="2062103"/>
          </a:xfrm>
          <a:prstGeom prst="rect">
            <a:avLst/>
          </a:prstGeom>
          <a:noFill/>
        </p:spPr>
        <p:txBody>
          <a:bodyPr wrap="square" rtlCol="0">
            <a:spAutoFit/>
          </a:bodyPr>
          <a:lstStyle/>
          <a:p>
            <a:r>
              <a:rPr lang="hu-HU" sz="1600" dirty="0">
                <a:solidFill>
                  <a:srgbClr val="002060"/>
                </a:solidFill>
                <a:latin typeface="Cambria" panose="02040503050406030204" pitchFamily="18" charset="0"/>
                <a:ea typeface="Cambria" panose="02040503050406030204" pitchFamily="18" charset="0"/>
                <a:cs typeface="Arial" panose="020B0604020202020204" pitchFamily="34" charset="0"/>
              </a:rPr>
              <a:t>A Hegycsúcs Bank egyik népszerű betéti terméke 8%-os névleges kamatot biztosít éves szinten, a kamatot havonta tőkésítik. A piaci verseny fokozódása miatt a Hegyalja Bank új betéti terméket kíván meghirdetni 8,1%-os névleges kamattal, azonban a kisbetűs részben az szerepel, hogy itt a tőkésítés csak félévente esedékes. A Hegyoldal Bank tovább emelte a névleges kamatot, 8,2%-os névleges kamatot ígér, de csak egyszerű kamatozás mellett. 3 millió Ft megtakarítást szeretnénk befektetni.</a:t>
            </a:r>
          </a:p>
          <a:p>
            <a:r>
              <a:rPr lang="hu-HU" sz="1600" b="1" dirty="0">
                <a:solidFill>
                  <a:srgbClr val="002060"/>
                </a:solidFill>
                <a:latin typeface="Cambria" panose="02040503050406030204" pitchFamily="18" charset="0"/>
                <a:ea typeface="Cambria" panose="02040503050406030204" pitchFamily="18" charset="0"/>
                <a:cs typeface="Arial" panose="020B0604020202020204" pitchFamily="34" charset="0"/>
              </a:rPr>
              <a:t>d) Hány évig kellene tartanunk a megtakarításunkat a Hegyoldal Banknál, ha szeretnénk azt megduplázni? </a:t>
            </a:r>
          </a:p>
        </p:txBody>
      </p:sp>
      <mc:AlternateContent xmlns:mc="http://schemas.openxmlformats.org/markup-compatibility/2006" xmlns:a14="http://schemas.microsoft.com/office/drawing/2010/main">
        <mc:Choice Requires="a14">
          <p:sp>
            <p:nvSpPr>
              <p:cNvPr id="4" name="Tartalom helye 5">
                <a:extLst>
                  <a:ext uri="{FF2B5EF4-FFF2-40B4-BE49-F238E27FC236}">
                    <a16:creationId xmlns:a16="http://schemas.microsoft.com/office/drawing/2014/main" id="{B081C2A7-E56C-B88A-DB69-2EB8F7617FAE}"/>
                  </a:ext>
                </a:extLst>
              </p:cNvPr>
              <p:cNvSpPr txBox="1">
                <a:spLocks/>
              </p:cNvSpPr>
              <p:nvPr/>
            </p:nvSpPr>
            <p:spPr>
              <a:xfrm>
                <a:off x="288323" y="2676123"/>
                <a:ext cx="8512889" cy="1673203"/>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pPr/>
                <a14:m>
                  <m:oMathPara xmlns:m="http://schemas.openxmlformats.org/officeDocument/2006/math">
                    <m:oMathParaPr>
                      <m:jc m:val="left"/>
                    </m:oMathParaPr>
                    <m:oMath xmlns:m="http://schemas.openxmlformats.org/officeDocument/2006/math">
                      <m:sSub>
                        <m:sSubPr>
                          <m:ctrlPr>
                            <a:rPr lang="hu-HU" i="1" smtClean="0">
                              <a:latin typeface="Cambria Math" panose="02040503050406030204" pitchFamily="18" charset="0"/>
                            </a:rPr>
                          </m:ctrlPr>
                        </m:sSubPr>
                        <m:e>
                          <m:r>
                            <a:rPr lang="hu-HU" i="1">
                              <a:latin typeface="Cambria Math" panose="02040503050406030204" pitchFamily="18" charset="0"/>
                            </a:rPr>
                            <m:t>𝑭𝑽</m:t>
                          </m:r>
                        </m:e>
                        <m:sub>
                          <m:r>
                            <a:rPr lang="hu-HU" i="1">
                              <a:latin typeface="Cambria Math" panose="02040503050406030204" pitchFamily="18" charset="0"/>
                            </a:rPr>
                            <m:t>𝒕</m:t>
                          </m:r>
                        </m:sub>
                      </m:sSub>
                      <m:r>
                        <a:rPr lang="hu-HU" i="1">
                          <a:latin typeface="Cambria Math" panose="02040503050406030204" pitchFamily="18" charset="0"/>
                        </a:rPr>
                        <m:t>=</m:t>
                      </m:r>
                      <m:r>
                        <a:rPr lang="hu-HU" i="1">
                          <a:latin typeface="Cambria Math" panose="02040503050406030204" pitchFamily="18" charset="0"/>
                        </a:rPr>
                        <m:t>𝑷𝑽</m:t>
                      </m:r>
                      <m:r>
                        <a:rPr lang="hu-HU" i="1">
                          <a:latin typeface="Cambria Math" panose="02040503050406030204" pitchFamily="18" charset="0"/>
                        </a:rPr>
                        <m:t>∙</m:t>
                      </m:r>
                      <m:r>
                        <a:rPr lang="hu-HU" b="1" i="1" smtClean="0">
                          <a:latin typeface="Cambria Math" panose="02040503050406030204" pitchFamily="18" charset="0"/>
                        </a:rPr>
                        <m:t>𝑭𝑽𝑰𝑭</m:t>
                      </m:r>
                      <m:r>
                        <a:rPr lang="hu-HU" b="0" i="1" smtClean="0">
                          <a:latin typeface="Cambria Math" panose="02040503050406030204" pitchFamily="18" charset="0"/>
                        </a:rPr>
                        <m:t>                       </m:t>
                      </m:r>
                      <m:r>
                        <a:rPr lang="hu-HU" b="0" i="1" smtClean="0">
                          <a:latin typeface="Cambria Math" panose="02040503050406030204" pitchFamily="18" charset="0"/>
                        </a:rPr>
                        <m:t>𝐺</m:t>
                      </m:r>
                      <m:r>
                        <a:rPr lang="hu-HU" b="0" i="1" smtClean="0">
                          <a:latin typeface="Cambria Math" panose="02040503050406030204" pitchFamily="18" charset="0"/>
                        </a:rPr>
                        <m:t>=</m:t>
                      </m:r>
                      <m:f>
                        <m:fPr>
                          <m:ctrlPr>
                            <a:rPr lang="hu-HU" i="1">
                              <a:latin typeface="Cambria Math" panose="02040503050406030204" pitchFamily="18" charset="0"/>
                            </a:rPr>
                          </m:ctrlPr>
                        </m:fPr>
                        <m:num>
                          <m:sSub>
                            <m:sSubPr>
                              <m:ctrlPr>
                                <a:rPr lang="hu-HU" i="1">
                                  <a:latin typeface="Cambria Math" panose="02040503050406030204" pitchFamily="18" charset="0"/>
                                </a:rPr>
                              </m:ctrlPr>
                            </m:sSubPr>
                            <m:e>
                              <m:r>
                                <a:rPr lang="hu-HU" i="1">
                                  <a:latin typeface="Cambria Math" panose="02040503050406030204" pitchFamily="18" charset="0"/>
                                </a:rPr>
                                <m:t>𝑭𝑽</m:t>
                              </m:r>
                            </m:e>
                            <m:sub>
                              <m:r>
                                <a:rPr lang="hu-HU" i="1">
                                  <a:latin typeface="Cambria Math" panose="02040503050406030204" pitchFamily="18" charset="0"/>
                                </a:rPr>
                                <m:t>𝒕</m:t>
                              </m:r>
                            </m:sub>
                          </m:sSub>
                        </m:num>
                        <m:den>
                          <m:r>
                            <a:rPr lang="hu-HU" i="1">
                              <a:latin typeface="Cambria Math" panose="02040503050406030204" pitchFamily="18" charset="0"/>
                            </a:rPr>
                            <m:t>𝑷𝑽</m:t>
                          </m:r>
                        </m:den>
                      </m:f>
                      <m:r>
                        <a:rPr lang="hu-HU" i="1">
                          <a:latin typeface="Cambria Math" panose="02040503050406030204" pitchFamily="18" charset="0"/>
                        </a:rPr>
                        <m:t>=</m:t>
                      </m:r>
                      <m:f>
                        <m:fPr>
                          <m:ctrlPr>
                            <a:rPr lang="hu-HU" i="1">
                              <a:latin typeface="Cambria Math" panose="02040503050406030204" pitchFamily="18" charset="0"/>
                            </a:rPr>
                          </m:ctrlPr>
                        </m:fPr>
                        <m:num>
                          <m:r>
                            <a:rPr lang="hu-HU" i="1">
                              <a:latin typeface="Cambria Math" panose="02040503050406030204" pitchFamily="18" charset="0"/>
                            </a:rPr>
                            <m:t>𝟔</m:t>
                          </m:r>
                          <m:r>
                            <a:rPr lang="hu-HU" b="0" i="1" smtClean="0">
                              <a:latin typeface="Cambria Math" panose="02040503050406030204" pitchFamily="18" charset="0"/>
                            </a:rPr>
                            <m:t> </m:t>
                          </m:r>
                          <m:r>
                            <a:rPr lang="hu-HU" i="1">
                              <a:latin typeface="Cambria Math" panose="02040503050406030204" pitchFamily="18" charset="0"/>
                            </a:rPr>
                            <m:t>𝟎𝟎𝟎</m:t>
                          </m:r>
                          <m:r>
                            <a:rPr lang="hu-HU" b="0" i="1" smtClean="0">
                              <a:latin typeface="Cambria Math" panose="02040503050406030204" pitchFamily="18" charset="0"/>
                            </a:rPr>
                            <m:t> </m:t>
                          </m:r>
                          <m:r>
                            <a:rPr lang="hu-HU" i="1">
                              <a:latin typeface="Cambria Math" panose="02040503050406030204" pitchFamily="18" charset="0"/>
                            </a:rPr>
                            <m:t>𝟎𝟎𝟎</m:t>
                          </m:r>
                        </m:num>
                        <m:den>
                          <m:r>
                            <a:rPr lang="hu-HU" i="1">
                              <a:latin typeface="Cambria Math" panose="02040503050406030204" pitchFamily="18" charset="0"/>
                            </a:rPr>
                            <m:t>𝟑</m:t>
                          </m:r>
                          <m:r>
                            <a:rPr lang="hu-HU" b="0" i="1" smtClean="0">
                              <a:latin typeface="Cambria Math" panose="02040503050406030204" pitchFamily="18" charset="0"/>
                            </a:rPr>
                            <m:t> </m:t>
                          </m:r>
                          <m:r>
                            <a:rPr lang="hu-HU" i="1">
                              <a:latin typeface="Cambria Math" panose="02040503050406030204" pitchFamily="18" charset="0"/>
                            </a:rPr>
                            <m:t>𝟎𝟎𝟎</m:t>
                          </m:r>
                          <m:r>
                            <a:rPr lang="hu-HU" b="0" i="1" smtClean="0">
                              <a:latin typeface="Cambria Math" panose="02040503050406030204" pitchFamily="18" charset="0"/>
                            </a:rPr>
                            <m:t> </m:t>
                          </m:r>
                          <m:r>
                            <a:rPr lang="hu-HU" i="1">
                              <a:latin typeface="Cambria Math" panose="02040503050406030204" pitchFamily="18" charset="0"/>
                            </a:rPr>
                            <m:t>𝟎𝟎𝟎</m:t>
                          </m:r>
                        </m:den>
                      </m:f>
                      <m:r>
                        <a:rPr lang="hu-HU" i="1">
                          <a:latin typeface="Cambria Math" panose="02040503050406030204" pitchFamily="18" charset="0"/>
                        </a:rPr>
                        <m:t>=</m:t>
                      </m:r>
                      <m:r>
                        <a:rPr lang="hu-HU" i="1">
                          <a:latin typeface="Cambria Math" panose="02040503050406030204" pitchFamily="18" charset="0"/>
                        </a:rPr>
                        <m:t>𝟐</m:t>
                      </m:r>
                      <m:r>
                        <a:rPr lang="hu-HU" i="1">
                          <a:latin typeface="Cambria Math" panose="02040503050406030204" pitchFamily="18" charset="0"/>
                        </a:rPr>
                        <m:t> </m:t>
                      </m:r>
                    </m:oMath>
                  </m:oMathPara>
                </a14:m>
                <a:endParaRPr lang="hu-HU" dirty="0">
                  <a:latin typeface="Cambria" panose="02040503050406030204" pitchFamily="18" charset="0"/>
                  <a:ea typeface="Cambria" panose="02040503050406030204" pitchFamily="18" charset="0"/>
                  <a:cs typeface="Times New Roman" panose="02020603050405020304" pitchFamily="18" charset="0"/>
                </a:endParaRPr>
              </a:p>
              <a:p>
                <a:r>
                  <a:rPr lang="hu-HU" dirty="0">
                    <a:latin typeface="Cambria" panose="02040503050406030204" pitchFamily="18" charset="0"/>
                    <a:ea typeface="Cambria" panose="02040503050406030204" pitchFamily="18" charset="0"/>
                    <a:cs typeface="Arial" panose="020B0604020202020204" pitchFamily="34" charset="0"/>
                  </a:rPr>
                  <a:t>Tehát a hozamfaktor (itt: FVIF) értéke pontosan 2. Legyen </a:t>
                </a:r>
                <a:r>
                  <a:rPr lang="hu-HU" i="1" dirty="0">
                    <a:latin typeface="Cambria" panose="02040503050406030204" pitchFamily="18" charset="0"/>
                    <a:ea typeface="Cambria" panose="02040503050406030204" pitchFamily="18" charset="0"/>
                    <a:cs typeface="Arial" panose="020B0604020202020204" pitchFamily="34" charset="0"/>
                  </a:rPr>
                  <a:t>t</a:t>
                </a:r>
                <a:r>
                  <a:rPr lang="hu-HU" dirty="0">
                    <a:latin typeface="Cambria" panose="02040503050406030204" pitchFamily="18" charset="0"/>
                    <a:ea typeface="Cambria" panose="02040503050406030204" pitchFamily="18" charset="0"/>
                    <a:cs typeface="Arial" panose="020B0604020202020204" pitchFamily="34" charset="0"/>
                  </a:rPr>
                  <a:t> az évek száma, minden más ismert a hozamfaktor képletéből.</a:t>
                </a:r>
                <a:endParaRPr lang="hu-HU" i="1" dirty="0">
                  <a:latin typeface="Cambria" panose="02040503050406030204" pitchFamily="18" charset="0"/>
                  <a:ea typeface="Cambria" panose="02040503050406030204" pitchFamily="18" charset="0"/>
                  <a:cs typeface="Arial" panose="020B0604020202020204" pitchFamily="34" charset="0"/>
                </a:endParaRPr>
              </a:p>
              <a:p>
                <a14:m>
                  <m:oMath xmlns:m="http://schemas.openxmlformats.org/officeDocument/2006/math">
                    <m:sSub>
                      <m:sSubPr>
                        <m:ctrlPr>
                          <a:rPr lang="hu-HU" i="1">
                            <a:latin typeface="Cambria Math" panose="02040503050406030204" pitchFamily="18" charset="0"/>
                          </a:rPr>
                        </m:ctrlPr>
                      </m:sSubPr>
                      <m:e>
                        <m:r>
                          <a:rPr lang="hu-HU" i="1">
                            <a:latin typeface="Cambria Math" panose="02040503050406030204" pitchFamily="18" charset="0"/>
                          </a:rPr>
                          <m:t>𝑭𝑽</m:t>
                        </m:r>
                      </m:e>
                      <m:sub>
                        <m:r>
                          <a:rPr lang="hu-HU" i="1">
                            <a:latin typeface="Cambria Math" panose="02040503050406030204" pitchFamily="18" charset="0"/>
                          </a:rPr>
                          <m:t>𝒕</m:t>
                        </m:r>
                      </m:sub>
                    </m:sSub>
                    <m:r>
                      <a:rPr lang="hu-HU" i="1">
                        <a:latin typeface="Cambria Math" panose="02040503050406030204" pitchFamily="18" charset="0"/>
                      </a:rPr>
                      <m:t>=</m:t>
                    </m:r>
                    <m:r>
                      <a:rPr lang="hu-HU" i="1">
                        <a:latin typeface="Cambria Math" panose="02040503050406030204" pitchFamily="18" charset="0"/>
                      </a:rPr>
                      <m:t>𝑷𝑽</m:t>
                    </m:r>
                    <m:r>
                      <a:rPr lang="hu-HU" i="1">
                        <a:latin typeface="Cambria Math" panose="02040503050406030204" pitchFamily="18" charset="0"/>
                      </a:rPr>
                      <m:t>∙</m:t>
                    </m:r>
                    <m:d>
                      <m:dPr>
                        <m:ctrlPr>
                          <a:rPr lang="hu-HU" i="1">
                            <a:latin typeface="Cambria Math" panose="02040503050406030204" pitchFamily="18" charset="0"/>
                          </a:rPr>
                        </m:ctrlPr>
                      </m:dPr>
                      <m:e>
                        <m:r>
                          <a:rPr lang="hu-HU" i="1">
                            <a:latin typeface="Cambria Math" panose="02040503050406030204" pitchFamily="18" charset="0"/>
                          </a:rPr>
                          <m:t>𝟏</m:t>
                        </m:r>
                        <m:r>
                          <a:rPr lang="hu-HU" i="1">
                            <a:latin typeface="Cambria Math" panose="02040503050406030204" pitchFamily="18" charset="0"/>
                          </a:rPr>
                          <m:t>+</m:t>
                        </m:r>
                        <m:r>
                          <a:rPr lang="hu-HU" i="1">
                            <a:latin typeface="Cambria Math" panose="02040503050406030204" pitchFamily="18" charset="0"/>
                          </a:rPr>
                          <m:t>𝒕</m:t>
                        </m:r>
                        <m:r>
                          <a:rPr lang="hu-HU" i="1">
                            <a:latin typeface="Cambria Math" panose="02040503050406030204" pitchFamily="18" charset="0"/>
                          </a:rPr>
                          <m:t>∙</m:t>
                        </m:r>
                        <m:r>
                          <a:rPr lang="hu-HU" b="0" i="1" smtClean="0">
                            <a:latin typeface="Cambria Math" panose="02040503050406030204" pitchFamily="18" charset="0"/>
                          </a:rPr>
                          <m:t>𝑟</m:t>
                        </m:r>
                      </m:e>
                    </m:d>
                    <m:r>
                      <a:rPr lang="hu-HU" b="0" i="0" smtClean="0">
                        <a:latin typeface="Cambria Math" panose="02040503050406030204" pitchFamily="18" charset="0"/>
                      </a:rPr>
                      <m:t>                  </m:t>
                    </m:r>
                    <m:d>
                      <m:dPr>
                        <m:ctrlPr>
                          <a:rPr lang="hu-HU" i="1">
                            <a:latin typeface="Cambria Math" panose="02040503050406030204" pitchFamily="18" charset="0"/>
                          </a:rPr>
                        </m:ctrlPr>
                      </m:dPr>
                      <m:e>
                        <m:r>
                          <a:rPr lang="hu-HU" i="1">
                            <a:latin typeface="Cambria Math" panose="02040503050406030204" pitchFamily="18" charset="0"/>
                          </a:rPr>
                          <m:t>𝟏</m:t>
                        </m:r>
                        <m:r>
                          <a:rPr lang="hu-HU" i="1">
                            <a:latin typeface="Cambria Math" panose="02040503050406030204" pitchFamily="18" charset="0"/>
                          </a:rPr>
                          <m:t>+</m:t>
                        </m:r>
                        <m:r>
                          <a:rPr lang="hu-HU" i="1">
                            <a:latin typeface="Cambria Math" panose="02040503050406030204" pitchFamily="18" charset="0"/>
                          </a:rPr>
                          <m:t>𝒕</m:t>
                        </m:r>
                        <m:r>
                          <a:rPr lang="hu-HU" i="1">
                            <a:latin typeface="Cambria Math" panose="02040503050406030204" pitchFamily="18" charset="0"/>
                          </a:rPr>
                          <m:t>∙</m:t>
                        </m:r>
                        <m:r>
                          <a:rPr lang="hu-HU" i="1">
                            <a:latin typeface="Cambria Math" panose="02040503050406030204" pitchFamily="18" charset="0"/>
                          </a:rPr>
                          <m:t>𝟎</m:t>
                        </m:r>
                        <m:r>
                          <a:rPr lang="hu-HU" b="0" i="1" smtClean="0">
                            <a:latin typeface="Cambria Math" panose="02040503050406030204" pitchFamily="18" charset="0"/>
                          </a:rPr>
                          <m:t>,</m:t>
                        </m:r>
                        <m:r>
                          <a:rPr lang="hu-HU" i="1">
                            <a:latin typeface="Cambria Math" panose="02040503050406030204" pitchFamily="18" charset="0"/>
                          </a:rPr>
                          <m:t>𝟎𝟖𝟐</m:t>
                        </m:r>
                      </m:e>
                    </m:d>
                    <m:r>
                      <a:rPr lang="hu-HU" i="1">
                        <a:latin typeface="Cambria Math" panose="02040503050406030204" pitchFamily="18" charset="0"/>
                      </a:rPr>
                      <m:t>=</m:t>
                    </m:r>
                    <m:r>
                      <a:rPr lang="hu-HU" i="1">
                        <a:latin typeface="Cambria Math" panose="02040503050406030204" pitchFamily="18" charset="0"/>
                      </a:rPr>
                      <m:t>𝟐</m:t>
                    </m:r>
                  </m:oMath>
                </a14:m>
                <a:r>
                  <a:rPr lang="hu-HU" dirty="0">
                    <a:latin typeface="Cambria" panose="02040503050406030204" pitchFamily="18" charset="0"/>
                    <a:ea typeface="Cambria" panose="02040503050406030204" pitchFamily="18" charset="0"/>
                    <a:cs typeface="Arial" panose="020B0604020202020204" pitchFamily="34" charset="0"/>
                  </a:rPr>
                  <a:t>                          </a:t>
                </a:r>
                <a14:m>
                  <m:oMath xmlns:m="http://schemas.openxmlformats.org/officeDocument/2006/math">
                    <m:r>
                      <a:rPr lang="hu-HU" i="1">
                        <a:latin typeface="Cambria Math" panose="02040503050406030204" pitchFamily="18" charset="0"/>
                      </a:rPr>
                      <m:t>𝒕</m:t>
                    </m:r>
                    <m:r>
                      <a:rPr lang="hu-HU" i="1">
                        <a:latin typeface="Cambria Math" panose="02040503050406030204" pitchFamily="18" charset="0"/>
                      </a:rPr>
                      <m:t>=</m:t>
                    </m:r>
                    <m:f>
                      <m:fPr>
                        <m:ctrlPr>
                          <a:rPr lang="hu-HU" i="1">
                            <a:latin typeface="Cambria Math" panose="02040503050406030204" pitchFamily="18" charset="0"/>
                          </a:rPr>
                        </m:ctrlPr>
                      </m:fPr>
                      <m:num>
                        <m:r>
                          <a:rPr lang="hu-HU" i="1">
                            <a:latin typeface="Cambria Math" panose="02040503050406030204" pitchFamily="18" charset="0"/>
                          </a:rPr>
                          <m:t>𝟐</m:t>
                        </m:r>
                        <m:r>
                          <a:rPr lang="hu-HU" i="1">
                            <a:latin typeface="Cambria Math" panose="02040503050406030204" pitchFamily="18" charset="0"/>
                          </a:rPr>
                          <m:t>−</m:t>
                        </m:r>
                        <m:r>
                          <a:rPr lang="hu-HU" i="1">
                            <a:latin typeface="Cambria Math" panose="02040503050406030204" pitchFamily="18" charset="0"/>
                          </a:rPr>
                          <m:t>𝟏</m:t>
                        </m:r>
                      </m:num>
                      <m:den>
                        <m:r>
                          <a:rPr lang="hu-HU" i="1">
                            <a:latin typeface="Cambria Math" panose="02040503050406030204" pitchFamily="18" charset="0"/>
                          </a:rPr>
                          <m:t>𝟎</m:t>
                        </m:r>
                        <m:r>
                          <a:rPr lang="hu-HU" b="0" i="1" smtClean="0">
                            <a:latin typeface="Cambria Math" panose="02040503050406030204" pitchFamily="18" charset="0"/>
                          </a:rPr>
                          <m:t>,</m:t>
                        </m:r>
                        <m:r>
                          <a:rPr lang="hu-HU" i="1">
                            <a:latin typeface="Cambria Math" panose="02040503050406030204" pitchFamily="18" charset="0"/>
                          </a:rPr>
                          <m:t>𝟎𝟖𝟐</m:t>
                        </m:r>
                      </m:den>
                    </m:f>
                    <m:r>
                      <a:rPr lang="hu-HU" i="1">
                        <a:latin typeface="Cambria Math" panose="02040503050406030204" pitchFamily="18" charset="0"/>
                      </a:rPr>
                      <m:t>=</m:t>
                    </m:r>
                    <m:r>
                      <a:rPr lang="hu-HU" i="1">
                        <a:latin typeface="Cambria Math" panose="02040503050406030204" pitchFamily="18" charset="0"/>
                      </a:rPr>
                      <m:t>𝟏𝟐</m:t>
                    </m:r>
                    <m:r>
                      <a:rPr lang="hu-HU" b="0" i="1" smtClean="0">
                        <a:latin typeface="Cambria Math" panose="02040503050406030204" pitchFamily="18" charset="0"/>
                      </a:rPr>
                      <m:t>,</m:t>
                    </m:r>
                    <m:r>
                      <a:rPr lang="hu-HU" i="1">
                        <a:latin typeface="Cambria Math" panose="02040503050406030204" pitchFamily="18" charset="0"/>
                      </a:rPr>
                      <m:t>𝟏𝟗𝟓𝟏</m:t>
                    </m:r>
                  </m:oMath>
                </a14:m>
                <a:r>
                  <a:rPr lang="hu-HU" dirty="0">
                    <a:latin typeface="Cambria" panose="02040503050406030204" pitchFamily="18" charset="0"/>
                    <a:ea typeface="Cambria" panose="02040503050406030204" pitchFamily="18" charset="0"/>
                    <a:cs typeface="Arial" panose="020B0604020202020204" pitchFamily="34" charset="0"/>
                  </a:rPr>
                  <a:t>  (év)</a:t>
                </a:r>
              </a:p>
              <a:p>
                <a:endParaRPr lang="hu-HU" dirty="0">
                  <a:solidFill>
                    <a:srgbClr val="C00000"/>
                  </a:solidFill>
                  <a:latin typeface="Cambria" panose="02040503050406030204" pitchFamily="18" charset="0"/>
                  <a:ea typeface="Cambria" panose="02040503050406030204" pitchFamily="18" charset="0"/>
                  <a:cs typeface="Arial" panose="020B0604020202020204" pitchFamily="34" charset="0"/>
                </a:endParaRPr>
              </a:p>
              <a:p>
                <a:r>
                  <a:rPr lang="hu-HU" b="1" dirty="0">
                    <a:solidFill>
                      <a:srgbClr val="C00000"/>
                    </a:solidFill>
                    <a:latin typeface="Cambria" panose="02040503050406030204" pitchFamily="18" charset="0"/>
                    <a:ea typeface="Cambria" panose="02040503050406030204" pitchFamily="18" charset="0"/>
                    <a:cs typeface="Arial" panose="020B0604020202020204" pitchFamily="34" charset="0"/>
                  </a:rPr>
                  <a:t>Körülbelül 12 év és 2 hónapig kell tartani megtakarításunkat</a:t>
                </a:r>
                <a:r>
                  <a:rPr lang="hu-HU" dirty="0">
                    <a:solidFill>
                      <a:srgbClr val="C00000"/>
                    </a:solidFill>
                    <a:latin typeface="Cambria" panose="02040503050406030204" pitchFamily="18" charset="0"/>
                    <a:ea typeface="Cambria" panose="02040503050406030204" pitchFamily="18" charset="0"/>
                    <a:cs typeface="Arial" panose="020B0604020202020204" pitchFamily="34" charset="0"/>
                  </a:rPr>
                  <a:t>.</a:t>
                </a:r>
              </a:p>
            </p:txBody>
          </p:sp>
        </mc:Choice>
        <mc:Fallback xmlns="">
          <p:sp>
            <p:nvSpPr>
              <p:cNvPr id="4" name="Tartalom helye 5">
                <a:extLst>
                  <a:ext uri="{FF2B5EF4-FFF2-40B4-BE49-F238E27FC236}">
                    <a16:creationId xmlns:a16="http://schemas.microsoft.com/office/drawing/2014/main" id="{B081C2A7-E56C-B88A-DB69-2EB8F7617FAE}"/>
                  </a:ext>
                </a:extLst>
              </p:cNvPr>
              <p:cNvSpPr txBox="1">
                <a:spLocks noRot="1" noChangeAspect="1" noMove="1" noResize="1" noEditPoints="1" noAdjustHandles="1" noChangeArrowheads="1" noChangeShapeType="1" noTextEdit="1"/>
              </p:cNvSpPr>
              <p:nvPr/>
            </p:nvSpPr>
            <p:spPr>
              <a:xfrm>
                <a:off x="288323" y="2676123"/>
                <a:ext cx="8512889" cy="1673203"/>
              </a:xfrm>
              <a:prstGeom prst="rect">
                <a:avLst/>
              </a:prstGeom>
              <a:blipFill>
                <a:blip r:embed="rId2"/>
                <a:stretch>
                  <a:fillRect l="-143" r="-286" b="-2899"/>
                </a:stretch>
              </a:blipFill>
              <a:ln w="12700" cap="flat" cmpd="sng" algn="ctr">
                <a:solidFill>
                  <a:schemeClr val="accent1"/>
                </a:solidFill>
                <a:prstDash val="solid"/>
              </a:ln>
            </p:spPr>
            <p:txBody>
              <a:bodyPr/>
              <a:lstStyle/>
              <a:p>
                <a:r>
                  <a:rPr lang="hu-HU">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3" name="Szabadkéz 2">
                <a:extLst>
                  <a:ext uri="{FF2B5EF4-FFF2-40B4-BE49-F238E27FC236}">
                    <a16:creationId xmlns:a16="http://schemas.microsoft.com/office/drawing/2014/main" id="{DC0992F2-D788-56DF-9E99-90F918AAFA35}"/>
                  </a:ext>
                </a:extLst>
              </p14:cNvPr>
              <p14:cNvContentPartPr/>
              <p14:nvPr/>
            </p14:nvContentPartPr>
            <p14:xfrm>
              <a:off x="2327040" y="2423880"/>
              <a:ext cx="6144120" cy="1526040"/>
            </p14:xfrm>
          </p:contentPart>
        </mc:Choice>
        <mc:Fallback>
          <p:pic>
            <p:nvPicPr>
              <p:cNvPr id="3" name="Szabadkéz 2">
                <a:extLst>
                  <a:ext uri="{FF2B5EF4-FFF2-40B4-BE49-F238E27FC236}">
                    <a16:creationId xmlns:a16="http://schemas.microsoft.com/office/drawing/2014/main" id="{DC0992F2-D788-56DF-9E99-90F918AAFA35}"/>
                  </a:ext>
                </a:extLst>
              </p:cNvPr>
              <p:cNvPicPr/>
              <p:nvPr/>
            </p:nvPicPr>
            <p:blipFill>
              <a:blip r:embed="rId4"/>
              <a:stretch>
                <a:fillRect/>
              </a:stretch>
            </p:blipFill>
            <p:spPr>
              <a:xfrm>
                <a:off x="2317680" y="2414520"/>
                <a:ext cx="6162840" cy="1544760"/>
              </a:xfrm>
              <a:prstGeom prst="rect">
                <a:avLst/>
              </a:prstGeom>
            </p:spPr>
          </p:pic>
        </mc:Fallback>
      </mc:AlternateContent>
    </p:spTree>
    <p:extLst>
      <p:ext uri="{BB962C8B-B14F-4D97-AF65-F5344CB8AC3E}">
        <p14:creationId xmlns:p14="http://schemas.microsoft.com/office/powerpoint/2010/main" val="353945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0708-6DAB-7537-EBD5-D3605F429E53}"/>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68FEBEFE-098A-686F-2817-2D18AFC3CAA6}"/>
              </a:ext>
            </a:extLst>
          </p:cNvPr>
          <p:cNvSpPr>
            <a:spLocks noGrp="1"/>
          </p:cNvSpPr>
          <p:nvPr>
            <p:ph type="title"/>
          </p:nvPr>
        </p:nvSpPr>
        <p:spPr>
          <a:xfrm>
            <a:off x="0" y="0"/>
            <a:ext cx="9144000" cy="531846"/>
          </a:xfrm>
          <a:solidFill>
            <a:srgbClr val="FFC000"/>
          </a:solidFill>
        </p:spPr>
        <p:txBody>
          <a:bodyPr anchor="ctr" anchorCtr="0"/>
          <a:lstStyle/>
          <a:p>
            <a:r>
              <a:rPr lang="hu-HU" dirty="0"/>
              <a:t>6. feladat</a:t>
            </a:r>
          </a:p>
        </p:txBody>
      </p:sp>
      <p:sp>
        <p:nvSpPr>
          <p:cNvPr id="2" name="TextBox 1">
            <a:extLst>
              <a:ext uri="{FF2B5EF4-FFF2-40B4-BE49-F238E27FC236}">
                <a16:creationId xmlns:a16="http://schemas.microsoft.com/office/drawing/2014/main" id="{1548AEF5-9567-0764-3626-007FFEF6958F}"/>
              </a:ext>
            </a:extLst>
          </p:cNvPr>
          <p:cNvSpPr txBox="1"/>
          <p:nvPr/>
        </p:nvSpPr>
        <p:spPr>
          <a:xfrm>
            <a:off x="378941" y="531846"/>
            <a:ext cx="8542637" cy="2400657"/>
          </a:xfrm>
          <a:prstGeom prst="rect">
            <a:avLst/>
          </a:prstGeom>
          <a:noFill/>
        </p:spPr>
        <p:txBody>
          <a:bodyPr wrap="square" rtlCol="0">
            <a:spAutoFit/>
          </a:bodyPr>
          <a:lstStyle/>
          <a:p>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Anna az első havi ösztöndíját, 30 000 forintot szeretné 1 vagy 2 évre befektetni. Az ajánlatok áttekintését követően talált egy ígéretes megtakarítási számlát egy neves kék színű banknál, ahol az éves kamatok nagyon vonzónak tűntek. Úgy számolt, ha most elhelyezi ezt az összeget, akkor az egy év múlva esedékes jövőértéke 36 000 forint, két év múlva pedig 43 200 forint. </a:t>
            </a:r>
            <a:r>
              <a:rPr lang="hu-HU" sz="1500" b="1" dirty="0">
                <a:solidFill>
                  <a:srgbClr val="002060"/>
                </a:solidFill>
                <a:latin typeface="Cambria" panose="02040503050406030204" pitchFamily="18" charset="0"/>
                <a:ea typeface="Cambria" panose="02040503050406030204" pitchFamily="18" charset="0"/>
                <a:cs typeface="Arial" panose="020B0604020202020204" pitchFamily="34" charset="0"/>
              </a:rPr>
              <a:t>Határozzuk meg, hogy mennyi…</a:t>
            </a:r>
            <a:endParaRPr lang="en-GB" sz="1500" b="1"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hu-HU" sz="1500" b="1" dirty="0">
                <a:solidFill>
                  <a:srgbClr val="002060"/>
                </a:solidFill>
                <a:latin typeface="Cambria" panose="02040503050406030204" pitchFamily="18" charset="0"/>
                <a:ea typeface="Cambria" panose="02040503050406030204" pitchFamily="18" charset="0"/>
                <a:cs typeface="Arial" panose="020B0604020202020204" pitchFamily="34" charset="0"/>
              </a:rPr>
              <a:t>… az első évi hozamfaktor! </a:t>
            </a: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 második évi hozamfaktor!</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az első évi hozam! </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 mostani 100 000 Ft egy év múlva esedékes jövőértéke (minden paramétert változatlannak tekintve)! </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Tartalom helye 5">
                <a:extLst>
                  <a:ext uri="{FF2B5EF4-FFF2-40B4-BE49-F238E27FC236}">
                    <a16:creationId xmlns:a16="http://schemas.microsoft.com/office/drawing/2014/main" id="{4B52BE2B-43E8-F03A-1072-75664D637C02}"/>
                  </a:ext>
                </a:extLst>
              </p:cNvPr>
              <p:cNvSpPr txBox="1">
                <a:spLocks/>
              </p:cNvSpPr>
              <p:nvPr/>
            </p:nvSpPr>
            <p:spPr>
              <a:xfrm>
                <a:off x="378940" y="2998573"/>
                <a:ext cx="8542637" cy="1301578"/>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pPr algn="ctr"/>
                <a14:m>
                  <m:oMathPara xmlns:m="http://schemas.openxmlformats.org/officeDocument/2006/math">
                    <m:oMathParaPr>
                      <m:jc m:val="left"/>
                    </m:oMathParaPr>
                    <m:oMath xmlns:m="http://schemas.openxmlformats.org/officeDocument/2006/math">
                      <m:r>
                        <a:rPr lang="hu-HU" b="1" i="1">
                          <a:solidFill>
                            <a:srgbClr val="002060"/>
                          </a:solidFill>
                          <a:latin typeface="Cambria Math" panose="02040503050406030204" pitchFamily="18" charset="0"/>
                        </a:rPr>
                        <m:t>𝑭𝑽</m:t>
                      </m:r>
                      <m:r>
                        <a:rPr lang="hu-HU" i="1">
                          <a:solidFill>
                            <a:srgbClr val="002060"/>
                          </a:solidFill>
                          <a:latin typeface="Cambria Math" panose="02040503050406030204" pitchFamily="18" charset="0"/>
                        </a:rPr>
                        <m:t>=</m:t>
                      </m:r>
                      <m:r>
                        <a:rPr lang="hu-HU" i="1">
                          <a:solidFill>
                            <a:srgbClr val="002060"/>
                          </a:solidFill>
                          <a:latin typeface="Cambria Math" panose="02040503050406030204" pitchFamily="18" charset="0"/>
                        </a:rPr>
                        <m:t>𝑷𝑽</m:t>
                      </m:r>
                      <m:r>
                        <a:rPr lang="hu-HU" i="1">
                          <a:solidFill>
                            <a:srgbClr val="002060"/>
                          </a:solidFill>
                          <a:latin typeface="Cambria Math" panose="02040503050406030204" pitchFamily="18" charset="0"/>
                        </a:rPr>
                        <m:t>∙</m:t>
                      </m:r>
                      <m:sSup>
                        <m:sSupPr>
                          <m:ctrlPr>
                            <a:rPr lang="en-GB" i="1">
                              <a:solidFill>
                                <a:srgbClr val="002060"/>
                              </a:solidFill>
                              <a:latin typeface="Cambria Math" panose="02040503050406030204" pitchFamily="18" charset="0"/>
                            </a:rPr>
                          </m:ctrlPr>
                        </m:sSupPr>
                        <m:e>
                          <m:d>
                            <m:dPr>
                              <m:ctrlPr>
                                <a:rPr lang="en-GB" i="1">
                                  <a:solidFill>
                                    <a:srgbClr val="002060"/>
                                  </a:solidFill>
                                  <a:latin typeface="Cambria Math" panose="02040503050406030204" pitchFamily="18" charset="0"/>
                                </a:rPr>
                              </m:ctrlPr>
                            </m:dPr>
                            <m:e>
                              <m:r>
                                <a:rPr lang="hu-HU" i="1">
                                  <a:solidFill>
                                    <a:srgbClr val="002060"/>
                                  </a:solidFill>
                                  <a:latin typeface="Cambria Math" panose="02040503050406030204" pitchFamily="18" charset="0"/>
                                </a:rPr>
                                <m:t>𝟏</m:t>
                              </m:r>
                              <m:r>
                                <a:rPr lang="hu-HU" i="1">
                                  <a:solidFill>
                                    <a:srgbClr val="002060"/>
                                  </a:solidFill>
                                  <a:latin typeface="Cambria Math" panose="02040503050406030204" pitchFamily="18" charset="0"/>
                                </a:rPr>
                                <m:t>+</m:t>
                              </m:r>
                              <m:r>
                                <a:rPr lang="hu-HU" i="1">
                                  <a:solidFill>
                                    <a:srgbClr val="002060"/>
                                  </a:solidFill>
                                  <a:latin typeface="Cambria Math" panose="02040503050406030204" pitchFamily="18" charset="0"/>
                                </a:rPr>
                                <m:t>𝒓</m:t>
                              </m:r>
                            </m:e>
                          </m:d>
                        </m:e>
                        <m:sup>
                          <m:r>
                            <a:rPr lang="hu-HU" i="1">
                              <a:solidFill>
                                <a:srgbClr val="002060"/>
                              </a:solidFill>
                              <a:latin typeface="Cambria Math" panose="02040503050406030204" pitchFamily="18" charset="0"/>
                            </a:rPr>
                            <m:t>𝒕</m:t>
                          </m:r>
                        </m:sup>
                      </m:sSup>
                    </m:oMath>
                  </m:oMathPara>
                </a14:m>
                <a:endParaRPr lang="en-GB" i="1" dirty="0">
                  <a:solidFill>
                    <a:srgbClr val="002060"/>
                  </a:solidFill>
                  <a:latin typeface="Cambria" panose="02040503050406030204" pitchFamily="18" charset="0"/>
                  <a:ea typeface="Cambria" panose="02040503050406030204" pitchFamily="18" charset="0"/>
                </a:endParaRPr>
              </a:p>
              <a:p>
                <a:endParaRPr lang="hu-HU" dirty="0">
                  <a:latin typeface="Cambria" panose="02040503050406030204" pitchFamily="18" charset="0"/>
                  <a:ea typeface="Cambria" panose="02040503050406030204" pitchFamily="18" charset="0"/>
                  <a:cs typeface="Arial" panose="020B0604020202020204" pitchFamily="34" charset="0"/>
                </a:endParaRPr>
              </a:p>
              <a:p>
                <a:r>
                  <a:rPr lang="hu-HU" dirty="0">
                    <a:latin typeface="Cambria" panose="02040503050406030204" pitchFamily="18" charset="0"/>
                    <a:ea typeface="Cambria" panose="02040503050406030204" pitchFamily="18" charset="0"/>
                    <a:cs typeface="Arial" panose="020B0604020202020204" pitchFamily="34" charset="0"/>
                  </a:rPr>
                  <a:t>ahol a hozamfaktor az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hu-HU" i="1">
                                <a:latin typeface="Cambria Math" panose="02040503050406030204" pitchFamily="18" charset="0"/>
                              </a:rPr>
                              <m:t>𝟏</m:t>
                            </m:r>
                            <m:r>
                              <a:rPr lang="hu-HU" i="1">
                                <a:latin typeface="Cambria Math" panose="02040503050406030204" pitchFamily="18" charset="0"/>
                              </a:rPr>
                              <m:t>+</m:t>
                            </m:r>
                            <m:r>
                              <a:rPr lang="hu-HU" i="1">
                                <a:latin typeface="Cambria Math" panose="02040503050406030204" pitchFamily="18" charset="0"/>
                              </a:rPr>
                              <m:t>𝒓</m:t>
                            </m:r>
                          </m:e>
                        </m:d>
                      </m:e>
                      <m:sup>
                        <m:r>
                          <a:rPr lang="hu-HU" i="1">
                            <a:latin typeface="Cambria Math" panose="02040503050406030204" pitchFamily="18" charset="0"/>
                          </a:rPr>
                          <m:t>𝒕</m:t>
                        </m:r>
                      </m:sup>
                    </m:sSup>
                  </m:oMath>
                </a14:m>
                <a:r>
                  <a:rPr lang="hu-HU" dirty="0">
                    <a:latin typeface="Cambria" panose="02040503050406030204" pitchFamily="18" charset="0"/>
                    <a:ea typeface="Cambria" panose="02040503050406030204" pitchFamily="18" charset="0"/>
                    <a:cs typeface="Arial" panose="020B0604020202020204" pitchFamily="34" charset="0"/>
                  </a:rPr>
                  <a:t>, tehát  </a:t>
                </a:r>
                <a14:m>
                  <m:oMath xmlns:m="http://schemas.openxmlformats.org/officeDocument/2006/math">
                    <m:r>
                      <a:rPr lang="hu-HU" i="1">
                        <a:latin typeface="Cambria Math" panose="02040503050406030204" pitchFamily="18" charset="0"/>
                      </a:rPr>
                      <m:t>36 000=30 000∙</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hu-HU" i="1">
                                <a:latin typeface="Cambria Math" panose="02040503050406030204" pitchFamily="18" charset="0"/>
                              </a:rPr>
                              <m:t>1+</m:t>
                            </m:r>
                            <m:r>
                              <a:rPr lang="hu-HU" i="1">
                                <a:latin typeface="Cambria Math" panose="02040503050406030204" pitchFamily="18" charset="0"/>
                              </a:rPr>
                              <m:t>𝑟</m:t>
                            </m:r>
                          </m:e>
                        </m:d>
                      </m:e>
                      <m:sup>
                        <m:r>
                          <a:rPr lang="hu-HU" i="1">
                            <a:latin typeface="Cambria Math" panose="02040503050406030204" pitchFamily="18" charset="0"/>
                          </a:rPr>
                          <m:t>𝑡</m:t>
                        </m:r>
                      </m:sup>
                    </m:sSup>
                  </m:oMath>
                </a14:m>
                <a:endParaRPr lang="en-GB" dirty="0">
                  <a:latin typeface="Cambria" panose="02040503050406030204" pitchFamily="18" charset="0"/>
                  <a:ea typeface="Cambria" panose="02040503050406030204" pitchFamily="18" charset="0"/>
                  <a:cs typeface="Arial" panose="020B0604020202020204" pitchFamily="34" charset="0"/>
                </a:endParaRPr>
              </a:p>
              <a:p>
                <a:endParaRPr lang="hu-HU" sz="1600" dirty="0">
                  <a:latin typeface="Cambria" panose="02040503050406030204" pitchFamily="18" charset="0"/>
                  <a:ea typeface="Cambria" panose="02040503050406030204" pitchFamily="18" charset="0"/>
                  <a:cs typeface="Arial" panose="020B0604020202020204" pitchFamily="34" charset="0"/>
                </a:endParaRPr>
              </a:p>
              <a:p>
                <a:r>
                  <a:rPr lang="hu-HU" sz="1600" dirty="0">
                    <a:latin typeface="Cambria" panose="02040503050406030204" pitchFamily="18" charset="0"/>
                    <a:ea typeface="Cambria" panose="02040503050406030204" pitchFamily="18" charset="0"/>
                    <a:cs typeface="Arial" panose="020B0604020202020204" pitchFamily="34" charset="0"/>
                  </a:rPr>
                  <a:t>Hozamfaktor: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hu-HU" sz="1600" i="1">
                                <a:latin typeface="Cambria Math" panose="02040503050406030204" pitchFamily="18" charset="0"/>
                              </a:rPr>
                              <m:t>1+</m:t>
                            </m:r>
                            <m:r>
                              <a:rPr lang="hu-HU" sz="1600" i="1">
                                <a:latin typeface="Cambria Math" panose="02040503050406030204" pitchFamily="18" charset="0"/>
                              </a:rPr>
                              <m:t>𝑟</m:t>
                            </m:r>
                          </m:e>
                        </m:d>
                      </m:e>
                      <m:sup>
                        <m:r>
                          <a:rPr lang="hu-HU" sz="1600" i="1">
                            <a:latin typeface="Cambria Math" panose="02040503050406030204" pitchFamily="18" charset="0"/>
                          </a:rPr>
                          <m:t>𝑡</m:t>
                        </m:r>
                      </m:sup>
                    </m:sSup>
                  </m:oMath>
                </a14:m>
                <a:r>
                  <a:rPr lang="hu-HU" sz="1600" i="1" dirty="0">
                    <a:latin typeface="Cambria" panose="02040503050406030204" pitchFamily="18" charset="0"/>
                    <a:ea typeface="Cambria" panose="02040503050406030204" pitchFamily="18" charset="0"/>
                    <a:cs typeface="Arial" panose="020B0604020202020204" pitchFamily="34" charset="0"/>
                  </a:rPr>
                  <a:t> </a:t>
                </a:r>
                <a:r>
                  <a:rPr lang="hu-HU" sz="1600" dirty="0">
                    <a:latin typeface="Cambria" panose="02040503050406030204" pitchFamily="18" charset="0"/>
                    <a:ea typeface="Cambria" panose="02040503050406030204" pitchFamily="18" charset="0"/>
                    <a:cs typeface="Arial" panose="020B0604020202020204" pitchFamily="34" charset="0"/>
                  </a:rPr>
                  <a:t>= 36 000 / 30 000 = 1,2</a:t>
                </a:r>
                <a:endParaRPr lang="en-GB" sz="1600" dirty="0">
                  <a:latin typeface="Cambria" panose="02040503050406030204" pitchFamily="18" charset="0"/>
                  <a:ea typeface="Cambria" panose="02040503050406030204" pitchFamily="18" charset="0"/>
                  <a:cs typeface="Arial" panose="020B0604020202020204" pitchFamily="34" charset="0"/>
                </a:endParaRPr>
              </a:p>
              <a:p>
                <a:endParaRPr lang="hu-HU" dirty="0"/>
              </a:p>
            </p:txBody>
          </p:sp>
        </mc:Choice>
        <mc:Fallback xmlns="">
          <p:sp>
            <p:nvSpPr>
              <p:cNvPr id="3" name="Tartalom helye 5">
                <a:extLst>
                  <a:ext uri="{FF2B5EF4-FFF2-40B4-BE49-F238E27FC236}">
                    <a16:creationId xmlns:a16="http://schemas.microsoft.com/office/drawing/2014/main" id="{4B52BE2B-43E8-F03A-1072-75664D637C02}"/>
                  </a:ext>
                </a:extLst>
              </p:cNvPr>
              <p:cNvSpPr txBox="1">
                <a:spLocks noRot="1" noChangeAspect="1" noMove="1" noResize="1" noEditPoints="1" noAdjustHandles="1" noChangeArrowheads="1" noChangeShapeType="1" noTextEdit="1"/>
              </p:cNvSpPr>
              <p:nvPr/>
            </p:nvSpPr>
            <p:spPr>
              <a:xfrm>
                <a:off x="378940" y="2998573"/>
                <a:ext cx="8542637" cy="1301578"/>
              </a:xfrm>
              <a:prstGeom prst="rect">
                <a:avLst/>
              </a:prstGeom>
              <a:blipFill>
                <a:blip r:embed="rId2"/>
                <a:stretch>
                  <a:fillRect l="-285"/>
                </a:stretch>
              </a:blipFill>
              <a:ln w="12700" cap="flat" cmpd="sng" algn="ctr">
                <a:solidFill>
                  <a:schemeClr val="accent1"/>
                </a:solidFill>
                <a:prstDash val="solid"/>
              </a:ln>
            </p:spPr>
            <p:txBody>
              <a:bodyPr/>
              <a:lstStyle/>
              <a:p>
                <a:r>
                  <a:rPr lang="hu-HU">
                    <a:noFill/>
                  </a:rPr>
                  <a:t> </a:t>
                </a:r>
              </a:p>
            </p:txBody>
          </p:sp>
        </mc:Fallback>
      </mc:AlternateContent>
    </p:spTree>
    <p:extLst>
      <p:ext uri="{BB962C8B-B14F-4D97-AF65-F5344CB8AC3E}">
        <p14:creationId xmlns:p14="http://schemas.microsoft.com/office/powerpoint/2010/main" val="325462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C3766-6171-CD5D-4EDC-A0F91A3903C2}"/>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3755459B-1A17-68ED-EAE6-93D1B010CC79}"/>
              </a:ext>
            </a:extLst>
          </p:cNvPr>
          <p:cNvSpPr>
            <a:spLocks noGrp="1"/>
          </p:cNvSpPr>
          <p:nvPr>
            <p:ph type="title"/>
          </p:nvPr>
        </p:nvSpPr>
        <p:spPr>
          <a:xfrm>
            <a:off x="0" y="0"/>
            <a:ext cx="9144000" cy="531846"/>
          </a:xfrm>
          <a:solidFill>
            <a:srgbClr val="FFC000"/>
          </a:solidFill>
        </p:spPr>
        <p:txBody>
          <a:bodyPr anchor="ctr" anchorCtr="0"/>
          <a:lstStyle/>
          <a:p>
            <a:r>
              <a:rPr lang="hu-HU" dirty="0"/>
              <a:t>6. feladat</a:t>
            </a:r>
          </a:p>
        </p:txBody>
      </p:sp>
      <p:sp>
        <p:nvSpPr>
          <p:cNvPr id="2" name="TextBox 1">
            <a:extLst>
              <a:ext uri="{FF2B5EF4-FFF2-40B4-BE49-F238E27FC236}">
                <a16:creationId xmlns:a16="http://schemas.microsoft.com/office/drawing/2014/main" id="{9347A212-A732-106F-6122-491FDA979954}"/>
              </a:ext>
            </a:extLst>
          </p:cNvPr>
          <p:cNvSpPr txBox="1"/>
          <p:nvPr/>
        </p:nvSpPr>
        <p:spPr>
          <a:xfrm>
            <a:off x="370703" y="573664"/>
            <a:ext cx="8478228" cy="2400657"/>
          </a:xfrm>
          <a:prstGeom prst="rect">
            <a:avLst/>
          </a:prstGeom>
          <a:noFill/>
        </p:spPr>
        <p:txBody>
          <a:bodyPr wrap="square" rtlCol="0">
            <a:spAutoFit/>
          </a:bodyPr>
          <a:lstStyle/>
          <a:p>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Anna az első havi ösztöndíját, 30 000 forintot szeretné 1 vagy 2 évre befektetni. Az ajánlatok áttekintését követően talált egy ígéretes megtakarítási számlát egy neves kék színű banknál, ahol az éves kamatok nagyon vonzónak tűntek. Úgy számolt, ha most elhelyezi ezt az összeget, akkor az egy év múlva esedékes jövőértéke 36000 forint, két év múlva pedig 43 200 forint. Határozzuk meg, hogy mennyi…</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az első évi hozamfaktor! </a:t>
            </a: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a:t>
            </a:r>
            <a:r>
              <a:rPr lang="hu-HU" sz="1500" b="1" dirty="0">
                <a:solidFill>
                  <a:srgbClr val="002060"/>
                </a:solidFill>
                <a:latin typeface="Cambria" panose="02040503050406030204" pitchFamily="18" charset="0"/>
                <a:ea typeface="Cambria" panose="02040503050406030204" pitchFamily="18" charset="0"/>
                <a:cs typeface="Arial" panose="020B0604020202020204" pitchFamily="34" charset="0"/>
              </a:rPr>
              <a:t>… a második évi hozamfaktor!</a:t>
            </a:r>
            <a:endParaRPr lang="en-GB" sz="1500" b="1"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az első évi hozam! </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 mostani 100 000 Ft egy év múlva esedékes jövőértéke (minden paramétert változatlannak tekintve)! </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Tartalom helye 5">
                <a:extLst>
                  <a:ext uri="{FF2B5EF4-FFF2-40B4-BE49-F238E27FC236}">
                    <a16:creationId xmlns:a16="http://schemas.microsoft.com/office/drawing/2014/main" id="{FE004C12-49FD-3D29-08D2-1929E9B79038}"/>
                  </a:ext>
                </a:extLst>
              </p:cNvPr>
              <p:cNvSpPr txBox="1">
                <a:spLocks/>
              </p:cNvSpPr>
              <p:nvPr/>
            </p:nvSpPr>
            <p:spPr>
              <a:xfrm>
                <a:off x="370703" y="2974321"/>
                <a:ext cx="8478228" cy="1332738"/>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pPr/>
                <a14:m>
                  <m:oMathPara xmlns:m="http://schemas.openxmlformats.org/officeDocument/2006/math">
                    <m:oMathParaPr>
                      <m:jc m:val="left"/>
                    </m:oMathParaPr>
                    <m:oMath xmlns:m="http://schemas.openxmlformats.org/officeDocument/2006/math">
                      <m:r>
                        <a:rPr lang="hu-HU" sz="1600" b="1" i="1" smtClean="0">
                          <a:solidFill>
                            <a:srgbClr val="002060"/>
                          </a:solidFill>
                          <a:latin typeface="Cambria Math" panose="02040503050406030204" pitchFamily="18" charset="0"/>
                        </a:rPr>
                        <m:t>𝑭𝑽</m:t>
                      </m:r>
                      <m:r>
                        <a:rPr lang="hu-HU" sz="1600" i="1">
                          <a:solidFill>
                            <a:srgbClr val="002060"/>
                          </a:solidFill>
                          <a:latin typeface="Cambria Math" panose="02040503050406030204" pitchFamily="18" charset="0"/>
                        </a:rPr>
                        <m:t>=</m:t>
                      </m:r>
                      <m:r>
                        <a:rPr lang="hu-HU" sz="1600" i="1">
                          <a:solidFill>
                            <a:srgbClr val="002060"/>
                          </a:solidFill>
                          <a:latin typeface="Cambria Math" panose="02040503050406030204" pitchFamily="18" charset="0"/>
                        </a:rPr>
                        <m:t>𝑷𝑽</m:t>
                      </m:r>
                      <m:r>
                        <a:rPr lang="hu-HU" sz="1600" i="1">
                          <a:solidFill>
                            <a:srgbClr val="002060"/>
                          </a:solidFill>
                          <a:latin typeface="Cambria Math" panose="02040503050406030204" pitchFamily="18" charset="0"/>
                        </a:rPr>
                        <m:t>∙</m:t>
                      </m:r>
                      <m:sSup>
                        <m:sSupPr>
                          <m:ctrlPr>
                            <a:rPr lang="en-GB" sz="1600" i="1">
                              <a:solidFill>
                                <a:srgbClr val="002060"/>
                              </a:solidFill>
                              <a:latin typeface="Cambria Math" panose="02040503050406030204" pitchFamily="18" charset="0"/>
                            </a:rPr>
                          </m:ctrlPr>
                        </m:sSupPr>
                        <m:e>
                          <m:d>
                            <m:dPr>
                              <m:ctrlPr>
                                <a:rPr lang="en-GB" sz="1600" i="1">
                                  <a:solidFill>
                                    <a:srgbClr val="002060"/>
                                  </a:solidFill>
                                  <a:latin typeface="Cambria Math" panose="02040503050406030204" pitchFamily="18" charset="0"/>
                                </a:rPr>
                              </m:ctrlPr>
                            </m:dPr>
                            <m:e>
                              <m:r>
                                <a:rPr lang="hu-HU" sz="1600" i="1">
                                  <a:solidFill>
                                    <a:srgbClr val="002060"/>
                                  </a:solidFill>
                                  <a:latin typeface="Cambria Math" panose="02040503050406030204" pitchFamily="18" charset="0"/>
                                </a:rPr>
                                <m:t>𝟏</m:t>
                              </m:r>
                              <m:r>
                                <a:rPr lang="hu-HU" sz="1600" i="1">
                                  <a:solidFill>
                                    <a:srgbClr val="002060"/>
                                  </a:solidFill>
                                  <a:latin typeface="Cambria Math" panose="02040503050406030204" pitchFamily="18" charset="0"/>
                                </a:rPr>
                                <m:t>+</m:t>
                              </m:r>
                              <m:r>
                                <a:rPr lang="hu-HU" sz="1600" i="1">
                                  <a:solidFill>
                                    <a:srgbClr val="002060"/>
                                  </a:solidFill>
                                  <a:latin typeface="Cambria Math" panose="02040503050406030204" pitchFamily="18" charset="0"/>
                                </a:rPr>
                                <m:t>𝒓</m:t>
                              </m:r>
                            </m:e>
                          </m:d>
                        </m:e>
                        <m:sup>
                          <m:r>
                            <a:rPr lang="hu-HU" sz="1600" i="1">
                              <a:solidFill>
                                <a:srgbClr val="002060"/>
                              </a:solidFill>
                              <a:latin typeface="Cambria Math" panose="02040503050406030204" pitchFamily="18" charset="0"/>
                            </a:rPr>
                            <m:t>𝒕</m:t>
                          </m:r>
                        </m:sup>
                      </m:sSup>
                    </m:oMath>
                  </m:oMathPara>
                </a14:m>
                <a:endParaRPr lang="en-GB" sz="1600" dirty="0">
                  <a:latin typeface="Cambria" panose="02040503050406030204" pitchFamily="18" charset="0"/>
                  <a:ea typeface="Cambria" panose="02040503050406030204" pitchFamily="18" charset="0"/>
                  <a:cs typeface="Arial" panose="020B0604020202020204" pitchFamily="34" charset="0"/>
                </a:endParaRPr>
              </a:p>
              <a:p>
                <a:endParaRPr lang="hu-HU" sz="1600" i="1" dirty="0">
                  <a:latin typeface="Cambria" panose="02040503050406030204" pitchFamily="18" charset="0"/>
                  <a:ea typeface="Cambria" panose="02040503050406030204" pitchFamily="18" charset="0"/>
                </a:endParaRPr>
              </a:p>
              <a:p>
                <a:pPr/>
                <a14:m>
                  <m:oMathPara xmlns:m="http://schemas.openxmlformats.org/officeDocument/2006/math">
                    <m:oMathParaPr>
                      <m:jc m:val="left"/>
                    </m:oMathParaPr>
                    <m:oMath xmlns:m="http://schemas.openxmlformats.org/officeDocument/2006/math">
                      <m:r>
                        <a:rPr lang="hu-HU" sz="1600" i="1">
                          <a:latin typeface="Cambria Math" panose="02040503050406030204" pitchFamily="18" charset="0"/>
                        </a:rPr>
                        <m:t>43 200=36 000∙</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hu-HU" sz="1600" i="1">
                                  <a:latin typeface="Cambria Math" panose="02040503050406030204" pitchFamily="18" charset="0"/>
                                </a:rPr>
                                <m:t>𝟏</m:t>
                              </m:r>
                              <m:r>
                                <a:rPr lang="hu-HU" sz="1600" i="1">
                                  <a:latin typeface="Cambria Math" panose="02040503050406030204" pitchFamily="18" charset="0"/>
                                </a:rPr>
                                <m:t>+</m:t>
                              </m:r>
                              <m:r>
                                <a:rPr lang="hu-HU" sz="1600" i="1">
                                  <a:latin typeface="Cambria Math" panose="02040503050406030204" pitchFamily="18" charset="0"/>
                                </a:rPr>
                                <m:t>𝒓</m:t>
                              </m:r>
                            </m:e>
                          </m:d>
                        </m:e>
                        <m:sup>
                          <m:r>
                            <a:rPr lang="hu-HU" sz="1600" i="1">
                              <a:latin typeface="Cambria Math" panose="02040503050406030204" pitchFamily="18" charset="0"/>
                            </a:rPr>
                            <m:t>𝒕</m:t>
                          </m:r>
                        </m:sup>
                      </m:sSup>
                      <m:r>
                        <a:rPr lang="hu-HU" sz="1600" b="0" i="0" smtClean="0">
                          <a:latin typeface="Cambria Math" panose="02040503050406030204" pitchFamily="18" charset="0"/>
                        </a:rPr>
                        <m:t> </m:t>
                      </m:r>
                    </m:oMath>
                  </m:oMathPara>
                </a14:m>
                <a:endParaRPr lang="hu-HU" sz="1600" b="0" dirty="0">
                  <a:latin typeface="Cambria" panose="02040503050406030204" pitchFamily="18" charset="0"/>
                  <a:ea typeface="Cambria" panose="02040503050406030204" pitchFamily="18" charset="0"/>
                </a:endParaRPr>
              </a:p>
              <a:p>
                <a:endParaRPr lang="hu-HU" sz="1600" dirty="0">
                  <a:latin typeface="Cambria" panose="02040503050406030204" pitchFamily="18" charset="0"/>
                  <a:ea typeface="Cambria" panose="02040503050406030204" pitchFamily="18" charset="0"/>
                  <a:cs typeface="Arial" panose="020B0604020202020204" pitchFamily="34" charset="0"/>
                </a:endParaRPr>
              </a:p>
              <a:p>
                <a:r>
                  <a:rPr lang="hu-HU" sz="1600" dirty="0">
                    <a:latin typeface="Cambria" panose="02040503050406030204" pitchFamily="18" charset="0"/>
                    <a:ea typeface="Cambria" panose="02040503050406030204" pitchFamily="18" charset="0"/>
                    <a:cs typeface="Arial" panose="020B0604020202020204" pitchFamily="34" charset="0"/>
                  </a:rPr>
                  <a:t>Hozamfaktor </a:t>
                </a:r>
                <a14:m>
                  <m:oMath xmlns:m="http://schemas.openxmlformats.org/officeDocument/2006/math">
                    <m:r>
                      <a:rPr lang="hu-HU" sz="1600" b="1" i="1" smtClean="0">
                        <a:latin typeface="Cambria Math" panose="02040503050406030204" pitchFamily="18" charset="0"/>
                      </a:rPr>
                      <m:t>⇒ </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hu-HU" sz="1600" i="1">
                                <a:latin typeface="Cambria Math" panose="02040503050406030204" pitchFamily="18" charset="0"/>
                              </a:rPr>
                              <m:t>1+</m:t>
                            </m:r>
                            <m:r>
                              <a:rPr lang="hu-HU" sz="1600" i="1">
                                <a:latin typeface="Cambria Math" panose="02040503050406030204" pitchFamily="18" charset="0"/>
                              </a:rPr>
                              <m:t>𝑟</m:t>
                            </m:r>
                          </m:e>
                        </m:d>
                      </m:e>
                      <m:sup>
                        <m:r>
                          <a:rPr lang="hu-HU" sz="1600" i="1">
                            <a:latin typeface="Cambria Math" panose="02040503050406030204" pitchFamily="18" charset="0"/>
                          </a:rPr>
                          <m:t>𝑡</m:t>
                        </m:r>
                      </m:sup>
                    </m:sSup>
                  </m:oMath>
                </a14:m>
                <a:r>
                  <a:rPr lang="hu-HU" sz="1600" dirty="0">
                    <a:latin typeface="Cambria" panose="02040503050406030204" pitchFamily="18" charset="0"/>
                    <a:ea typeface="Cambria" panose="02040503050406030204" pitchFamily="18" charset="0"/>
                    <a:cs typeface="Arial" panose="020B0604020202020204" pitchFamily="34" charset="0"/>
                  </a:rPr>
                  <a:t> = 43 200 / 36 000 = 1,2</a:t>
                </a:r>
                <a:endParaRPr lang="en-GB" sz="1600" dirty="0">
                  <a:latin typeface="Cambria" panose="02040503050406030204" pitchFamily="18" charset="0"/>
                  <a:ea typeface="Cambria" panose="02040503050406030204" pitchFamily="18" charset="0"/>
                  <a:cs typeface="Arial" panose="020B0604020202020204" pitchFamily="34" charset="0"/>
                </a:endParaRPr>
              </a:p>
              <a:p>
                <a:endParaRPr lang="hu-HU" dirty="0"/>
              </a:p>
            </p:txBody>
          </p:sp>
        </mc:Choice>
        <mc:Fallback xmlns="">
          <p:sp>
            <p:nvSpPr>
              <p:cNvPr id="4" name="Tartalom helye 5">
                <a:extLst>
                  <a:ext uri="{FF2B5EF4-FFF2-40B4-BE49-F238E27FC236}">
                    <a16:creationId xmlns:a16="http://schemas.microsoft.com/office/drawing/2014/main" id="{FE004C12-49FD-3D29-08D2-1929E9B79038}"/>
                  </a:ext>
                </a:extLst>
              </p:cNvPr>
              <p:cNvSpPr txBox="1">
                <a:spLocks noRot="1" noChangeAspect="1" noMove="1" noResize="1" noEditPoints="1" noAdjustHandles="1" noChangeArrowheads="1" noChangeShapeType="1" noTextEdit="1"/>
              </p:cNvSpPr>
              <p:nvPr/>
            </p:nvSpPr>
            <p:spPr>
              <a:xfrm>
                <a:off x="370703" y="2974321"/>
                <a:ext cx="8478228" cy="1332738"/>
              </a:xfrm>
              <a:prstGeom prst="rect">
                <a:avLst/>
              </a:prstGeom>
              <a:blipFill>
                <a:blip r:embed="rId2"/>
                <a:stretch>
                  <a:fillRect l="-359" b="-3167"/>
                </a:stretch>
              </a:blipFill>
              <a:ln w="12700" cap="flat" cmpd="sng" algn="ctr">
                <a:solidFill>
                  <a:schemeClr val="accent1"/>
                </a:solidFill>
                <a:prstDash val="solid"/>
              </a:ln>
            </p:spPr>
            <p:txBody>
              <a:bodyPr/>
              <a:lstStyle/>
              <a:p>
                <a:r>
                  <a:rPr lang="hu-HU">
                    <a:noFill/>
                  </a:rPr>
                  <a:t> </a:t>
                </a:r>
              </a:p>
            </p:txBody>
          </p:sp>
        </mc:Fallback>
      </mc:AlternateContent>
    </p:spTree>
    <p:extLst>
      <p:ext uri="{BB962C8B-B14F-4D97-AF65-F5344CB8AC3E}">
        <p14:creationId xmlns:p14="http://schemas.microsoft.com/office/powerpoint/2010/main" val="215268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1C5B5-3D3D-B558-B4C5-08A463DCC3E4}"/>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217AC031-4D47-BFA7-8BB4-904A5F76846E}"/>
              </a:ext>
            </a:extLst>
          </p:cNvPr>
          <p:cNvSpPr>
            <a:spLocks noGrp="1"/>
          </p:cNvSpPr>
          <p:nvPr>
            <p:ph type="title"/>
          </p:nvPr>
        </p:nvSpPr>
        <p:spPr>
          <a:xfrm>
            <a:off x="0" y="0"/>
            <a:ext cx="9144000" cy="531846"/>
          </a:xfrm>
          <a:solidFill>
            <a:srgbClr val="FFC000"/>
          </a:solidFill>
        </p:spPr>
        <p:txBody>
          <a:bodyPr anchor="ctr" anchorCtr="0"/>
          <a:lstStyle/>
          <a:p>
            <a:r>
              <a:rPr lang="hu-HU" dirty="0"/>
              <a:t>6. feladat</a:t>
            </a:r>
          </a:p>
        </p:txBody>
      </p:sp>
      <p:sp>
        <p:nvSpPr>
          <p:cNvPr id="2" name="TextBox 1">
            <a:extLst>
              <a:ext uri="{FF2B5EF4-FFF2-40B4-BE49-F238E27FC236}">
                <a16:creationId xmlns:a16="http://schemas.microsoft.com/office/drawing/2014/main" id="{97ED9967-DB7D-8BEF-A635-CE0E55B0DA6B}"/>
              </a:ext>
            </a:extLst>
          </p:cNvPr>
          <p:cNvSpPr txBox="1"/>
          <p:nvPr/>
        </p:nvSpPr>
        <p:spPr>
          <a:xfrm>
            <a:off x="345989" y="531846"/>
            <a:ext cx="8531687" cy="2400657"/>
          </a:xfrm>
          <a:prstGeom prst="rect">
            <a:avLst/>
          </a:prstGeom>
          <a:noFill/>
        </p:spPr>
        <p:txBody>
          <a:bodyPr wrap="square" rtlCol="0">
            <a:spAutoFit/>
          </a:bodyPr>
          <a:lstStyle/>
          <a:p>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Anna az első havi ösztöndíját, 30 000 forintot szeretné 1 vagy 2 évre befektetni. Az ajánlatok áttekintését követően talált egy ígéretes megtakarítási számlát egy neves kék színű banknál, ahol az éves kamatok nagyon vonzónak tűntek. Úgy számolt, ha most elhelyezi ezt az összeget, akkor az egy év múlva esedékes jövőértéke 36 000 forint, két év múlva pedig 43 200 forint. Határozzuk meg, hogy mennyi…</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az első évi hozamfaktor! </a:t>
            </a: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 második évi hozamfaktor!</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b="1" dirty="0">
                <a:solidFill>
                  <a:srgbClr val="002060"/>
                </a:solidFill>
                <a:latin typeface="Cambria" panose="02040503050406030204" pitchFamily="18" charset="0"/>
                <a:ea typeface="Cambria" panose="02040503050406030204" pitchFamily="18" charset="0"/>
                <a:cs typeface="Arial" panose="020B0604020202020204" pitchFamily="34" charset="0"/>
              </a:rPr>
              <a:t>    … az első évi hozam! </a:t>
            </a:r>
            <a:endParaRPr lang="en-GB" sz="1500" b="1" dirty="0">
              <a:solidFill>
                <a:srgbClr val="002060"/>
              </a:solidFill>
              <a:latin typeface="Cambria" panose="02040503050406030204" pitchFamily="18" charset="0"/>
              <a:ea typeface="Cambria" panose="02040503050406030204" pitchFamily="18" charset="0"/>
              <a:cs typeface="Arial" panose="020B0604020202020204" pitchFamily="34" charset="0"/>
            </a:endParaRPr>
          </a:p>
          <a:p>
            <a:pPr lvl="0"/>
            <a:r>
              <a:rPr lang="hu-HU" sz="1500" dirty="0">
                <a:solidFill>
                  <a:srgbClr val="002060"/>
                </a:solidFill>
                <a:latin typeface="Cambria" panose="02040503050406030204" pitchFamily="18" charset="0"/>
                <a:ea typeface="Cambria" panose="02040503050406030204" pitchFamily="18" charset="0"/>
                <a:cs typeface="Arial" panose="020B0604020202020204" pitchFamily="34" charset="0"/>
              </a:rPr>
              <a:t>    … a mostani 100 000 Ft egy év múlva esedékes jövőértéke (minden paramétert változatlannak tekintve)! </a:t>
            </a:r>
            <a:endParaRPr lang="en-GB" sz="1500" dirty="0">
              <a:solidFill>
                <a:srgbClr val="002060"/>
              </a:solidFill>
              <a:latin typeface="Cambria" panose="02040503050406030204" pitchFamily="18"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Tartalom helye 5">
                <a:extLst>
                  <a:ext uri="{FF2B5EF4-FFF2-40B4-BE49-F238E27FC236}">
                    <a16:creationId xmlns:a16="http://schemas.microsoft.com/office/drawing/2014/main" id="{795FE5CE-0541-0668-07AF-127D3550053A}"/>
                  </a:ext>
                </a:extLst>
              </p:cNvPr>
              <p:cNvSpPr txBox="1">
                <a:spLocks/>
              </p:cNvSpPr>
              <p:nvPr/>
            </p:nvSpPr>
            <p:spPr>
              <a:xfrm>
                <a:off x="345989" y="3212590"/>
                <a:ext cx="8531687" cy="1013421"/>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hu-HU" i="1">
                                <a:latin typeface="Cambria Math" panose="02040503050406030204" pitchFamily="18" charset="0"/>
                              </a:rPr>
                              <m:t>1+</m:t>
                            </m:r>
                            <m:r>
                              <a:rPr lang="hu-HU" i="1">
                                <a:latin typeface="Cambria Math" panose="02040503050406030204" pitchFamily="18" charset="0"/>
                              </a:rPr>
                              <m:t>𝑟</m:t>
                            </m:r>
                          </m:e>
                        </m:d>
                      </m:e>
                      <m:sup>
                        <m:r>
                          <a:rPr lang="hu-HU" i="1">
                            <a:latin typeface="Cambria Math" panose="02040503050406030204" pitchFamily="18" charset="0"/>
                          </a:rPr>
                          <m:t>𝑡</m:t>
                        </m:r>
                      </m:sup>
                    </m:sSup>
                  </m:oMath>
                </a14:m>
                <a:r>
                  <a:rPr lang="hu-HU" dirty="0">
                    <a:latin typeface="Cambria" panose="02040503050406030204" pitchFamily="18" charset="0"/>
                    <a:ea typeface="Cambria" panose="02040503050406030204" pitchFamily="18" charset="0"/>
                    <a:cs typeface="Arial" panose="020B0604020202020204" pitchFamily="34" charset="0"/>
                  </a:rPr>
                  <a:t> = 1,2  </a:t>
                </a:r>
                <a:r>
                  <a:rPr lang="hu-HU" dirty="0">
                    <a:solidFill>
                      <a:srgbClr val="0070C0"/>
                    </a:solidFill>
                    <a:latin typeface="Cambria" panose="02040503050406030204" pitchFamily="18" charset="0"/>
                    <a:ea typeface="Cambria" panose="02040503050406030204" pitchFamily="18" charset="0"/>
                    <a:cs typeface="Arial" panose="020B0604020202020204" pitchFamily="34" charset="0"/>
                  </a:rPr>
                  <a:t>(lásd első válasz)</a:t>
                </a:r>
                <a:endParaRPr lang="en-GB" dirty="0">
                  <a:solidFill>
                    <a:srgbClr val="0070C0"/>
                  </a:solidFill>
                  <a:latin typeface="Cambria" panose="02040503050406030204" pitchFamily="18" charset="0"/>
                  <a:ea typeface="Cambria" panose="02040503050406030204" pitchFamily="18" charset="0"/>
                  <a:cs typeface="Arial" panose="020B0604020202020204" pitchFamily="34" charset="0"/>
                </a:endParaRPr>
              </a:p>
              <a:p>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hu-HU" i="1">
                                <a:latin typeface="Cambria Math" panose="02040503050406030204" pitchFamily="18" charset="0"/>
                              </a:rPr>
                              <m:t>1+</m:t>
                            </m:r>
                            <m:r>
                              <a:rPr lang="hu-HU" i="1">
                                <a:latin typeface="Cambria Math" panose="02040503050406030204" pitchFamily="18" charset="0"/>
                              </a:rPr>
                              <m:t>𝑟</m:t>
                            </m:r>
                          </m:e>
                        </m:d>
                      </m:e>
                      <m:sup>
                        <m:r>
                          <a:rPr lang="hu-HU" i="1">
                            <a:latin typeface="Cambria Math" panose="02040503050406030204" pitchFamily="18" charset="0"/>
                          </a:rPr>
                          <m:t>1</m:t>
                        </m:r>
                      </m:sup>
                    </m:sSup>
                  </m:oMath>
                </a14:m>
                <a:r>
                  <a:rPr lang="hu-HU" dirty="0">
                    <a:latin typeface="Cambria" panose="02040503050406030204" pitchFamily="18" charset="0"/>
                    <a:ea typeface="Cambria" panose="02040503050406030204" pitchFamily="18" charset="0"/>
                    <a:cs typeface="Arial" panose="020B0604020202020204" pitchFamily="34" charset="0"/>
                  </a:rPr>
                  <a:t> = 1,2</a:t>
                </a:r>
              </a:p>
              <a:p>
                <a:endParaRPr lang="hu-HU" dirty="0">
                  <a:latin typeface="Cambria" panose="02040503050406030204" pitchFamily="18" charset="0"/>
                  <a:ea typeface="Cambria" panose="02040503050406030204" pitchFamily="18"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a:rPr lang="hu-HU" sz="1600" i="1">
                          <a:latin typeface="Cambria Math" panose="02040503050406030204" pitchFamily="18" charset="0"/>
                        </a:rPr>
                        <m:t>𝑟</m:t>
                      </m:r>
                      <m:r>
                        <a:rPr lang="hu-HU" sz="1600" i="1">
                          <a:latin typeface="Cambria Math" panose="02040503050406030204" pitchFamily="18" charset="0"/>
                        </a:rPr>
                        <m:t>=1,2−1=</m:t>
                      </m:r>
                      <m:r>
                        <a:rPr lang="hu-HU" sz="1600" i="1">
                          <a:latin typeface="Cambria Math" panose="02040503050406030204" pitchFamily="18" charset="0"/>
                        </a:rPr>
                        <m:t>𝟎</m:t>
                      </m:r>
                      <m:r>
                        <a:rPr lang="hu-HU" sz="1600" i="1">
                          <a:latin typeface="Cambria Math" panose="02040503050406030204" pitchFamily="18" charset="0"/>
                        </a:rPr>
                        <m:t>,</m:t>
                      </m:r>
                      <m:r>
                        <a:rPr lang="hu-HU" sz="1600" i="1">
                          <a:latin typeface="Cambria Math" panose="02040503050406030204" pitchFamily="18" charset="0"/>
                        </a:rPr>
                        <m:t>𝟐</m:t>
                      </m:r>
                      <m:r>
                        <a:rPr lang="hu-HU" sz="1600" i="1">
                          <a:latin typeface="Cambria Math" panose="02040503050406030204" pitchFamily="18" charset="0"/>
                        </a:rPr>
                        <m:t>=</m:t>
                      </m:r>
                      <m:r>
                        <a:rPr lang="hu-HU" sz="1600" i="1">
                          <a:latin typeface="Cambria Math" panose="02040503050406030204" pitchFamily="18" charset="0"/>
                        </a:rPr>
                        <m:t>𝟐𝟎</m:t>
                      </m:r>
                      <m:r>
                        <a:rPr lang="hu-HU" sz="1600" i="1">
                          <a:latin typeface="Cambria Math" panose="02040503050406030204" pitchFamily="18" charset="0"/>
                        </a:rPr>
                        <m:t>%</m:t>
                      </m:r>
                    </m:oMath>
                  </m:oMathPara>
                </a14:m>
                <a:endParaRPr lang="en-GB" sz="1600" dirty="0">
                  <a:latin typeface="Cambria" panose="02040503050406030204" pitchFamily="18" charset="0"/>
                  <a:ea typeface="Cambria" panose="02040503050406030204" pitchFamily="18" charset="0"/>
                  <a:cs typeface="Arial" panose="020B0604020202020204" pitchFamily="34" charset="0"/>
                </a:endParaRPr>
              </a:p>
              <a:p>
                <a:endParaRPr lang="hu-HU" dirty="0"/>
              </a:p>
            </p:txBody>
          </p:sp>
        </mc:Choice>
        <mc:Fallback xmlns="">
          <p:sp>
            <p:nvSpPr>
              <p:cNvPr id="3" name="Tartalom helye 5">
                <a:extLst>
                  <a:ext uri="{FF2B5EF4-FFF2-40B4-BE49-F238E27FC236}">
                    <a16:creationId xmlns:a16="http://schemas.microsoft.com/office/drawing/2014/main" id="{795FE5CE-0541-0668-07AF-127D3550053A}"/>
                  </a:ext>
                </a:extLst>
              </p:cNvPr>
              <p:cNvSpPr txBox="1">
                <a:spLocks noRot="1" noChangeAspect="1" noMove="1" noResize="1" noEditPoints="1" noAdjustHandles="1" noChangeArrowheads="1" noChangeShapeType="1" noTextEdit="1"/>
              </p:cNvSpPr>
              <p:nvPr/>
            </p:nvSpPr>
            <p:spPr>
              <a:xfrm>
                <a:off x="345989" y="3212590"/>
                <a:ext cx="8531687" cy="1013421"/>
              </a:xfrm>
              <a:prstGeom prst="rect">
                <a:avLst/>
              </a:prstGeom>
              <a:blipFill>
                <a:blip r:embed="rId2"/>
                <a:stretch>
                  <a:fillRect t="-1190"/>
                </a:stretch>
              </a:blipFill>
              <a:ln w="12700" cap="flat" cmpd="sng" algn="ctr">
                <a:solidFill>
                  <a:schemeClr val="accent1"/>
                </a:solidFill>
                <a:prstDash val="solid"/>
              </a:ln>
            </p:spPr>
            <p:txBody>
              <a:bodyPr/>
              <a:lstStyle/>
              <a:p>
                <a:r>
                  <a:rPr lang="hu-HU">
                    <a:noFill/>
                  </a:rPr>
                  <a:t> </a:t>
                </a:r>
              </a:p>
            </p:txBody>
          </p:sp>
        </mc:Fallback>
      </mc:AlternateContent>
    </p:spTree>
    <p:extLst>
      <p:ext uri="{BB962C8B-B14F-4D97-AF65-F5344CB8AC3E}">
        <p14:creationId xmlns:p14="http://schemas.microsoft.com/office/powerpoint/2010/main" val="3572511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7DA3-F47A-B0A5-7D9A-56A317FF4233}"/>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21ED12F3-83F6-49EB-4065-0A47D227E6FF}"/>
              </a:ext>
            </a:extLst>
          </p:cNvPr>
          <p:cNvSpPr>
            <a:spLocks noGrp="1"/>
          </p:cNvSpPr>
          <p:nvPr>
            <p:ph type="title"/>
          </p:nvPr>
        </p:nvSpPr>
        <p:spPr>
          <a:xfrm>
            <a:off x="0" y="0"/>
            <a:ext cx="9144000" cy="531846"/>
          </a:xfrm>
          <a:solidFill>
            <a:srgbClr val="FFC000"/>
          </a:solidFill>
        </p:spPr>
        <p:txBody>
          <a:bodyPr anchor="ctr" anchorCtr="0"/>
          <a:lstStyle/>
          <a:p>
            <a:r>
              <a:rPr lang="hu-HU" dirty="0"/>
              <a:t>6. feladat</a:t>
            </a:r>
          </a:p>
        </p:txBody>
      </p:sp>
      <p:sp>
        <p:nvSpPr>
          <p:cNvPr id="2" name="TextBox 1">
            <a:extLst>
              <a:ext uri="{FF2B5EF4-FFF2-40B4-BE49-F238E27FC236}">
                <a16:creationId xmlns:a16="http://schemas.microsoft.com/office/drawing/2014/main" id="{92B3EAF7-6CDA-85D8-AE63-75F98186FE6F}"/>
              </a:ext>
            </a:extLst>
          </p:cNvPr>
          <p:cNvSpPr txBox="1"/>
          <p:nvPr/>
        </p:nvSpPr>
        <p:spPr>
          <a:xfrm>
            <a:off x="247135" y="605783"/>
            <a:ext cx="8583827" cy="2400657"/>
          </a:xfrm>
          <a:prstGeom prst="rect">
            <a:avLst/>
          </a:prstGeom>
          <a:noFill/>
        </p:spPr>
        <p:txBody>
          <a:bodyPr wrap="square" rtlCol="0">
            <a:spAutoFit/>
          </a:bodyPr>
          <a:lstStyle/>
          <a:p>
            <a:r>
              <a:rPr lang="hu-HU" sz="1500" dirty="0">
                <a:solidFill>
                  <a:srgbClr val="002060"/>
                </a:solidFill>
                <a:latin typeface="Arial" panose="020B0604020202020204" pitchFamily="34" charset="0"/>
                <a:cs typeface="Arial" panose="020B0604020202020204" pitchFamily="34" charset="0"/>
              </a:rPr>
              <a:t>Anna az első havi ösztöndíját, 30 000 forintot szeretné 1 vagy 2 évre befektetni. Az ajánlatok áttekintését követően talált egy ígéretes megtakarítási számlát egy neves kék színű banknál, ahol az éves kamatok nagyon vonzónak tűntek. Úgy számolt, ha most elhelyezi ezt az összeget, akkor az egy év múlva esedékes jövőértéke 36 000 forint, két év múlva pedig 43 200 forint. Határozzuk meg, hogy mennyi…</a:t>
            </a:r>
            <a:endParaRPr lang="en-GB" sz="1500" dirty="0">
              <a:solidFill>
                <a:srgbClr val="002060"/>
              </a:solidFill>
              <a:latin typeface="Arial" panose="020B0604020202020204" pitchFamily="34" charset="0"/>
              <a:cs typeface="Arial" panose="020B0604020202020204" pitchFamily="34" charset="0"/>
            </a:endParaRPr>
          </a:p>
          <a:p>
            <a:pPr lvl="0"/>
            <a:r>
              <a:rPr lang="hu-HU" sz="1500" dirty="0">
                <a:solidFill>
                  <a:srgbClr val="002060"/>
                </a:solidFill>
                <a:latin typeface="Arial" panose="020B0604020202020204" pitchFamily="34" charset="0"/>
                <a:cs typeface="Arial" panose="020B0604020202020204" pitchFamily="34" charset="0"/>
              </a:rPr>
              <a:t>    … az első évi hozamfaktor! </a:t>
            </a:r>
          </a:p>
          <a:p>
            <a:pPr lvl="0"/>
            <a:r>
              <a:rPr lang="hu-HU" sz="1500" dirty="0">
                <a:solidFill>
                  <a:srgbClr val="002060"/>
                </a:solidFill>
                <a:latin typeface="Arial" panose="020B0604020202020204" pitchFamily="34" charset="0"/>
                <a:cs typeface="Arial" panose="020B0604020202020204" pitchFamily="34" charset="0"/>
              </a:rPr>
              <a:t>    … a második évi hozamfaktor!</a:t>
            </a:r>
            <a:endParaRPr lang="en-GB" sz="1500" dirty="0">
              <a:solidFill>
                <a:srgbClr val="002060"/>
              </a:solidFill>
              <a:latin typeface="Arial" panose="020B0604020202020204" pitchFamily="34" charset="0"/>
              <a:cs typeface="Arial" panose="020B0604020202020204" pitchFamily="34" charset="0"/>
            </a:endParaRPr>
          </a:p>
          <a:p>
            <a:pPr lvl="0"/>
            <a:r>
              <a:rPr lang="hu-HU" sz="1500" b="1" dirty="0">
                <a:solidFill>
                  <a:srgbClr val="002060"/>
                </a:solidFill>
                <a:latin typeface="Arial" panose="020B0604020202020204" pitchFamily="34" charset="0"/>
                <a:cs typeface="Arial" panose="020B0604020202020204" pitchFamily="34" charset="0"/>
              </a:rPr>
              <a:t>    </a:t>
            </a:r>
            <a:r>
              <a:rPr lang="hu-HU" sz="1500" dirty="0">
                <a:solidFill>
                  <a:srgbClr val="002060"/>
                </a:solidFill>
                <a:latin typeface="Arial" panose="020B0604020202020204" pitchFamily="34" charset="0"/>
                <a:cs typeface="Arial" panose="020B0604020202020204" pitchFamily="34" charset="0"/>
              </a:rPr>
              <a:t>… az első évi hozam! </a:t>
            </a:r>
            <a:endParaRPr lang="en-GB" sz="1500" dirty="0">
              <a:solidFill>
                <a:srgbClr val="002060"/>
              </a:solidFill>
              <a:latin typeface="Arial" panose="020B0604020202020204" pitchFamily="34" charset="0"/>
              <a:cs typeface="Arial" panose="020B0604020202020204" pitchFamily="34" charset="0"/>
            </a:endParaRPr>
          </a:p>
          <a:p>
            <a:pPr lvl="0"/>
            <a:r>
              <a:rPr lang="hu-HU" sz="1500" dirty="0">
                <a:solidFill>
                  <a:srgbClr val="002060"/>
                </a:solidFill>
                <a:latin typeface="Arial" panose="020B0604020202020204" pitchFamily="34" charset="0"/>
                <a:cs typeface="Arial" panose="020B0604020202020204" pitchFamily="34" charset="0"/>
              </a:rPr>
              <a:t>    </a:t>
            </a:r>
            <a:r>
              <a:rPr lang="hu-HU" sz="1500" b="1" dirty="0">
                <a:solidFill>
                  <a:srgbClr val="002060"/>
                </a:solidFill>
                <a:latin typeface="Arial" panose="020B0604020202020204" pitchFamily="34" charset="0"/>
                <a:cs typeface="Arial" panose="020B0604020202020204" pitchFamily="34" charset="0"/>
              </a:rPr>
              <a:t>… a mostani 100 000 Ft egy év múlva esedékes jövőértéke (minden paramétert változatlannak tekintve)! </a:t>
            </a:r>
            <a:endParaRPr lang="en-GB" sz="1500" b="1" dirty="0">
              <a:solidFill>
                <a:srgbClr val="00206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Tartalom helye 5">
                <a:extLst>
                  <a:ext uri="{FF2B5EF4-FFF2-40B4-BE49-F238E27FC236}">
                    <a16:creationId xmlns:a16="http://schemas.microsoft.com/office/drawing/2014/main" id="{277EA080-29C5-3ADC-C9AB-13C18C178B4B}"/>
                  </a:ext>
                </a:extLst>
              </p:cNvPr>
              <p:cNvSpPr txBox="1">
                <a:spLocks/>
              </p:cNvSpPr>
              <p:nvPr/>
            </p:nvSpPr>
            <p:spPr>
              <a:xfrm>
                <a:off x="247134" y="3157201"/>
                <a:ext cx="8583827" cy="1151188"/>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dirty="0">
                    <a:latin typeface="Arial" panose="020B0604020202020204" pitchFamily="34" charset="0"/>
                    <a:cs typeface="Arial" panose="020B0604020202020204" pitchFamily="34" charset="0"/>
                  </a:rPr>
                  <a:t>PV = 100 000 Ft	Hozamfaktor =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hu-HU" i="1">
                                <a:latin typeface="Cambria Math" panose="02040503050406030204" pitchFamily="18" charset="0"/>
                              </a:rPr>
                              <m:t>1+</m:t>
                            </m:r>
                            <m:r>
                              <a:rPr lang="hu-HU" i="1">
                                <a:latin typeface="Cambria Math" panose="02040503050406030204" pitchFamily="18" charset="0"/>
                              </a:rPr>
                              <m:t>𝑟</m:t>
                            </m:r>
                          </m:e>
                        </m:d>
                      </m:e>
                      <m:sup>
                        <m:r>
                          <a:rPr lang="hu-HU" i="1">
                            <a:latin typeface="Cambria Math" panose="02040503050406030204" pitchFamily="18" charset="0"/>
                          </a:rPr>
                          <m:t>𝑡</m:t>
                        </m:r>
                      </m:sup>
                    </m:sSup>
                  </m:oMath>
                </a14:m>
                <a:r>
                  <a:rPr lang="hu-HU" dirty="0">
                    <a:latin typeface="Arial" panose="020B0604020202020204" pitchFamily="34" charset="0"/>
                    <a:cs typeface="Arial" panose="020B0604020202020204" pitchFamily="34" charset="0"/>
                  </a:rPr>
                  <a:t> = 1,2</a:t>
                </a:r>
                <a:endParaRPr lang="en-GB" dirty="0">
                  <a:latin typeface="Arial" panose="020B0604020202020204" pitchFamily="34" charset="0"/>
                  <a:cs typeface="Arial" panose="020B0604020202020204" pitchFamily="34" charset="0"/>
                </a:endParaRPr>
              </a:p>
              <a:p>
                <a:endParaRPr lang="hu-HU"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GB" i="1">
                              <a:latin typeface="Cambria Math" panose="02040503050406030204" pitchFamily="18" charset="0"/>
                            </a:rPr>
                          </m:ctrlPr>
                        </m:sSubPr>
                        <m:e>
                          <m:r>
                            <m:rPr>
                              <m:sty m:val="p"/>
                            </m:rPr>
                            <a:rPr lang="hu-HU">
                              <a:latin typeface="Cambria Math" panose="02040503050406030204" pitchFamily="18" charset="0"/>
                            </a:rPr>
                            <m:t>FV</m:t>
                          </m:r>
                        </m:e>
                        <m:sub>
                          <m:r>
                            <m:rPr>
                              <m:sty m:val="p"/>
                            </m:rPr>
                            <a:rPr lang="hu-HU">
                              <a:latin typeface="Cambria Math" panose="02040503050406030204" pitchFamily="18" charset="0"/>
                            </a:rPr>
                            <m:t>t</m:t>
                          </m:r>
                        </m:sub>
                      </m:sSub>
                      <m:r>
                        <a:rPr lang="hu-HU">
                          <a:latin typeface="Cambria Math" panose="02040503050406030204" pitchFamily="18" charset="0"/>
                        </a:rPr>
                        <m:t>=</m:t>
                      </m:r>
                      <m:r>
                        <m:rPr>
                          <m:sty m:val="p"/>
                        </m:rPr>
                        <a:rPr lang="hu-HU">
                          <a:latin typeface="Cambria Math" panose="02040503050406030204" pitchFamily="18" charset="0"/>
                        </a:rPr>
                        <m:t>PV</m:t>
                      </m:r>
                      <m:r>
                        <a:rPr lang="hu-HU">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hu-HU">
                                  <a:latin typeface="Cambria Math" panose="02040503050406030204" pitchFamily="18" charset="0"/>
                                </a:rPr>
                                <m:t>1+</m:t>
                              </m:r>
                              <m:r>
                                <m:rPr>
                                  <m:sty m:val="p"/>
                                </m:rPr>
                                <a:rPr lang="hu-HU">
                                  <a:latin typeface="Cambria Math" panose="02040503050406030204" pitchFamily="18" charset="0"/>
                                </a:rPr>
                                <m:t>r</m:t>
                              </m:r>
                            </m:e>
                          </m:d>
                        </m:e>
                        <m:sup>
                          <m:r>
                            <m:rPr>
                              <m:sty m:val="p"/>
                            </m:rPr>
                            <a:rPr lang="hu-HU">
                              <a:latin typeface="Cambria Math" panose="02040503050406030204" pitchFamily="18" charset="0"/>
                            </a:rPr>
                            <m:t>t</m:t>
                          </m:r>
                        </m:sup>
                      </m:sSup>
                    </m:oMath>
                  </m:oMathPara>
                </a14:m>
                <a:endParaRPr lang="hu-HU"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sSub>
                        <m:sSubPr>
                          <m:ctrlPr>
                            <a:rPr lang="en-GB" sz="1600" b="1" i="1" smtClean="0">
                              <a:solidFill>
                                <a:srgbClr val="002060"/>
                              </a:solidFill>
                              <a:latin typeface="Cambria Math" panose="02040503050406030204" pitchFamily="18" charset="0"/>
                            </a:rPr>
                          </m:ctrlPr>
                        </m:sSubPr>
                        <m:e>
                          <m:r>
                            <a:rPr lang="hu-HU" sz="1600" b="1" i="1">
                              <a:solidFill>
                                <a:srgbClr val="002060"/>
                              </a:solidFill>
                              <a:latin typeface="Cambria Math" panose="02040503050406030204" pitchFamily="18" charset="0"/>
                            </a:rPr>
                            <m:t>𝑭𝑽</m:t>
                          </m:r>
                        </m:e>
                        <m:sub>
                          <m:r>
                            <a:rPr lang="hu-HU" sz="1600" b="1" i="1">
                              <a:solidFill>
                                <a:srgbClr val="002060"/>
                              </a:solidFill>
                              <a:latin typeface="Cambria Math" panose="02040503050406030204" pitchFamily="18" charset="0"/>
                            </a:rPr>
                            <m:t>𝟏</m:t>
                          </m:r>
                        </m:sub>
                      </m:sSub>
                      <m:r>
                        <a:rPr lang="hu-HU" sz="1600" b="1">
                          <a:solidFill>
                            <a:srgbClr val="002060"/>
                          </a:solidFill>
                          <a:latin typeface="Cambria Math" panose="02040503050406030204" pitchFamily="18" charset="0"/>
                        </a:rPr>
                        <m:t>=</m:t>
                      </m:r>
                      <m:r>
                        <a:rPr lang="hu-HU" sz="1600" b="1" i="1">
                          <a:solidFill>
                            <a:srgbClr val="002060"/>
                          </a:solidFill>
                          <a:latin typeface="Cambria Math" panose="02040503050406030204" pitchFamily="18" charset="0"/>
                        </a:rPr>
                        <m:t>𝟏𝟎𝟎</m:t>
                      </m:r>
                      <m:r>
                        <a:rPr lang="hu-HU" sz="1600" b="1">
                          <a:solidFill>
                            <a:srgbClr val="002060"/>
                          </a:solidFill>
                          <a:latin typeface="Cambria Math" panose="02040503050406030204" pitchFamily="18" charset="0"/>
                        </a:rPr>
                        <m:t> </m:t>
                      </m:r>
                      <m:r>
                        <a:rPr lang="hu-HU" sz="1600" b="1" i="1">
                          <a:solidFill>
                            <a:srgbClr val="002060"/>
                          </a:solidFill>
                          <a:latin typeface="Cambria Math" panose="02040503050406030204" pitchFamily="18" charset="0"/>
                        </a:rPr>
                        <m:t>𝟎𝟎𝟎</m:t>
                      </m:r>
                      <m:r>
                        <a:rPr lang="hu-HU" sz="1600" b="1">
                          <a:solidFill>
                            <a:srgbClr val="002060"/>
                          </a:solidFill>
                          <a:latin typeface="Cambria Math" panose="02040503050406030204" pitchFamily="18" charset="0"/>
                        </a:rPr>
                        <m:t>∙</m:t>
                      </m:r>
                      <m:r>
                        <a:rPr lang="hu-HU" sz="1600" b="1" i="1">
                          <a:solidFill>
                            <a:srgbClr val="002060"/>
                          </a:solidFill>
                          <a:latin typeface="Cambria Math" panose="02040503050406030204" pitchFamily="18" charset="0"/>
                        </a:rPr>
                        <m:t>𝟏</m:t>
                      </m:r>
                      <m:r>
                        <a:rPr lang="hu-HU" sz="1600" b="1">
                          <a:solidFill>
                            <a:srgbClr val="002060"/>
                          </a:solidFill>
                          <a:latin typeface="Cambria Math" panose="02040503050406030204" pitchFamily="18" charset="0"/>
                        </a:rPr>
                        <m:t>,</m:t>
                      </m:r>
                      <m:r>
                        <a:rPr lang="hu-HU" sz="1600" b="1" i="1">
                          <a:solidFill>
                            <a:srgbClr val="002060"/>
                          </a:solidFill>
                          <a:latin typeface="Cambria Math" panose="02040503050406030204" pitchFamily="18" charset="0"/>
                        </a:rPr>
                        <m:t>𝟐</m:t>
                      </m:r>
                      <m:r>
                        <a:rPr lang="hu-HU" sz="1600" b="1">
                          <a:solidFill>
                            <a:srgbClr val="002060"/>
                          </a:solidFill>
                          <a:latin typeface="Cambria Math" panose="02040503050406030204" pitchFamily="18" charset="0"/>
                        </a:rPr>
                        <m:t>=</m:t>
                      </m:r>
                      <m:r>
                        <a:rPr lang="hu-HU" sz="1600" b="1" i="1">
                          <a:solidFill>
                            <a:srgbClr val="002060"/>
                          </a:solidFill>
                          <a:latin typeface="Cambria Math" panose="02040503050406030204" pitchFamily="18" charset="0"/>
                        </a:rPr>
                        <m:t>𝟏𝟐𝟎</m:t>
                      </m:r>
                      <m:r>
                        <a:rPr lang="hu-HU" sz="1600" b="1">
                          <a:solidFill>
                            <a:srgbClr val="002060"/>
                          </a:solidFill>
                          <a:latin typeface="Cambria Math" panose="02040503050406030204" pitchFamily="18" charset="0"/>
                        </a:rPr>
                        <m:t> </m:t>
                      </m:r>
                      <m:r>
                        <a:rPr lang="hu-HU" sz="1600" b="1" i="1">
                          <a:solidFill>
                            <a:srgbClr val="002060"/>
                          </a:solidFill>
                          <a:latin typeface="Cambria Math" panose="02040503050406030204" pitchFamily="18" charset="0"/>
                        </a:rPr>
                        <m:t>𝟎𝟎𝟎</m:t>
                      </m:r>
                      <m:r>
                        <a:rPr lang="hu-HU" sz="1600" b="1">
                          <a:solidFill>
                            <a:srgbClr val="002060"/>
                          </a:solidFill>
                          <a:latin typeface="Cambria Math" panose="02040503050406030204" pitchFamily="18" charset="0"/>
                        </a:rPr>
                        <m:t> </m:t>
                      </m:r>
                      <m:r>
                        <a:rPr lang="hu-HU" sz="1600" b="1" i="1">
                          <a:solidFill>
                            <a:srgbClr val="002060"/>
                          </a:solidFill>
                          <a:latin typeface="Cambria Math" panose="02040503050406030204" pitchFamily="18" charset="0"/>
                        </a:rPr>
                        <m:t>𝑭𝒕</m:t>
                      </m:r>
                    </m:oMath>
                  </m:oMathPara>
                </a14:m>
                <a:endParaRPr lang="en-GB" b="1" dirty="0">
                  <a:latin typeface="Arial" panose="020B0604020202020204" pitchFamily="34" charset="0"/>
                  <a:cs typeface="Arial" panose="020B0604020202020204" pitchFamily="34" charset="0"/>
                </a:endParaRPr>
              </a:p>
              <a:p>
                <a:endParaRPr lang="hu-HU" dirty="0"/>
              </a:p>
            </p:txBody>
          </p:sp>
        </mc:Choice>
        <mc:Fallback xmlns="">
          <p:sp>
            <p:nvSpPr>
              <p:cNvPr id="4" name="Tartalom helye 5">
                <a:extLst>
                  <a:ext uri="{FF2B5EF4-FFF2-40B4-BE49-F238E27FC236}">
                    <a16:creationId xmlns:a16="http://schemas.microsoft.com/office/drawing/2014/main" id="{277EA080-29C5-3ADC-C9AB-13C18C178B4B}"/>
                  </a:ext>
                </a:extLst>
              </p:cNvPr>
              <p:cNvSpPr txBox="1">
                <a:spLocks noRot="1" noChangeAspect="1" noMove="1" noResize="1" noEditPoints="1" noAdjustHandles="1" noChangeArrowheads="1" noChangeShapeType="1" noTextEdit="1"/>
              </p:cNvSpPr>
              <p:nvPr/>
            </p:nvSpPr>
            <p:spPr>
              <a:xfrm>
                <a:off x="247134" y="3157201"/>
                <a:ext cx="8583827" cy="1151188"/>
              </a:xfrm>
              <a:prstGeom prst="rect">
                <a:avLst/>
              </a:prstGeom>
              <a:blipFill>
                <a:blip r:embed="rId2"/>
                <a:stretch>
                  <a:fillRect l="-142" t="-2094"/>
                </a:stretch>
              </a:blipFill>
              <a:ln w="12700" cap="flat" cmpd="sng" algn="ctr">
                <a:solidFill>
                  <a:schemeClr val="accent1"/>
                </a:solidFill>
                <a:prstDash val="solid"/>
              </a:ln>
            </p:spPr>
            <p:txBody>
              <a:bodyPr/>
              <a:lstStyle/>
              <a:p>
                <a:r>
                  <a:rPr lang="hu-HU">
                    <a:noFill/>
                  </a:rPr>
                  <a:t> </a:t>
                </a:r>
              </a:p>
            </p:txBody>
          </p:sp>
        </mc:Fallback>
      </mc:AlternateContent>
    </p:spTree>
    <p:extLst>
      <p:ext uri="{BB962C8B-B14F-4D97-AF65-F5344CB8AC3E}">
        <p14:creationId xmlns:p14="http://schemas.microsoft.com/office/powerpoint/2010/main" val="113493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4F373-EE68-1066-3DD5-84B5F90EEBD7}"/>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42E6067B-E57D-2B76-2050-5F56677459B0}"/>
              </a:ext>
            </a:extLst>
          </p:cNvPr>
          <p:cNvSpPr>
            <a:spLocks noGrp="1"/>
          </p:cNvSpPr>
          <p:nvPr>
            <p:ph type="title"/>
          </p:nvPr>
        </p:nvSpPr>
        <p:spPr>
          <a:xfrm>
            <a:off x="0" y="2023428"/>
            <a:ext cx="9144000" cy="531846"/>
          </a:xfrm>
          <a:solidFill>
            <a:srgbClr val="FFC000"/>
          </a:solidFill>
        </p:spPr>
        <p:txBody>
          <a:bodyPr anchor="ctr" anchorCtr="0"/>
          <a:lstStyle/>
          <a:p>
            <a:pPr algn="ctr"/>
            <a:r>
              <a:rPr lang="hu-HU" sz="3200" dirty="0">
                <a:solidFill>
                  <a:schemeClr val="bg1"/>
                </a:solidFill>
              </a:rPr>
              <a:t>Gyakorló feladatok</a:t>
            </a:r>
          </a:p>
        </p:txBody>
      </p:sp>
    </p:spTree>
    <p:extLst>
      <p:ext uri="{BB962C8B-B14F-4D97-AF65-F5344CB8AC3E}">
        <p14:creationId xmlns:p14="http://schemas.microsoft.com/office/powerpoint/2010/main" val="39444037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5EB1A-8FC7-776F-0C57-5AC8D9DDF9CA}"/>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BCC24D29-9567-9294-4FFF-8DFB2A4F1D0B}"/>
              </a:ext>
            </a:extLst>
          </p:cNvPr>
          <p:cNvSpPr>
            <a:spLocks noGrp="1"/>
          </p:cNvSpPr>
          <p:nvPr>
            <p:ph type="title"/>
          </p:nvPr>
        </p:nvSpPr>
        <p:spPr>
          <a:xfrm>
            <a:off x="0" y="0"/>
            <a:ext cx="9144000" cy="531846"/>
          </a:xfrm>
          <a:solidFill>
            <a:srgbClr val="FFC000"/>
          </a:solidFill>
        </p:spPr>
        <p:txBody>
          <a:bodyPr anchor="ctr" anchorCtr="0"/>
          <a:lstStyle/>
          <a:p>
            <a:r>
              <a:rPr lang="hu-HU" dirty="0"/>
              <a:t>1. feladat</a:t>
            </a:r>
          </a:p>
        </p:txBody>
      </p:sp>
      <p:sp>
        <p:nvSpPr>
          <p:cNvPr id="3" name="TextBox 2">
            <a:extLst>
              <a:ext uri="{FF2B5EF4-FFF2-40B4-BE49-F238E27FC236}">
                <a16:creationId xmlns:a16="http://schemas.microsoft.com/office/drawing/2014/main" id="{5F40D0D5-3122-CAED-512D-977C8DA05702}"/>
              </a:ext>
            </a:extLst>
          </p:cNvPr>
          <p:cNvSpPr txBox="1"/>
          <p:nvPr/>
        </p:nvSpPr>
        <p:spPr>
          <a:xfrm>
            <a:off x="440724" y="801884"/>
            <a:ext cx="8262551" cy="1200329"/>
          </a:xfrm>
          <a:prstGeom prst="rect">
            <a:avLst/>
          </a:prstGeom>
          <a:noFill/>
        </p:spPr>
        <p:txBody>
          <a:bodyPr wrap="square" rtlCol="0">
            <a:spAutoFit/>
          </a:bodyPr>
          <a:lstStyle/>
          <a:p>
            <a:r>
              <a:rPr lang="hu-HU" sz="1800" dirty="0">
                <a:solidFill>
                  <a:srgbClr val="002060"/>
                </a:solidFill>
                <a:latin typeface="Arial" panose="020B0604020202020204" pitchFamily="34" charset="0"/>
                <a:cs typeface="Arial" panose="020B0604020202020204" pitchFamily="34" charset="0"/>
              </a:rPr>
              <a:t>Egy váratlan pénzjutalom révén ma 850 000 Ft-ot kaptunk, amelyet négy évre szeretnénk befektetni. </a:t>
            </a:r>
          </a:p>
          <a:p>
            <a:r>
              <a:rPr lang="hu-HU" sz="1800" dirty="0">
                <a:solidFill>
                  <a:srgbClr val="C00000"/>
                </a:solidFill>
                <a:latin typeface="Arial" panose="020B0604020202020204" pitchFamily="34" charset="0"/>
                <a:cs typeface="Arial" panose="020B0604020202020204" pitchFamily="34" charset="0"/>
              </a:rPr>
              <a:t>Mekkora lesz ennek a pénzösszegnek négy év múlva az értéke 7,5%-os éves kamatláb mellett, ha a kamatokat nem tőkésítjük?</a:t>
            </a:r>
            <a:endParaRPr lang="en-GB" sz="1800" dirty="0">
              <a:solidFill>
                <a:srgbClr val="C00000"/>
              </a:solidFill>
              <a:latin typeface="Arial" panose="020B0604020202020204" pitchFamily="34" charset="0"/>
              <a:cs typeface="Arial" panose="020B0604020202020204" pitchFamily="34" charset="0"/>
            </a:endParaRPr>
          </a:p>
        </p:txBody>
      </p:sp>
      <p:sp>
        <p:nvSpPr>
          <p:cNvPr id="2" name="Tartalom helye 5">
            <a:extLst>
              <a:ext uri="{FF2B5EF4-FFF2-40B4-BE49-F238E27FC236}">
                <a16:creationId xmlns:a16="http://schemas.microsoft.com/office/drawing/2014/main" id="{2A8B1CE1-2379-F06D-D182-AED9DD2DA3A7}"/>
              </a:ext>
            </a:extLst>
          </p:cNvPr>
          <p:cNvSpPr txBox="1">
            <a:spLocks/>
          </p:cNvSpPr>
          <p:nvPr/>
        </p:nvSpPr>
        <p:spPr>
          <a:xfrm>
            <a:off x="440724" y="2346393"/>
            <a:ext cx="8274908" cy="1780764"/>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dirty="0">
                <a:solidFill>
                  <a:srgbClr val="C00000"/>
                </a:solidFill>
                <a:latin typeface="Arial" panose="020B0604020202020204" pitchFamily="34" charset="0"/>
                <a:cs typeface="Arial" panose="020B0604020202020204" pitchFamily="34" charset="0"/>
              </a:rPr>
              <a:t>Megoldás – Jövőérték-számítás</a:t>
            </a:r>
          </a:p>
          <a:p>
            <a:endParaRPr lang="hu-HU" dirty="0">
              <a:latin typeface="Arial" panose="020B0604020202020204" pitchFamily="34" charset="0"/>
              <a:cs typeface="Arial" panose="020B0604020202020204" pitchFamily="34" charset="0"/>
            </a:endParaRPr>
          </a:p>
          <a:p>
            <a:r>
              <a:rPr lang="hu-HU" dirty="0">
                <a:latin typeface="Arial" panose="020B0604020202020204" pitchFamily="34" charset="0"/>
                <a:cs typeface="Arial" panose="020B0604020202020204" pitchFamily="34" charset="0"/>
              </a:rPr>
              <a:t>PV = 850000	t = 4 év  	r = 7,5%</a:t>
            </a:r>
          </a:p>
          <a:p>
            <a:endParaRPr lang="hu-HU" dirty="0">
              <a:latin typeface="Arial" panose="020B0604020202020204" pitchFamily="34" charset="0"/>
              <a:cs typeface="Arial" panose="020B0604020202020204" pitchFamily="34" charset="0"/>
            </a:endParaRPr>
          </a:p>
          <a:p>
            <a:r>
              <a:rPr lang="hu-HU" dirty="0">
                <a:latin typeface="Arial" panose="020B0604020202020204" pitchFamily="34" charset="0"/>
                <a:cs typeface="Arial" panose="020B0604020202020204" pitchFamily="34" charset="0"/>
              </a:rPr>
              <a:t>FV = PV * (1 + t * r)</a:t>
            </a:r>
          </a:p>
          <a:p>
            <a:endParaRPr lang="hu-HU" dirty="0">
              <a:latin typeface="Arial" panose="020B0604020202020204" pitchFamily="34" charset="0"/>
              <a:cs typeface="Arial" panose="020B0604020202020204" pitchFamily="34" charset="0"/>
            </a:endParaRPr>
          </a:p>
          <a:p>
            <a:r>
              <a:rPr lang="hu-HU" sz="1600" b="1" dirty="0">
                <a:solidFill>
                  <a:srgbClr val="C00000"/>
                </a:solidFill>
                <a:latin typeface="Arial" panose="020B0604020202020204" pitchFamily="34" charset="0"/>
                <a:cs typeface="Arial" panose="020B0604020202020204" pitchFamily="34" charset="0"/>
              </a:rPr>
              <a:t>FV = 850 000 * (1 + 4*0,075 ) = 1 105 000 Ft</a:t>
            </a:r>
          </a:p>
        </p:txBody>
      </p:sp>
    </p:spTree>
    <p:extLst>
      <p:ext uri="{BB962C8B-B14F-4D97-AF65-F5344CB8AC3E}">
        <p14:creationId xmlns:p14="http://schemas.microsoft.com/office/powerpoint/2010/main" val="351952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28BB-499B-3D02-FF9A-8C08D60DCB9C}"/>
            </a:ext>
          </a:extLst>
        </p:cNvPr>
        <p:cNvGrpSpPr/>
        <p:nvPr/>
      </p:nvGrpSpPr>
      <p:grpSpPr>
        <a:xfrm>
          <a:off x="0" y="0"/>
          <a:ext cx="0" cy="0"/>
          <a:chOff x="0" y="0"/>
          <a:chExt cx="0" cy="0"/>
        </a:xfrm>
      </p:grpSpPr>
      <p:sp>
        <p:nvSpPr>
          <p:cNvPr id="10" name="Cím 9">
            <a:extLst>
              <a:ext uri="{FF2B5EF4-FFF2-40B4-BE49-F238E27FC236}">
                <a16:creationId xmlns:a16="http://schemas.microsoft.com/office/drawing/2014/main" id="{16DD1FAE-B007-D5E8-86A2-A1ECD8FF8E34}"/>
              </a:ext>
            </a:extLst>
          </p:cNvPr>
          <p:cNvSpPr>
            <a:spLocks noGrp="1"/>
          </p:cNvSpPr>
          <p:nvPr>
            <p:ph type="title"/>
          </p:nvPr>
        </p:nvSpPr>
        <p:spPr>
          <a:xfrm>
            <a:off x="0" y="0"/>
            <a:ext cx="9144000" cy="531846"/>
          </a:xfrm>
          <a:solidFill>
            <a:srgbClr val="FFC000"/>
          </a:solidFill>
        </p:spPr>
        <p:txBody>
          <a:bodyPr anchor="ctr" anchorCtr="0"/>
          <a:lstStyle/>
          <a:p>
            <a:r>
              <a:rPr lang="hu-HU" dirty="0"/>
              <a:t>2. feladat</a:t>
            </a:r>
          </a:p>
        </p:txBody>
      </p:sp>
      <p:sp>
        <p:nvSpPr>
          <p:cNvPr id="3" name="TextBox 2">
            <a:extLst>
              <a:ext uri="{FF2B5EF4-FFF2-40B4-BE49-F238E27FC236}">
                <a16:creationId xmlns:a16="http://schemas.microsoft.com/office/drawing/2014/main" id="{99345291-7680-9CA2-6ECA-25AE6C3FD030}"/>
              </a:ext>
            </a:extLst>
          </p:cNvPr>
          <p:cNvSpPr txBox="1"/>
          <p:nvPr/>
        </p:nvSpPr>
        <p:spPr>
          <a:xfrm>
            <a:off x="436605" y="791836"/>
            <a:ext cx="7869196" cy="1200329"/>
          </a:xfrm>
          <a:prstGeom prst="rect">
            <a:avLst/>
          </a:prstGeom>
          <a:noFill/>
        </p:spPr>
        <p:txBody>
          <a:bodyPr wrap="square" rtlCol="0">
            <a:spAutoFit/>
          </a:bodyPr>
          <a:lstStyle/>
          <a:p>
            <a:r>
              <a:rPr lang="hu-HU" sz="1800" dirty="0">
                <a:solidFill>
                  <a:srgbClr val="002060"/>
                </a:solidFill>
                <a:latin typeface="Arial" panose="020B0604020202020204" pitchFamily="34" charset="0"/>
                <a:cs typeface="Arial" panose="020B0604020202020204" pitchFamily="34" charset="0"/>
              </a:rPr>
              <a:t>Ma örököltünk 750 000 Ft-ot egy távoli rokontól, és úgy döntöttünk, hogy ezt az összeget befektetjük a jövőre gondolva. </a:t>
            </a:r>
          </a:p>
          <a:p>
            <a:r>
              <a:rPr lang="hu-HU" sz="1800" dirty="0">
                <a:solidFill>
                  <a:srgbClr val="C00000"/>
                </a:solidFill>
                <a:latin typeface="Arial" panose="020B0604020202020204" pitchFamily="34" charset="0"/>
                <a:cs typeface="Arial" panose="020B0604020202020204" pitchFamily="34" charset="0"/>
              </a:rPr>
              <a:t>Mennyi lesz ennek a pénzösszegnek hat év múlva az értéke 4%-os piaci kamatláb mellett, ha a kamatokat évente tőkésítjük?</a:t>
            </a:r>
            <a:endParaRPr lang="en-US" sz="1800" dirty="0">
              <a:solidFill>
                <a:srgbClr val="C00000"/>
              </a:solidFill>
              <a:latin typeface="Arial" panose="020B0604020202020204" pitchFamily="34" charset="0"/>
              <a:cs typeface="Arial" panose="020B0604020202020204" pitchFamily="34" charset="0"/>
            </a:endParaRPr>
          </a:p>
        </p:txBody>
      </p:sp>
      <p:sp>
        <p:nvSpPr>
          <p:cNvPr id="2" name="Tartalom helye 5">
            <a:extLst>
              <a:ext uri="{FF2B5EF4-FFF2-40B4-BE49-F238E27FC236}">
                <a16:creationId xmlns:a16="http://schemas.microsoft.com/office/drawing/2014/main" id="{4C97E2D1-0967-1B55-BD8D-35900ECCB7D2}"/>
              </a:ext>
            </a:extLst>
          </p:cNvPr>
          <p:cNvSpPr txBox="1">
            <a:spLocks/>
          </p:cNvSpPr>
          <p:nvPr/>
        </p:nvSpPr>
        <p:spPr>
          <a:xfrm>
            <a:off x="436605" y="2472611"/>
            <a:ext cx="7869196" cy="1572167"/>
          </a:xfrm>
          <a:prstGeom prst="rect">
            <a:avLst/>
          </a:prstGeom>
          <a:ln w="12700" cap="flat" cmpd="sng" algn="ctr">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1pPr>
            <a:lvl2pPr marR="0" lvl="1"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2pPr>
            <a:lvl3pPr marR="0" lvl="2"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3pPr>
            <a:lvl4pPr marR="0" lvl="3"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4pPr>
            <a:lvl5pPr marR="0" lvl="4"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5pPr>
            <a:lvl6pPr marR="0" lvl="5"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6pPr>
            <a:lvl7pPr marR="0" lvl="6"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7pPr>
            <a:lvl8pPr marR="0" lvl="7"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8pPr>
            <a:lvl9pPr marR="0" lvl="8" algn="l" rtl="0">
              <a:lnSpc>
                <a:spcPct val="100000"/>
              </a:lnSpc>
              <a:spcBef>
                <a:spcPts val="0"/>
              </a:spcBef>
              <a:spcAft>
                <a:spcPts val="0"/>
              </a:spcAft>
              <a:buNone/>
              <a:defRPr sz="1400" b="0" i="0" u="none" strike="noStrike" cap="none">
                <a:solidFill>
                  <a:schemeClr val="dk1"/>
                </a:solidFill>
                <a:latin typeface="+mn-lt"/>
                <a:ea typeface="+mn-ea"/>
                <a:cs typeface="+mn-cs"/>
                <a:sym typeface="Arial"/>
                <a:rtl val="0"/>
              </a:defRPr>
            </a:lvl9pPr>
          </a:lstStyle>
          <a:p>
            <a:r>
              <a:rPr lang="hu-HU" dirty="0">
                <a:solidFill>
                  <a:srgbClr val="C00000"/>
                </a:solidFill>
                <a:latin typeface="Arial" panose="020B0604020202020204" pitchFamily="34" charset="0"/>
                <a:cs typeface="Arial" panose="020B0604020202020204" pitchFamily="34" charset="0"/>
              </a:rPr>
              <a:t>Megoldás – Jövőérték-számítás</a:t>
            </a:r>
          </a:p>
          <a:p>
            <a:endParaRPr lang="hu-HU" dirty="0">
              <a:latin typeface="Arial" panose="020B0604020202020204" pitchFamily="34" charset="0"/>
              <a:cs typeface="Arial" panose="020B0604020202020204" pitchFamily="34" charset="0"/>
            </a:endParaRPr>
          </a:p>
          <a:p>
            <a:r>
              <a:rPr lang="hu-HU" dirty="0">
                <a:latin typeface="Arial" panose="020B0604020202020204" pitchFamily="34" charset="0"/>
                <a:cs typeface="Arial" panose="020B0604020202020204" pitchFamily="34" charset="0"/>
              </a:rPr>
              <a:t>PV = 750 000	t = 6 év  	r = 4%</a:t>
            </a:r>
          </a:p>
          <a:p>
            <a:endParaRPr lang="hu-HU" dirty="0">
              <a:latin typeface="Arial" panose="020B0604020202020204" pitchFamily="34" charset="0"/>
              <a:cs typeface="Arial" panose="020B0604020202020204" pitchFamily="34" charset="0"/>
            </a:endParaRPr>
          </a:p>
          <a:p>
            <a:r>
              <a:rPr lang="hu-HU" dirty="0">
                <a:latin typeface="Arial" panose="020B0604020202020204" pitchFamily="34" charset="0"/>
                <a:cs typeface="Arial" panose="020B0604020202020204" pitchFamily="34" charset="0"/>
              </a:rPr>
              <a:t>FV = PV * (1 + r)</a:t>
            </a:r>
            <a:r>
              <a:rPr lang="hu-HU" baseline="30000" dirty="0">
                <a:latin typeface="Arial" panose="020B0604020202020204" pitchFamily="34" charset="0"/>
                <a:cs typeface="Arial" panose="020B0604020202020204" pitchFamily="34" charset="0"/>
              </a:rPr>
              <a:t>t</a:t>
            </a:r>
          </a:p>
          <a:p>
            <a:endParaRPr lang="hu-HU" dirty="0">
              <a:latin typeface="Arial" panose="020B0604020202020204" pitchFamily="34" charset="0"/>
              <a:cs typeface="Arial" panose="020B0604020202020204" pitchFamily="34" charset="0"/>
            </a:endParaRPr>
          </a:p>
          <a:p>
            <a:r>
              <a:rPr lang="hu-HU" sz="1600" b="1" dirty="0">
                <a:solidFill>
                  <a:srgbClr val="C00000"/>
                </a:solidFill>
                <a:latin typeface="Arial" panose="020B0604020202020204" pitchFamily="34" charset="0"/>
                <a:cs typeface="Arial" panose="020B0604020202020204" pitchFamily="34" charset="0"/>
              </a:rPr>
              <a:t>FV = 750 000 * (1 + 0,04)</a:t>
            </a:r>
            <a:r>
              <a:rPr lang="hu-HU" sz="1600" b="1" baseline="30000" dirty="0">
                <a:solidFill>
                  <a:srgbClr val="C00000"/>
                </a:solidFill>
                <a:latin typeface="Arial" panose="020B0604020202020204" pitchFamily="34" charset="0"/>
                <a:cs typeface="Arial" panose="020B0604020202020204" pitchFamily="34" charset="0"/>
              </a:rPr>
              <a:t>6</a:t>
            </a:r>
            <a:r>
              <a:rPr lang="hu-HU" sz="1600" b="1" dirty="0">
                <a:solidFill>
                  <a:srgbClr val="C00000"/>
                </a:solidFill>
                <a:latin typeface="Arial" panose="020B0604020202020204" pitchFamily="34" charset="0"/>
                <a:cs typeface="Arial" panose="020B0604020202020204" pitchFamily="34" charset="0"/>
              </a:rPr>
              <a:t> = 948 989 Ft</a:t>
            </a:r>
          </a:p>
          <a:p>
            <a:endParaRPr lang="hu-HU" dirty="0"/>
          </a:p>
        </p:txBody>
      </p:sp>
    </p:spTree>
    <p:extLst>
      <p:ext uri="{BB962C8B-B14F-4D97-AF65-F5344CB8AC3E}">
        <p14:creationId xmlns:p14="http://schemas.microsoft.com/office/powerpoint/2010/main" val="363599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A6BE-B6EC-6A11-8940-D71C7C40935E}"/>
            </a:ext>
          </a:extLst>
        </p:cNvPr>
        <p:cNvGrpSpPr/>
        <p:nvPr/>
      </p:nvGrpSpPr>
      <p:grpSpPr>
        <a:xfrm>
          <a:off x="0" y="0"/>
          <a:ext cx="0" cy="0"/>
          <a:chOff x="0" y="0"/>
          <a:chExt cx="0" cy="0"/>
        </a:xfrm>
      </p:grpSpPr>
      <p:sp>
        <p:nvSpPr>
          <p:cNvPr id="11" name="Téglalap 10">
            <a:extLst>
              <a:ext uri="{FF2B5EF4-FFF2-40B4-BE49-F238E27FC236}">
                <a16:creationId xmlns:a16="http://schemas.microsoft.com/office/drawing/2014/main" id="{52C4113D-D1B3-1742-FDB2-EEC4469454B5}"/>
              </a:ext>
            </a:extLst>
          </p:cNvPr>
          <p:cNvSpPr/>
          <p:nvPr/>
        </p:nvSpPr>
        <p:spPr>
          <a:xfrm>
            <a:off x="514370" y="106446"/>
            <a:ext cx="7903628" cy="2308324"/>
          </a:xfrm>
          <a:prstGeom prst="rect">
            <a:avLst/>
          </a:prstGeom>
          <a:solidFill>
            <a:schemeClr val="accent5">
              <a:lumMod val="20000"/>
              <a:lumOff val="80000"/>
            </a:schemeClr>
          </a:solidFill>
        </p:spPr>
        <p:txBody>
          <a:bodyPr wrap="square">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defRPr/>
            </a:pPr>
            <a:r>
              <a:rPr lang="hu-HU" altLang="hu-HU" sz="1800" dirty="0">
                <a:latin typeface="Cambria" panose="02040503050406030204" pitchFamily="18" charset="0"/>
              </a:rPr>
              <a:t>Önnek 3 000 000 Ft-ja van, amit elhelyez a bankban. </a:t>
            </a:r>
          </a:p>
          <a:p>
            <a:pPr>
              <a:defRPr/>
            </a:pPr>
            <a:r>
              <a:rPr lang="hu-HU" altLang="hu-HU" sz="1800" dirty="0">
                <a:latin typeface="Cambria" panose="02040503050406030204" pitchFamily="18" charset="0"/>
              </a:rPr>
              <a:t>Előre láthatólag 2,5 évig nem lesz szüksége a pénzre. </a:t>
            </a:r>
          </a:p>
          <a:p>
            <a:pPr>
              <a:defRPr/>
            </a:pPr>
            <a:r>
              <a:rPr lang="hu-HU" altLang="hu-HU" sz="1800" dirty="0">
                <a:latin typeface="Cambria" panose="02040503050406030204" pitchFamily="18" charset="0"/>
              </a:rPr>
              <a:t>Három bank ajánlatát veti össze:</a:t>
            </a:r>
          </a:p>
          <a:p>
            <a:pPr>
              <a:defRPr/>
            </a:pPr>
            <a:r>
              <a:rPr lang="hu-HU" altLang="hu-HU" sz="1800" dirty="0">
                <a:latin typeface="Cambria" panose="02040503050406030204" pitchFamily="18" charset="0"/>
              </a:rPr>
              <a:t>„A” bank évente egyszer tőkésít, meghirdetett kamatláb 18%</a:t>
            </a:r>
          </a:p>
          <a:p>
            <a:pPr>
              <a:defRPr/>
            </a:pPr>
            <a:r>
              <a:rPr lang="hu-HU" altLang="hu-HU" sz="1800" dirty="0">
                <a:latin typeface="Cambria" panose="02040503050406030204" pitchFamily="18" charset="0"/>
              </a:rPr>
              <a:t>„B” bank évente kétszer tőkésít, meghirdetett kamatláb 16%</a:t>
            </a:r>
          </a:p>
          <a:p>
            <a:pPr>
              <a:defRPr/>
            </a:pPr>
            <a:r>
              <a:rPr lang="hu-HU" altLang="hu-HU" sz="1800" dirty="0">
                <a:latin typeface="Cambria" panose="02040503050406030204" pitchFamily="18" charset="0"/>
              </a:rPr>
              <a:t>„C” bank negyedévente tőkésít, meghirdetett kamatláb 15%</a:t>
            </a:r>
          </a:p>
          <a:p>
            <a:pPr>
              <a:defRPr/>
            </a:pPr>
            <a:r>
              <a:rPr lang="hu-HU" altLang="hu-HU" sz="1800" dirty="0">
                <a:latin typeface="Cambria" panose="02040503050406030204" pitchFamily="18" charset="0"/>
              </a:rPr>
              <a:t>Melyik ajánlatot fogadjuk el és mennyi lesz ez esetben a pénzünk?</a:t>
            </a:r>
          </a:p>
          <a:p>
            <a:pPr>
              <a:defRPr/>
            </a:pPr>
            <a:r>
              <a:rPr lang="hu-HU" altLang="hu-HU" sz="1800" b="1" i="1" u="sng" dirty="0">
                <a:latin typeface="Cambria" panose="02040503050406030204" pitchFamily="18" charset="0"/>
              </a:rPr>
              <a:t>Ne feledjék: tört periódus nincs, mindig lefelé kerekítünk!!</a:t>
            </a:r>
          </a:p>
        </p:txBody>
      </p:sp>
      <mc:AlternateContent xmlns:mc="http://schemas.openxmlformats.org/markup-compatibility/2006" xmlns:a14="http://schemas.microsoft.com/office/drawing/2010/main">
        <mc:Choice Requires="a14">
          <p:sp>
            <p:nvSpPr>
              <p:cNvPr id="5" name="Szövegdoboz 4">
                <a:extLst>
                  <a:ext uri="{FF2B5EF4-FFF2-40B4-BE49-F238E27FC236}">
                    <a16:creationId xmlns:a16="http://schemas.microsoft.com/office/drawing/2014/main" id="{A82A8949-A310-5E24-088B-4D100B25016B}"/>
                  </a:ext>
                </a:extLst>
              </p:cNvPr>
              <p:cNvSpPr txBox="1"/>
              <p:nvPr/>
            </p:nvSpPr>
            <p:spPr>
              <a:xfrm>
                <a:off x="1492734" y="2940155"/>
                <a:ext cx="5787254" cy="1943161"/>
              </a:xfrm>
              <a:prstGeom prst="rect">
                <a:avLst/>
              </a:prstGeom>
              <a:solidFill>
                <a:schemeClr val="bg1">
                  <a:lumMod val="95000"/>
                </a:schemeClr>
              </a:solidFill>
              <a:ln w="28575">
                <a:solidFill>
                  <a:schemeClr val="accent1"/>
                </a:solidFill>
              </a:ln>
            </p:spPr>
            <p:txBody>
              <a:bodyPr wrap="square" rtlCol="0">
                <a:spAutoFit/>
              </a:bodyPr>
              <a:lstStyle/>
              <a:p>
                <a:r>
                  <a:rPr lang="hu-HU" sz="2400" dirty="0">
                    <a:latin typeface="Cambria" panose="02040503050406030204" pitchFamily="18" charset="0"/>
                    <a:ea typeface="Cambria" panose="02040503050406030204" pitchFamily="18" charset="0"/>
                  </a:rPr>
                  <a:t>„A” 3 000 000*</a:t>
                </a:r>
                <a14:m>
                  <m:oMath xmlns:m="http://schemas.openxmlformats.org/officeDocument/2006/math">
                    <m:sSup>
                      <m:sSupPr>
                        <m:ctrlPr>
                          <a:rPr lang="hu-HU" sz="2400" i="1">
                            <a:latin typeface="Cambria Math" panose="02040503050406030204" pitchFamily="18" charset="0"/>
                          </a:rPr>
                        </m:ctrlPr>
                      </m:sSupPr>
                      <m:e>
                        <m:r>
                          <a:rPr lang="hu-HU" sz="2400" i="1">
                            <a:latin typeface="Cambria Math" panose="02040503050406030204" pitchFamily="18" charset="0"/>
                          </a:rPr>
                          <m:t>1,18</m:t>
                        </m:r>
                      </m:e>
                      <m:sup>
                        <m:r>
                          <a:rPr lang="hu-HU" sz="2400" i="1">
                            <a:latin typeface="Cambria Math" panose="02040503050406030204" pitchFamily="18" charset="0"/>
                          </a:rPr>
                          <m:t>2</m:t>
                        </m:r>
                      </m:sup>
                    </m:sSup>
                  </m:oMath>
                </a14:m>
                <a:r>
                  <a:rPr lang="hu-HU" sz="2400" dirty="0">
                    <a:latin typeface="Cambria" panose="02040503050406030204" pitchFamily="18" charset="0"/>
                    <a:ea typeface="Cambria" panose="02040503050406030204" pitchFamily="18" charset="0"/>
                  </a:rPr>
                  <a:t>=4 177 200 Ft</a:t>
                </a:r>
              </a:p>
              <a:p>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„B” 3 000 000* </a:t>
                </a:r>
                <a14:m>
                  <m:oMath xmlns:m="http://schemas.openxmlformats.org/officeDocument/2006/math">
                    <m:sSup>
                      <m:sSupPr>
                        <m:ctrlPr>
                          <a:rPr lang="hu-HU" sz="2400" i="1">
                            <a:latin typeface="Cambria Math" panose="02040503050406030204" pitchFamily="18" charset="0"/>
                          </a:rPr>
                        </m:ctrlPr>
                      </m:sSupPr>
                      <m:e>
                        <m:r>
                          <a:rPr lang="hu-HU" sz="2400" i="1">
                            <a:latin typeface="Cambria Math" panose="02040503050406030204" pitchFamily="18" charset="0"/>
                          </a:rPr>
                          <m:t>1,08</m:t>
                        </m:r>
                      </m:e>
                      <m:sup>
                        <m:r>
                          <a:rPr lang="hu-HU" sz="2400" i="1">
                            <a:latin typeface="Cambria Math" panose="02040503050406030204" pitchFamily="18" charset="0"/>
                          </a:rPr>
                          <m:t>5</m:t>
                        </m:r>
                      </m:sup>
                    </m:sSup>
                  </m:oMath>
                </a14:m>
                <a:r>
                  <a:rPr lang="hu-HU" sz="2400" dirty="0">
                    <a:latin typeface="Cambria" panose="02040503050406030204" pitchFamily="18" charset="0"/>
                    <a:ea typeface="Cambria" panose="02040503050406030204" pitchFamily="18" charset="0"/>
                  </a:rPr>
                  <a:t>= 4 407 984 Ft</a:t>
                </a:r>
              </a:p>
              <a:p>
                <a:endParaRPr lang="hu-HU" sz="2400" dirty="0">
                  <a:latin typeface="Cambria" panose="02040503050406030204" pitchFamily="18" charset="0"/>
                  <a:ea typeface="Cambria" panose="02040503050406030204" pitchFamily="18" charset="0"/>
                </a:endParaRPr>
              </a:p>
              <a:p>
                <a:r>
                  <a:rPr lang="hu-HU" sz="2400" dirty="0">
                    <a:latin typeface="Cambria" panose="02040503050406030204" pitchFamily="18" charset="0"/>
                    <a:ea typeface="Cambria" panose="02040503050406030204" pitchFamily="18" charset="0"/>
                  </a:rPr>
                  <a:t>„C” 3 000 000* </a:t>
                </a:r>
                <a14:m>
                  <m:oMath xmlns:m="http://schemas.openxmlformats.org/officeDocument/2006/math">
                    <m:sSup>
                      <m:sSupPr>
                        <m:ctrlPr>
                          <a:rPr lang="hu-HU" sz="2400" i="1">
                            <a:latin typeface="Cambria Math" panose="02040503050406030204" pitchFamily="18" charset="0"/>
                          </a:rPr>
                        </m:ctrlPr>
                      </m:sSupPr>
                      <m:e>
                        <m:r>
                          <a:rPr lang="hu-HU" sz="2400" i="1">
                            <a:latin typeface="Cambria Math" panose="02040503050406030204" pitchFamily="18" charset="0"/>
                          </a:rPr>
                          <m:t>1,0375</m:t>
                        </m:r>
                      </m:e>
                      <m:sup>
                        <m:r>
                          <a:rPr lang="hu-HU" sz="2400" i="1">
                            <a:latin typeface="Cambria Math" panose="02040503050406030204" pitchFamily="18" charset="0"/>
                          </a:rPr>
                          <m:t>10</m:t>
                        </m:r>
                      </m:sup>
                    </m:sSup>
                  </m:oMath>
                </a14:m>
                <a:r>
                  <a:rPr lang="hu-HU" sz="2400" dirty="0">
                    <a:latin typeface="Cambria" panose="02040503050406030204" pitchFamily="18" charset="0"/>
                    <a:ea typeface="Cambria" panose="02040503050406030204" pitchFamily="18" charset="0"/>
                  </a:rPr>
                  <a:t>=4 335 132 Ft</a:t>
                </a:r>
              </a:p>
            </p:txBody>
          </p:sp>
        </mc:Choice>
        <mc:Fallback xmlns="">
          <p:sp>
            <p:nvSpPr>
              <p:cNvPr id="5" name="Szövegdoboz 4">
                <a:extLst>
                  <a:ext uri="{FF2B5EF4-FFF2-40B4-BE49-F238E27FC236}">
                    <a16:creationId xmlns:a16="http://schemas.microsoft.com/office/drawing/2014/main" id="{A82A8949-A310-5E24-088B-4D100B25016B}"/>
                  </a:ext>
                </a:extLst>
              </p:cNvPr>
              <p:cNvSpPr txBox="1">
                <a:spLocks noRot="1" noChangeAspect="1" noMove="1" noResize="1" noEditPoints="1" noAdjustHandles="1" noChangeArrowheads="1" noChangeShapeType="1" noTextEdit="1"/>
              </p:cNvSpPr>
              <p:nvPr/>
            </p:nvSpPr>
            <p:spPr>
              <a:xfrm>
                <a:off x="1492734" y="2940155"/>
                <a:ext cx="5787254" cy="1943161"/>
              </a:xfrm>
              <a:prstGeom prst="rect">
                <a:avLst/>
              </a:prstGeom>
              <a:blipFill>
                <a:blip r:embed="rId2"/>
                <a:stretch>
                  <a:fillRect l="-1468" t="-1852" b="-4938"/>
                </a:stretch>
              </a:blipFill>
              <a:ln w="28575">
                <a:solidFill>
                  <a:schemeClr val="accent1"/>
                </a:solidFill>
              </a:ln>
            </p:spPr>
            <p:txBody>
              <a:bodyPr/>
              <a:lstStyle/>
              <a:p>
                <a:r>
                  <a:rPr lang="hu-HU">
                    <a:noFill/>
                  </a:rPr>
                  <a:t> </a:t>
                </a:r>
              </a:p>
            </p:txBody>
          </p:sp>
        </mc:Fallback>
      </mc:AlternateContent>
    </p:spTree>
    <p:extLst>
      <p:ext uri="{BB962C8B-B14F-4D97-AF65-F5344CB8AC3E}">
        <p14:creationId xmlns:p14="http://schemas.microsoft.com/office/powerpoint/2010/main" val="5414512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a:extLst>
              <a:ext uri="{FF2B5EF4-FFF2-40B4-BE49-F238E27FC236}">
                <a16:creationId xmlns:a16="http://schemas.microsoft.com/office/drawing/2014/main" id="{D26551CE-0D34-5B68-BC74-91CA362253D9}"/>
              </a:ext>
            </a:extLst>
          </p:cNvPr>
          <p:cNvSpPr txBox="1"/>
          <p:nvPr/>
        </p:nvSpPr>
        <p:spPr>
          <a:xfrm>
            <a:off x="755374" y="1066799"/>
            <a:ext cx="7918173" cy="954107"/>
          </a:xfrm>
          <a:prstGeom prst="rect">
            <a:avLst/>
          </a:prstGeom>
          <a:solidFill>
            <a:schemeClr val="bg1">
              <a:lumMod val="95000"/>
            </a:schemeClr>
          </a:solidFill>
          <a:ln w="28575">
            <a:solidFill>
              <a:srgbClr val="FFC000"/>
            </a:solidFill>
          </a:ln>
        </p:spPr>
        <p:txBody>
          <a:bodyPr wrap="square" rtlCol="0">
            <a:spAutoFit/>
          </a:bodyPr>
          <a:lstStyle/>
          <a:p>
            <a:r>
              <a:rPr lang="hu-HU" sz="2800" dirty="0">
                <a:latin typeface="Cambria" panose="02040503050406030204" pitchFamily="18" charset="0"/>
                <a:ea typeface="Cambria" panose="02040503050406030204" pitchFamily="18" charset="0"/>
              </a:rPr>
              <a:t>Milyen kamatláb mellett tudom megduplázni 4 év alatt a vagyonomat, éves kamatos kamatozással?</a:t>
            </a:r>
          </a:p>
        </p:txBody>
      </p:sp>
    </p:spTree>
    <p:extLst>
      <p:ext uri="{BB962C8B-B14F-4D97-AF65-F5344CB8AC3E}">
        <p14:creationId xmlns:p14="http://schemas.microsoft.com/office/powerpoint/2010/main" val="3830453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t="-80000"/>
          </a:stretch>
        </a:blipFill>
        <a:effectLst/>
      </p:bgPr>
    </p:bg>
    <p:spTree>
      <p:nvGrpSpPr>
        <p:cNvPr id="1" name="Shape 321"/>
        <p:cNvGrpSpPr/>
        <p:nvPr/>
      </p:nvGrpSpPr>
      <p:grpSpPr>
        <a:xfrm>
          <a:off x="0" y="0"/>
          <a:ext cx="0" cy="0"/>
          <a:chOff x="0" y="0"/>
          <a:chExt cx="0" cy="0"/>
        </a:xfrm>
      </p:grpSpPr>
      <p:sp>
        <p:nvSpPr>
          <p:cNvPr id="323" name="Shape 323"/>
          <p:cNvSpPr txBox="1"/>
          <p:nvPr/>
        </p:nvSpPr>
        <p:spPr>
          <a:xfrm>
            <a:off x="0" y="2073014"/>
            <a:ext cx="9144000" cy="2061299"/>
          </a:xfrm>
          <a:prstGeom prst="rect">
            <a:avLst/>
          </a:prstGeom>
          <a:noFill/>
          <a:ln>
            <a:noFill/>
          </a:ln>
        </p:spPr>
        <p:txBody>
          <a:bodyPr lIns="91425" tIns="91425" rIns="91425" bIns="91425" anchor="ctr" anchorCtr="0">
            <a:noAutofit/>
          </a:bodyPr>
          <a:lstStyle/>
          <a:p>
            <a:pPr algn="ctr"/>
            <a:r>
              <a:rPr lang="hu" sz="3600" b="1">
                <a:latin typeface="Segoe UI Semibold" panose="020B0702040204020203" pitchFamily="34" charset="0"/>
                <a:cs typeface="Segoe UI Semibold" panose="020B0702040204020203" pitchFamily="34" charset="0"/>
              </a:rPr>
              <a:t>Köszönöm a figyelmet!</a:t>
            </a:r>
            <a:br>
              <a:rPr lang="hu" sz="3600" b="1">
                <a:latin typeface="Segoe UI Semibold" panose="020B0702040204020203" pitchFamily="34" charset="0"/>
                <a:cs typeface="Segoe UI Semibold" panose="020B0702040204020203" pitchFamily="34" charset="0"/>
              </a:rPr>
            </a:br>
            <a:endParaRPr lang="hu" sz="3600" b="1">
              <a:latin typeface="Segoe UI Semibold" panose="020B0702040204020203" pitchFamily="34" charset="0"/>
              <a:cs typeface="Segoe UI Semibold" panose="020B0702040204020203" pitchFamily="34" charset="0"/>
            </a:endParaRPr>
          </a:p>
        </p:txBody>
      </p:sp>
    </p:spTree>
  </p:cSld>
  <p:clrMapOvr>
    <a:masterClrMapping/>
  </p:clrMapOvr>
  <p:transition spd="slow">
    <p:cut/>
  </p:transition>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Segoe UI">
      <a:majorFont>
        <a:latin typeface="Segoe UI Semilight"/>
        <a:ea typeface=""/>
        <a:cs typeface=""/>
      </a:majorFont>
      <a:minorFont>
        <a:latin typeface="Segoe UI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um" ma:contentTypeID="0x010100B1C7A5BE78B3B443A0E5E587CD9A6EE9" ma:contentTypeVersion="14" ma:contentTypeDescription="Új dokumentum létrehozása." ma:contentTypeScope="" ma:versionID="cdecd5dea3f461d5008d333c8609fdf6">
  <xsd:schema xmlns:xsd="http://www.w3.org/2001/XMLSchema" xmlns:xs="http://www.w3.org/2001/XMLSchema" xmlns:p="http://schemas.microsoft.com/office/2006/metadata/properties" xmlns:ns2="8c87e8e8-b583-4801-8001-d79e546a2fe8" xmlns:ns3="c54c6f9d-190b-4149-aff2-ccd375b887c1" targetNamespace="http://schemas.microsoft.com/office/2006/metadata/properties" ma:root="true" ma:fieldsID="1edb953614d7efaf927c8815976bf916" ns2:_="" ns3:_="">
    <xsd:import namespace="8c87e8e8-b583-4801-8001-d79e546a2fe8"/>
    <xsd:import namespace="c54c6f9d-190b-4149-aff2-ccd375b887c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87e8e8-b583-4801-8001-d79e546a2f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Képcímkék" ma:readOnly="false" ma:fieldId="{5cf76f15-5ced-4ddc-b409-7134ff3c332f}" ma:taxonomyMulti="true" ma:sspId="ec8551cb-31a8-4c63-a261-82c7526a1cd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4c6f9d-190b-4149-aff2-ccd375b887c1" elementFormDefault="qualified">
    <xsd:import namespace="http://schemas.microsoft.com/office/2006/documentManagement/types"/>
    <xsd:import namespace="http://schemas.microsoft.com/office/infopath/2007/PartnerControls"/>
    <xsd:element name="SharedWithUsers" ma:index="10" nillable="true" ma:displayName="Résztvevők"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Megosztva részletekkel" ma:internalName="SharedWithDetails" ma:readOnly="true">
      <xsd:simpleType>
        <xsd:restriction base="dms:Note">
          <xsd:maxLength value="255"/>
        </xsd:restriction>
      </xsd:simpleType>
    </xsd:element>
    <xsd:element name="TaxCatchAll" ma:index="14" nillable="true" ma:displayName="Taxonomy Catch All Column" ma:hidden="true" ma:list="{95c78f66-390b-4015-94bf-c234da9d1f22}" ma:internalName="TaxCatchAll" ma:showField="CatchAllData" ma:web="c54c6f9d-190b-4149-aff2-ccd375b887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87e8e8-b583-4801-8001-d79e546a2fe8">
      <Terms xmlns="http://schemas.microsoft.com/office/infopath/2007/PartnerControls"/>
    </lcf76f155ced4ddcb4097134ff3c332f>
    <TaxCatchAll xmlns="c54c6f9d-190b-4149-aff2-ccd375b887c1" xsi:nil="true"/>
  </documentManagement>
</p:properties>
</file>

<file path=customXml/itemProps1.xml><?xml version="1.0" encoding="utf-8"?>
<ds:datastoreItem xmlns:ds="http://schemas.openxmlformats.org/officeDocument/2006/customXml" ds:itemID="{7A293589-B0AA-4388-88B6-D935159B4D52}">
  <ds:schemaRefs>
    <ds:schemaRef ds:uri="8c87e8e8-b583-4801-8001-d79e546a2fe8"/>
    <ds:schemaRef ds:uri="c54c6f9d-190b-4149-aff2-ccd375b887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0C25940-7CB1-45EF-88F7-91C905F9AF96}">
  <ds:schemaRefs>
    <ds:schemaRef ds:uri="http://schemas.microsoft.com/sharepoint/v3/contenttype/forms"/>
  </ds:schemaRefs>
</ds:datastoreItem>
</file>

<file path=customXml/itemProps3.xml><?xml version="1.0" encoding="utf-8"?>
<ds:datastoreItem xmlns:ds="http://schemas.openxmlformats.org/officeDocument/2006/customXml" ds:itemID="{C11B0079-0EC2-4CEC-9660-C7007AF5BBB1}">
  <ds:schemaRefs>
    <ds:schemaRef ds:uri="http://schemas.microsoft.com/office/2006/metadata/properties"/>
    <ds:schemaRef ds:uri="http://purl.org/dc/dcmitype/"/>
    <ds:schemaRef ds:uri="c54c6f9d-190b-4149-aff2-ccd375b887c1"/>
    <ds:schemaRef ds:uri="http://schemas.microsoft.com/office/2006/documentManagement/types"/>
    <ds:schemaRef ds:uri="http://purl.org/dc/terms/"/>
    <ds:schemaRef ds:uri="http://purl.org/dc/elements/1.1/"/>
    <ds:schemaRef ds:uri="http://schemas.openxmlformats.org/package/2006/metadata/core-properties"/>
    <ds:schemaRef ds:uri="http://www.w3.org/XML/1998/namespace"/>
    <ds:schemaRef ds:uri="http://schemas.microsoft.com/office/infopath/2007/PartnerControls"/>
    <ds:schemaRef ds:uri="8c87e8e8-b583-4801-8001-d79e546a2fe8"/>
  </ds:schemaRefs>
</ds:datastoreItem>
</file>

<file path=docProps/app.xml><?xml version="1.0" encoding="utf-8"?>
<Properties xmlns="http://schemas.openxmlformats.org/officeDocument/2006/extended-properties" xmlns:vt="http://schemas.openxmlformats.org/officeDocument/2006/docPropsVTypes">
  <TotalTime>2815</TotalTime>
  <Words>3168</Words>
  <Application>Microsoft Office PowerPoint</Application>
  <PresentationFormat>Diavetítés a képernyőre (16:9 oldalarány)</PresentationFormat>
  <Paragraphs>317</Paragraphs>
  <Slides>40</Slides>
  <Notes>3</Notes>
  <HiddenSlides>0</HiddenSlides>
  <MMClips>0</MMClips>
  <ScaleCrop>false</ScaleCrop>
  <HeadingPairs>
    <vt:vector size="6" baseType="variant">
      <vt:variant>
        <vt:lpstr>Használt betűtípusok</vt:lpstr>
      </vt:variant>
      <vt:variant>
        <vt:i4>9</vt:i4>
      </vt:variant>
      <vt:variant>
        <vt:lpstr>Téma</vt:lpstr>
      </vt:variant>
      <vt:variant>
        <vt:i4>1</vt:i4>
      </vt:variant>
      <vt:variant>
        <vt:lpstr>Diacímek</vt:lpstr>
      </vt:variant>
      <vt:variant>
        <vt:i4>40</vt:i4>
      </vt:variant>
    </vt:vector>
  </HeadingPairs>
  <TitlesOfParts>
    <vt:vector size="50" baseType="lpstr">
      <vt:lpstr>Wingdings 2</vt:lpstr>
      <vt:lpstr>Arial</vt:lpstr>
      <vt:lpstr>Calibri</vt:lpstr>
      <vt:lpstr>Times New Roman</vt:lpstr>
      <vt:lpstr>Cambria</vt:lpstr>
      <vt:lpstr>Segoe UI Semibold</vt:lpstr>
      <vt:lpstr>Symbol</vt:lpstr>
      <vt:lpstr>Cambria Math</vt:lpstr>
      <vt:lpstr>Arial Black</vt:lpstr>
      <vt:lpstr>simple-light-2</vt:lpstr>
      <vt:lpstr>PowerPoint-bemutató</vt:lpstr>
      <vt:lpstr>PowerPoint-bemutató</vt:lpstr>
      <vt:lpstr>PowerPoint-bemutató</vt:lpstr>
      <vt:lpstr>A legfontosabb fogalmak</vt:lpstr>
      <vt:lpstr>1. rész: Kamatszámítás</vt:lpstr>
      <vt:lpstr>PowerPoint-bemutató</vt:lpstr>
      <vt:lpstr>Definíciók</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1. feladat</vt:lpstr>
      <vt:lpstr>2. feladat</vt:lpstr>
      <vt:lpstr>3. feladat</vt:lpstr>
      <vt:lpstr>3. feladat</vt:lpstr>
      <vt:lpstr>3. feladat</vt:lpstr>
      <vt:lpstr>3. feladat</vt:lpstr>
      <vt:lpstr>3. feladat</vt:lpstr>
      <vt:lpstr>Jövőérték-számítás: lineáris és kamatos kamatozás</vt:lpstr>
      <vt:lpstr>PowerPoint-bemutató</vt:lpstr>
      <vt:lpstr>PowerPoint-bemutató</vt:lpstr>
      <vt:lpstr>PowerPoint-bemutató</vt:lpstr>
      <vt:lpstr>4. feladat</vt:lpstr>
      <vt:lpstr>5. feladat</vt:lpstr>
      <vt:lpstr>5. feladat</vt:lpstr>
      <vt:lpstr>5. feladat</vt:lpstr>
      <vt:lpstr>6. feladat</vt:lpstr>
      <vt:lpstr>6. feladat</vt:lpstr>
      <vt:lpstr>6. feladat</vt:lpstr>
      <vt:lpstr>6. feladat</vt:lpstr>
      <vt:lpstr>Gyakorló feladatok</vt:lpstr>
      <vt:lpstr>1. feladat</vt:lpstr>
      <vt:lpstr>2. feladat</vt:lpstr>
      <vt:lpstr>PowerPoint-bemutató</vt:lpstr>
      <vt:lpstr>PowerPoint-bemutató</vt:lpstr>
      <vt:lpstr>PowerPoint-bemutató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PowerPoint-bemutató</dc:title>
  <dc:creator>Patonai Kata</dc:creator>
  <cp:lastModifiedBy>Hauber György</cp:lastModifiedBy>
  <cp:revision>206</cp:revision>
  <dcterms:modified xsi:type="dcterms:W3CDTF">2026-03-12T17:33:31Z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0x010100B1C7A5BE78B3B443A0E5E587CD9A6EE9</vt:lpwstr>
  </property>
  <property fmtid="{D5CDD505-2E9C-101B-9397-08002B2CF9AE}" pid="3" name="MediaServiceImageTags">
    <vt:lpwstr/>
  </property>
</Properties>
</file>