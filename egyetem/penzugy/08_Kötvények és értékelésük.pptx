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4"/>
  </p:sldMasterIdLst>
  <p:notesMasterIdLst>
    <p:notesMasterId r:id="rId34"/>
  </p:notesMasterIdLst>
  <p:sldIdLst>
    <p:sldId id="256" r:id="rId5"/>
    <p:sldId id="257" r:id="rId6"/>
    <p:sldId id="270" r:id="rId7"/>
    <p:sldId id="295" r:id="rId8"/>
    <p:sldId id="297" r:id="rId9"/>
    <p:sldId id="296" r:id="rId10"/>
    <p:sldId id="293" r:id="rId11"/>
    <p:sldId id="301" r:id="rId12"/>
    <p:sldId id="302" r:id="rId13"/>
    <p:sldId id="303" r:id="rId14"/>
    <p:sldId id="317" r:id="rId15"/>
    <p:sldId id="305" r:id="rId16"/>
    <p:sldId id="309" r:id="rId17"/>
    <p:sldId id="310" r:id="rId18"/>
    <p:sldId id="311" r:id="rId19"/>
    <p:sldId id="307" r:id="rId20"/>
    <p:sldId id="308" r:id="rId21"/>
    <p:sldId id="298" r:id="rId22"/>
    <p:sldId id="290" r:id="rId23"/>
    <p:sldId id="299" r:id="rId24"/>
    <p:sldId id="285" r:id="rId25"/>
    <p:sldId id="316" r:id="rId26"/>
    <p:sldId id="318" r:id="rId27"/>
    <p:sldId id="319" r:id="rId28"/>
    <p:sldId id="313" r:id="rId29"/>
    <p:sldId id="320" r:id="rId30"/>
    <p:sldId id="314" r:id="rId31"/>
    <p:sldId id="321" r:id="rId32"/>
    <p:sldId id="315" r:id="rId33"/>
  </p:sldIdLst>
  <p:sldSz cx="9144000" cy="5143500" type="screen16x9"/>
  <p:notesSz cx="7104063" cy="10234613"/>
  <p:embeddedFontLst>
    <p:embeddedFont>
      <p:font typeface="Cambria" panose="02040503050406030204" pitchFamily="18" charset="0"/>
      <p:regular r:id="rId35"/>
      <p:bold r:id="rId36"/>
      <p:italic r:id="rId37"/>
      <p:boldItalic r:id="rId38"/>
    </p:embeddedFont>
    <p:embeddedFont>
      <p:font typeface="Cambria Math" panose="02040503050406030204" pitchFamily="18" charset="0"/>
      <p:regular r:id="rId39"/>
    </p:embeddedFont>
    <p:embeddedFont>
      <p:font typeface="Candara" panose="020E0502030303020204" pitchFamily="34" charset="0"/>
      <p:regular r:id="rId40"/>
      <p:bold r:id="rId41"/>
      <p:italic r:id="rId42"/>
      <p:boldItalic r:id="rId43"/>
    </p:embeddedFont>
    <p:embeddedFont>
      <p:font typeface="Segoe UI Semibold" panose="020B0702040204020203" pitchFamily="34" charset="0"/>
      <p:regular r:id="rId44"/>
      <p:bold r:id="rId45"/>
      <p:italic r:id="rId46"/>
      <p:boldItalic r:id="rId47"/>
    </p:embeddedFont>
    <p:embeddedFont>
      <p:font typeface="Segoe UI Semilight" panose="020B0402040204020203" pitchFamily="34" charset="0"/>
      <p:regular r:id="rId48"/>
      <p:bold r:id="rId49"/>
      <p:italic r:id="rId50"/>
      <p:boldItalic r:id="rId5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  <a:rtl val="0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  <a:rtl val="0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  <a:rtl val="0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  <a:rtl val="0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  <a:rtl val="0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  <a:rtl val="0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  <a:rtl val="0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  <a:rtl val="0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  <a:rtl val="0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EED01"/>
    <a:srgbClr val="75757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E464744-5EF8-4A23-BA49-EC68D10D153F}">
  <a:tblStyle styleId="{FE464744-5EF8-4A23-BA49-EC68D10D153F}" styleName="Table_0"/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23" autoAdjust="0"/>
    <p:restoredTop sz="94694"/>
  </p:normalViewPr>
  <p:slideViewPr>
    <p:cSldViewPr snapToGrid="0">
      <p:cViewPr varScale="1">
        <p:scale>
          <a:sx n="96" d="100"/>
          <a:sy n="96" d="100"/>
        </p:scale>
        <p:origin x="28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font" Target="fonts/font5.fntdata"/><Relationship Id="rId21" Type="http://schemas.openxmlformats.org/officeDocument/2006/relationships/slide" Target="slides/slide17.xml"/><Relationship Id="rId34" Type="http://schemas.openxmlformats.org/officeDocument/2006/relationships/notesMaster" Target="notesMasters/notesMaster1.xml"/><Relationship Id="rId42" Type="http://schemas.openxmlformats.org/officeDocument/2006/relationships/font" Target="fonts/font8.fntdata"/><Relationship Id="rId47" Type="http://schemas.openxmlformats.org/officeDocument/2006/relationships/font" Target="fonts/font13.fntdata"/><Relationship Id="rId50" Type="http://schemas.openxmlformats.org/officeDocument/2006/relationships/font" Target="fonts/font16.fntdata"/><Relationship Id="rId55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font" Target="fonts/font3.fntdata"/><Relationship Id="rId40" Type="http://schemas.openxmlformats.org/officeDocument/2006/relationships/font" Target="fonts/font6.fntdata"/><Relationship Id="rId45" Type="http://schemas.openxmlformats.org/officeDocument/2006/relationships/font" Target="fonts/font11.fntdata"/><Relationship Id="rId53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font" Target="fonts/font10.fntdata"/><Relationship Id="rId52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font" Target="fonts/font1.fntdata"/><Relationship Id="rId43" Type="http://schemas.openxmlformats.org/officeDocument/2006/relationships/font" Target="fonts/font9.fntdata"/><Relationship Id="rId48" Type="http://schemas.openxmlformats.org/officeDocument/2006/relationships/font" Target="fonts/font14.fntdata"/><Relationship Id="rId8" Type="http://schemas.openxmlformats.org/officeDocument/2006/relationships/slide" Target="slides/slide4.xml"/><Relationship Id="rId51" Type="http://schemas.openxmlformats.org/officeDocument/2006/relationships/font" Target="fonts/font17.fntdata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font" Target="fonts/font4.fntdata"/><Relationship Id="rId46" Type="http://schemas.openxmlformats.org/officeDocument/2006/relationships/font" Target="fonts/font12.fntdata"/><Relationship Id="rId20" Type="http://schemas.openxmlformats.org/officeDocument/2006/relationships/slide" Target="slides/slide16.xml"/><Relationship Id="rId41" Type="http://schemas.openxmlformats.org/officeDocument/2006/relationships/font" Target="fonts/font7.fntdata"/><Relationship Id="rId54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font" Target="fonts/font2.fntdata"/><Relationship Id="rId49" Type="http://schemas.openxmlformats.org/officeDocument/2006/relationships/font" Target="fonts/font1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>
            <a:spLocks noGrp="1" noRot="1" noChangeAspect="1"/>
          </p:cNvSpPr>
          <p:nvPr>
            <p:ph type="sldImg" idx="2"/>
          </p:nvPr>
        </p:nvSpPr>
        <p:spPr>
          <a:xfrm>
            <a:off x="142875" y="768350"/>
            <a:ext cx="6818313" cy="383698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hu-HU"/>
          </a:p>
        </p:txBody>
      </p:sp>
      <p:sp>
        <p:nvSpPr>
          <p:cNvPr id="4" name="Shape 4"/>
          <p:cNvSpPr txBox="1">
            <a:spLocks noGrp="1"/>
          </p:cNvSpPr>
          <p:nvPr>
            <p:ph type="body" idx="1"/>
          </p:nvPr>
        </p:nvSpPr>
        <p:spPr>
          <a:xfrm>
            <a:off x="710407" y="4861441"/>
            <a:ext cx="5683249" cy="4605576"/>
          </a:xfrm>
          <a:prstGeom prst="rect">
            <a:avLst/>
          </a:prstGeom>
          <a:noFill/>
          <a:ln>
            <a:noFill/>
          </a:ln>
        </p:spPr>
        <p:txBody>
          <a:bodyPr lIns="99059" tIns="99059" rIns="99059" bIns="99059" anchor="t" anchorCtr="0"/>
          <a:lstStyle>
            <a:lvl1pPr lvl="0">
              <a:spcBef>
                <a:spcPts val="0"/>
              </a:spcBef>
              <a:defRPr sz="1100"/>
            </a:lvl1pPr>
            <a:lvl2pPr lvl="1">
              <a:spcBef>
                <a:spcPts val="0"/>
              </a:spcBef>
              <a:defRPr sz="1100"/>
            </a:lvl2pPr>
            <a:lvl3pPr lvl="2">
              <a:spcBef>
                <a:spcPts val="0"/>
              </a:spcBef>
              <a:defRPr sz="1100"/>
            </a:lvl3pPr>
            <a:lvl4pPr lvl="3">
              <a:spcBef>
                <a:spcPts val="0"/>
              </a:spcBef>
              <a:defRPr sz="1100"/>
            </a:lvl4pPr>
            <a:lvl5pPr lvl="4">
              <a:spcBef>
                <a:spcPts val="0"/>
              </a:spcBef>
              <a:defRPr sz="1100"/>
            </a:lvl5pPr>
            <a:lvl6pPr lvl="5">
              <a:spcBef>
                <a:spcPts val="0"/>
              </a:spcBef>
              <a:defRPr sz="1100"/>
            </a:lvl6pPr>
            <a:lvl7pPr lvl="6">
              <a:spcBef>
                <a:spcPts val="0"/>
              </a:spcBef>
              <a:defRPr sz="1100"/>
            </a:lvl7pPr>
            <a:lvl8pPr lvl="7">
              <a:spcBef>
                <a:spcPts val="0"/>
              </a:spcBef>
              <a:defRPr sz="1100"/>
            </a:lvl8pPr>
            <a:lvl9pPr lvl="8">
              <a:spcBef>
                <a:spcPts val="0"/>
              </a:spcBef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01779890"/>
      </p:ext>
    </p:extLst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51"/>
          <p:cNvSpPr>
            <a:spLocks noGrp="1" noRot="1" noChangeAspect="1"/>
          </p:cNvSpPr>
          <p:nvPr>
            <p:ph type="sldImg" idx="2"/>
          </p:nvPr>
        </p:nvSpPr>
        <p:spPr>
          <a:xfrm>
            <a:off x="142875" y="768350"/>
            <a:ext cx="6818313" cy="383698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hu-HU"/>
          </a:p>
        </p:txBody>
      </p:sp>
      <p:sp>
        <p:nvSpPr>
          <p:cNvPr id="52" name="Shape 52"/>
          <p:cNvSpPr txBox="1">
            <a:spLocks noGrp="1"/>
          </p:cNvSpPr>
          <p:nvPr>
            <p:ph type="body" idx="1"/>
          </p:nvPr>
        </p:nvSpPr>
        <p:spPr>
          <a:xfrm>
            <a:off x="710407" y="4861441"/>
            <a:ext cx="5683249" cy="4605576"/>
          </a:xfrm>
          <a:prstGeom prst="rect">
            <a:avLst/>
          </a:prstGeom>
        </p:spPr>
        <p:txBody>
          <a:bodyPr lIns="99059" tIns="99059" rIns="99059" bIns="99059" anchor="t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689969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Shape 58"/>
          <p:cNvSpPr>
            <a:spLocks noGrp="1" noRot="1" noChangeAspect="1"/>
          </p:cNvSpPr>
          <p:nvPr>
            <p:ph type="sldImg" idx="2"/>
          </p:nvPr>
        </p:nvSpPr>
        <p:spPr>
          <a:xfrm>
            <a:off x="142875" y="768350"/>
            <a:ext cx="6818313" cy="383698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hu-HU"/>
          </a:p>
        </p:txBody>
      </p:sp>
      <p:sp>
        <p:nvSpPr>
          <p:cNvPr id="59" name="Shape 59"/>
          <p:cNvSpPr txBox="1">
            <a:spLocks noGrp="1"/>
          </p:cNvSpPr>
          <p:nvPr>
            <p:ph type="body" idx="1"/>
          </p:nvPr>
        </p:nvSpPr>
        <p:spPr>
          <a:xfrm>
            <a:off x="710407" y="4861441"/>
            <a:ext cx="5683249" cy="4605576"/>
          </a:xfrm>
          <a:prstGeom prst="rect">
            <a:avLst/>
          </a:prstGeom>
        </p:spPr>
        <p:txBody>
          <a:bodyPr lIns="99059" tIns="99059" rIns="99059" bIns="99059" anchor="t" anchorCtr="0">
            <a:noAutofit/>
          </a:bodyPr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623477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Shape 178"/>
          <p:cNvSpPr>
            <a:spLocks noGrp="1" noRot="1" noChangeAspect="1"/>
          </p:cNvSpPr>
          <p:nvPr>
            <p:ph type="sldImg" idx="2"/>
          </p:nvPr>
        </p:nvSpPr>
        <p:spPr>
          <a:xfrm>
            <a:off x="142875" y="768350"/>
            <a:ext cx="6818313" cy="383698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hu-HU"/>
          </a:p>
        </p:txBody>
      </p:sp>
      <p:sp>
        <p:nvSpPr>
          <p:cNvPr id="179" name="Shape 179"/>
          <p:cNvSpPr txBox="1">
            <a:spLocks noGrp="1"/>
          </p:cNvSpPr>
          <p:nvPr>
            <p:ph type="body" idx="1"/>
          </p:nvPr>
        </p:nvSpPr>
        <p:spPr>
          <a:xfrm>
            <a:off x="710407" y="4861441"/>
            <a:ext cx="5683249" cy="4605576"/>
          </a:xfrm>
          <a:prstGeom prst="rect">
            <a:avLst/>
          </a:prstGeom>
        </p:spPr>
        <p:txBody>
          <a:bodyPr lIns="99059" tIns="99059" rIns="99059" bIns="99059" anchor="t" anchorCtr="0">
            <a:noAutofit/>
          </a:bodyPr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648006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>
          <a:extLst>
            <a:ext uri="{FF2B5EF4-FFF2-40B4-BE49-F238E27FC236}">
              <a16:creationId xmlns:a16="http://schemas.microsoft.com/office/drawing/2014/main" id="{2874ADDA-D539-D4BF-F9C3-6DE722B02F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Shape 178">
            <a:extLst>
              <a:ext uri="{FF2B5EF4-FFF2-40B4-BE49-F238E27FC236}">
                <a16:creationId xmlns:a16="http://schemas.microsoft.com/office/drawing/2014/main" id="{A8FC41C2-117E-8FAE-2321-E330F13B6EB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42875" y="768350"/>
            <a:ext cx="6818313" cy="383698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hu-HU"/>
          </a:p>
        </p:txBody>
      </p:sp>
      <p:sp>
        <p:nvSpPr>
          <p:cNvPr id="179" name="Shape 179">
            <a:extLst>
              <a:ext uri="{FF2B5EF4-FFF2-40B4-BE49-F238E27FC236}">
                <a16:creationId xmlns:a16="http://schemas.microsoft.com/office/drawing/2014/main" id="{737F15E2-0FC8-518C-0800-A5D9084A63C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10407" y="4861441"/>
            <a:ext cx="5683249" cy="4605576"/>
          </a:xfrm>
          <a:prstGeom prst="rect">
            <a:avLst/>
          </a:prstGeom>
        </p:spPr>
        <p:txBody>
          <a:bodyPr lIns="99059" tIns="99059" rIns="99059" bIns="99059" anchor="t" anchorCtr="0">
            <a:noAutofit/>
          </a:bodyPr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48888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>
          <a:extLst>
            <a:ext uri="{FF2B5EF4-FFF2-40B4-BE49-F238E27FC236}">
              <a16:creationId xmlns:a16="http://schemas.microsoft.com/office/drawing/2014/main" id="{363CDCEE-6896-D4A3-E91F-DBBE63DD09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Shape 178">
            <a:extLst>
              <a:ext uri="{FF2B5EF4-FFF2-40B4-BE49-F238E27FC236}">
                <a16:creationId xmlns:a16="http://schemas.microsoft.com/office/drawing/2014/main" id="{AF2980A6-8800-8DE9-7651-FADD3F5EC8B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42875" y="768350"/>
            <a:ext cx="6818313" cy="383698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hu-HU"/>
          </a:p>
        </p:txBody>
      </p:sp>
      <p:sp>
        <p:nvSpPr>
          <p:cNvPr id="179" name="Shape 179">
            <a:extLst>
              <a:ext uri="{FF2B5EF4-FFF2-40B4-BE49-F238E27FC236}">
                <a16:creationId xmlns:a16="http://schemas.microsoft.com/office/drawing/2014/main" id="{30303B1A-0C0C-C9F2-8B7E-91ED3392EB1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10407" y="4861441"/>
            <a:ext cx="5683249" cy="4605576"/>
          </a:xfrm>
          <a:prstGeom prst="rect">
            <a:avLst/>
          </a:prstGeom>
        </p:spPr>
        <p:txBody>
          <a:bodyPr lIns="99059" tIns="99059" rIns="99059" bIns="99059" anchor="t" anchorCtr="0">
            <a:noAutofit/>
          </a:bodyPr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045839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>
          <a:extLst>
            <a:ext uri="{FF2B5EF4-FFF2-40B4-BE49-F238E27FC236}">
              <a16:creationId xmlns:a16="http://schemas.microsoft.com/office/drawing/2014/main" id="{9D574945-8E62-86E2-770E-F05BD60CF8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Shape 178">
            <a:extLst>
              <a:ext uri="{FF2B5EF4-FFF2-40B4-BE49-F238E27FC236}">
                <a16:creationId xmlns:a16="http://schemas.microsoft.com/office/drawing/2014/main" id="{28544DA7-2A90-F7B9-FDC0-79573E7E46E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42875" y="768350"/>
            <a:ext cx="6818313" cy="383698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hu-HU"/>
          </a:p>
        </p:txBody>
      </p:sp>
      <p:sp>
        <p:nvSpPr>
          <p:cNvPr id="179" name="Shape 179">
            <a:extLst>
              <a:ext uri="{FF2B5EF4-FFF2-40B4-BE49-F238E27FC236}">
                <a16:creationId xmlns:a16="http://schemas.microsoft.com/office/drawing/2014/main" id="{E8A4EDB5-1AD5-BA74-9E94-2BE8BC737B0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10407" y="4861441"/>
            <a:ext cx="5683249" cy="4605576"/>
          </a:xfrm>
          <a:prstGeom prst="rect">
            <a:avLst/>
          </a:prstGeom>
        </p:spPr>
        <p:txBody>
          <a:bodyPr lIns="99059" tIns="99059" rIns="99059" bIns="99059" anchor="t" anchorCtr="0">
            <a:noAutofit/>
          </a:bodyPr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959605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>
          <a:extLst>
            <a:ext uri="{FF2B5EF4-FFF2-40B4-BE49-F238E27FC236}">
              <a16:creationId xmlns:a16="http://schemas.microsoft.com/office/drawing/2014/main" id="{A2792B8B-8BEC-28C1-EC04-E64B65C288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Shape 178">
            <a:extLst>
              <a:ext uri="{FF2B5EF4-FFF2-40B4-BE49-F238E27FC236}">
                <a16:creationId xmlns:a16="http://schemas.microsoft.com/office/drawing/2014/main" id="{EDA9ADAB-6185-CEFC-41CF-3207991AA8D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42875" y="768350"/>
            <a:ext cx="6818313" cy="383698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hu-HU"/>
          </a:p>
        </p:txBody>
      </p:sp>
      <p:sp>
        <p:nvSpPr>
          <p:cNvPr id="179" name="Shape 179">
            <a:extLst>
              <a:ext uri="{FF2B5EF4-FFF2-40B4-BE49-F238E27FC236}">
                <a16:creationId xmlns:a16="http://schemas.microsoft.com/office/drawing/2014/main" id="{5803A778-E291-C058-7120-D364D6AF2EE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10407" y="4861441"/>
            <a:ext cx="5683249" cy="4605576"/>
          </a:xfrm>
          <a:prstGeom prst="rect">
            <a:avLst/>
          </a:prstGeom>
        </p:spPr>
        <p:txBody>
          <a:bodyPr lIns="99059" tIns="99059" rIns="99059" bIns="99059" anchor="t" anchorCtr="0">
            <a:noAutofit/>
          </a:bodyPr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490183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>
          <a:extLst>
            <a:ext uri="{FF2B5EF4-FFF2-40B4-BE49-F238E27FC236}">
              <a16:creationId xmlns:a16="http://schemas.microsoft.com/office/drawing/2014/main" id="{EEC12CB0-667D-18D3-CC51-98F5778117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Shape 178">
            <a:extLst>
              <a:ext uri="{FF2B5EF4-FFF2-40B4-BE49-F238E27FC236}">
                <a16:creationId xmlns:a16="http://schemas.microsoft.com/office/drawing/2014/main" id="{47EA55F3-7DA6-2972-6EE7-F369E87EB51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42875" y="768350"/>
            <a:ext cx="6818313" cy="383698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hu-HU"/>
          </a:p>
        </p:txBody>
      </p:sp>
      <p:sp>
        <p:nvSpPr>
          <p:cNvPr id="179" name="Shape 179">
            <a:extLst>
              <a:ext uri="{FF2B5EF4-FFF2-40B4-BE49-F238E27FC236}">
                <a16:creationId xmlns:a16="http://schemas.microsoft.com/office/drawing/2014/main" id="{4B34AA96-8CF5-5D1A-0141-574465F2E7F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10407" y="4861441"/>
            <a:ext cx="5683249" cy="4605576"/>
          </a:xfrm>
          <a:prstGeom prst="rect">
            <a:avLst/>
          </a:prstGeom>
        </p:spPr>
        <p:txBody>
          <a:bodyPr lIns="99059" tIns="99059" rIns="99059" bIns="99059" anchor="t" anchorCtr="0">
            <a:noAutofit/>
          </a:bodyPr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2774546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>
          <a:extLst>
            <a:ext uri="{FF2B5EF4-FFF2-40B4-BE49-F238E27FC236}">
              <a16:creationId xmlns:a16="http://schemas.microsoft.com/office/drawing/2014/main" id="{8FCF365D-868A-1E48-71BA-0226A60D7C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Shape 178">
            <a:extLst>
              <a:ext uri="{FF2B5EF4-FFF2-40B4-BE49-F238E27FC236}">
                <a16:creationId xmlns:a16="http://schemas.microsoft.com/office/drawing/2014/main" id="{3A382C06-D628-20D0-4DCC-795A85717FA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42875" y="768350"/>
            <a:ext cx="6818313" cy="383698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hu-HU"/>
          </a:p>
        </p:txBody>
      </p:sp>
      <p:sp>
        <p:nvSpPr>
          <p:cNvPr id="179" name="Shape 179">
            <a:extLst>
              <a:ext uri="{FF2B5EF4-FFF2-40B4-BE49-F238E27FC236}">
                <a16:creationId xmlns:a16="http://schemas.microsoft.com/office/drawing/2014/main" id="{81B91533-D3BA-1ED6-EFA4-09137A0766F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10407" y="4861441"/>
            <a:ext cx="5683249" cy="4605576"/>
          </a:xfrm>
          <a:prstGeom prst="rect">
            <a:avLst/>
          </a:prstGeom>
        </p:spPr>
        <p:txBody>
          <a:bodyPr lIns="99059" tIns="99059" rIns="99059" bIns="99059" anchor="t" anchorCtr="0">
            <a:noAutofit/>
          </a:bodyPr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2262933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>
          <a:extLst>
            <a:ext uri="{FF2B5EF4-FFF2-40B4-BE49-F238E27FC236}">
              <a16:creationId xmlns:a16="http://schemas.microsoft.com/office/drawing/2014/main" id="{3E376698-B89E-BB9E-1FCD-DA4DCCCE95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Shape 178">
            <a:extLst>
              <a:ext uri="{FF2B5EF4-FFF2-40B4-BE49-F238E27FC236}">
                <a16:creationId xmlns:a16="http://schemas.microsoft.com/office/drawing/2014/main" id="{37D144E0-F7FD-05C1-3DF5-40939AF54CB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42875" y="768350"/>
            <a:ext cx="6818313" cy="383698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hu-HU"/>
          </a:p>
        </p:txBody>
      </p:sp>
      <p:sp>
        <p:nvSpPr>
          <p:cNvPr id="179" name="Shape 179">
            <a:extLst>
              <a:ext uri="{FF2B5EF4-FFF2-40B4-BE49-F238E27FC236}">
                <a16:creationId xmlns:a16="http://schemas.microsoft.com/office/drawing/2014/main" id="{2558B7B1-41FE-F1E4-14D8-EFA1674BCFB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10407" y="4861441"/>
            <a:ext cx="5683249" cy="4605576"/>
          </a:xfrm>
          <a:prstGeom prst="rect">
            <a:avLst/>
          </a:prstGeom>
        </p:spPr>
        <p:txBody>
          <a:bodyPr lIns="99059" tIns="99059" rIns="99059" bIns="99059" anchor="t" anchorCtr="0">
            <a:noAutofit/>
          </a:bodyPr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9309784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>
          <a:extLst>
            <a:ext uri="{FF2B5EF4-FFF2-40B4-BE49-F238E27FC236}">
              <a16:creationId xmlns:a16="http://schemas.microsoft.com/office/drawing/2014/main" id="{D17D50AE-281F-7FF0-4630-A0F84216CC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Shape 178">
            <a:extLst>
              <a:ext uri="{FF2B5EF4-FFF2-40B4-BE49-F238E27FC236}">
                <a16:creationId xmlns:a16="http://schemas.microsoft.com/office/drawing/2014/main" id="{70DC0C99-DA52-CD90-C6FD-983245DE8D5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42875" y="768350"/>
            <a:ext cx="6818313" cy="383698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hu-HU"/>
          </a:p>
        </p:txBody>
      </p:sp>
      <p:sp>
        <p:nvSpPr>
          <p:cNvPr id="179" name="Shape 179">
            <a:extLst>
              <a:ext uri="{FF2B5EF4-FFF2-40B4-BE49-F238E27FC236}">
                <a16:creationId xmlns:a16="http://schemas.microsoft.com/office/drawing/2014/main" id="{F3A36641-77C9-0618-9FC0-C1139C991F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10407" y="4861441"/>
            <a:ext cx="5683249" cy="4605576"/>
          </a:xfrm>
          <a:prstGeom prst="rect">
            <a:avLst/>
          </a:prstGeom>
        </p:spPr>
        <p:txBody>
          <a:bodyPr lIns="99059" tIns="99059" rIns="99059" bIns="99059" anchor="t" anchorCtr="0">
            <a:noAutofit/>
          </a:bodyPr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6135866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>
          <a:extLst>
            <a:ext uri="{FF2B5EF4-FFF2-40B4-BE49-F238E27FC236}">
              <a16:creationId xmlns:a16="http://schemas.microsoft.com/office/drawing/2014/main" id="{23B6ECED-93CB-1AB1-3799-373EBF4EDD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Shape 178">
            <a:extLst>
              <a:ext uri="{FF2B5EF4-FFF2-40B4-BE49-F238E27FC236}">
                <a16:creationId xmlns:a16="http://schemas.microsoft.com/office/drawing/2014/main" id="{933C62EB-63DC-2954-C982-E6113CA8032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42875" y="768350"/>
            <a:ext cx="6818313" cy="383698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hu-HU"/>
          </a:p>
        </p:txBody>
      </p:sp>
      <p:sp>
        <p:nvSpPr>
          <p:cNvPr id="179" name="Shape 179">
            <a:extLst>
              <a:ext uri="{FF2B5EF4-FFF2-40B4-BE49-F238E27FC236}">
                <a16:creationId xmlns:a16="http://schemas.microsoft.com/office/drawing/2014/main" id="{1A91211B-F55F-452C-BE35-D5E9DC9E54F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10407" y="4861441"/>
            <a:ext cx="5683249" cy="4605576"/>
          </a:xfrm>
          <a:prstGeom prst="rect">
            <a:avLst/>
          </a:prstGeom>
        </p:spPr>
        <p:txBody>
          <a:bodyPr lIns="99059" tIns="99059" rIns="99059" bIns="99059" anchor="t" anchorCtr="0">
            <a:noAutofit/>
          </a:bodyPr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4785198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>
          <a:extLst>
            <a:ext uri="{FF2B5EF4-FFF2-40B4-BE49-F238E27FC236}">
              <a16:creationId xmlns:a16="http://schemas.microsoft.com/office/drawing/2014/main" id="{3BBC7550-CDF2-8921-CD33-3FCA326B67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Shape 178">
            <a:extLst>
              <a:ext uri="{FF2B5EF4-FFF2-40B4-BE49-F238E27FC236}">
                <a16:creationId xmlns:a16="http://schemas.microsoft.com/office/drawing/2014/main" id="{62977175-C0F5-8B27-DB34-049BAEE42AC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42875" y="768350"/>
            <a:ext cx="6818313" cy="383698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hu-HU"/>
          </a:p>
        </p:txBody>
      </p:sp>
      <p:sp>
        <p:nvSpPr>
          <p:cNvPr id="179" name="Shape 179">
            <a:extLst>
              <a:ext uri="{FF2B5EF4-FFF2-40B4-BE49-F238E27FC236}">
                <a16:creationId xmlns:a16="http://schemas.microsoft.com/office/drawing/2014/main" id="{0F5E9C12-E2AA-9F40-430A-D93BA921AF5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10407" y="4861441"/>
            <a:ext cx="5683249" cy="4605576"/>
          </a:xfrm>
          <a:prstGeom prst="rect">
            <a:avLst/>
          </a:prstGeom>
        </p:spPr>
        <p:txBody>
          <a:bodyPr lIns="99059" tIns="99059" rIns="99059" bIns="99059" anchor="t" anchorCtr="0">
            <a:noAutofit/>
          </a:bodyPr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7668548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>
          <a:extLst>
            <a:ext uri="{FF2B5EF4-FFF2-40B4-BE49-F238E27FC236}">
              <a16:creationId xmlns:a16="http://schemas.microsoft.com/office/drawing/2014/main" id="{F1A0D41B-CD16-F29E-2530-6D20EA394A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Shape 178">
            <a:extLst>
              <a:ext uri="{FF2B5EF4-FFF2-40B4-BE49-F238E27FC236}">
                <a16:creationId xmlns:a16="http://schemas.microsoft.com/office/drawing/2014/main" id="{ADC22AF2-B9A5-050D-DFA3-0F0D5E33921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42875" y="768350"/>
            <a:ext cx="6818313" cy="383698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hu-HU"/>
          </a:p>
        </p:txBody>
      </p:sp>
      <p:sp>
        <p:nvSpPr>
          <p:cNvPr id="179" name="Shape 179">
            <a:extLst>
              <a:ext uri="{FF2B5EF4-FFF2-40B4-BE49-F238E27FC236}">
                <a16:creationId xmlns:a16="http://schemas.microsoft.com/office/drawing/2014/main" id="{DC968B25-DC90-310D-D330-10241B2C6E3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10407" y="4861441"/>
            <a:ext cx="5683249" cy="4605576"/>
          </a:xfrm>
          <a:prstGeom prst="rect">
            <a:avLst/>
          </a:prstGeom>
        </p:spPr>
        <p:txBody>
          <a:bodyPr lIns="99059" tIns="99059" rIns="99059" bIns="99059" anchor="t" anchorCtr="0">
            <a:noAutofit/>
          </a:bodyPr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7518750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>
          <a:extLst>
            <a:ext uri="{FF2B5EF4-FFF2-40B4-BE49-F238E27FC236}">
              <a16:creationId xmlns:a16="http://schemas.microsoft.com/office/drawing/2014/main" id="{6D80C5CB-C34F-3200-4798-A9474B1967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Shape 178">
            <a:extLst>
              <a:ext uri="{FF2B5EF4-FFF2-40B4-BE49-F238E27FC236}">
                <a16:creationId xmlns:a16="http://schemas.microsoft.com/office/drawing/2014/main" id="{83718464-FEA5-2301-7FDE-92551755D0D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42875" y="768350"/>
            <a:ext cx="6818313" cy="383698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hu-HU"/>
          </a:p>
        </p:txBody>
      </p:sp>
      <p:sp>
        <p:nvSpPr>
          <p:cNvPr id="179" name="Shape 179">
            <a:extLst>
              <a:ext uri="{FF2B5EF4-FFF2-40B4-BE49-F238E27FC236}">
                <a16:creationId xmlns:a16="http://schemas.microsoft.com/office/drawing/2014/main" id="{784FB1F0-DF83-DBB2-E8D3-020B20AB187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10407" y="4861441"/>
            <a:ext cx="5683249" cy="4605576"/>
          </a:xfrm>
          <a:prstGeom prst="rect">
            <a:avLst/>
          </a:prstGeom>
        </p:spPr>
        <p:txBody>
          <a:bodyPr lIns="99059" tIns="99059" rIns="99059" bIns="99059" anchor="t" anchorCtr="0">
            <a:noAutofit/>
          </a:bodyPr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5271444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>
          <a:extLst>
            <a:ext uri="{FF2B5EF4-FFF2-40B4-BE49-F238E27FC236}">
              <a16:creationId xmlns:a16="http://schemas.microsoft.com/office/drawing/2014/main" id="{2E4DE2A3-CA20-BD85-4625-6C4E79E92F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Shape 178">
            <a:extLst>
              <a:ext uri="{FF2B5EF4-FFF2-40B4-BE49-F238E27FC236}">
                <a16:creationId xmlns:a16="http://schemas.microsoft.com/office/drawing/2014/main" id="{25B79CB4-24C5-BBE9-D2BA-0D830A95C23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42875" y="768350"/>
            <a:ext cx="6818313" cy="383698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hu-HU"/>
          </a:p>
        </p:txBody>
      </p:sp>
      <p:sp>
        <p:nvSpPr>
          <p:cNvPr id="179" name="Shape 179">
            <a:extLst>
              <a:ext uri="{FF2B5EF4-FFF2-40B4-BE49-F238E27FC236}">
                <a16:creationId xmlns:a16="http://schemas.microsoft.com/office/drawing/2014/main" id="{0B10AAC0-8CBF-CBAF-E099-7DE79A40386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10407" y="4861441"/>
            <a:ext cx="5683249" cy="4605576"/>
          </a:xfrm>
          <a:prstGeom prst="rect">
            <a:avLst/>
          </a:prstGeom>
        </p:spPr>
        <p:txBody>
          <a:bodyPr lIns="99059" tIns="99059" rIns="99059" bIns="99059" anchor="t" anchorCtr="0">
            <a:noAutofit/>
          </a:bodyPr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6606293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>
          <a:extLst>
            <a:ext uri="{FF2B5EF4-FFF2-40B4-BE49-F238E27FC236}">
              <a16:creationId xmlns:a16="http://schemas.microsoft.com/office/drawing/2014/main" id="{20535965-EEDB-4621-1BAA-D08146688F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Shape 178">
            <a:extLst>
              <a:ext uri="{FF2B5EF4-FFF2-40B4-BE49-F238E27FC236}">
                <a16:creationId xmlns:a16="http://schemas.microsoft.com/office/drawing/2014/main" id="{F27125A3-068D-8161-CA0D-60F5CCC8ED4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42875" y="768350"/>
            <a:ext cx="6818313" cy="383698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hu-HU"/>
          </a:p>
        </p:txBody>
      </p:sp>
      <p:sp>
        <p:nvSpPr>
          <p:cNvPr id="179" name="Shape 179">
            <a:extLst>
              <a:ext uri="{FF2B5EF4-FFF2-40B4-BE49-F238E27FC236}">
                <a16:creationId xmlns:a16="http://schemas.microsoft.com/office/drawing/2014/main" id="{8A0471CE-88EB-20CC-0457-3AA81284B72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10407" y="4861441"/>
            <a:ext cx="5683249" cy="4605576"/>
          </a:xfrm>
          <a:prstGeom prst="rect">
            <a:avLst/>
          </a:prstGeom>
        </p:spPr>
        <p:txBody>
          <a:bodyPr lIns="99059" tIns="99059" rIns="99059" bIns="99059" anchor="t" anchorCtr="0">
            <a:noAutofit/>
          </a:bodyPr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220034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>
          <a:extLst>
            <a:ext uri="{FF2B5EF4-FFF2-40B4-BE49-F238E27FC236}">
              <a16:creationId xmlns:a16="http://schemas.microsoft.com/office/drawing/2014/main" id="{4125BCDE-F4D9-C311-177E-BAE42C3736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Shape 178">
            <a:extLst>
              <a:ext uri="{FF2B5EF4-FFF2-40B4-BE49-F238E27FC236}">
                <a16:creationId xmlns:a16="http://schemas.microsoft.com/office/drawing/2014/main" id="{6F45128E-DB7C-6F4A-0A4E-477D4D60335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42875" y="768350"/>
            <a:ext cx="6818313" cy="383698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hu-HU"/>
          </a:p>
        </p:txBody>
      </p:sp>
      <p:sp>
        <p:nvSpPr>
          <p:cNvPr id="179" name="Shape 179">
            <a:extLst>
              <a:ext uri="{FF2B5EF4-FFF2-40B4-BE49-F238E27FC236}">
                <a16:creationId xmlns:a16="http://schemas.microsoft.com/office/drawing/2014/main" id="{7B080549-B872-3783-CB65-F698054594D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10407" y="4861441"/>
            <a:ext cx="5683249" cy="4605576"/>
          </a:xfrm>
          <a:prstGeom prst="rect">
            <a:avLst/>
          </a:prstGeom>
        </p:spPr>
        <p:txBody>
          <a:bodyPr lIns="99059" tIns="99059" rIns="99059" bIns="99059" anchor="t" anchorCtr="0">
            <a:noAutofit/>
          </a:bodyPr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8061266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>
          <a:extLst>
            <a:ext uri="{FF2B5EF4-FFF2-40B4-BE49-F238E27FC236}">
              <a16:creationId xmlns:a16="http://schemas.microsoft.com/office/drawing/2014/main" id="{72F66F44-00AA-53DA-D39C-B9119746B8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Shape 178">
            <a:extLst>
              <a:ext uri="{FF2B5EF4-FFF2-40B4-BE49-F238E27FC236}">
                <a16:creationId xmlns:a16="http://schemas.microsoft.com/office/drawing/2014/main" id="{D020F620-0A44-E912-9B2D-88C20F7E40F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42875" y="768350"/>
            <a:ext cx="6818313" cy="383698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hu-HU"/>
          </a:p>
        </p:txBody>
      </p:sp>
      <p:sp>
        <p:nvSpPr>
          <p:cNvPr id="179" name="Shape 179">
            <a:extLst>
              <a:ext uri="{FF2B5EF4-FFF2-40B4-BE49-F238E27FC236}">
                <a16:creationId xmlns:a16="http://schemas.microsoft.com/office/drawing/2014/main" id="{17FD8DA1-152F-583D-AF07-762B5D40BE1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10407" y="4861441"/>
            <a:ext cx="5683249" cy="4605576"/>
          </a:xfrm>
          <a:prstGeom prst="rect">
            <a:avLst/>
          </a:prstGeom>
        </p:spPr>
        <p:txBody>
          <a:bodyPr lIns="99059" tIns="99059" rIns="99059" bIns="99059" anchor="t" anchorCtr="0">
            <a:noAutofit/>
          </a:bodyPr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3676460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>
          <a:extLst>
            <a:ext uri="{FF2B5EF4-FFF2-40B4-BE49-F238E27FC236}">
              <a16:creationId xmlns:a16="http://schemas.microsoft.com/office/drawing/2014/main" id="{76A5F767-6C5B-2D7A-9F48-DCF421A372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Shape 178">
            <a:extLst>
              <a:ext uri="{FF2B5EF4-FFF2-40B4-BE49-F238E27FC236}">
                <a16:creationId xmlns:a16="http://schemas.microsoft.com/office/drawing/2014/main" id="{E2EB5485-3589-765C-FAC6-FAC08B584D3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hu-HU"/>
          </a:p>
        </p:txBody>
      </p:sp>
      <p:sp>
        <p:nvSpPr>
          <p:cNvPr id="179" name="Shape 179">
            <a:extLst>
              <a:ext uri="{FF2B5EF4-FFF2-40B4-BE49-F238E27FC236}">
                <a16:creationId xmlns:a16="http://schemas.microsoft.com/office/drawing/2014/main" id="{31C9F653-8724-FE42-0DCF-A98564E85A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2332087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Shape 319"/>
          <p:cNvSpPr>
            <a:spLocks noGrp="1" noRot="1" noChangeAspect="1"/>
          </p:cNvSpPr>
          <p:nvPr>
            <p:ph type="sldImg" idx="2"/>
          </p:nvPr>
        </p:nvSpPr>
        <p:spPr>
          <a:xfrm>
            <a:off x="142875" y="768350"/>
            <a:ext cx="6818313" cy="383698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hu-HU"/>
          </a:p>
        </p:txBody>
      </p:sp>
      <p:sp>
        <p:nvSpPr>
          <p:cNvPr id="320" name="Shape 320"/>
          <p:cNvSpPr txBox="1">
            <a:spLocks noGrp="1"/>
          </p:cNvSpPr>
          <p:nvPr>
            <p:ph type="body" idx="1"/>
          </p:nvPr>
        </p:nvSpPr>
        <p:spPr>
          <a:xfrm>
            <a:off x="710407" y="4861441"/>
            <a:ext cx="5683249" cy="4605576"/>
          </a:xfrm>
          <a:prstGeom prst="rect">
            <a:avLst/>
          </a:prstGeom>
        </p:spPr>
        <p:txBody>
          <a:bodyPr lIns="99059" tIns="99059" rIns="99059" bIns="99059" anchor="t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0873289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E1E108A3-E040-FBE6-9F50-93C01CBB2B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51">
            <a:extLst>
              <a:ext uri="{FF2B5EF4-FFF2-40B4-BE49-F238E27FC236}">
                <a16:creationId xmlns:a16="http://schemas.microsoft.com/office/drawing/2014/main" id="{E0E4A337-E93A-AA19-74BF-3629180750D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42875" y="768350"/>
            <a:ext cx="6818313" cy="383698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hu-HU"/>
          </a:p>
        </p:txBody>
      </p:sp>
      <p:sp>
        <p:nvSpPr>
          <p:cNvPr id="52" name="Shape 52">
            <a:extLst>
              <a:ext uri="{FF2B5EF4-FFF2-40B4-BE49-F238E27FC236}">
                <a16:creationId xmlns:a16="http://schemas.microsoft.com/office/drawing/2014/main" id="{803EBC31-6140-E087-2853-E729B5F715D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10407" y="4861441"/>
            <a:ext cx="5683249" cy="4605576"/>
          </a:xfrm>
          <a:prstGeom prst="rect">
            <a:avLst/>
          </a:prstGeom>
        </p:spPr>
        <p:txBody>
          <a:bodyPr lIns="99059" tIns="99059" rIns="99059" bIns="99059" anchor="t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6481943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>
          <a:extLst>
            <a:ext uri="{FF2B5EF4-FFF2-40B4-BE49-F238E27FC236}">
              <a16:creationId xmlns:a16="http://schemas.microsoft.com/office/drawing/2014/main" id="{5E2DC54D-5F18-C38D-E90D-2929FF8B32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Shape 178">
            <a:extLst>
              <a:ext uri="{FF2B5EF4-FFF2-40B4-BE49-F238E27FC236}">
                <a16:creationId xmlns:a16="http://schemas.microsoft.com/office/drawing/2014/main" id="{C997DDDE-3D84-AE53-3CDA-C79ADA93DA1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42875" y="768350"/>
            <a:ext cx="6818313" cy="383698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hu-HU"/>
          </a:p>
        </p:txBody>
      </p:sp>
      <p:sp>
        <p:nvSpPr>
          <p:cNvPr id="179" name="Shape 179">
            <a:extLst>
              <a:ext uri="{FF2B5EF4-FFF2-40B4-BE49-F238E27FC236}">
                <a16:creationId xmlns:a16="http://schemas.microsoft.com/office/drawing/2014/main" id="{C82E2D47-837D-BD96-686C-94122FB591C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10407" y="4861441"/>
            <a:ext cx="5683249" cy="4605576"/>
          </a:xfrm>
          <a:prstGeom prst="rect">
            <a:avLst/>
          </a:prstGeom>
        </p:spPr>
        <p:txBody>
          <a:bodyPr lIns="99059" tIns="99059" rIns="99059" bIns="99059" anchor="t" anchorCtr="0">
            <a:noAutofit/>
          </a:bodyPr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4467931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>
          <a:extLst>
            <a:ext uri="{FF2B5EF4-FFF2-40B4-BE49-F238E27FC236}">
              <a16:creationId xmlns:a16="http://schemas.microsoft.com/office/drawing/2014/main" id="{EE291E8D-7F05-4F58-267A-2DE363C477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Shape 178">
            <a:extLst>
              <a:ext uri="{FF2B5EF4-FFF2-40B4-BE49-F238E27FC236}">
                <a16:creationId xmlns:a16="http://schemas.microsoft.com/office/drawing/2014/main" id="{697E5E55-3B2B-21FE-DC79-E0C5504EEB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42875" y="768350"/>
            <a:ext cx="6818313" cy="383698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hu-HU"/>
          </a:p>
        </p:txBody>
      </p:sp>
      <p:sp>
        <p:nvSpPr>
          <p:cNvPr id="179" name="Shape 179">
            <a:extLst>
              <a:ext uri="{FF2B5EF4-FFF2-40B4-BE49-F238E27FC236}">
                <a16:creationId xmlns:a16="http://schemas.microsoft.com/office/drawing/2014/main" id="{E1C3FCB9-AF50-BB17-F6EB-84266CDDDC9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10407" y="4861441"/>
            <a:ext cx="5683249" cy="4605576"/>
          </a:xfrm>
          <a:prstGeom prst="rect">
            <a:avLst/>
          </a:prstGeom>
        </p:spPr>
        <p:txBody>
          <a:bodyPr lIns="99059" tIns="99059" rIns="99059" bIns="99059" anchor="t" anchorCtr="0">
            <a:noAutofit/>
          </a:bodyPr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2978964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>
          <a:extLst>
            <a:ext uri="{FF2B5EF4-FFF2-40B4-BE49-F238E27FC236}">
              <a16:creationId xmlns:a16="http://schemas.microsoft.com/office/drawing/2014/main" id="{45C52284-74EE-B59D-4C13-52DEFFDE17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Shape 178">
            <a:extLst>
              <a:ext uri="{FF2B5EF4-FFF2-40B4-BE49-F238E27FC236}">
                <a16:creationId xmlns:a16="http://schemas.microsoft.com/office/drawing/2014/main" id="{1F9DCCEF-D68A-C5EB-AD0C-185CBC53E7A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hu-HU"/>
          </a:p>
        </p:txBody>
      </p:sp>
      <p:sp>
        <p:nvSpPr>
          <p:cNvPr id="179" name="Shape 179">
            <a:extLst>
              <a:ext uri="{FF2B5EF4-FFF2-40B4-BE49-F238E27FC236}">
                <a16:creationId xmlns:a16="http://schemas.microsoft.com/office/drawing/2014/main" id="{527CB369-1515-D6CA-B633-0C5C3423EAB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509411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>
          <a:extLst>
            <a:ext uri="{FF2B5EF4-FFF2-40B4-BE49-F238E27FC236}">
              <a16:creationId xmlns:a16="http://schemas.microsoft.com/office/drawing/2014/main" id="{6C1B4701-B32D-39CB-9282-C28F702EBF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Shape 178">
            <a:extLst>
              <a:ext uri="{FF2B5EF4-FFF2-40B4-BE49-F238E27FC236}">
                <a16:creationId xmlns:a16="http://schemas.microsoft.com/office/drawing/2014/main" id="{BB8FAD81-03D0-F651-6DDF-E4598B47544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hu-HU"/>
          </a:p>
        </p:txBody>
      </p:sp>
      <p:sp>
        <p:nvSpPr>
          <p:cNvPr id="179" name="Shape 179">
            <a:extLst>
              <a:ext uri="{FF2B5EF4-FFF2-40B4-BE49-F238E27FC236}">
                <a16:creationId xmlns:a16="http://schemas.microsoft.com/office/drawing/2014/main" id="{E612A76D-FF8E-C86C-7D7F-A5DE820E3F0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5894422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>
          <a:extLst>
            <a:ext uri="{FF2B5EF4-FFF2-40B4-BE49-F238E27FC236}">
              <a16:creationId xmlns:a16="http://schemas.microsoft.com/office/drawing/2014/main" id="{C1EDE720-13A6-4AE4-4E99-405F018278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Shape 178">
            <a:extLst>
              <a:ext uri="{FF2B5EF4-FFF2-40B4-BE49-F238E27FC236}">
                <a16:creationId xmlns:a16="http://schemas.microsoft.com/office/drawing/2014/main" id="{C9551E3F-9360-6001-56D6-B029832F229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42875" y="768350"/>
            <a:ext cx="6818313" cy="383698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hu-HU"/>
          </a:p>
        </p:txBody>
      </p:sp>
      <p:sp>
        <p:nvSpPr>
          <p:cNvPr id="179" name="Shape 179">
            <a:extLst>
              <a:ext uri="{FF2B5EF4-FFF2-40B4-BE49-F238E27FC236}">
                <a16:creationId xmlns:a16="http://schemas.microsoft.com/office/drawing/2014/main" id="{7632ED01-0022-DCE8-3E65-E104BCF22C2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10407" y="4861441"/>
            <a:ext cx="5683249" cy="4605576"/>
          </a:xfrm>
          <a:prstGeom prst="rect">
            <a:avLst/>
          </a:prstGeom>
        </p:spPr>
        <p:txBody>
          <a:bodyPr lIns="99059" tIns="99059" rIns="99059" bIns="99059" anchor="t" anchorCtr="0">
            <a:noAutofit/>
          </a:bodyPr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0994168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>
          <a:extLst>
            <a:ext uri="{FF2B5EF4-FFF2-40B4-BE49-F238E27FC236}">
              <a16:creationId xmlns:a16="http://schemas.microsoft.com/office/drawing/2014/main" id="{5E667A39-7D99-F6F4-19C3-5E536D0506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Shape 178">
            <a:extLst>
              <a:ext uri="{FF2B5EF4-FFF2-40B4-BE49-F238E27FC236}">
                <a16:creationId xmlns:a16="http://schemas.microsoft.com/office/drawing/2014/main" id="{421DEB29-617E-98FA-9AAE-B334D47DD0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42875" y="768350"/>
            <a:ext cx="6818313" cy="383698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hu-HU"/>
          </a:p>
        </p:txBody>
      </p:sp>
      <p:sp>
        <p:nvSpPr>
          <p:cNvPr id="179" name="Shape 179">
            <a:extLst>
              <a:ext uri="{FF2B5EF4-FFF2-40B4-BE49-F238E27FC236}">
                <a16:creationId xmlns:a16="http://schemas.microsoft.com/office/drawing/2014/main" id="{696D1495-04BE-8AD3-7ADD-3EC3C4B15A4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10407" y="4861441"/>
            <a:ext cx="5683249" cy="4605576"/>
          </a:xfrm>
          <a:prstGeom prst="rect">
            <a:avLst/>
          </a:prstGeom>
        </p:spPr>
        <p:txBody>
          <a:bodyPr lIns="99059" tIns="99059" rIns="99059" bIns="99059" anchor="t" anchorCtr="0">
            <a:noAutofit/>
          </a:bodyPr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9822462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>
          <a:extLst>
            <a:ext uri="{FF2B5EF4-FFF2-40B4-BE49-F238E27FC236}">
              <a16:creationId xmlns:a16="http://schemas.microsoft.com/office/drawing/2014/main" id="{731115EB-BE8A-E818-A007-230EDDE2F0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Shape 178">
            <a:extLst>
              <a:ext uri="{FF2B5EF4-FFF2-40B4-BE49-F238E27FC236}">
                <a16:creationId xmlns:a16="http://schemas.microsoft.com/office/drawing/2014/main" id="{EA953A81-1CBD-ABBD-22B4-0A4FD155902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42875" y="768350"/>
            <a:ext cx="6818313" cy="383698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hu-HU"/>
          </a:p>
        </p:txBody>
      </p:sp>
      <p:sp>
        <p:nvSpPr>
          <p:cNvPr id="179" name="Shape 179">
            <a:extLst>
              <a:ext uri="{FF2B5EF4-FFF2-40B4-BE49-F238E27FC236}">
                <a16:creationId xmlns:a16="http://schemas.microsoft.com/office/drawing/2014/main" id="{CAB43193-9D76-8A80-08B1-5525050DFE6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10407" y="4861441"/>
            <a:ext cx="5683249" cy="4605576"/>
          </a:xfrm>
          <a:prstGeom prst="rect">
            <a:avLst/>
          </a:prstGeom>
        </p:spPr>
        <p:txBody>
          <a:bodyPr lIns="99059" tIns="99059" rIns="99059" bIns="99059" anchor="t" anchorCtr="0">
            <a:noAutofit/>
          </a:bodyPr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912848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Kép 7">
            <a:extLst>
              <a:ext uri="{FF2B5EF4-FFF2-40B4-BE49-F238E27FC236}">
                <a16:creationId xmlns:a16="http://schemas.microsoft.com/office/drawing/2014/main" id="{F9221921-C9D0-1EF4-E78F-90498E3E295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643E030D-24F2-E730-2967-9596CC7FD9B1}"/>
              </a:ext>
            </a:extLst>
          </p:cNvPr>
          <p:cNvSpPr/>
          <p:nvPr userDrawn="1"/>
        </p:nvSpPr>
        <p:spPr>
          <a:xfrm>
            <a:off x="1256371" y="654205"/>
            <a:ext cx="2765502" cy="3940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FB186BD-FAC2-A6E4-E445-B7C9A548EAAA}"/>
              </a:ext>
            </a:extLst>
          </p:cNvPr>
          <p:cNvSpPr/>
          <p:nvPr userDrawn="1"/>
        </p:nvSpPr>
        <p:spPr>
          <a:xfrm>
            <a:off x="182880" y="278674"/>
            <a:ext cx="3396343" cy="11756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pic>
        <p:nvPicPr>
          <p:cNvPr id="5" name="Picture 4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58B9DF5A-C0B8-F245-FE63-514F0F71839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3199" t="7736" r="-4087" b="-5379"/>
          <a:stretch/>
        </p:blipFill>
        <p:spPr>
          <a:xfrm>
            <a:off x="0" y="1"/>
            <a:ext cx="9144000" cy="177676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Kép 3">
            <a:extLst>
              <a:ext uri="{FF2B5EF4-FFF2-40B4-BE49-F238E27FC236}">
                <a16:creationId xmlns:a16="http://schemas.microsoft.com/office/drawing/2014/main" id="{E612020B-D9BC-C0A1-9FD3-40FD242C3F2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643E030D-24F2-E730-2967-9596CC7FD9B1}"/>
              </a:ext>
            </a:extLst>
          </p:cNvPr>
          <p:cNvSpPr/>
          <p:nvPr userDrawn="1"/>
        </p:nvSpPr>
        <p:spPr>
          <a:xfrm>
            <a:off x="1256371" y="654205"/>
            <a:ext cx="2765502" cy="3940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38A2004-7ECA-5C08-0C38-57D294BCA9CC}"/>
              </a:ext>
            </a:extLst>
          </p:cNvPr>
          <p:cNvSpPr/>
          <p:nvPr userDrawn="1"/>
        </p:nvSpPr>
        <p:spPr>
          <a:xfrm>
            <a:off x="209006" y="322217"/>
            <a:ext cx="3405051" cy="11756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pic>
        <p:nvPicPr>
          <p:cNvPr id="5" name="Picture 4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D592C7CB-A7DA-6180-6B0F-C3074278793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3199" t="7736" r="-4087" b="-5379"/>
          <a:stretch/>
        </p:blipFill>
        <p:spPr>
          <a:xfrm>
            <a:off x="0" y="1"/>
            <a:ext cx="9144000" cy="1776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78998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Kép 7">
            <a:extLst>
              <a:ext uri="{FF2B5EF4-FFF2-40B4-BE49-F238E27FC236}">
                <a16:creationId xmlns:a16="http://schemas.microsoft.com/office/drawing/2014/main" id="{D73EE193-0498-5FE6-06BD-FE55F640227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6B80B435-2D41-9DF3-CC6D-D6376AC4D5AE}"/>
              </a:ext>
            </a:extLst>
          </p:cNvPr>
          <p:cNvSpPr/>
          <p:nvPr userDrawn="1"/>
        </p:nvSpPr>
        <p:spPr>
          <a:xfrm>
            <a:off x="1465731" y="699247"/>
            <a:ext cx="2635622" cy="3496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DBFC1BA-D56A-48B3-07F7-8DA75B3F7981}"/>
              </a:ext>
            </a:extLst>
          </p:cNvPr>
          <p:cNvSpPr/>
          <p:nvPr userDrawn="1"/>
        </p:nvSpPr>
        <p:spPr>
          <a:xfrm>
            <a:off x="217714" y="278674"/>
            <a:ext cx="3622766" cy="14194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pic>
        <p:nvPicPr>
          <p:cNvPr id="4" name="Picture 3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C5CB3617-BFF8-D159-C7A6-57E1A3A5983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3199" t="7736" r="-4087" b="-5379"/>
          <a:stretch/>
        </p:blipFill>
        <p:spPr>
          <a:xfrm>
            <a:off x="0" y="1"/>
            <a:ext cx="9144000" cy="1776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35492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body">
    <p:bg>
      <p:bgPr>
        <a:solidFill>
          <a:schemeClr val="bg1"/>
        </a:solidFill>
        <a:effectLst/>
      </p:bgPr>
    </p:bg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Kép 3">
            <a:extLst>
              <a:ext uri="{FF2B5EF4-FFF2-40B4-BE49-F238E27FC236}">
                <a16:creationId xmlns:a16="http://schemas.microsoft.com/office/drawing/2014/main" id="{114AE9B5-8E20-9CC6-B87C-EDC866925D5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85836"/>
          <a:stretch/>
        </p:blipFill>
        <p:spPr>
          <a:xfrm>
            <a:off x="0" y="4414982"/>
            <a:ext cx="9144000" cy="728518"/>
          </a:xfrm>
          <a:prstGeom prst="rect">
            <a:avLst/>
          </a:prstGeom>
        </p:spPr>
      </p:pic>
      <p:pic>
        <p:nvPicPr>
          <p:cNvPr id="4" name="Picture 3" descr="A black and white logo&#10;&#10;AI-generated content may be incorrect.">
            <a:extLst>
              <a:ext uri="{FF2B5EF4-FFF2-40B4-BE49-F238E27FC236}">
                <a16:creationId xmlns:a16="http://schemas.microsoft.com/office/drawing/2014/main" id="{750374DF-F485-FFF1-52D6-9DDB86CBE83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4419600"/>
            <a:ext cx="723900" cy="7239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body">
    <p:bg>
      <p:bgPr>
        <a:solidFill>
          <a:schemeClr val="bg1"/>
        </a:solidFill>
        <a:effectLst/>
      </p:bgPr>
    </p:bg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Kép 3">
            <a:extLst>
              <a:ext uri="{FF2B5EF4-FFF2-40B4-BE49-F238E27FC236}">
                <a16:creationId xmlns:a16="http://schemas.microsoft.com/office/drawing/2014/main" id="{C72F76F4-6B35-2736-0075-048026F7C76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BA978718-56E3-5F4F-408A-688D485C1320}"/>
              </a:ext>
            </a:extLst>
          </p:cNvPr>
          <p:cNvSpPr/>
          <p:nvPr userDrawn="1"/>
        </p:nvSpPr>
        <p:spPr>
          <a:xfrm>
            <a:off x="1213338" y="536331"/>
            <a:ext cx="2549770" cy="369277"/>
          </a:xfrm>
          <a:prstGeom prst="rect">
            <a:avLst/>
          </a:prstGeom>
          <a:solidFill>
            <a:srgbClr val="FEED0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FCB939B-24B5-01AF-4771-0F904BCE2229}"/>
              </a:ext>
            </a:extLst>
          </p:cNvPr>
          <p:cNvSpPr/>
          <p:nvPr userDrawn="1"/>
        </p:nvSpPr>
        <p:spPr>
          <a:xfrm>
            <a:off x="200297" y="174171"/>
            <a:ext cx="2873829" cy="984069"/>
          </a:xfrm>
          <a:prstGeom prst="rect">
            <a:avLst/>
          </a:prstGeom>
          <a:solidFill>
            <a:srgbClr val="FEED0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U"/>
          </a:p>
        </p:txBody>
      </p:sp>
      <p:pic>
        <p:nvPicPr>
          <p:cNvPr id="3" name="Picture 2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4F7B6895-E923-8230-5431-01203136487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3199" t="7736" r="-4087" b="-5379"/>
          <a:stretch/>
        </p:blipFill>
        <p:spPr>
          <a:xfrm>
            <a:off x="0" y="1"/>
            <a:ext cx="9144000" cy="1776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47763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>
  <p:cSld name="Title and two 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hape 21"/>
          <p:cNvSpPr txBox="1">
            <a:spLocks noGrp="1"/>
          </p:cNvSpPr>
          <p:nvPr>
            <p:ph type="title"/>
          </p:nvPr>
        </p:nvSpPr>
        <p:spPr>
          <a:xfrm>
            <a:off x="311705" y="445030"/>
            <a:ext cx="8520599" cy="572699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>
              <a:spcBef>
                <a:spcPts val="0"/>
              </a:spcBef>
              <a:defRPr sz="2400" b="1"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22" name="Shape 22"/>
          <p:cNvSpPr txBox="1">
            <a:spLocks noGrp="1"/>
          </p:cNvSpPr>
          <p:nvPr>
            <p:ph type="body" idx="1"/>
          </p:nvPr>
        </p:nvSpPr>
        <p:spPr>
          <a:xfrm>
            <a:off x="311701" y="1152475"/>
            <a:ext cx="3999899" cy="34164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>
              <a:spcBef>
                <a:spcPts val="0"/>
              </a:spcBef>
              <a:buSzPct val="100000"/>
              <a:defRPr sz="2000">
                <a:latin typeface="+mj-lt"/>
              </a:defRPr>
            </a:lvl1pPr>
            <a:lvl2pPr lvl="1">
              <a:spcBef>
                <a:spcPts val="0"/>
              </a:spcBef>
              <a:buSzPct val="100000"/>
              <a:defRPr sz="1200"/>
            </a:lvl2pPr>
            <a:lvl3pPr lvl="2">
              <a:spcBef>
                <a:spcPts val="0"/>
              </a:spcBef>
              <a:buSzPct val="100000"/>
              <a:defRPr sz="1200"/>
            </a:lvl3pPr>
            <a:lvl4pPr lvl="3">
              <a:spcBef>
                <a:spcPts val="0"/>
              </a:spcBef>
              <a:buSzPct val="100000"/>
              <a:defRPr sz="1200"/>
            </a:lvl4pPr>
            <a:lvl5pPr lvl="4">
              <a:spcBef>
                <a:spcPts val="0"/>
              </a:spcBef>
              <a:buSzPct val="100000"/>
              <a:defRPr sz="1200"/>
            </a:lvl5pPr>
            <a:lvl6pPr lvl="5">
              <a:spcBef>
                <a:spcPts val="0"/>
              </a:spcBef>
              <a:buSzPct val="100000"/>
              <a:defRPr sz="1200"/>
            </a:lvl6pPr>
            <a:lvl7pPr lvl="6">
              <a:spcBef>
                <a:spcPts val="0"/>
              </a:spcBef>
              <a:buSzPct val="100000"/>
              <a:defRPr sz="1200"/>
            </a:lvl7pPr>
            <a:lvl8pPr lvl="7">
              <a:spcBef>
                <a:spcPts val="0"/>
              </a:spcBef>
              <a:buSzPct val="100000"/>
              <a:defRPr sz="1200"/>
            </a:lvl8pPr>
            <a:lvl9pPr lvl="8">
              <a:spcBef>
                <a:spcPts val="0"/>
              </a:spcBef>
              <a:buSzPct val="100000"/>
              <a:defRPr sz="1200"/>
            </a:lvl9pPr>
          </a:lstStyle>
          <a:p>
            <a:endParaRPr dirty="0"/>
          </a:p>
        </p:txBody>
      </p:sp>
      <p:sp>
        <p:nvSpPr>
          <p:cNvPr id="23" name="Shape 23"/>
          <p:cNvSpPr txBox="1">
            <a:spLocks noGrp="1"/>
          </p:cNvSpPr>
          <p:nvPr>
            <p:ph type="body" idx="2"/>
          </p:nvPr>
        </p:nvSpPr>
        <p:spPr>
          <a:xfrm>
            <a:off x="4832401" y="1152475"/>
            <a:ext cx="3999899" cy="34164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>
              <a:spcBef>
                <a:spcPts val="0"/>
              </a:spcBef>
              <a:buSzPct val="100000"/>
              <a:defRPr sz="2000">
                <a:latin typeface="+mj-lt"/>
              </a:defRPr>
            </a:lvl1pPr>
            <a:lvl2pPr lvl="1">
              <a:spcBef>
                <a:spcPts val="0"/>
              </a:spcBef>
              <a:buSzPct val="100000"/>
              <a:defRPr sz="1200"/>
            </a:lvl2pPr>
            <a:lvl3pPr lvl="2">
              <a:spcBef>
                <a:spcPts val="0"/>
              </a:spcBef>
              <a:buSzPct val="100000"/>
              <a:defRPr sz="1200"/>
            </a:lvl3pPr>
            <a:lvl4pPr lvl="3">
              <a:spcBef>
                <a:spcPts val="0"/>
              </a:spcBef>
              <a:buSzPct val="100000"/>
              <a:defRPr sz="1200"/>
            </a:lvl4pPr>
            <a:lvl5pPr lvl="4">
              <a:spcBef>
                <a:spcPts val="0"/>
              </a:spcBef>
              <a:buSzPct val="100000"/>
              <a:defRPr sz="1200"/>
            </a:lvl5pPr>
            <a:lvl6pPr lvl="5">
              <a:spcBef>
                <a:spcPts val="0"/>
              </a:spcBef>
              <a:buSzPct val="100000"/>
              <a:defRPr sz="1200"/>
            </a:lvl6pPr>
            <a:lvl7pPr lvl="6">
              <a:spcBef>
                <a:spcPts val="0"/>
              </a:spcBef>
              <a:buSzPct val="100000"/>
              <a:defRPr sz="1200"/>
            </a:lvl7pPr>
            <a:lvl8pPr lvl="7">
              <a:spcBef>
                <a:spcPts val="0"/>
              </a:spcBef>
              <a:buSzPct val="100000"/>
              <a:defRPr sz="1200"/>
            </a:lvl8pPr>
            <a:lvl9pPr lvl="8">
              <a:spcBef>
                <a:spcPts val="0"/>
              </a:spcBef>
              <a:buSzPct val="100000"/>
              <a:defRPr sz="1200"/>
            </a:lvl9pPr>
          </a:lstStyle>
          <a:p>
            <a:endParaRPr dirty="0"/>
          </a:p>
        </p:txBody>
      </p:sp>
      <p:sp>
        <p:nvSpPr>
          <p:cNvPr id="24" name="Shape 24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fld id="{00000000-1234-1234-1234-123412341234}" type="slidenum">
              <a:rPr lang="hu" smtClean="0"/>
              <a:pPr/>
              <a:t>‹#›</a:t>
            </a:fld>
            <a:endParaRPr lang="h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26"/>
          <p:cNvSpPr txBox="1">
            <a:spLocks noGrp="1"/>
          </p:cNvSpPr>
          <p:nvPr>
            <p:ph type="title"/>
          </p:nvPr>
        </p:nvSpPr>
        <p:spPr>
          <a:xfrm>
            <a:off x="311705" y="445030"/>
            <a:ext cx="8520599" cy="572699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>
              <a:spcBef>
                <a:spcPts val="0"/>
              </a:spcBef>
              <a:defRPr sz="2400" b="1"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27" name="Shape 27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fld id="{00000000-1234-1234-1234-123412341234}" type="slidenum">
              <a:rPr lang="hu" smtClean="0"/>
              <a:pPr/>
              <a:t>‹#›</a:t>
            </a:fld>
            <a:endParaRPr lang="h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One column 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29"/>
          <p:cNvSpPr txBox="1">
            <a:spLocks noGrp="1"/>
          </p:cNvSpPr>
          <p:nvPr>
            <p:ph type="title"/>
          </p:nvPr>
        </p:nvSpPr>
        <p:spPr>
          <a:xfrm>
            <a:off x="311705" y="555601"/>
            <a:ext cx="2807999" cy="755699"/>
          </a:xfrm>
          <a:prstGeom prst="rect">
            <a:avLst/>
          </a:prstGeom>
        </p:spPr>
        <p:txBody>
          <a:bodyPr lIns="91425" tIns="91425" rIns="91425" bIns="91425" anchor="b" anchorCtr="0"/>
          <a:lstStyle>
            <a:lvl1pPr lvl="0">
              <a:spcBef>
                <a:spcPts val="0"/>
              </a:spcBef>
              <a:buSzPct val="100000"/>
              <a:defRPr sz="2400" b="1"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  <a:lvl2pPr lvl="1">
              <a:spcBef>
                <a:spcPts val="0"/>
              </a:spcBef>
              <a:buSzPct val="100000"/>
              <a:defRPr sz="2400"/>
            </a:lvl2pPr>
            <a:lvl3pPr lvl="2">
              <a:spcBef>
                <a:spcPts val="0"/>
              </a:spcBef>
              <a:buSzPct val="100000"/>
              <a:defRPr sz="2400"/>
            </a:lvl3pPr>
            <a:lvl4pPr lvl="3">
              <a:spcBef>
                <a:spcPts val="0"/>
              </a:spcBef>
              <a:buSzPct val="100000"/>
              <a:defRPr sz="2400"/>
            </a:lvl4pPr>
            <a:lvl5pPr lvl="4">
              <a:spcBef>
                <a:spcPts val="0"/>
              </a:spcBef>
              <a:buSzPct val="100000"/>
              <a:defRPr sz="2400"/>
            </a:lvl5pPr>
            <a:lvl6pPr lvl="5">
              <a:spcBef>
                <a:spcPts val="0"/>
              </a:spcBef>
              <a:buSzPct val="100000"/>
              <a:defRPr sz="2400"/>
            </a:lvl6pPr>
            <a:lvl7pPr lvl="6">
              <a:spcBef>
                <a:spcPts val="0"/>
              </a:spcBef>
              <a:buSzPct val="100000"/>
              <a:defRPr sz="2400"/>
            </a:lvl7pPr>
            <a:lvl8pPr lvl="7">
              <a:spcBef>
                <a:spcPts val="0"/>
              </a:spcBef>
              <a:buSzPct val="100000"/>
              <a:defRPr sz="2400"/>
            </a:lvl8pPr>
            <a:lvl9pPr lvl="8">
              <a:spcBef>
                <a:spcPts val="0"/>
              </a:spcBef>
              <a:buSzPct val="100000"/>
              <a:defRPr sz="2400"/>
            </a:lvl9pPr>
          </a:lstStyle>
          <a:p>
            <a:endParaRPr/>
          </a:p>
        </p:txBody>
      </p:sp>
      <p:sp>
        <p:nvSpPr>
          <p:cNvPr id="30" name="Shape 30"/>
          <p:cNvSpPr txBox="1">
            <a:spLocks noGrp="1"/>
          </p:cNvSpPr>
          <p:nvPr>
            <p:ph type="body" idx="1"/>
          </p:nvPr>
        </p:nvSpPr>
        <p:spPr>
          <a:xfrm>
            <a:off x="311705" y="1389600"/>
            <a:ext cx="2807999" cy="31794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>
              <a:spcBef>
                <a:spcPts val="0"/>
              </a:spcBef>
              <a:buSzPct val="100000"/>
              <a:defRPr sz="2000">
                <a:latin typeface="+mj-lt"/>
              </a:defRPr>
            </a:lvl1pPr>
            <a:lvl2pPr lvl="1">
              <a:spcBef>
                <a:spcPts val="0"/>
              </a:spcBef>
              <a:buSzPct val="100000"/>
              <a:defRPr sz="1200"/>
            </a:lvl2pPr>
            <a:lvl3pPr lvl="2">
              <a:spcBef>
                <a:spcPts val="0"/>
              </a:spcBef>
              <a:buSzPct val="100000"/>
              <a:defRPr sz="1200"/>
            </a:lvl3pPr>
            <a:lvl4pPr lvl="3">
              <a:spcBef>
                <a:spcPts val="0"/>
              </a:spcBef>
              <a:buSzPct val="100000"/>
              <a:defRPr sz="1200"/>
            </a:lvl4pPr>
            <a:lvl5pPr lvl="4">
              <a:spcBef>
                <a:spcPts val="0"/>
              </a:spcBef>
              <a:buSzPct val="100000"/>
              <a:defRPr sz="1200"/>
            </a:lvl5pPr>
            <a:lvl6pPr lvl="5">
              <a:spcBef>
                <a:spcPts val="0"/>
              </a:spcBef>
              <a:buSzPct val="100000"/>
              <a:defRPr sz="1200"/>
            </a:lvl6pPr>
            <a:lvl7pPr lvl="6">
              <a:spcBef>
                <a:spcPts val="0"/>
              </a:spcBef>
              <a:buSzPct val="100000"/>
              <a:defRPr sz="1200"/>
            </a:lvl7pPr>
            <a:lvl8pPr lvl="7">
              <a:spcBef>
                <a:spcPts val="0"/>
              </a:spcBef>
              <a:buSzPct val="100000"/>
              <a:defRPr sz="1200"/>
            </a:lvl8pPr>
            <a:lvl9pPr lvl="8">
              <a:spcBef>
                <a:spcPts val="0"/>
              </a:spcBef>
              <a:buSzPct val="100000"/>
              <a:defRPr sz="1200"/>
            </a:lvl9pPr>
          </a:lstStyle>
          <a:p>
            <a:endParaRPr dirty="0"/>
          </a:p>
        </p:txBody>
      </p:sp>
      <p:sp>
        <p:nvSpPr>
          <p:cNvPr id="31" name="Shape 31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fld id="{00000000-1234-1234-1234-123412341234}" type="slidenum">
              <a:rPr lang="hu" smtClean="0"/>
              <a:pPr/>
              <a:t>‹#›</a:t>
            </a:fld>
            <a:endParaRPr lang="hu"/>
          </a:p>
        </p:txBody>
      </p:sp>
      <p:sp>
        <p:nvSpPr>
          <p:cNvPr id="5" name="Tartalom helye 4"/>
          <p:cNvSpPr>
            <a:spLocks noGrp="1"/>
          </p:cNvSpPr>
          <p:nvPr>
            <p:ph sz="quarter" idx="13"/>
          </p:nvPr>
        </p:nvSpPr>
        <p:spPr>
          <a:xfrm>
            <a:off x="3263903" y="555625"/>
            <a:ext cx="5549900" cy="4013200"/>
          </a:xfrm>
        </p:spPr>
        <p:txBody>
          <a:bodyPr/>
          <a:lstStyle>
            <a:lvl1pPr>
              <a:defRPr sz="2000">
                <a:latin typeface="+mj-lt"/>
              </a:defRPr>
            </a:lvl1pPr>
            <a:lvl2pPr marL="285730" indent="-285730">
              <a:buFont typeface="Arial" panose="020B0604020202020204" pitchFamily="34" charset="0"/>
              <a:buChar char="•"/>
              <a:defRPr>
                <a:latin typeface="+mj-lt"/>
              </a:defRPr>
            </a:lvl2pPr>
            <a:lvl3pPr marL="285730" indent="-285730">
              <a:buFont typeface="Arial" panose="020B0604020202020204" pitchFamily="34" charset="0"/>
              <a:buChar char="•"/>
              <a:defRPr>
                <a:latin typeface="+mj-lt"/>
              </a:defRPr>
            </a:lvl3pPr>
            <a:lvl4pPr marL="285730" indent="-285730">
              <a:buFont typeface="Arial" panose="020B0604020202020204" pitchFamily="34" charset="0"/>
              <a:buChar char="•"/>
              <a:defRPr>
                <a:latin typeface="+mj-lt"/>
              </a:defRPr>
            </a:lvl4pPr>
            <a:lvl5pPr marL="285730" indent="-285730">
              <a:buFont typeface="Arial" panose="020B0604020202020204" pitchFamily="34" charset="0"/>
              <a:buChar char="•"/>
              <a:defRPr>
                <a:latin typeface="+mj-lt"/>
              </a:defRPr>
            </a:lvl5pPr>
          </a:lstStyle>
          <a:p>
            <a:pPr lvl="0"/>
            <a:r>
              <a:rPr lang="hu-HU" dirty="0"/>
              <a:t>Mintaszöveg szerkesztése</a:t>
            </a:r>
          </a:p>
          <a:p>
            <a:pPr lvl="1"/>
            <a:r>
              <a:rPr lang="hu-HU" dirty="0"/>
              <a:t>Második szint</a:t>
            </a:r>
          </a:p>
          <a:p>
            <a:pPr lvl="2"/>
            <a:r>
              <a:rPr lang="hu-HU" dirty="0"/>
              <a:t>Harmadik szint</a:t>
            </a:r>
          </a:p>
          <a:p>
            <a:pPr lvl="3"/>
            <a:r>
              <a:rPr lang="hu-HU" dirty="0"/>
              <a:t>Negyedik szint</a:t>
            </a:r>
          </a:p>
          <a:p>
            <a:pPr lvl="4"/>
            <a:r>
              <a:rPr lang="hu-HU" dirty="0"/>
              <a:t>Ötödik szint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ain 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33"/>
          <p:cNvSpPr txBox="1">
            <a:spLocks noGrp="1"/>
          </p:cNvSpPr>
          <p:nvPr>
            <p:ph type="title"/>
          </p:nvPr>
        </p:nvSpPr>
        <p:spPr>
          <a:xfrm>
            <a:off x="394557" y="1779223"/>
            <a:ext cx="6367800" cy="528044"/>
          </a:xfrm>
          <a:prstGeom prst="rect">
            <a:avLst/>
          </a:prstGeom>
        </p:spPr>
        <p:txBody>
          <a:bodyPr lIns="91425" tIns="91425" rIns="91425" bIns="91425" anchor="ctr" anchorCtr="0"/>
          <a:lstStyle>
            <a:lvl1pPr lvl="0">
              <a:spcBef>
                <a:spcPts val="0"/>
              </a:spcBef>
              <a:buSzPct val="100000"/>
              <a:defRPr sz="2800" b="1"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  <a:lvl2pPr lvl="1">
              <a:spcBef>
                <a:spcPts val="0"/>
              </a:spcBef>
              <a:buSzPct val="100000"/>
              <a:defRPr sz="4800"/>
            </a:lvl2pPr>
            <a:lvl3pPr lvl="2">
              <a:spcBef>
                <a:spcPts val="0"/>
              </a:spcBef>
              <a:buSzPct val="100000"/>
              <a:defRPr sz="4800"/>
            </a:lvl3pPr>
            <a:lvl4pPr lvl="3">
              <a:spcBef>
                <a:spcPts val="0"/>
              </a:spcBef>
              <a:buSzPct val="100000"/>
              <a:defRPr sz="4800"/>
            </a:lvl4pPr>
            <a:lvl5pPr lvl="4">
              <a:spcBef>
                <a:spcPts val="0"/>
              </a:spcBef>
              <a:buSzPct val="100000"/>
              <a:defRPr sz="4800"/>
            </a:lvl5pPr>
            <a:lvl6pPr lvl="5">
              <a:spcBef>
                <a:spcPts val="0"/>
              </a:spcBef>
              <a:buSzPct val="100000"/>
              <a:defRPr sz="4800"/>
            </a:lvl6pPr>
            <a:lvl7pPr lvl="6">
              <a:spcBef>
                <a:spcPts val="0"/>
              </a:spcBef>
              <a:buSzPct val="100000"/>
              <a:defRPr sz="4800"/>
            </a:lvl7pPr>
            <a:lvl8pPr lvl="7">
              <a:spcBef>
                <a:spcPts val="0"/>
              </a:spcBef>
              <a:buSzPct val="100000"/>
              <a:defRPr sz="4800"/>
            </a:lvl8pPr>
            <a:lvl9pPr lvl="8">
              <a:spcBef>
                <a:spcPts val="0"/>
              </a:spcBef>
              <a:buSzPct val="100000"/>
              <a:defRPr sz="4800"/>
            </a:lvl9pPr>
          </a:lstStyle>
          <a:p>
            <a:endParaRPr/>
          </a:p>
        </p:txBody>
      </p:sp>
      <p:sp>
        <p:nvSpPr>
          <p:cNvPr id="34" name="Shape 34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fld id="{00000000-1234-1234-1234-123412341234}" type="slidenum">
              <a:rPr lang="hu" smtClean="0"/>
              <a:pPr/>
              <a:t>‹#›</a:t>
            </a:fld>
            <a:endParaRPr lang="hu"/>
          </a:p>
        </p:txBody>
      </p:sp>
      <p:sp>
        <p:nvSpPr>
          <p:cNvPr id="7" name="Szöveg helye 6"/>
          <p:cNvSpPr>
            <a:spLocks noGrp="1"/>
          </p:cNvSpPr>
          <p:nvPr>
            <p:ph type="body" sz="quarter" idx="13"/>
          </p:nvPr>
        </p:nvSpPr>
        <p:spPr>
          <a:xfrm>
            <a:off x="394561" y="2307267"/>
            <a:ext cx="6367463" cy="500210"/>
          </a:xfrm>
        </p:spPr>
        <p:txBody>
          <a:bodyPr/>
          <a:lstStyle>
            <a:lvl1pPr>
              <a:defRPr sz="2400" baseline="0">
                <a:solidFill>
                  <a:srgbClr val="D9D9D9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pPr lvl="0"/>
            <a:r>
              <a:rPr lang="hu-HU" dirty="0"/>
              <a:t>Mintaszöveg szerkesztése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Shape 49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fld id="{00000000-1234-1234-1234-123412341234}" type="slidenum">
              <a:rPr lang="hu" smtClean="0"/>
              <a:pPr/>
              <a:t>‹#›</a:t>
            </a:fld>
            <a:endParaRPr lang="h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6"/>
          <p:cNvSpPr txBox="1">
            <a:spLocks noGrp="1"/>
          </p:cNvSpPr>
          <p:nvPr>
            <p:ph type="title"/>
          </p:nvPr>
        </p:nvSpPr>
        <p:spPr>
          <a:xfrm>
            <a:off x="311705" y="445030"/>
            <a:ext cx="8520599" cy="5726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lvl="0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Shape 7"/>
          <p:cNvSpPr txBox="1">
            <a:spLocks noGrp="1"/>
          </p:cNvSpPr>
          <p:nvPr>
            <p:ph type="body" idx="1"/>
          </p:nvPr>
        </p:nvSpPr>
        <p:spPr>
          <a:xfrm>
            <a:off x="311705" y="1152475"/>
            <a:ext cx="8520599" cy="3416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SzPct val="100000"/>
              <a:defRPr sz="18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defRPr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defRPr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defRPr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defRPr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defRPr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defRPr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defRPr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Shape 8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algn="r"/>
            <a:fld id="{00000000-1234-1234-1234-123412341234}" type="slidenum">
              <a:rPr lang="hu" sz="1000" smtClean="0">
                <a:solidFill>
                  <a:schemeClr val="dk2"/>
                </a:solidFill>
              </a:rPr>
              <a:pPr algn="r"/>
              <a:t>‹#›</a:t>
            </a:fld>
            <a:endParaRPr lang="hu" sz="1000">
              <a:solidFill>
                <a:schemeClr val="dk2"/>
              </a:solidFill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60" r:id="rId2"/>
    <p:sldLayoutId id="2147483661" r:id="rId3"/>
    <p:sldLayoutId id="2147483650" r:id="rId4"/>
    <p:sldLayoutId id="2147483662" r:id="rId5"/>
    <p:sldLayoutId id="2147483651" r:id="rId6"/>
    <p:sldLayoutId id="2147483652" r:id="rId7"/>
    <p:sldLayoutId id="2147483653" r:id="rId8"/>
    <p:sldLayoutId id="2147483654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1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1.png"/><Relationship Id="rId5" Type="http://schemas.openxmlformats.org/officeDocument/2006/relationships/image" Target="../media/image13.png"/><Relationship Id="rId4" Type="http://schemas.openxmlformats.org/officeDocument/2006/relationships/image" Target="../media/image19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2.png"/><Relationship Id="rId4" Type="http://schemas.openxmlformats.org/officeDocument/2006/relationships/image" Target="../media/image211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4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1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20.png"/><Relationship Id="rId4" Type="http://schemas.openxmlformats.org/officeDocument/2006/relationships/image" Target="../media/image1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50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80000"/>
            <a:lum/>
          </a:blip>
          <a:srcRect/>
          <a:stretch>
            <a:fillRect t="-200000"/>
          </a:stretch>
        </a:blip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ím 1">
            <a:extLst>
              <a:ext uri="{FF2B5EF4-FFF2-40B4-BE49-F238E27FC236}">
                <a16:creationId xmlns:a16="http://schemas.microsoft.com/office/drawing/2014/main" id="{4D15A6C2-C470-44E5-88E9-A56BD1DB1C00}"/>
              </a:ext>
            </a:extLst>
          </p:cNvPr>
          <p:cNvSpPr txBox="1">
            <a:spLocks/>
          </p:cNvSpPr>
          <p:nvPr/>
        </p:nvSpPr>
        <p:spPr>
          <a:xfrm>
            <a:off x="451209" y="2236904"/>
            <a:ext cx="8520599" cy="2390328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  <a:defRPr sz="2800" b="0" i="0" u="none" strike="noStrike" cap="all" baseline="0">
                <a:solidFill>
                  <a:schemeClr val="dk1"/>
                </a:solidFill>
                <a:latin typeface="Segoe UI Semibold" panose="020B0702040204020203" pitchFamily="34" charset="0"/>
                <a:ea typeface="Arial"/>
                <a:cs typeface="Segoe UI Semibold" panose="020B0702040204020203" pitchFamily="34" charset="0"/>
                <a:sym typeface="Arial"/>
                <a:rtl val="0"/>
              </a:defRPr>
            </a:lvl1pPr>
            <a:lvl2pPr lvl="1" algn="ctr">
              <a:spcBef>
                <a:spcPts val="0"/>
              </a:spcBef>
              <a:buClr>
                <a:schemeClr val="dk1"/>
              </a:buClr>
              <a:buSzPct val="100000"/>
              <a:buNone/>
              <a:defRPr sz="52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buClr>
                <a:schemeClr val="dk1"/>
              </a:buClr>
              <a:buSzPct val="100000"/>
              <a:buNone/>
              <a:defRPr sz="52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buClr>
                <a:schemeClr val="dk1"/>
              </a:buClr>
              <a:buSzPct val="100000"/>
              <a:buNone/>
              <a:defRPr sz="52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buClr>
                <a:schemeClr val="dk1"/>
              </a:buClr>
              <a:buSzPct val="100000"/>
              <a:buNone/>
              <a:defRPr sz="52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buClr>
                <a:schemeClr val="dk1"/>
              </a:buClr>
              <a:buSzPct val="100000"/>
              <a:buNone/>
              <a:defRPr sz="52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buClr>
                <a:schemeClr val="dk1"/>
              </a:buClr>
              <a:buSzPct val="100000"/>
              <a:buNone/>
              <a:defRPr sz="52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buClr>
                <a:schemeClr val="dk1"/>
              </a:buClr>
              <a:buSzPct val="100000"/>
              <a:buNone/>
              <a:defRPr sz="52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buClr>
                <a:schemeClr val="dk1"/>
              </a:buClr>
              <a:buSzPct val="100000"/>
              <a:buNone/>
              <a:defRPr sz="5200">
                <a:solidFill>
                  <a:schemeClr val="dk1"/>
                </a:solidFill>
              </a:defRPr>
            </a:lvl9pPr>
          </a:lstStyle>
          <a:p>
            <a:r>
              <a:rPr lang="hu-HU" dirty="0"/>
              <a:t>Kötvények és értékelésük</a:t>
            </a:r>
            <a:br>
              <a:rPr lang="hu-HU" dirty="0"/>
            </a:br>
            <a:endParaRPr lang="hu-HU" sz="2000" dirty="0">
              <a:solidFill>
                <a:schemeClr val="bg2">
                  <a:lumMod val="40000"/>
                  <a:lumOff val="60000"/>
                </a:schemeClr>
              </a:solidFill>
            </a:endParaRPr>
          </a:p>
          <a:p>
            <a:endParaRPr lang="hu-HU" sz="2000" dirty="0">
              <a:solidFill>
                <a:schemeClr val="bg2">
                  <a:lumMod val="40000"/>
                  <a:lumOff val="60000"/>
                </a:schemeClr>
              </a:solidFill>
            </a:endParaRPr>
          </a:p>
        </p:txBody>
      </p:sp>
    </p:spTree>
  </p:cSld>
  <p:clrMapOvr>
    <a:masterClrMapping/>
  </p:clrMapOvr>
  <p:transition spd="slow"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62"/>
          <p:cNvSpPr txBox="1"/>
          <p:nvPr/>
        </p:nvSpPr>
        <p:spPr>
          <a:xfrm>
            <a:off x="262618" y="1189550"/>
            <a:ext cx="8394000" cy="239309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algn="just"/>
            <a:r>
              <a:rPr lang="hu-HU" sz="1800" dirty="0">
                <a:solidFill>
                  <a:schemeClr val="dk2"/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 Semilight" panose="020B0402040204020203" pitchFamily="34" charset="0"/>
              </a:rPr>
              <a:t>Az előző hetekben a </a:t>
            </a:r>
            <a:r>
              <a:rPr lang="hu-HU" sz="1800" b="1" dirty="0">
                <a:solidFill>
                  <a:schemeClr val="dk2"/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 Semilight" panose="020B0402040204020203" pitchFamily="34" charset="0"/>
              </a:rPr>
              <a:t>pénz időértékével </a:t>
            </a:r>
            <a:r>
              <a:rPr lang="hu-HU" sz="1800" dirty="0">
                <a:solidFill>
                  <a:schemeClr val="dk2"/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 Semilight" panose="020B0402040204020203" pitchFamily="34" charset="0"/>
              </a:rPr>
              <a:t>és a </a:t>
            </a:r>
            <a:r>
              <a:rPr lang="hu-HU" sz="1800" b="1" dirty="0">
                <a:solidFill>
                  <a:schemeClr val="dk2"/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 Semilight" panose="020B0402040204020203" pitchFamily="34" charset="0"/>
              </a:rPr>
              <a:t>jövőbeli pénzáramlások </a:t>
            </a:r>
            <a:r>
              <a:rPr lang="hu-HU" sz="1800" dirty="0">
                <a:solidFill>
                  <a:schemeClr val="dk2"/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 Semilight" panose="020B0402040204020203" pitchFamily="34" charset="0"/>
              </a:rPr>
              <a:t>jelenértéken történő értékelésével foglalkoztunk. Ezekre az ismeretekre építve a mai szemináriumon a kötvények, mint hitelviszonyt megtestesítő értékpapírok értékelését vizsgáljuk.</a:t>
            </a:r>
          </a:p>
          <a:p>
            <a:pPr algn="just"/>
            <a:endParaRPr lang="hu-HU" sz="1800" dirty="0">
              <a:solidFill>
                <a:schemeClr val="dk2"/>
              </a:solidFill>
              <a:latin typeface="Cambria" panose="02040503050406030204" pitchFamily="18" charset="0"/>
              <a:ea typeface="Cambria" panose="02040503050406030204" pitchFamily="18" charset="0"/>
              <a:cs typeface="Segoe UI Semilight" panose="020B0402040204020203" pitchFamily="34" charset="0"/>
            </a:endParaRPr>
          </a:p>
          <a:p>
            <a:pPr algn="just"/>
            <a:r>
              <a:rPr lang="hu-HU" sz="1800" dirty="0">
                <a:solidFill>
                  <a:schemeClr val="dk2"/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 Semilight" panose="020B0402040204020203" pitchFamily="34" charset="0"/>
              </a:rPr>
              <a:t>A kötvények előre </a:t>
            </a:r>
            <a:r>
              <a:rPr lang="hu-HU" sz="1800" b="1" dirty="0">
                <a:solidFill>
                  <a:schemeClr val="dk2"/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 Semilight" panose="020B0402040204020203" pitchFamily="34" charset="0"/>
              </a:rPr>
              <a:t>meghatározott pénzáramlást biztosítanak </a:t>
            </a:r>
            <a:r>
              <a:rPr lang="hu-HU" sz="1800" dirty="0">
                <a:solidFill>
                  <a:schemeClr val="dk2"/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 Semilight" panose="020B0402040204020203" pitchFamily="34" charset="0"/>
              </a:rPr>
              <a:t>a befektetők számára, ezért értékük meghatározása a pénzáramlások helyes azonosításán és </a:t>
            </a:r>
            <a:r>
              <a:rPr lang="hu-HU" sz="1800" b="1" dirty="0">
                <a:solidFill>
                  <a:schemeClr val="dk2"/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 Semilight" panose="020B0402040204020203" pitchFamily="34" charset="0"/>
              </a:rPr>
              <a:t>diszkontálásán</a:t>
            </a:r>
            <a:r>
              <a:rPr lang="hu-HU" sz="1800" dirty="0">
                <a:solidFill>
                  <a:schemeClr val="dk2"/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 Semilight" panose="020B0402040204020203" pitchFamily="34" charset="0"/>
              </a:rPr>
              <a:t> alapul. A célunk az, hogy különböző kötvénytípusok esetén felírjuk a pénzáramlásokat, majd jelenérték-számítással meghatározzuk a kötvény elméleti árfolyamát.</a:t>
            </a:r>
          </a:p>
          <a:p>
            <a:pPr>
              <a:spcBef>
                <a:spcPts val="320"/>
              </a:spcBef>
            </a:pPr>
            <a:endParaRPr sz="2000" dirty="0">
              <a:solidFill>
                <a:srgbClr val="595959"/>
              </a:solidFill>
            </a:endParaRPr>
          </a:p>
        </p:txBody>
      </p:sp>
      <p:sp>
        <p:nvSpPr>
          <p:cNvPr id="2" name="Cím 1"/>
          <p:cNvSpPr>
            <a:spLocks noGrp="1"/>
          </p:cNvSpPr>
          <p:nvPr>
            <p:ph type="title" idx="4294967295"/>
          </p:nvPr>
        </p:nvSpPr>
        <p:spPr>
          <a:xfrm>
            <a:off x="3280168" y="205961"/>
            <a:ext cx="2298997" cy="642178"/>
          </a:xfrm>
        </p:spPr>
        <p:txBody>
          <a:bodyPr/>
          <a:lstStyle/>
          <a:p>
            <a:r>
              <a:rPr lang="hu-HU" sz="3600" dirty="0">
                <a:latin typeface="Cambria" panose="02040503050406030204" pitchFamily="18" charset="0"/>
                <a:ea typeface="Cambria" panose="02040503050406030204" pitchFamily="18" charset="0"/>
              </a:rPr>
              <a:t>Motiváció</a:t>
            </a:r>
          </a:p>
        </p:txBody>
      </p:sp>
    </p:spTree>
  </p:cSld>
  <p:clrMapOvr>
    <a:masterClrMapping/>
  </p:clrMapOvr>
  <p:transition spd="slow"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Shape 182"/>
          <p:cNvSpPr txBox="1"/>
          <p:nvPr/>
        </p:nvSpPr>
        <p:spPr>
          <a:xfrm>
            <a:off x="62630" y="1292138"/>
            <a:ext cx="8657299" cy="2238351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228583">
              <a:spcBef>
                <a:spcPts val="400"/>
              </a:spcBef>
              <a:buClr>
                <a:srgbClr val="CCCCCC"/>
              </a:buClr>
            </a:pPr>
            <a:endParaRPr lang="hu" sz="1800" dirty="0">
              <a:solidFill>
                <a:schemeClr val="dk2"/>
              </a:solidFill>
              <a:latin typeface="Segoe UI Semilight" panose="020B0402040204020203" pitchFamily="34" charset="0"/>
              <a:ea typeface="Source Sans Pro"/>
              <a:cs typeface="Segoe UI Semilight" panose="020B0402040204020203" pitchFamily="34" charset="0"/>
              <a:sym typeface="Source Sans Pro"/>
            </a:endParaRPr>
          </a:p>
          <a:p>
            <a:pPr marL="228583">
              <a:spcBef>
                <a:spcPts val="400"/>
              </a:spcBef>
              <a:buClr>
                <a:srgbClr val="CCCCCC"/>
              </a:buClr>
            </a:pPr>
            <a:r>
              <a:rPr lang="hu" sz="1800" dirty="0">
                <a:solidFill>
                  <a:schemeClr val="dk2"/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 Semilight" panose="020B0402040204020203" pitchFamily="34" charset="0"/>
                <a:sym typeface="Source Sans Pro"/>
              </a:rPr>
              <a:t>A kötvény egy </a:t>
            </a:r>
            <a:r>
              <a:rPr lang="hu" sz="1800" b="1" i="1" dirty="0">
                <a:solidFill>
                  <a:schemeClr val="accent5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 Semilight" panose="020B0402040204020203" pitchFamily="34" charset="0"/>
                <a:sym typeface="Source Sans Pro"/>
              </a:rPr>
              <a:t>hitelviszonyt megtestesítő értékpapír</a:t>
            </a:r>
            <a:r>
              <a:rPr lang="hu" sz="1800" dirty="0">
                <a:solidFill>
                  <a:schemeClr val="dk2"/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 Semilight" panose="020B0402040204020203" pitchFamily="34" charset="0"/>
                <a:sym typeface="Source Sans Pro"/>
              </a:rPr>
              <a:t>, amelyet az alábbi paraméterekkel lehet jellemezni: </a:t>
            </a:r>
          </a:p>
          <a:p>
            <a:pPr marL="457167" indent="-228584">
              <a:spcBef>
                <a:spcPts val="400"/>
              </a:spcBef>
              <a:buClr>
                <a:srgbClr val="CCCCCC"/>
              </a:buClr>
              <a:buChar char="●"/>
            </a:pPr>
            <a:r>
              <a:rPr lang="hu" sz="1800" b="1" i="1" dirty="0">
                <a:solidFill>
                  <a:schemeClr val="accent5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 Semilight" panose="020B0402040204020203" pitchFamily="34" charset="0"/>
                <a:sym typeface="Source Sans Pro"/>
              </a:rPr>
              <a:t>Kupon: </a:t>
            </a:r>
            <a:r>
              <a:rPr lang="hu" sz="1800" dirty="0">
                <a:solidFill>
                  <a:schemeClr val="dk2"/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 Semilight" panose="020B0402040204020203" pitchFamily="34" charset="0"/>
                <a:sym typeface="Source Sans Pro"/>
              </a:rPr>
              <a:t>Az adott kötvényre megállapított kamatfizetés. Jele: </a:t>
            </a:r>
            <a:r>
              <a:rPr lang="hu" sz="1800" b="1" dirty="0">
                <a:solidFill>
                  <a:schemeClr val="dk2"/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 Semilight" panose="020B0402040204020203" pitchFamily="34" charset="0"/>
                <a:sym typeface="Source Sans Pro"/>
              </a:rPr>
              <a:t>C </a:t>
            </a:r>
            <a:r>
              <a:rPr lang="hu" sz="1800" dirty="0">
                <a:solidFill>
                  <a:schemeClr val="dk2"/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 Semilight" panose="020B0402040204020203" pitchFamily="34" charset="0"/>
                <a:sym typeface="Source Sans Pro"/>
              </a:rPr>
              <a:t>(</a:t>
            </a:r>
            <a:r>
              <a:rPr lang="hu" sz="1800" i="1" dirty="0">
                <a:solidFill>
                  <a:schemeClr val="dk2"/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 Semilight" panose="020B0402040204020203" pitchFamily="34" charset="0"/>
                <a:sym typeface="Source Sans Pro"/>
              </a:rPr>
              <a:t>Coupons</a:t>
            </a:r>
            <a:r>
              <a:rPr lang="hu" sz="1800" dirty="0">
                <a:solidFill>
                  <a:schemeClr val="dk2"/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 Semilight" panose="020B0402040204020203" pitchFamily="34" charset="0"/>
                <a:sym typeface="Source Sans Pro"/>
              </a:rPr>
              <a:t>)</a:t>
            </a:r>
          </a:p>
          <a:p>
            <a:pPr marL="457167" indent="-228584">
              <a:spcBef>
                <a:spcPts val="400"/>
              </a:spcBef>
              <a:buClr>
                <a:srgbClr val="CCCCCC"/>
              </a:buClr>
              <a:buChar char="●"/>
            </a:pPr>
            <a:r>
              <a:rPr lang="hu" sz="1800" b="1" i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 Semilight" panose="020B0402040204020203" pitchFamily="34" charset="0"/>
                <a:sym typeface="Source Sans Pro"/>
              </a:rPr>
              <a:t>Kuponráta (névleges kamatláb): </a:t>
            </a:r>
            <a:r>
              <a:rPr lang="hu" sz="1800" i="1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 Semilight" panose="020B0402040204020203" pitchFamily="34" charset="0"/>
                <a:sym typeface="Source Sans Pro"/>
              </a:rPr>
              <a:t>az éves kamat osztva a kötvény névértékével</a:t>
            </a:r>
            <a:r>
              <a:rPr lang="hu" sz="1800" dirty="0">
                <a:solidFill>
                  <a:schemeClr val="dk2"/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 Semilight" panose="020B0402040204020203" pitchFamily="34" charset="0"/>
                <a:sym typeface="Source Sans Pro"/>
              </a:rPr>
              <a:t>.</a:t>
            </a:r>
          </a:p>
          <a:p>
            <a:pPr marL="457167" indent="-228584">
              <a:spcBef>
                <a:spcPts val="400"/>
              </a:spcBef>
              <a:buClr>
                <a:srgbClr val="CCCCCC"/>
              </a:buClr>
              <a:buChar char="●"/>
            </a:pPr>
            <a:r>
              <a:rPr lang="hu" sz="1800" b="1" i="1" dirty="0">
                <a:solidFill>
                  <a:schemeClr val="accent1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 Semilight" panose="020B0402040204020203" pitchFamily="34" charset="0"/>
                <a:sym typeface="Source Sans Pro"/>
              </a:rPr>
              <a:t>Névérték: </a:t>
            </a:r>
            <a:r>
              <a:rPr lang="hu" sz="1800" dirty="0">
                <a:solidFill>
                  <a:schemeClr val="dk2"/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 Semilight" panose="020B0402040204020203" pitchFamily="34" charset="0"/>
                <a:sym typeface="Source Sans Pro"/>
              </a:rPr>
              <a:t>A kötvény tőkeösszege, amelyet a futamidő végén (vagy egy előre meghatározott struktúrában) visszafizetnek. Jele: </a:t>
            </a:r>
            <a:r>
              <a:rPr lang="hu" sz="1800" b="1" dirty="0">
                <a:solidFill>
                  <a:schemeClr val="dk2"/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 Semilight" panose="020B0402040204020203" pitchFamily="34" charset="0"/>
                <a:sym typeface="Source Sans Pro"/>
              </a:rPr>
              <a:t>P</a:t>
            </a:r>
            <a:r>
              <a:rPr lang="hu" sz="1800" b="1" baseline="-25000" dirty="0">
                <a:solidFill>
                  <a:schemeClr val="dk2"/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 Semilight" panose="020B0402040204020203" pitchFamily="34" charset="0"/>
                <a:sym typeface="Source Sans Pro"/>
              </a:rPr>
              <a:t>n</a:t>
            </a:r>
            <a:r>
              <a:rPr lang="hu" sz="1800" dirty="0">
                <a:solidFill>
                  <a:schemeClr val="dk2"/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 Semilight" panose="020B0402040204020203" pitchFamily="34" charset="0"/>
                <a:sym typeface="Source Sans Pro"/>
              </a:rPr>
              <a:t> vagy </a:t>
            </a:r>
            <a:r>
              <a:rPr lang="hu" sz="1800" b="1" dirty="0">
                <a:solidFill>
                  <a:schemeClr val="dk2"/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 Semilight" panose="020B0402040204020203" pitchFamily="34" charset="0"/>
                <a:sym typeface="Source Sans Pro"/>
              </a:rPr>
              <a:t>F</a:t>
            </a:r>
            <a:r>
              <a:rPr lang="hu" sz="1800" dirty="0">
                <a:solidFill>
                  <a:schemeClr val="dk2"/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 Semilight" panose="020B0402040204020203" pitchFamily="34" charset="0"/>
                <a:sym typeface="Source Sans Pro"/>
              </a:rPr>
              <a:t> (</a:t>
            </a:r>
            <a:r>
              <a:rPr lang="hu" sz="1800" i="1" dirty="0">
                <a:solidFill>
                  <a:schemeClr val="dk2"/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 Semilight" panose="020B0402040204020203" pitchFamily="34" charset="0"/>
                <a:sym typeface="Source Sans Pro"/>
              </a:rPr>
              <a:t>Face value</a:t>
            </a:r>
            <a:r>
              <a:rPr lang="hu" sz="1800" dirty="0">
                <a:solidFill>
                  <a:schemeClr val="dk2"/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 Semilight" panose="020B0402040204020203" pitchFamily="34" charset="0"/>
                <a:sym typeface="Source Sans Pro"/>
              </a:rPr>
              <a:t>)</a:t>
            </a:r>
          </a:p>
          <a:p>
            <a:pPr marL="457167" indent="-228584">
              <a:spcBef>
                <a:spcPts val="400"/>
              </a:spcBef>
              <a:buClr>
                <a:srgbClr val="CCCCCC"/>
              </a:buClr>
              <a:buChar char="●"/>
            </a:pPr>
            <a:r>
              <a:rPr lang="hu" sz="1800" b="1" i="1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 Semilight" panose="020B0402040204020203" pitchFamily="34" charset="0"/>
                <a:sym typeface="Source Sans Pro"/>
              </a:rPr>
              <a:t>Lejárat: </a:t>
            </a:r>
            <a:r>
              <a:rPr lang="hu" sz="1800" dirty="0">
                <a:solidFill>
                  <a:schemeClr val="dk2"/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 Semilight" panose="020B0402040204020203" pitchFamily="34" charset="0"/>
                <a:sym typeface="Source Sans Pro"/>
              </a:rPr>
              <a:t>Meghatározott időpont amikor vagy amely időpontig a kötvény tőkeösszegét (névértékét) visszafizetik. Jele: </a:t>
            </a:r>
            <a:r>
              <a:rPr lang="hu" sz="1800" b="1" dirty="0">
                <a:solidFill>
                  <a:schemeClr val="dk2"/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 Semilight" panose="020B0402040204020203" pitchFamily="34" charset="0"/>
                <a:sym typeface="Source Sans Pro"/>
              </a:rPr>
              <a:t>t</a:t>
            </a:r>
            <a:r>
              <a:rPr lang="hu" sz="1800" dirty="0">
                <a:solidFill>
                  <a:schemeClr val="dk2"/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 Semilight" panose="020B0402040204020203" pitchFamily="34" charset="0"/>
                <a:sym typeface="Source Sans Pro"/>
              </a:rPr>
              <a:t> </a:t>
            </a:r>
          </a:p>
          <a:p>
            <a:pPr marL="457167" indent="-228584">
              <a:spcBef>
                <a:spcPts val="400"/>
              </a:spcBef>
              <a:buClr>
                <a:srgbClr val="CCCCCC"/>
              </a:buClr>
              <a:buChar char="●"/>
            </a:pPr>
            <a:endParaRPr lang="hu" sz="1800" dirty="0">
              <a:solidFill>
                <a:schemeClr val="dk2"/>
              </a:solidFill>
              <a:latin typeface="Segoe UI Semilight" panose="020B0402040204020203" pitchFamily="34" charset="0"/>
              <a:ea typeface="Source Sans Pro"/>
              <a:cs typeface="Segoe UI Semilight" panose="020B0402040204020203" pitchFamily="34" charset="0"/>
              <a:sym typeface="Source Sans Pro"/>
            </a:endParaRPr>
          </a:p>
        </p:txBody>
      </p:sp>
      <p:sp>
        <p:nvSpPr>
          <p:cNvPr id="7" name="Téglalap 6">
            <a:extLst>
              <a:ext uri="{FF2B5EF4-FFF2-40B4-BE49-F238E27FC236}">
                <a16:creationId xmlns:a16="http://schemas.microsoft.com/office/drawing/2014/main" id="{49FDF6BC-A679-4520-B34D-F3034A039D67}"/>
              </a:ext>
            </a:extLst>
          </p:cNvPr>
          <p:cNvSpPr/>
          <p:nvPr/>
        </p:nvSpPr>
        <p:spPr>
          <a:xfrm flipV="1">
            <a:off x="287855" y="562666"/>
            <a:ext cx="98192" cy="33742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>
              <a:highlight>
                <a:srgbClr val="757575"/>
              </a:highlight>
            </a:endParaRPr>
          </a:p>
        </p:txBody>
      </p:sp>
      <p:sp>
        <p:nvSpPr>
          <p:cNvPr id="2" name="Cím 1"/>
          <p:cNvSpPr>
            <a:spLocks noGrp="1"/>
          </p:cNvSpPr>
          <p:nvPr>
            <p:ph type="title" idx="4294967295"/>
          </p:nvPr>
        </p:nvSpPr>
        <p:spPr>
          <a:xfrm>
            <a:off x="386047" y="444500"/>
            <a:ext cx="8521700" cy="573088"/>
          </a:xfrm>
        </p:spPr>
        <p:txBody>
          <a:bodyPr/>
          <a:lstStyle/>
          <a:p>
            <a:r>
              <a:rPr lang="hu-HU" dirty="0"/>
              <a:t>ELMÉLETI ÁTTEKINTÉS</a:t>
            </a:r>
            <a:br>
              <a:rPr lang="hu-HU" dirty="0"/>
            </a:br>
            <a:r>
              <a:rPr lang="hu-HU" dirty="0">
                <a:solidFill>
                  <a:schemeClr val="bg2">
                    <a:lumMod val="40000"/>
                    <a:lumOff val="60000"/>
                  </a:schemeClr>
                </a:solidFill>
              </a:rPr>
              <a:t>Alapfogalmak</a:t>
            </a: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516A7D25-4D94-3827-6D94-E93EAFDD5C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3185" y="0"/>
            <a:ext cx="2360815" cy="1320192"/>
          </a:xfrm>
          <a:prstGeom prst="rect">
            <a:avLst/>
          </a:prstGeom>
          <a:effectLst>
            <a:softEdge rad="25400"/>
          </a:effectLst>
        </p:spPr>
      </p:pic>
    </p:spTree>
  </p:cSld>
  <p:clrMapOvr>
    <a:masterClrMapping/>
  </p:clrMapOvr>
  <p:transition spd="slow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8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8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>
          <a:extLst>
            <a:ext uri="{FF2B5EF4-FFF2-40B4-BE49-F238E27FC236}">
              <a16:creationId xmlns:a16="http://schemas.microsoft.com/office/drawing/2014/main" id="{7F8D2D21-1BB8-F339-BD87-D6823376FB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Shape 182">
            <a:extLst>
              <a:ext uri="{FF2B5EF4-FFF2-40B4-BE49-F238E27FC236}">
                <a16:creationId xmlns:a16="http://schemas.microsoft.com/office/drawing/2014/main" id="{03D1D4D2-193C-7F3C-1817-11D711DFBD32}"/>
              </a:ext>
            </a:extLst>
          </p:cNvPr>
          <p:cNvSpPr txBox="1"/>
          <p:nvPr/>
        </p:nvSpPr>
        <p:spPr>
          <a:xfrm>
            <a:off x="62631" y="1135754"/>
            <a:ext cx="8394000" cy="2238351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228583">
              <a:spcBef>
                <a:spcPts val="400"/>
              </a:spcBef>
              <a:buClr>
                <a:srgbClr val="CCCCCC"/>
              </a:buClr>
            </a:pPr>
            <a:r>
              <a:rPr lang="hu" sz="1800" dirty="0">
                <a:solidFill>
                  <a:schemeClr val="dk2"/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 Semilight" panose="020B0402040204020203" pitchFamily="34" charset="0"/>
                <a:sym typeface="Source Sans Pro"/>
              </a:rPr>
              <a:t>Mai szemináriumon két kötvénytípust különböztetünk meg és értékeljük azokat!</a:t>
            </a:r>
          </a:p>
          <a:p>
            <a:pPr marL="228583">
              <a:spcBef>
                <a:spcPts val="400"/>
              </a:spcBef>
              <a:buClr>
                <a:srgbClr val="CCCCCC"/>
              </a:buClr>
            </a:pPr>
            <a:endParaRPr lang="hu" sz="1800" dirty="0">
              <a:solidFill>
                <a:schemeClr val="dk2"/>
              </a:solidFill>
              <a:latin typeface="Cambria" panose="02040503050406030204" pitchFamily="18" charset="0"/>
              <a:ea typeface="Cambria" panose="02040503050406030204" pitchFamily="18" charset="0"/>
              <a:cs typeface="Segoe UI Semilight" panose="020B0402040204020203" pitchFamily="34" charset="0"/>
              <a:sym typeface="Source Sans Pro"/>
            </a:endParaRPr>
          </a:p>
          <a:p>
            <a:pPr marL="228583" algn="just">
              <a:spcBef>
                <a:spcPts val="400"/>
              </a:spcBef>
              <a:buClr>
                <a:srgbClr val="CCCCCC"/>
              </a:buClr>
            </a:pPr>
            <a:r>
              <a:rPr lang="hu" sz="1800" b="1" i="1" dirty="0">
                <a:solidFill>
                  <a:schemeClr val="accent4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 Semilight" panose="020B0402040204020203" pitchFamily="34" charset="0"/>
                <a:sym typeface="Source Sans Pro"/>
              </a:rPr>
              <a:t>1. Kamatozó kötvény</a:t>
            </a:r>
            <a:r>
              <a:rPr lang="hu" sz="1800" i="1" dirty="0">
                <a:solidFill>
                  <a:schemeClr val="accent4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 Semilight" panose="020B0402040204020203" pitchFamily="34" charset="0"/>
                <a:sym typeface="Source Sans Pro"/>
              </a:rPr>
              <a:t>: </a:t>
            </a:r>
            <a:r>
              <a:rPr lang="hu" sz="1800" dirty="0">
                <a:solidFill>
                  <a:schemeClr val="dk2"/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 Semilight" panose="020B0402040204020203" pitchFamily="34" charset="0"/>
                <a:sym typeface="Source Sans Pro"/>
              </a:rPr>
              <a:t>Rendszeres időközönként kamatot fizető kötvény, amely a tőkeösszeget lejáratkor (végtörlesztéses) vagy egy előre megatározott struktúrában fizeti vissza.</a:t>
            </a:r>
          </a:p>
          <a:p>
            <a:pPr marL="571483" indent="-342900">
              <a:spcBef>
                <a:spcPts val="400"/>
              </a:spcBef>
              <a:buClr>
                <a:srgbClr val="CCCCCC"/>
              </a:buClr>
              <a:buFont typeface="+mj-lt"/>
              <a:buAutoNum type="arabicPeriod"/>
            </a:pPr>
            <a:endParaRPr lang="hu" sz="1800" dirty="0">
              <a:solidFill>
                <a:schemeClr val="dk2"/>
              </a:solidFill>
              <a:latin typeface="Cambria" panose="02040503050406030204" pitchFamily="18" charset="0"/>
              <a:ea typeface="Cambria" panose="02040503050406030204" pitchFamily="18" charset="0"/>
              <a:cs typeface="Segoe UI Semilight" panose="020B0402040204020203" pitchFamily="34" charset="0"/>
              <a:sym typeface="Source Sans Pro"/>
            </a:endParaRPr>
          </a:p>
          <a:p>
            <a:pPr marL="228583" algn="just">
              <a:spcBef>
                <a:spcPts val="400"/>
              </a:spcBef>
              <a:buClr>
                <a:srgbClr val="CCCCCC"/>
              </a:buClr>
            </a:pPr>
            <a:r>
              <a:rPr lang="hu" sz="1800" b="1" i="1" dirty="0">
                <a:solidFill>
                  <a:schemeClr val="accent5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 Semilight" panose="020B0402040204020203" pitchFamily="34" charset="0"/>
                <a:sym typeface="Source Sans Pro"/>
              </a:rPr>
              <a:t>2. Kamatszelvény nélküli kötvény (elemi vagy zéró-kupon kötvény)</a:t>
            </a:r>
            <a:r>
              <a:rPr lang="hu" sz="1800" i="1" dirty="0">
                <a:solidFill>
                  <a:schemeClr val="accent5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 Semilight" panose="020B0402040204020203" pitchFamily="34" charset="0"/>
                <a:sym typeface="Source Sans Pro"/>
              </a:rPr>
              <a:t>: </a:t>
            </a:r>
            <a:r>
              <a:rPr lang="hu" sz="1800" dirty="0">
                <a:solidFill>
                  <a:schemeClr val="dk2"/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 Semilight" panose="020B0402040204020203" pitchFamily="34" charset="0"/>
                <a:sym typeface="Source Sans Pro"/>
              </a:rPr>
              <a:t>Olyan kötvény, amely </a:t>
            </a:r>
            <a:r>
              <a:rPr lang="hu" sz="1800" b="1" i="1" dirty="0">
                <a:solidFill>
                  <a:schemeClr val="accent5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 Semilight" panose="020B0402040204020203" pitchFamily="34" charset="0"/>
                <a:sym typeface="Source Sans Pro"/>
              </a:rPr>
              <a:t>nem fizet kamatot, ezért névérték alatt bocsátják ki</a:t>
            </a:r>
            <a:r>
              <a:rPr lang="hu" sz="1800" dirty="0">
                <a:solidFill>
                  <a:schemeClr val="dk2"/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 Semilight" panose="020B0402040204020203" pitchFamily="34" charset="0"/>
                <a:sym typeface="Source Sans Pro"/>
              </a:rPr>
              <a:t>. </a:t>
            </a:r>
            <a:r>
              <a:rPr lang="hu-HU" sz="1800" dirty="0">
                <a:solidFill>
                  <a:schemeClr val="dk2"/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 Semilight" panose="020B0402040204020203" pitchFamily="34" charset="0"/>
                <a:sym typeface="Source Sans Pro"/>
              </a:rPr>
              <a:t>Az elemi kötvény csak egyetlen egy pénzáramlást biztosít, a kötvény lejáratakor a névérték kerül megfizetésre. A kötvény futamideje alatt nincs semmilyen kamatfizetés. </a:t>
            </a:r>
            <a:endParaRPr lang="hu" sz="1800" dirty="0">
              <a:solidFill>
                <a:schemeClr val="dk2"/>
              </a:solidFill>
              <a:latin typeface="Cambria" panose="02040503050406030204" pitchFamily="18" charset="0"/>
              <a:ea typeface="Cambria" panose="02040503050406030204" pitchFamily="18" charset="0"/>
              <a:cs typeface="Segoe UI Semilight" panose="020B0402040204020203" pitchFamily="34" charset="0"/>
              <a:sym typeface="Source Sans Pro"/>
            </a:endParaRPr>
          </a:p>
          <a:p>
            <a:pPr marL="228583">
              <a:spcBef>
                <a:spcPts val="400"/>
              </a:spcBef>
              <a:buClr>
                <a:srgbClr val="CCCCCC"/>
              </a:buClr>
            </a:pPr>
            <a:endParaRPr lang="hu" sz="1800" dirty="0">
              <a:solidFill>
                <a:schemeClr val="dk2"/>
              </a:solidFill>
              <a:latin typeface="Segoe UI Semilight" panose="020B0402040204020203" pitchFamily="34" charset="0"/>
              <a:ea typeface="Source Sans Pro"/>
              <a:cs typeface="Segoe UI Semilight" panose="020B0402040204020203" pitchFamily="34" charset="0"/>
              <a:sym typeface="Source Sans Pro"/>
            </a:endParaRPr>
          </a:p>
          <a:p>
            <a:pPr marL="228583">
              <a:spcBef>
                <a:spcPts val="400"/>
              </a:spcBef>
              <a:buClr>
                <a:srgbClr val="CCCCCC"/>
              </a:buClr>
            </a:pPr>
            <a:endParaRPr lang="hu" sz="1800" dirty="0">
              <a:solidFill>
                <a:schemeClr val="dk2"/>
              </a:solidFill>
              <a:latin typeface="Segoe UI Semilight" panose="020B0402040204020203" pitchFamily="34" charset="0"/>
              <a:ea typeface="Source Sans Pro"/>
              <a:cs typeface="Segoe UI Semilight" panose="020B0402040204020203" pitchFamily="34" charset="0"/>
              <a:sym typeface="Source Sans Pro"/>
            </a:endParaRPr>
          </a:p>
          <a:p>
            <a:pPr marL="457167" indent="-228584">
              <a:spcBef>
                <a:spcPts val="400"/>
              </a:spcBef>
              <a:buClr>
                <a:srgbClr val="CCCCCC"/>
              </a:buClr>
              <a:buChar char="●"/>
            </a:pPr>
            <a:endParaRPr lang="hu" sz="1800" dirty="0">
              <a:solidFill>
                <a:schemeClr val="dk2"/>
              </a:solidFill>
              <a:latin typeface="Segoe UI Semilight" panose="020B0402040204020203" pitchFamily="34" charset="0"/>
              <a:ea typeface="Source Sans Pro"/>
              <a:cs typeface="Segoe UI Semilight" panose="020B0402040204020203" pitchFamily="34" charset="0"/>
              <a:sym typeface="Source Sans Pro"/>
            </a:endParaRPr>
          </a:p>
        </p:txBody>
      </p:sp>
      <p:sp>
        <p:nvSpPr>
          <p:cNvPr id="7" name="Téglalap 6">
            <a:extLst>
              <a:ext uri="{FF2B5EF4-FFF2-40B4-BE49-F238E27FC236}">
                <a16:creationId xmlns:a16="http://schemas.microsoft.com/office/drawing/2014/main" id="{F8D7AA40-04F2-F534-95FF-8148F5168FEB}"/>
              </a:ext>
            </a:extLst>
          </p:cNvPr>
          <p:cNvSpPr/>
          <p:nvPr/>
        </p:nvSpPr>
        <p:spPr>
          <a:xfrm flipV="1">
            <a:off x="287855" y="562666"/>
            <a:ext cx="98192" cy="33742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>
              <a:highlight>
                <a:srgbClr val="757575"/>
              </a:highlight>
            </a:endParaRPr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CC1C3195-9004-66EE-91D8-34576BDEB33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86047" y="444500"/>
            <a:ext cx="8521700" cy="573088"/>
          </a:xfrm>
        </p:spPr>
        <p:txBody>
          <a:bodyPr/>
          <a:lstStyle/>
          <a:p>
            <a:r>
              <a:rPr lang="hu-HU" dirty="0"/>
              <a:t>KÖTVÉNYEK TÍPUSAI</a:t>
            </a:r>
            <a:br>
              <a:rPr lang="hu-HU" dirty="0"/>
            </a:br>
            <a:endParaRPr lang="hu-HU" dirty="0">
              <a:solidFill>
                <a:schemeClr val="bg2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2751689"/>
      </p:ext>
    </p:extLst>
  </p:cSld>
  <p:clrMapOvr>
    <a:masterClrMapping/>
  </p:clrMapOvr>
  <p:transition spd="slow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>
          <a:extLst>
            <a:ext uri="{FF2B5EF4-FFF2-40B4-BE49-F238E27FC236}">
              <a16:creationId xmlns:a16="http://schemas.microsoft.com/office/drawing/2014/main" id="{41A2E7C4-1F8A-BC1B-54BE-A661E252CB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Shape 182">
            <a:extLst>
              <a:ext uri="{FF2B5EF4-FFF2-40B4-BE49-F238E27FC236}">
                <a16:creationId xmlns:a16="http://schemas.microsoft.com/office/drawing/2014/main" id="{C792A3FC-A868-51F2-6BEF-4290664D3C66}"/>
              </a:ext>
            </a:extLst>
          </p:cNvPr>
          <p:cNvSpPr txBox="1"/>
          <p:nvPr/>
        </p:nvSpPr>
        <p:spPr>
          <a:xfrm>
            <a:off x="1078718" y="1208625"/>
            <a:ext cx="2638517" cy="967365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228583">
              <a:spcBef>
                <a:spcPts val="400"/>
              </a:spcBef>
              <a:buClr>
                <a:srgbClr val="CCCCCC"/>
              </a:buClr>
            </a:pPr>
            <a:endParaRPr lang="hu" sz="1800" dirty="0">
              <a:solidFill>
                <a:schemeClr val="dk2"/>
              </a:solidFill>
              <a:latin typeface="Segoe UI Semilight" panose="020B0402040204020203" pitchFamily="34" charset="0"/>
              <a:ea typeface="Source Sans Pro"/>
              <a:cs typeface="Segoe UI Semilight" panose="020B0402040204020203" pitchFamily="34" charset="0"/>
              <a:sym typeface="Source Sans Pro"/>
            </a:endParaRPr>
          </a:p>
          <a:p>
            <a:pPr marL="228583">
              <a:spcBef>
                <a:spcPts val="400"/>
              </a:spcBef>
              <a:buClr>
                <a:srgbClr val="CCCCCC"/>
              </a:buClr>
            </a:pPr>
            <a:r>
              <a:rPr lang="hu" sz="1800" b="1" dirty="0">
                <a:solidFill>
                  <a:schemeClr val="dk2"/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 Semilight" panose="020B0402040204020203" pitchFamily="34" charset="0"/>
                <a:sym typeface="Source Sans Pro"/>
              </a:rPr>
              <a:t>Kamatozó kötvény (végtörlesztéses)</a:t>
            </a:r>
            <a:endParaRPr lang="hu" sz="1800" dirty="0">
              <a:solidFill>
                <a:schemeClr val="dk2"/>
              </a:solidFill>
              <a:latin typeface="Cambria" panose="02040503050406030204" pitchFamily="18" charset="0"/>
              <a:ea typeface="Cambria" panose="02040503050406030204" pitchFamily="18" charset="0"/>
              <a:cs typeface="Segoe UI Semilight" panose="020B0402040204020203" pitchFamily="34" charset="0"/>
              <a:sym typeface="Source Sans Pro"/>
            </a:endParaRPr>
          </a:p>
          <a:p>
            <a:pPr marL="228583">
              <a:spcBef>
                <a:spcPts val="400"/>
              </a:spcBef>
              <a:buClr>
                <a:srgbClr val="CCCCCC"/>
              </a:buClr>
            </a:pPr>
            <a:endParaRPr lang="hu" sz="1800" dirty="0">
              <a:solidFill>
                <a:schemeClr val="dk2"/>
              </a:solidFill>
              <a:latin typeface="Segoe UI Semilight" panose="020B0402040204020203" pitchFamily="34" charset="0"/>
              <a:ea typeface="Source Sans Pro"/>
              <a:cs typeface="Segoe UI Semilight" panose="020B0402040204020203" pitchFamily="34" charset="0"/>
              <a:sym typeface="Source Sans Pro"/>
            </a:endParaRPr>
          </a:p>
          <a:p>
            <a:pPr marL="457167" indent="-228584">
              <a:spcBef>
                <a:spcPts val="400"/>
              </a:spcBef>
              <a:buClr>
                <a:srgbClr val="CCCCCC"/>
              </a:buClr>
              <a:buChar char="●"/>
            </a:pPr>
            <a:endParaRPr lang="hu" sz="1800" dirty="0">
              <a:solidFill>
                <a:schemeClr val="dk2"/>
              </a:solidFill>
              <a:latin typeface="Segoe UI Semilight" panose="020B0402040204020203" pitchFamily="34" charset="0"/>
              <a:ea typeface="Source Sans Pro"/>
              <a:cs typeface="Segoe UI Semilight" panose="020B0402040204020203" pitchFamily="34" charset="0"/>
              <a:sym typeface="Source Sans Pro"/>
            </a:endParaRPr>
          </a:p>
        </p:txBody>
      </p:sp>
      <p:sp>
        <p:nvSpPr>
          <p:cNvPr id="7" name="Téglalap 6">
            <a:extLst>
              <a:ext uri="{FF2B5EF4-FFF2-40B4-BE49-F238E27FC236}">
                <a16:creationId xmlns:a16="http://schemas.microsoft.com/office/drawing/2014/main" id="{4F82EBE9-151A-E5F2-F169-DC9B0A0EAAE3}"/>
              </a:ext>
            </a:extLst>
          </p:cNvPr>
          <p:cNvSpPr/>
          <p:nvPr/>
        </p:nvSpPr>
        <p:spPr>
          <a:xfrm flipV="1">
            <a:off x="287855" y="562666"/>
            <a:ext cx="98192" cy="33742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>
              <a:highlight>
                <a:srgbClr val="757575"/>
              </a:highlight>
            </a:endParaRPr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526D4F12-9DD1-282B-03BB-3B571B56059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86047" y="444500"/>
            <a:ext cx="8521700" cy="573088"/>
          </a:xfrm>
        </p:spPr>
        <p:txBody>
          <a:bodyPr/>
          <a:lstStyle/>
          <a:p>
            <a:r>
              <a:rPr lang="hu-HU" dirty="0"/>
              <a:t>KÖTVÉNYEK ÉRTÉKELÉSE</a:t>
            </a:r>
            <a:br>
              <a:rPr lang="hu-HU" dirty="0"/>
            </a:br>
            <a:endParaRPr lang="hu-HU" dirty="0">
              <a:solidFill>
                <a:schemeClr val="bg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" name="Shape 182">
            <a:extLst>
              <a:ext uri="{FF2B5EF4-FFF2-40B4-BE49-F238E27FC236}">
                <a16:creationId xmlns:a16="http://schemas.microsoft.com/office/drawing/2014/main" id="{22AB5895-D939-0324-D350-7B5BD05644BA}"/>
              </a:ext>
            </a:extLst>
          </p:cNvPr>
          <p:cNvSpPr txBox="1"/>
          <p:nvPr/>
        </p:nvSpPr>
        <p:spPr>
          <a:xfrm>
            <a:off x="5129246" y="1307171"/>
            <a:ext cx="3881198" cy="967365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228583">
              <a:spcBef>
                <a:spcPts val="400"/>
              </a:spcBef>
              <a:buClr>
                <a:srgbClr val="CCCCCC"/>
              </a:buClr>
            </a:pPr>
            <a:endParaRPr lang="hu" sz="1800" dirty="0">
              <a:solidFill>
                <a:schemeClr val="dk2"/>
              </a:solidFill>
              <a:latin typeface="Segoe UI Semilight" panose="020B0402040204020203" pitchFamily="34" charset="0"/>
              <a:ea typeface="Source Sans Pro"/>
              <a:cs typeface="Segoe UI Semilight" panose="020B0402040204020203" pitchFamily="34" charset="0"/>
              <a:sym typeface="Source Sans Pro"/>
            </a:endParaRPr>
          </a:p>
          <a:p>
            <a:pPr marL="228583">
              <a:spcBef>
                <a:spcPts val="400"/>
              </a:spcBef>
              <a:buClr>
                <a:srgbClr val="CCCCCC"/>
              </a:buClr>
            </a:pPr>
            <a:r>
              <a:rPr lang="hu" sz="1800" b="1" dirty="0">
                <a:solidFill>
                  <a:schemeClr val="dk2"/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 Semilight" panose="020B0402040204020203" pitchFamily="34" charset="0"/>
                <a:sym typeface="Source Sans Pro"/>
              </a:rPr>
              <a:t>Kamatszelvény nélküli kötvény</a:t>
            </a:r>
            <a:endParaRPr lang="hu" sz="1800" dirty="0">
              <a:solidFill>
                <a:schemeClr val="dk2"/>
              </a:solidFill>
              <a:latin typeface="Cambria" panose="02040503050406030204" pitchFamily="18" charset="0"/>
              <a:ea typeface="Cambria" panose="02040503050406030204" pitchFamily="18" charset="0"/>
              <a:cs typeface="Segoe UI Semilight" panose="020B0402040204020203" pitchFamily="34" charset="0"/>
              <a:sym typeface="Source Sans Pro"/>
            </a:endParaRPr>
          </a:p>
          <a:p>
            <a:pPr marL="457167" indent="-228584">
              <a:spcBef>
                <a:spcPts val="400"/>
              </a:spcBef>
              <a:buClr>
                <a:srgbClr val="CCCCCC"/>
              </a:buClr>
              <a:buChar char="●"/>
            </a:pPr>
            <a:endParaRPr lang="hu" sz="1800" dirty="0">
              <a:solidFill>
                <a:schemeClr val="dk2"/>
              </a:solidFill>
              <a:latin typeface="Segoe UI Semilight" panose="020B0402040204020203" pitchFamily="34" charset="0"/>
              <a:ea typeface="Source Sans Pro"/>
              <a:cs typeface="Segoe UI Semilight" panose="020B0402040204020203" pitchFamily="34" charset="0"/>
              <a:sym typeface="Source Sans Pro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Szövegdoboz 3">
                <a:extLst>
                  <a:ext uri="{FF2B5EF4-FFF2-40B4-BE49-F238E27FC236}">
                    <a16:creationId xmlns:a16="http://schemas.microsoft.com/office/drawing/2014/main" id="{E1BF8BDB-B5A4-BA9F-04BC-D128F94CCF7D}"/>
                  </a:ext>
                </a:extLst>
              </p:cNvPr>
              <p:cNvSpPr txBox="1"/>
              <p:nvPr/>
            </p:nvSpPr>
            <p:spPr>
              <a:xfrm>
                <a:off x="191192" y="2484523"/>
                <a:ext cx="4089863" cy="571760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34925">
                <a:solidFill>
                  <a:srgbClr val="C0000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hu-HU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hu-HU" sz="1400" b="1" i="0">
                              <a:latin typeface="Cambria Math" panose="02040503050406030204" pitchFamily="18" charset="0"/>
                            </a:rPr>
                            <m:t>𝐏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hu-HU" sz="1400" b="0" i="0" smtClean="0">
                              <a:latin typeface="Cambria Math" panose="02040503050406030204" pitchFamily="18" charset="0"/>
                            </a:rPr>
                            <m:t>kamatoz</m:t>
                          </m:r>
                          <m:r>
                            <a:rPr lang="hu-HU" sz="1400" b="0" i="0" smtClean="0">
                              <a:latin typeface="Cambria Math" panose="02040503050406030204" pitchFamily="18" charset="0"/>
                            </a:rPr>
                            <m:t>ó </m:t>
                          </m:r>
                          <m:r>
                            <m:rPr>
                              <m:sty m:val="p"/>
                            </m:rPr>
                            <a:rPr lang="hu-HU" sz="1400" b="0" i="0" smtClean="0">
                              <a:latin typeface="Cambria Math" panose="02040503050406030204" pitchFamily="18" charset="0"/>
                            </a:rPr>
                            <m:t>k</m:t>
                          </m:r>
                          <m:r>
                            <a:rPr lang="hu-HU" sz="1400" b="0" i="0" smtClean="0">
                              <a:latin typeface="Cambria Math" panose="02040503050406030204" pitchFamily="18" charset="0"/>
                            </a:rPr>
                            <m:t>ö</m:t>
                          </m:r>
                          <m:r>
                            <m:rPr>
                              <m:sty m:val="p"/>
                            </m:rPr>
                            <a:rPr lang="hu-HU" sz="1400" b="0" i="0" smtClean="0">
                              <a:latin typeface="Cambria Math" panose="02040503050406030204" pitchFamily="18" charset="0"/>
                            </a:rPr>
                            <m:t>tv</m:t>
                          </m:r>
                          <m:r>
                            <a:rPr lang="hu-HU" sz="1400" b="0" i="0" smtClean="0">
                              <a:latin typeface="Cambria Math" panose="02040503050406030204" pitchFamily="18" charset="0"/>
                            </a:rPr>
                            <m:t>é</m:t>
                          </m:r>
                          <m:r>
                            <m:rPr>
                              <m:sty m:val="p"/>
                            </m:rPr>
                            <a:rPr lang="hu-HU" sz="1400" b="0" i="0" smtClean="0">
                              <a:latin typeface="Cambria Math" panose="02040503050406030204" pitchFamily="18" charset="0"/>
                            </a:rPr>
                            <m:t>ny</m:t>
                          </m:r>
                        </m:sub>
                      </m:sSub>
                      <m:r>
                        <a:rPr lang="hu-HU" sz="1400" b="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hu-HU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hu-HU" i="1" dirty="0">
                              <a:latin typeface="Cambria Math" panose="02040503050406030204" pitchFamily="18" charset="0"/>
                            </a:rPr>
                            <m:t>𝐶</m:t>
                          </m:r>
                        </m:num>
                        <m:den>
                          <m:r>
                            <a:rPr lang="hu-HU" i="1" dirty="0">
                              <a:latin typeface="Cambria Math" panose="02040503050406030204" pitchFamily="18" charset="0"/>
                            </a:rPr>
                            <m:t>𝑟</m:t>
                          </m:r>
                        </m:den>
                      </m:f>
                      <m:r>
                        <a:rPr lang="hu-HU" i="1">
                          <a:latin typeface="Cambria Math" panose="02040503050406030204" pitchFamily="18" charset="0"/>
                        </a:rPr>
                        <m:t>∙</m:t>
                      </m:r>
                      <m:d>
                        <m:dPr>
                          <m:begChr m:val="["/>
                          <m:endChr m:val="]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hu-HU" i="1">
                              <a:latin typeface="Cambria Math" panose="02040503050406030204" pitchFamily="18" charset="0"/>
                            </a:rPr>
                            <m:t>1−</m:t>
                          </m:r>
                          <m:f>
                            <m:f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hu-HU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hu-HU" i="1"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  <m:r>
                                        <a:rPr lang="hu-HU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hu-HU" i="1">
                                          <a:latin typeface="Cambria Math" panose="02040503050406030204" pitchFamily="18" charset="0"/>
                                        </a:rPr>
                                        <m:t>𝒓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hu-HU" i="1">
                                      <a:latin typeface="Cambria Math" panose="02040503050406030204" pitchFamily="18" charset="0"/>
                                    </a:rPr>
                                    <m:t>𝒕</m:t>
                                  </m:r>
                                </m:sup>
                              </m:sSup>
                            </m:den>
                          </m:f>
                        </m:e>
                      </m:d>
                      <m:r>
                        <a:rPr lang="hu-HU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hu-HU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hu-HU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P</m:t>
                          </m:r>
                          <m:r>
                            <m:rPr>
                              <m:sty m:val="p"/>
                            </m:rPr>
                            <a:rPr lang="hu-HU" sz="1400" b="0" i="1" baseline="-2500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n</m:t>
                          </m:r>
                        </m:num>
                        <m:den>
                          <m:sSup>
                            <m:sSupPr>
                              <m:ctrlPr>
                                <a:rPr lang="hu-HU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hu-HU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(1+</m:t>
                              </m:r>
                              <m:r>
                                <a:rPr lang="hu-HU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a:rPr lang="hu-HU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hu-HU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n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hu-HU" dirty="0"/>
              </a:p>
            </p:txBody>
          </p:sp>
        </mc:Choice>
        <mc:Fallback xmlns="">
          <p:sp>
            <p:nvSpPr>
              <p:cNvPr id="4" name="Szövegdoboz 3">
                <a:extLst>
                  <a:ext uri="{FF2B5EF4-FFF2-40B4-BE49-F238E27FC236}">
                    <a16:creationId xmlns:a16="http://schemas.microsoft.com/office/drawing/2014/main" id="{E1BF8BDB-B5A4-BA9F-04BC-D128F94CCF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192" y="2484523"/>
                <a:ext cx="4089863" cy="57176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34925"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Szövegdoboz 4">
                <a:extLst>
                  <a:ext uri="{FF2B5EF4-FFF2-40B4-BE49-F238E27FC236}">
                    <a16:creationId xmlns:a16="http://schemas.microsoft.com/office/drawing/2014/main" id="{27E1CB8F-C89A-6C5B-2BDB-37DFE603F874}"/>
                  </a:ext>
                </a:extLst>
              </p:cNvPr>
              <p:cNvSpPr txBox="1"/>
              <p:nvPr/>
            </p:nvSpPr>
            <p:spPr>
              <a:xfrm>
                <a:off x="4920581" y="2484523"/>
                <a:ext cx="4089863" cy="533864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34925">
                <a:solidFill>
                  <a:srgbClr val="C0000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hu-HU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hu-HU" sz="1400" b="1" i="0">
                              <a:latin typeface="Cambria Math" panose="02040503050406030204" pitchFamily="18" charset="0"/>
                            </a:rPr>
                            <m:t>𝐏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hu-HU" sz="1400" b="0" i="0" smtClean="0">
                              <a:latin typeface="Cambria Math" panose="02040503050406030204" pitchFamily="18" charset="0"/>
                            </a:rPr>
                            <m:t>elemi</m:t>
                          </m:r>
                          <m:r>
                            <a:rPr lang="hu-HU" sz="1400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hu-HU" sz="1400" b="0" i="0" smtClean="0">
                              <a:latin typeface="Cambria Math" panose="02040503050406030204" pitchFamily="18" charset="0"/>
                            </a:rPr>
                            <m:t>k</m:t>
                          </m:r>
                          <m:r>
                            <a:rPr lang="hu-HU" sz="1400" b="0" i="0" smtClean="0">
                              <a:latin typeface="Cambria Math" panose="02040503050406030204" pitchFamily="18" charset="0"/>
                            </a:rPr>
                            <m:t>ö</m:t>
                          </m:r>
                          <m:r>
                            <m:rPr>
                              <m:sty m:val="p"/>
                            </m:rPr>
                            <a:rPr lang="hu-HU" sz="1400" b="0" i="0" smtClean="0">
                              <a:latin typeface="Cambria Math" panose="02040503050406030204" pitchFamily="18" charset="0"/>
                            </a:rPr>
                            <m:t>tv</m:t>
                          </m:r>
                          <m:r>
                            <a:rPr lang="hu-HU" sz="1400" b="0" i="0" smtClean="0">
                              <a:latin typeface="Cambria Math" panose="02040503050406030204" pitchFamily="18" charset="0"/>
                            </a:rPr>
                            <m:t>é</m:t>
                          </m:r>
                          <m:r>
                            <m:rPr>
                              <m:sty m:val="p"/>
                            </m:rPr>
                            <a:rPr lang="hu-HU" sz="1400" b="0" i="0" smtClean="0">
                              <a:latin typeface="Cambria Math" panose="02040503050406030204" pitchFamily="18" charset="0"/>
                            </a:rPr>
                            <m:t>ny</m:t>
                          </m:r>
                        </m:sub>
                      </m:sSub>
                      <m:r>
                        <a:rPr lang="hu-HU" sz="1400" b="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hu-HU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hu-HU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P</m:t>
                          </m:r>
                          <m:r>
                            <m:rPr>
                              <m:sty m:val="p"/>
                            </m:rPr>
                            <a:rPr lang="hu-HU" i="1" baseline="-250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n</m:t>
                          </m:r>
                        </m:num>
                        <m:den>
                          <m:sSup>
                            <m:sSupPr>
                              <m:ctrlPr>
                                <a:rPr lang="hu-HU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hu-HU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(1+</m:t>
                              </m:r>
                              <m:r>
                                <a:rPr lang="hu-HU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a:rPr lang="hu-HU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hu-HU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hu-HU" dirty="0"/>
              </a:p>
            </p:txBody>
          </p:sp>
        </mc:Choice>
        <mc:Fallback xmlns="">
          <p:sp>
            <p:nvSpPr>
              <p:cNvPr id="5" name="Szövegdoboz 4">
                <a:extLst>
                  <a:ext uri="{FF2B5EF4-FFF2-40B4-BE49-F238E27FC236}">
                    <a16:creationId xmlns:a16="http://schemas.microsoft.com/office/drawing/2014/main" id="{27E1CB8F-C89A-6C5B-2BDB-37DFE603F8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0581" y="2484523"/>
                <a:ext cx="4089863" cy="533864"/>
              </a:xfrm>
              <a:prstGeom prst="rect">
                <a:avLst/>
              </a:prstGeom>
              <a:blipFill>
                <a:blip r:embed="rId4"/>
                <a:stretch>
                  <a:fillRect b="-2151"/>
                </a:stretch>
              </a:blipFill>
              <a:ln w="34925"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Bal oldali kapcsos zárójel 5">
            <a:extLst>
              <a:ext uri="{FF2B5EF4-FFF2-40B4-BE49-F238E27FC236}">
                <a16:creationId xmlns:a16="http://schemas.microsoft.com/office/drawing/2014/main" id="{4F405D6D-B5BE-6400-8A34-CC27C8A18E9E}"/>
              </a:ext>
            </a:extLst>
          </p:cNvPr>
          <p:cNvSpPr/>
          <p:nvPr/>
        </p:nvSpPr>
        <p:spPr>
          <a:xfrm rot="16200000">
            <a:off x="2369129" y="2853215"/>
            <a:ext cx="390698" cy="1188722"/>
          </a:xfrm>
          <a:prstGeom prst="leftBrace">
            <a:avLst/>
          </a:prstGeom>
          <a:ln w="22225">
            <a:solidFill>
              <a:srgbClr val="0070C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9" name="Shape 182">
            <a:extLst>
              <a:ext uri="{FF2B5EF4-FFF2-40B4-BE49-F238E27FC236}">
                <a16:creationId xmlns:a16="http://schemas.microsoft.com/office/drawing/2014/main" id="{8CADAF98-292A-C15C-CA6C-32E58417E567}"/>
              </a:ext>
            </a:extLst>
          </p:cNvPr>
          <p:cNvSpPr txBox="1"/>
          <p:nvPr/>
        </p:nvSpPr>
        <p:spPr>
          <a:xfrm>
            <a:off x="1762308" y="3354591"/>
            <a:ext cx="1604339" cy="967365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228583">
              <a:spcBef>
                <a:spcPts val="400"/>
              </a:spcBef>
              <a:buClr>
                <a:srgbClr val="CCCCCC"/>
              </a:buClr>
            </a:pPr>
            <a:endParaRPr lang="hu" sz="1800" dirty="0">
              <a:solidFill>
                <a:schemeClr val="dk2"/>
              </a:solidFill>
              <a:latin typeface="Segoe UI Semilight" panose="020B0402040204020203" pitchFamily="34" charset="0"/>
              <a:ea typeface="Source Sans Pro"/>
              <a:cs typeface="Segoe UI Semilight" panose="020B0402040204020203" pitchFamily="34" charset="0"/>
              <a:sym typeface="Source Sans Pro"/>
            </a:endParaRPr>
          </a:p>
          <a:p>
            <a:pPr marL="228583">
              <a:spcBef>
                <a:spcPts val="400"/>
              </a:spcBef>
              <a:buClr>
                <a:srgbClr val="CCCCCC"/>
              </a:buClr>
            </a:pPr>
            <a:r>
              <a:rPr lang="hu" dirty="0">
                <a:solidFill>
                  <a:schemeClr val="dk2"/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 Semilight" panose="020B0402040204020203" pitchFamily="34" charset="0"/>
                <a:sym typeface="Source Sans Pro"/>
              </a:rPr>
              <a:t>Kamatok jelenértéke</a:t>
            </a:r>
            <a:br>
              <a:rPr lang="hu" dirty="0">
                <a:solidFill>
                  <a:schemeClr val="dk2"/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 Semilight" panose="020B0402040204020203" pitchFamily="34" charset="0"/>
                <a:sym typeface="Source Sans Pro"/>
              </a:rPr>
            </a:br>
            <a:r>
              <a:rPr lang="hu" dirty="0">
                <a:solidFill>
                  <a:schemeClr val="dk2"/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 Semilight" panose="020B0402040204020203" pitchFamily="34" charset="0"/>
                <a:sym typeface="Source Sans Pro"/>
              </a:rPr>
              <a:t>= annuitás</a:t>
            </a:r>
          </a:p>
          <a:p>
            <a:pPr marL="228583">
              <a:spcBef>
                <a:spcPts val="400"/>
              </a:spcBef>
              <a:buClr>
                <a:srgbClr val="CCCCCC"/>
              </a:buClr>
            </a:pPr>
            <a:endParaRPr lang="hu" sz="1800" dirty="0">
              <a:solidFill>
                <a:schemeClr val="dk2"/>
              </a:solidFill>
              <a:latin typeface="Segoe UI Semilight" panose="020B0402040204020203" pitchFamily="34" charset="0"/>
              <a:ea typeface="Source Sans Pro"/>
              <a:cs typeface="Segoe UI Semilight" panose="020B0402040204020203" pitchFamily="34" charset="0"/>
              <a:sym typeface="Source Sans Pro"/>
            </a:endParaRPr>
          </a:p>
          <a:p>
            <a:pPr marL="457167" indent="-228584">
              <a:spcBef>
                <a:spcPts val="400"/>
              </a:spcBef>
              <a:buClr>
                <a:srgbClr val="CCCCCC"/>
              </a:buClr>
              <a:buChar char="●"/>
            </a:pPr>
            <a:endParaRPr lang="hu" sz="1800" dirty="0">
              <a:solidFill>
                <a:schemeClr val="dk2"/>
              </a:solidFill>
              <a:latin typeface="Segoe UI Semilight" panose="020B0402040204020203" pitchFamily="34" charset="0"/>
              <a:ea typeface="Source Sans Pro"/>
              <a:cs typeface="Segoe UI Semilight" panose="020B0402040204020203" pitchFamily="34" charset="0"/>
              <a:sym typeface="Source Sans Pro"/>
            </a:endParaRPr>
          </a:p>
        </p:txBody>
      </p:sp>
      <p:sp>
        <p:nvSpPr>
          <p:cNvPr id="10" name="Bal oldali kapcsos zárójel 9">
            <a:extLst>
              <a:ext uri="{FF2B5EF4-FFF2-40B4-BE49-F238E27FC236}">
                <a16:creationId xmlns:a16="http://schemas.microsoft.com/office/drawing/2014/main" id="{3D977F33-04F6-0EBF-DAC1-F07B4FCE6DB6}"/>
              </a:ext>
            </a:extLst>
          </p:cNvPr>
          <p:cNvSpPr/>
          <p:nvPr/>
        </p:nvSpPr>
        <p:spPr>
          <a:xfrm rot="16200000">
            <a:off x="3449227" y="3126981"/>
            <a:ext cx="390698" cy="641190"/>
          </a:xfrm>
          <a:prstGeom prst="leftBrace">
            <a:avLst/>
          </a:prstGeom>
          <a:ln w="22225">
            <a:solidFill>
              <a:srgbClr val="0070C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1" name="Shape 182">
            <a:extLst>
              <a:ext uri="{FF2B5EF4-FFF2-40B4-BE49-F238E27FC236}">
                <a16:creationId xmlns:a16="http://schemas.microsoft.com/office/drawing/2014/main" id="{1F804D91-76D9-8BFE-06E3-A2B0E91B7ADD}"/>
              </a:ext>
            </a:extLst>
          </p:cNvPr>
          <p:cNvSpPr txBox="1"/>
          <p:nvPr/>
        </p:nvSpPr>
        <p:spPr>
          <a:xfrm>
            <a:off x="2921651" y="3447575"/>
            <a:ext cx="1332832" cy="967365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228583">
              <a:spcBef>
                <a:spcPts val="400"/>
              </a:spcBef>
              <a:buClr>
                <a:srgbClr val="CCCCCC"/>
              </a:buClr>
            </a:pPr>
            <a:endParaRPr lang="hu" sz="1800" dirty="0">
              <a:solidFill>
                <a:schemeClr val="dk2"/>
              </a:solidFill>
              <a:latin typeface="Segoe UI Semilight" panose="020B0402040204020203" pitchFamily="34" charset="0"/>
              <a:ea typeface="Source Sans Pro"/>
              <a:cs typeface="Segoe UI Semilight" panose="020B0402040204020203" pitchFamily="34" charset="0"/>
              <a:sym typeface="Source Sans Pro"/>
            </a:endParaRPr>
          </a:p>
          <a:p>
            <a:pPr marL="228583">
              <a:spcBef>
                <a:spcPts val="400"/>
              </a:spcBef>
              <a:buClr>
                <a:srgbClr val="CCCCCC"/>
              </a:buClr>
            </a:pPr>
            <a:r>
              <a:rPr lang="hu" dirty="0">
                <a:solidFill>
                  <a:schemeClr val="dk2"/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 Semilight" panose="020B0402040204020203" pitchFamily="34" charset="0"/>
                <a:sym typeface="Source Sans Pro"/>
              </a:rPr>
              <a:t>Névérték jelenértéke</a:t>
            </a:r>
          </a:p>
          <a:p>
            <a:pPr marL="228583">
              <a:spcBef>
                <a:spcPts val="400"/>
              </a:spcBef>
              <a:buClr>
                <a:srgbClr val="CCCCCC"/>
              </a:buClr>
            </a:pPr>
            <a:endParaRPr lang="hu" sz="1800" dirty="0">
              <a:solidFill>
                <a:schemeClr val="dk2"/>
              </a:solidFill>
              <a:latin typeface="Segoe UI Semilight" panose="020B0402040204020203" pitchFamily="34" charset="0"/>
              <a:ea typeface="Source Sans Pro"/>
              <a:cs typeface="Segoe UI Semilight" panose="020B0402040204020203" pitchFamily="34" charset="0"/>
              <a:sym typeface="Source Sans Pro"/>
            </a:endParaRPr>
          </a:p>
          <a:p>
            <a:pPr marL="457167" indent="-228584">
              <a:spcBef>
                <a:spcPts val="400"/>
              </a:spcBef>
              <a:buClr>
                <a:srgbClr val="CCCCCC"/>
              </a:buClr>
              <a:buChar char="●"/>
            </a:pPr>
            <a:endParaRPr lang="hu" sz="1800" dirty="0">
              <a:solidFill>
                <a:schemeClr val="dk2"/>
              </a:solidFill>
              <a:latin typeface="Segoe UI Semilight" panose="020B0402040204020203" pitchFamily="34" charset="0"/>
              <a:ea typeface="Source Sans Pro"/>
              <a:cs typeface="Segoe UI Semilight" panose="020B0402040204020203" pitchFamily="34" charset="0"/>
              <a:sym typeface="Source Sans Pro"/>
            </a:endParaRPr>
          </a:p>
        </p:txBody>
      </p:sp>
      <p:sp>
        <p:nvSpPr>
          <p:cNvPr id="12" name="Bal oldali kapcsos zárójel 11">
            <a:extLst>
              <a:ext uri="{FF2B5EF4-FFF2-40B4-BE49-F238E27FC236}">
                <a16:creationId xmlns:a16="http://schemas.microsoft.com/office/drawing/2014/main" id="{BCD4D330-E261-2197-8D12-C80F447969B5}"/>
              </a:ext>
            </a:extLst>
          </p:cNvPr>
          <p:cNvSpPr/>
          <p:nvPr/>
        </p:nvSpPr>
        <p:spPr>
          <a:xfrm rot="16200000">
            <a:off x="7299129" y="2966832"/>
            <a:ext cx="390698" cy="641190"/>
          </a:xfrm>
          <a:prstGeom prst="leftBrace">
            <a:avLst/>
          </a:prstGeom>
          <a:ln w="22225">
            <a:solidFill>
              <a:srgbClr val="0070C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3" name="Shape 182">
            <a:extLst>
              <a:ext uri="{FF2B5EF4-FFF2-40B4-BE49-F238E27FC236}">
                <a16:creationId xmlns:a16="http://schemas.microsoft.com/office/drawing/2014/main" id="{4DCC64D2-5992-A9B0-9150-9BC85C382E25}"/>
              </a:ext>
            </a:extLst>
          </p:cNvPr>
          <p:cNvSpPr txBox="1"/>
          <p:nvPr/>
        </p:nvSpPr>
        <p:spPr>
          <a:xfrm>
            <a:off x="6792857" y="3209080"/>
            <a:ext cx="1332831" cy="967365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228583">
              <a:spcBef>
                <a:spcPts val="400"/>
              </a:spcBef>
              <a:buClr>
                <a:srgbClr val="CCCCCC"/>
              </a:buClr>
            </a:pPr>
            <a:endParaRPr lang="hu" sz="1800" dirty="0">
              <a:solidFill>
                <a:schemeClr val="dk2"/>
              </a:solidFill>
              <a:latin typeface="Segoe UI Semilight" panose="020B0402040204020203" pitchFamily="34" charset="0"/>
              <a:ea typeface="Source Sans Pro"/>
              <a:cs typeface="Segoe UI Semilight" panose="020B0402040204020203" pitchFamily="34" charset="0"/>
              <a:sym typeface="Source Sans Pro"/>
            </a:endParaRPr>
          </a:p>
          <a:p>
            <a:pPr marL="228583">
              <a:spcBef>
                <a:spcPts val="400"/>
              </a:spcBef>
              <a:buClr>
                <a:srgbClr val="CCCCCC"/>
              </a:buClr>
            </a:pPr>
            <a:r>
              <a:rPr lang="hu" dirty="0">
                <a:solidFill>
                  <a:schemeClr val="dk2"/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 Semilight" panose="020B0402040204020203" pitchFamily="34" charset="0"/>
                <a:sym typeface="Source Sans Pro"/>
              </a:rPr>
              <a:t>Névérték jelenértéke</a:t>
            </a:r>
          </a:p>
          <a:p>
            <a:pPr marL="228583">
              <a:spcBef>
                <a:spcPts val="400"/>
              </a:spcBef>
              <a:buClr>
                <a:srgbClr val="CCCCCC"/>
              </a:buClr>
            </a:pPr>
            <a:endParaRPr lang="hu" sz="1800" dirty="0">
              <a:solidFill>
                <a:schemeClr val="dk2"/>
              </a:solidFill>
              <a:latin typeface="Segoe UI Semilight" panose="020B0402040204020203" pitchFamily="34" charset="0"/>
              <a:ea typeface="Source Sans Pro"/>
              <a:cs typeface="Segoe UI Semilight" panose="020B0402040204020203" pitchFamily="34" charset="0"/>
              <a:sym typeface="Source Sans Pro"/>
            </a:endParaRPr>
          </a:p>
          <a:p>
            <a:pPr marL="457167" indent="-228584">
              <a:spcBef>
                <a:spcPts val="400"/>
              </a:spcBef>
              <a:buClr>
                <a:srgbClr val="CCCCCC"/>
              </a:buClr>
              <a:buChar char="●"/>
            </a:pPr>
            <a:endParaRPr lang="hu" sz="1800" dirty="0">
              <a:solidFill>
                <a:schemeClr val="dk2"/>
              </a:solidFill>
              <a:latin typeface="Segoe UI Semilight" panose="020B0402040204020203" pitchFamily="34" charset="0"/>
              <a:ea typeface="Source Sans Pro"/>
              <a:cs typeface="Segoe UI Semilight" panose="020B0402040204020203" pitchFamily="34" charset="0"/>
              <a:sym typeface="Source Sans Pro"/>
            </a:endParaRPr>
          </a:p>
        </p:txBody>
      </p:sp>
      <p:grpSp>
        <p:nvGrpSpPr>
          <p:cNvPr id="21" name="Csoportba foglalás 20">
            <a:extLst>
              <a:ext uri="{FF2B5EF4-FFF2-40B4-BE49-F238E27FC236}">
                <a16:creationId xmlns:a16="http://schemas.microsoft.com/office/drawing/2014/main" id="{B2B02975-4FFC-53A2-F396-E513AB398188}"/>
              </a:ext>
            </a:extLst>
          </p:cNvPr>
          <p:cNvGrpSpPr/>
          <p:nvPr/>
        </p:nvGrpSpPr>
        <p:grpSpPr>
          <a:xfrm>
            <a:off x="7815073" y="3736464"/>
            <a:ext cx="1478577" cy="1356951"/>
            <a:chOff x="6792856" y="3778757"/>
            <a:chExt cx="1478577" cy="1356951"/>
          </a:xfrm>
        </p:grpSpPr>
        <p:pic>
          <p:nvPicPr>
            <p:cNvPr id="14" name="Kép 13">
              <a:extLst>
                <a:ext uri="{FF2B5EF4-FFF2-40B4-BE49-F238E27FC236}">
                  <a16:creationId xmlns:a16="http://schemas.microsoft.com/office/drawing/2014/main" id="{025AD67A-0A70-AFB6-24D3-070CBB891E6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6938601" y="3963153"/>
              <a:ext cx="1332832" cy="1172555"/>
            </a:xfrm>
            <a:prstGeom prst="rect">
              <a:avLst/>
            </a:prstGeom>
          </p:spPr>
        </p:pic>
        <p:sp>
          <p:nvSpPr>
            <p:cNvPr id="15" name="Shape 182">
              <a:extLst>
                <a:ext uri="{FF2B5EF4-FFF2-40B4-BE49-F238E27FC236}">
                  <a16:creationId xmlns:a16="http://schemas.microsoft.com/office/drawing/2014/main" id="{AD86445F-5C9C-A027-4359-97444A13B58F}"/>
                </a:ext>
              </a:extLst>
            </p:cNvPr>
            <p:cNvSpPr txBox="1"/>
            <p:nvPr/>
          </p:nvSpPr>
          <p:spPr>
            <a:xfrm>
              <a:off x="6792856" y="3778757"/>
              <a:ext cx="1332832" cy="815545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228583">
                <a:spcBef>
                  <a:spcPts val="400"/>
                </a:spcBef>
                <a:buClr>
                  <a:srgbClr val="CCCCCC"/>
                </a:buClr>
              </a:pPr>
              <a:endParaRPr lang="hu" sz="1800" dirty="0">
                <a:solidFill>
                  <a:schemeClr val="dk2"/>
                </a:solidFill>
                <a:latin typeface="Segoe UI Semilight" panose="020B0402040204020203" pitchFamily="34" charset="0"/>
                <a:ea typeface="Source Sans Pro"/>
                <a:cs typeface="Segoe UI Semilight" panose="020B0402040204020203" pitchFamily="34" charset="0"/>
                <a:sym typeface="Source Sans Pro"/>
              </a:endParaRPr>
            </a:p>
            <a:p>
              <a:pPr marL="228583">
                <a:spcBef>
                  <a:spcPts val="400"/>
                </a:spcBef>
                <a:buClr>
                  <a:srgbClr val="CCCCCC"/>
                </a:buClr>
              </a:pPr>
              <a:r>
                <a:rPr lang="hu" sz="1200" b="1" dirty="0">
                  <a:solidFill>
                    <a:schemeClr val="dk2"/>
                  </a:solidFill>
                  <a:latin typeface="Segoe UI Semilight" panose="020B0402040204020203" pitchFamily="34" charset="0"/>
                  <a:ea typeface="Source Sans Pro"/>
                  <a:cs typeface="Segoe UI Semilight" panose="020B0402040204020203" pitchFamily="34" charset="0"/>
                  <a:sym typeface="Source Sans Pro"/>
                </a:rPr>
                <a:t>Csak egy pénzáramlás:</a:t>
              </a:r>
              <a:r>
                <a:rPr lang="hu" sz="1200" b="1" dirty="0">
                  <a:solidFill>
                    <a:srgbClr val="0070C0"/>
                  </a:solidFill>
                  <a:latin typeface="Segoe UI Semilight" panose="020B0402040204020203" pitchFamily="34" charset="0"/>
                  <a:ea typeface="Source Sans Pro"/>
                  <a:cs typeface="Segoe UI Semilight" panose="020B0402040204020203" pitchFamily="34" charset="0"/>
                  <a:sym typeface="Source Sans Pro"/>
                </a:rPr>
                <a:t>névérték lejáratkor</a:t>
              </a:r>
            </a:p>
            <a:p>
              <a:pPr marL="228583">
                <a:spcBef>
                  <a:spcPts val="400"/>
                </a:spcBef>
                <a:buClr>
                  <a:srgbClr val="CCCCCC"/>
                </a:buClr>
              </a:pPr>
              <a:endParaRPr lang="hu" sz="1800" dirty="0">
                <a:solidFill>
                  <a:schemeClr val="dk2"/>
                </a:solidFill>
                <a:latin typeface="Segoe UI Semilight" panose="020B0402040204020203" pitchFamily="34" charset="0"/>
                <a:ea typeface="Source Sans Pro"/>
                <a:cs typeface="Segoe UI Semilight" panose="020B0402040204020203" pitchFamily="34" charset="0"/>
                <a:sym typeface="Source Sans Pro"/>
              </a:endParaRPr>
            </a:p>
            <a:p>
              <a:pPr marL="457167" indent="-228584">
                <a:spcBef>
                  <a:spcPts val="400"/>
                </a:spcBef>
                <a:buClr>
                  <a:srgbClr val="CCCCCC"/>
                </a:buClr>
                <a:buChar char="●"/>
              </a:pPr>
              <a:endParaRPr lang="hu" sz="1800" dirty="0">
                <a:solidFill>
                  <a:schemeClr val="dk2"/>
                </a:solidFill>
                <a:latin typeface="Segoe UI Semilight" panose="020B0402040204020203" pitchFamily="34" charset="0"/>
                <a:ea typeface="Source Sans Pro"/>
                <a:cs typeface="Segoe UI Semilight" panose="020B0402040204020203" pitchFamily="34" charset="0"/>
                <a:sym typeface="Source Sans Pro"/>
              </a:endParaRPr>
            </a:p>
          </p:txBody>
        </p:sp>
      </p:grpSp>
      <p:pic>
        <p:nvPicPr>
          <p:cNvPr id="22" name="Kép 21">
            <a:extLst>
              <a:ext uri="{FF2B5EF4-FFF2-40B4-BE49-F238E27FC236}">
                <a16:creationId xmlns:a16="http://schemas.microsoft.com/office/drawing/2014/main" id="{ECF57C64-AA5C-A0D4-BC70-D32EA765D2E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7178" y="3760421"/>
            <a:ext cx="1332832" cy="1172555"/>
          </a:xfrm>
          <a:prstGeom prst="rect">
            <a:avLst/>
          </a:prstGeom>
        </p:spPr>
      </p:pic>
      <p:sp>
        <p:nvSpPr>
          <p:cNvPr id="23" name="Shape 182">
            <a:extLst>
              <a:ext uri="{FF2B5EF4-FFF2-40B4-BE49-F238E27FC236}">
                <a16:creationId xmlns:a16="http://schemas.microsoft.com/office/drawing/2014/main" id="{901468E8-5852-5098-3EA0-B7630597636B}"/>
              </a:ext>
            </a:extLst>
          </p:cNvPr>
          <p:cNvSpPr txBox="1"/>
          <p:nvPr/>
        </p:nvSpPr>
        <p:spPr>
          <a:xfrm>
            <a:off x="-135922" y="3599395"/>
            <a:ext cx="1332832" cy="815545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228583">
              <a:spcBef>
                <a:spcPts val="400"/>
              </a:spcBef>
              <a:buClr>
                <a:srgbClr val="CCCCCC"/>
              </a:buClr>
            </a:pPr>
            <a:endParaRPr lang="hu" sz="1800" dirty="0">
              <a:solidFill>
                <a:schemeClr val="dk2"/>
              </a:solidFill>
              <a:latin typeface="Segoe UI Semilight" panose="020B0402040204020203" pitchFamily="34" charset="0"/>
              <a:ea typeface="Source Sans Pro"/>
              <a:cs typeface="Segoe UI Semilight" panose="020B0402040204020203" pitchFamily="34" charset="0"/>
              <a:sym typeface="Source Sans Pro"/>
            </a:endParaRPr>
          </a:p>
          <a:p>
            <a:pPr marL="228583">
              <a:spcBef>
                <a:spcPts val="400"/>
              </a:spcBef>
              <a:buClr>
                <a:srgbClr val="CCCCCC"/>
              </a:buClr>
            </a:pPr>
            <a:r>
              <a:rPr lang="hu" sz="1200" b="1" dirty="0">
                <a:solidFill>
                  <a:schemeClr val="dk2"/>
                </a:solidFill>
                <a:latin typeface="Segoe UI Semilight" panose="020B0402040204020203" pitchFamily="34" charset="0"/>
                <a:ea typeface="Source Sans Pro"/>
                <a:cs typeface="Segoe UI Semilight" panose="020B0402040204020203" pitchFamily="34" charset="0"/>
                <a:sym typeface="Source Sans Pro"/>
              </a:rPr>
              <a:t>Több pénzáramlás:</a:t>
            </a:r>
            <a:r>
              <a:rPr lang="hu" sz="1200" b="1" dirty="0">
                <a:solidFill>
                  <a:srgbClr val="0070C0"/>
                </a:solidFill>
                <a:latin typeface="Segoe UI Semilight" panose="020B0402040204020203" pitchFamily="34" charset="0"/>
                <a:ea typeface="Source Sans Pro"/>
                <a:cs typeface="Segoe UI Semilight" panose="020B0402040204020203" pitchFamily="34" charset="0"/>
                <a:sym typeface="Source Sans Pro"/>
              </a:rPr>
              <a:t>kamatok + névérték</a:t>
            </a:r>
          </a:p>
          <a:p>
            <a:pPr marL="228583">
              <a:spcBef>
                <a:spcPts val="400"/>
              </a:spcBef>
              <a:buClr>
                <a:srgbClr val="CCCCCC"/>
              </a:buClr>
            </a:pPr>
            <a:endParaRPr lang="hu" sz="1800" dirty="0">
              <a:solidFill>
                <a:schemeClr val="dk2"/>
              </a:solidFill>
              <a:latin typeface="Segoe UI Semilight" panose="020B0402040204020203" pitchFamily="34" charset="0"/>
              <a:ea typeface="Source Sans Pro"/>
              <a:cs typeface="Segoe UI Semilight" panose="020B0402040204020203" pitchFamily="34" charset="0"/>
              <a:sym typeface="Source Sans Pro"/>
            </a:endParaRPr>
          </a:p>
          <a:p>
            <a:pPr marL="457167" indent="-228584">
              <a:spcBef>
                <a:spcPts val="400"/>
              </a:spcBef>
              <a:buClr>
                <a:srgbClr val="CCCCCC"/>
              </a:buClr>
              <a:buChar char="●"/>
            </a:pPr>
            <a:endParaRPr lang="hu" sz="1800" dirty="0">
              <a:solidFill>
                <a:schemeClr val="dk2"/>
              </a:solidFill>
              <a:latin typeface="Segoe UI Semilight" panose="020B0402040204020203" pitchFamily="34" charset="0"/>
              <a:ea typeface="Source Sans Pro"/>
              <a:cs typeface="Segoe UI Semilight" panose="020B0402040204020203" pitchFamily="34" charset="0"/>
              <a:sym typeface="Source Sans Pro"/>
            </a:endParaRPr>
          </a:p>
        </p:txBody>
      </p:sp>
    </p:spTree>
    <p:extLst>
      <p:ext uri="{BB962C8B-B14F-4D97-AF65-F5344CB8AC3E}">
        <p14:creationId xmlns:p14="http://schemas.microsoft.com/office/powerpoint/2010/main" val="1732464278"/>
      </p:ext>
    </p:extLst>
  </p:cSld>
  <p:clrMapOvr>
    <a:masterClrMapping/>
  </p:clrMapOvr>
  <p:transition spd="slow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9" grpId="0"/>
      <p:bldP spid="10" grpId="0" animBg="1"/>
      <p:bldP spid="11" grpId="0"/>
      <p:bldP spid="12" grpId="0" animBg="1"/>
      <p:bldP spid="13" grpId="0"/>
      <p:bldP spid="2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>
          <a:extLst>
            <a:ext uri="{FF2B5EF4-FFF2-40B4-BE49-F238E27FC236}">
              <a16:creationId xmlns:a16="http://schemas.microsoft.com/office/drawing/2014/main" id="{F9C354F9-872D-5261-C454-C9BB893AB5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Shape 182">
            <a:extLst>
              <a:ext uri="{FF2B5EF4-FFF2-40B4-BE49-F238E27FC236}">
                <a16:creationId xmlns:a16="http://schemas.microsoft.com/office/drawing/2014/main" id="{2FBE2EFE-C9DC-BA8C-7D8D-1528CEA676A9}"/>
              </a:ext>
            </a:extLst>
          </p:cNvPr>
          <p:cNvSpPr txBox="1"/>
          <p:nvPr/>
        </p:nvSpPr>
        <p:spPr>
          <a:xfrm>
            <a:off x="75883" y="1219251"/>
            <a:ext cx="8607544" cy="2465215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228583">
              <a:spcBef>
                <a:spcPts val="400"/>
              </a:spcBef>
              <a:buClr>
                <a:srgbClr val="CCCCCC"/>
              </a:buClr>
            </a:pPr>
            <a:endParaRPr lang="hu" sz="1800" dirty="0">
              <a:solidFill>
                <a:schemeClr val="dk2"/>
              </a:solidFill>
              <a:latin typeface="Cambria" panose="02040503050406030204" pitchFamily="18" charset="0"/>
              <a:ea typeface="Cambria" panose="02040503050406030204" pitchFamily="18" charset="0"/>
              <a:cs typeface="Segoe UI Semilight" panose="020B0402040204020203" pitchFamily="34" charset="0"/>
              <a:sym typeface="Source Sans Pro"/>
            </a:endParaRPr>
          </a:p>
          <a:p>
            <a:pPr marL="228583">
              <a:spcBef>
                <a:spcPts val="400"/>
              </a:spcBef>
              <a:buClr>
                <a:srgbClr val="CCCCCC"/>
              </a:buClr>
            </a:pPr>
            <a:r>
              <a:rPr lang="hu-HU" sz="1800" b="1" i="1" dirty="0">
                <a:solidFill>
                  <a:schemeClr val="accent5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 Semilight" panose="020B0402040204020203" pitchFamily="34" charset="0"/>
                <a:sym typeface="Source Sans Pro"/>
              </a:rPr>
              <a:t>1. Lépés</a:t>
            </a:r>
            <a:r>
              <a:rPr lang="hu-HU" sz="1800" dirty="0">
                <a:solidFill>
                  <a:schemeClr val="dk2"/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 Semilight" panose="020B0402040204020203" pitchFamily="34" charset="0"/>
                <a:sym typeface="Source Sans Pro"/>
              </a:rPr>
              <a:t>: Felírjuk a kötvény által biztosított jövőbeli kamatokat és tőketörlesztéseket, majd ezeket időszakonként összesítve a pénzáramlásokat (Cash flow-k) meghatározzuk.</a:t>
            </a:r>
          </a:p>
          <a:p>
            <a:pPr marL="571483" indent="-342900">
              <a:spcBef>
                <a:spcPts val="400"/>
              </a:spcBef>
              <a:buClr>
                <a:srgbClr val="CCCCCC"/>
              </a:buClr>
              <a:buFont typeface="+mj-lt"/>
              <a:buAutoNum type="arabicPeriod"/>
            </a:pPr>
            <a:endParaRPr lang="hu-HU" sz="1800" dirty="0">
              <a:solidFill>
                <a:schemeClr val="dk2"/>
              </a:solidFill>
              <a:latin typeface="Cambria" panose="02040503050406030204" pitchFamily="18" charset="0"/>
              <a:ea typeface="Cambria" panose="02040503050406030204" pitchFamily="18" charset="0"/>
              <a:cs typeface="Segoe UI Semilight" panose="020B0402040204020203" pitchFamily="34" charset="0"/>
              <a:sym typeface="Source Sans Pro"/>
            </a:endParaRPr>
          </a:p>
          <a:p>
            <a:pPr marL="228583">
              <a:spcBef>
                <a:spcPts val="400"/>
              </a:spcBef>
              <a:buClr>
                <a:srgbClr val="CCCCCC"/>
              </a:buClr>
            </a:pPr>
            <a:r>
              <a:rPr lang="hu-HU" sz="1800" b="1" i="1" dirty="0">
                <a:solidFill>
                  <a:schemeClr val="accent4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 Semilight" panose="020B0402040204020203" pitchFamily="34" charset="0"/>
                <a:sym typeface="Source Sans Pro"/>
              </a:rPr>
              <a:t>2. Lépés: </a:t>
            </a:r>
            <a:r>
              <a:rPr lang="hu-HU" sz="1800" dirty="0">
                <a:solidFill>
                  <a:schemeClr val="dk2"/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 Semilight" panose="020B0402040204020203" pitchFamily="34" charset="0"/>
                <a:sym typeface="Source Sans Pro"/>
              </a:rPr>
              <a:t>A pénzáramlásokat diszkontáljuk a megfelelő diszkontrátával.</a:t>
            </a:r>
          </a:p>
          <a:p>
            <a:pPr marL="571483" indent="-342900">
              <a:spcBef>
                <a:spcPts val="400"/>
              </a:spcBef>
              <a:buClr>
                <a:srgbClr val="CCCCCC"/>
              </a:buClr>
              <a:buFont typeface="+mj-lt"/>
              <a:buAutoNum type="arabicPeriod"/>
            </a:pPr>
            <a:endParaRPr lang="hu-HU" sz="1800" dirty="0">
              <a:solidFill>
                <a:schemeClr val="dk2"/>
              </a:solidFill>
              <a:latin typeface="Cambria" panose="02040503050406030204" pitchFamily="18" charset="0"/>
              <a:ea typeface="Cambria" panose="02040503050406030204" pitchFamily="18" charset="0"/>
              <a:cs typeface="Segoe UI Semilight" panose="020B0402040204020203" pitchFamily="34" charset="0"/>
              <a:sym typeface="Source Sans Pro"/>
            </a:endParaRPr>
          </a:p>
          <a:p>
            <a:pPr marL="228583">
              <a:spcBef>
                <a:spcPts val="400"/>
              </a:spcBef>
              <a:buClr>
                <a:srgbClr val="CCCCCC"/>
              </a:buClr>
            </a:pPr>
            <a:r>
              <a:rPr lang="hu-HU" sz="1800" b="1" i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 Semilight" panose="020B0402040204020203" pitchFamily="34" charset="0"/>
                <a:sym typeface="Source Sans Pro"/>
              </a:rPr>
              <a:t>3. Lépés: </a:t>
            </a:r>
            <a:r>
              <a:rPr lang="hu-HU" sz="1800" dirty="0">
                <a:solidFill>
                  <a:schemeClr val="dk2"/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 Semilight" panose="020B0402040204020203" pitchFamily="34" charset="0"/>
                <a:sym typeface="Source Sans Pro"/>
              </a:rPr>
              <a:t>Összeadjuk a diszkontált pénzáramlásokat, ezen összeg mutatja a kötvény becsült értékét.</a:t>
            </a:r>
          </a:p>
          <a:p>
            <a:pPr marL="228583">
              <a:spcBef>
                <a:spcPts val="400"/>
              </a:spcBef>
              <a:buClr>
                <a:srgbClr val="CCCCCC"/>
              </a:buClr>
            </a:pPr>
            <a:endParaRPr lang="hu" sz="1800" dirty="0">
              <a:solidFill>
                <a:schemeClr val="dk2"/>
              </a:solidFill>
              <a:latin typeface="Segoe UI Semilight" panose="020B0402040204020203" pitchFamily="34" charset="0"/>
              <a:ea typeface="Source Sans Pro"/>
              <a:cs typeface="Segoe UI Semilight" panose="020B0402040204020203" pitchFamily="34" charset="0"/>
              <a:sym typeface="Source Sans Pro"/>
            </a:endParaRPr>
          </a:p>
          <a:p>
            <a:pPr marL="228583">
              <a:spcBef>
                <a:spcPts val="400"/>
              </a:spcBef>
              <a:buClr>
                <a:srgbClr val="CCCCCC"/>
              </a:buClr>
            </a:pPr>
            <a:endParaRPr lang="hu" sz="1800" dirty="0">
              <a:solidFill>
                <a:schemeClr val="dk2"/>
              </a:solidFill>
              <a:latin typeface="Segoe UI Semilight" panose="020B0402040204020203" pitchFamily="34" charset="0"/>
              <a:ea typeface="Source Sans Pro"/>
              <a:cs typeface="Segoe UI Semilight" panose="020B0402040204020203" pitchFamily="34" charset="0"/>
              <a:sym typeface="Source Sans Pro"/>
            </a:endParaRPr>
          </a:p>
          <a:p>
            <a:pPr marL="457167" indent="-228584">
              <a:spcBef>
                <a:spcPts val="400"/>
              </a:spcBef>
              <a:buClr>
                <a:srgbClr val="CCCCCC"/>
              </a:buClr>
              <a:buChar char="●"/>
            </a:pPr>
            <a:endParaRPr lang="hu" sz="1800" dirty="0">
              <a:solidFill>
                <a:schemeClr val="dk2"/>
              </a:solidFill>
              <a:latin typeface="Segoe UI Semilight" panose="020B0402040204020203" pitchFamily="34" charset="0"/>
              <a:ea typeface="Source Sans Pro"/>
              <a:cs typeface="Segoe UI Semilight" panose="020B0402040204020203" pitchFamily="34" charset="0"/>
              <a:sym typeface="Source Sans Pro"/>
            </a:endParaRPr>
          </a:p>
        </p:txBody>
      </p:sp>
      <p:sp>
        <p:nvSpPr>
          <p:cNvPr id="7" name="Téglalap 6">
            <a:extLst>
              <a:ext uri="{FF2B5EF4-FFF2-40B4-BE49-F238E27FC236}">
                <a16:creationId xmlns:a16="http://schemas.microsoft.com/office/drawing/2014/main" id="{F21E534E-1C4A-8CD1-7F9D-ED199A81A1D9}"/>
              </a:ext>
            </a:extLst>
          </p:cNvPr>
          <p:cNvSpPr/>
          <p:nvPr/>
        </p:nvSpPr>
        <p:spPr>
          <a:xfrm flipV="1">
            <a:off x="287855" y="562666"/>
            <a:ext cx="98192" cy="33742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>
              <a:highlight>
                <a:srgbClr val="757575"/>
              </a:highlight>
            </a:endParaRPr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C54D8AC9-3D35-8592-A8BB-E3F735CEC02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86047" y="444500"/>
            <a:ext cx="8521700" cy="573088"/>
          </a:xfrm>
        </p:spPr>
        <p:txBody>
          <a:bodyPr/>
          <a:lstStyle/>
          <a:p>
            <a:r>
              <a:rPr lang="hu-HU" dirty="0"/>
              <a:t>KÖTVÉNYEK ÉRTÉKELÉSÉNEK LÉPÉSEI</a:t>
            </a:r>
            <a:br>
              <a:rPr lang="hu-HU" dirty="0"/>
            </a:br>
            <a:endParaRPr lang="hu-HU" dirty="0">
              <a:solidFill>
                <a:schemeClr val="bg2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6417026"/>
      </p:ext>
    </p:extLst>
  </p:cSld>
  <p:clrMapOvr>
    <a:masterClrMapping/>
  </p:clrMapOvr>
  <p:transition spd="slow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8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>
          <a:extLst>
            <a:ext uri="{FF2B5EF4-FFF2-40B4-BE49-F238E27FC236}">
              <a16:creationId xmlns:a16="http://schemas.microsoft.com/office/drawing/2014/main" id="{EB3DC1C8-8F69-495D-280B-1E9D6B840A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Shape 182">
            <a:extLst>
              <a:ext uri="{FF2B5EF4-FFF2-40B4-BE49-F238E27FC236}">
                <a16:creationId xmlns:a16="http://schemas.microsoft.com/office/drawing/2014/main" id="{E906E01F-8D14-3799-4D04-077788C8A3F6}"/>
              </a:ext>
            </a:extLst>
          </p:cNvPr>
          <p:cNvSpPr txBox="1"/>
          <p:nvPr/>
        </p:nvSpPr>
        <p:spPr>
          <a:xfrm>
            <a:off x="280727" y="1378745"/>
            <a:ext cx="8394000" cy="2238351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228584">
              <a:spcBef>
                <a:spcPts val="400"/>
              </a:spcBef>
              <a:buClr>
                <a:srgbClr val="CCCCCC"/>
              </a:buClr>
            </a:pPr>
            <a:r>
              <a:rPr lang="hu-HU" sz="1800" dirty="0" err="1">
                <a:solidFill>
                  <a:schemeClr val="dk2"/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 Semilight" panose="020B0402040204020203" pitchFamily="34" charset="0"/>
                <a:sym typeface="Source Sans Pro"/>
              </a:rPr>
              <a:t>Xanth</a:t>
            </a:r>
            <a:r>
              <a:rPr lang="hu-HU" sz="1800" dirty="0">
                <a:solidFill>
                  <a:schemeClr val="dk2"/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 Semilight" panose="020B0402040204020203" pitchFamily="34" charset="0"/>
                <a:sym typeface="Source Sans Pro"/>
              </a:rPr>
              <a:t> Co. vállalat 10 éves lejáratú 1 000 $ névértékű kötvényt bocsát ki. Éves kuponja(kamata) 80$. Hasonló kötvények elvárt hozama 7%. Kibocsátáskor mennyiért lehetne eladni a kötvényt? Írjuk fel a pénzáramlásokat, és értékeljük azokat! </a:t>
            </a:r>
          </a:p>
          <a:p>
            <a:pPr marL="228584">
              <a:spcBef>
                <a:spcPts val="400"/>
              </a:spcBef>
              <a:buClr>
                <a:srgbClr val="CCCCCC"/>
              </a:buClr>
            </a:pPr>
            <a:endParaRPr lang="hu" sz="1800" dirty="0">
              <a:solidFill>
                <a:schemeClr val="dk2"/>
              </a:solidFill>
              <a:latin typeface="Segoe UI Semilight" panose="020B0402040204020203" pitchFamily="34" charset="0"/>
              <a:ea typeface="Source Sans Pro"/>
              <a:cs typeface="Segoe UI Semilight" panose="020B0402040204020203" pitchFamily="34" charset="0"/>
              <a:sym typeface="Source Sans Pro"/>
            </a:endParaRPr>
          </a:p>
          <a:p>
            <a:pPr marL="228583">
              <a:spcBef>
                <a:spcPts val="400"/>
              </a:spcBef>
              <a:buClr>
                <a:srgbClr val="CCCCCC"/>
              </a:buClr>
            </a:pPr>
            <a:endParaRPr lang="hu" sz="1800" dirty="0">
              <a:solidFill>
                <a:schemeClr val="dk2"/>
              </a:solidFill>
              <a:latin typeface="Segoe UI Semilight" panose="020B0402040204020203" pitchFamily="34" charset="0"/>
              <a:ea typeface="Source Sans Pro"/>
              <a:cs typeface="Segoe UI Semilight" panose="020B0402040204020203" pitchFamily="34" charset="0"/>
              <a:sym typeface="Source Sans Pro"/>
            </a:endParaRPr>
          </a:p>
        </p:txBody>
      </p:sp>
      <p:sp>
        <p:nvSpPr>
          <p:cNvPr id="7" name="Téglalap 6">
            <a:extLst>
              <a:ext uri="{FF2B5EF4-FFF2-40B4-BE49-F238E27FC236}">
                <a16:creationId xmlns:a16="http://schemas.microsoft.com/office/drawing/2014/main" id="{8C7A89D1-EAC7-002F-85FE-3446D25BDDE6}"/>
              </a:ext>
            </a:extLst>
          </p:cNvPr>
          <p:cNvSpPr/>
          <p:nvPr/>
        </p:nvSpPr>
        <p:spPr>
          <a:xfrm flipV="1">
            <a:off x="287855" y="562666"/>
            <a:ext cx="98192" cy="33742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>
              <a:highlight>
                <a:srgbClr val="757575"/>
              </a:highlight>
            </a:endParaRPr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6F518E49-D776-E8D9-D7D0-BB7A044730F8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86047" y="444500"/>
            <a:ext cx="8521700" cy="573088"/>
          </a:xfrm>
        </p:spPr>
        <p:txBody>
          <a:bodyPr/>
          <a:lstStyle/>
          <a:p>
            <a:r>
              <a:rPr lang="hu-HU" dirty="0"/>
              <a:t>1.PÉLDA</a:t>
            </a:r>
            <a:br>
              <a:rPr lang="hu-HU" dirty="0"/>
            </a:br>
            <a:r>
              <a:rPr lang="hu-HU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Végtörlesztéses kamatozó kötvény értékelése</a:t>
            </a:r>
          </a:p>
        </p:txBody>
      </p:sp>
      <p:grpSp>
        <p:nvGrpSpPr>
          <p:cNvPr id="6" name="Csoportba foglalás 5">
            <a:extLst>
              <a:ext uri="{FF2B5EF4-FFF2-40B4-BE49-F238E27FC236}">
                <a16:creationId xmlns:a16="http://schemas.microsoft.com/office/drawing/2014/main" id="{4640AE22-5407-24BF-E93B-D8625F1B7466}"/>
              </a:ext>
            </a:extLst>
          </p:cNvPr>
          <p:cNvGrpSpPr/>
          <p:nvPr/>
        </p:nvGrpSpPr>
        <p:grpSpPr>
          <a:xfrm>
            <a:off x="280727" y="2396101"/>
            <a:ext cx="8441755" cy="1272359"/>
            <a:chOff x="2351909" y="2635680"/>
            <a:chExt cx="8441755" cy="1272359"/>
          </a:xfrm>
        </p:grpSpPr>
        <p:cxnSp>
          <p:nvCxnSpPr>
            <p:cNvPr id="8" name="Egyenes összekötő 7">
              <a:extLst>
                <a:ext uri="{FF2B5EF4-FFF2-40B4-BE49-F238E27FC236}">
                  <a16:creationId xmlns:a16="http://schemas.microsoft.com/office/drawing/2014/main" id="{EA3592F6-C438-554F-D876-F2C100A17D61}"/>
                </a:ext>
              </a:extLst>
            </p:cNvPr>
            <p:cNvCxnSpPr/>
            <p:nvPr/>
          </p:nvCxnSpPr>
          <p:spPr>
            <a:xfrm flipV="1">
              <a:off x="9726797" y="3166394"/>
              <a:ext cx="0" cy="216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Szövegdoboz 8">
              <a:extLst>
                <a:ext uri="{FF2B5EF4-FFF2-40B4-BE49-F238E27FC236}">
                  <a16:creationId xmlns:a16="http://schemas.microsoft.com/office/drawing/2014/main" id="{7AF70DA3-A6FE-63FE-4757-97EB589C03E2}"/>
                </a:ext>
              </a:extLst>
            </p:cNvPr>
            <p:cNvSpPr txBox="1"/>
            <p:nvPr/>
          </p:nvSpPr>
          <p:spPr>
            <a:xfrm>
              <a:off x="9573550" y="2636963"/>
              <a:ext cx="45236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hu-HU" sz="2400" b="1" dirty="0">
                  <a:solidFill>
                    <a:srgbClr val="2D6497"/>
                  </a:solidFill>
                  <a:latin typeface="Candara" panose="020E0502030303020204" pitchFamily="34" charset="0"/>
                </a:rPr>
                <a:t>10</a:t>
              </a:r>
              <a:endParaRPr lang="hu-HU" sz="2400" b="1" baseline="-25000" dirty="0">
                <a:solidFill>
                  <a:srgbClr val="2D6497"/>
                </a:solidFill>
                <a:latin typeface="Candara" panose="020E0502030303020204" pitchFamily="34" charset="0"/>
              </a:endParaRPr>
            </a:p>
          </p:txBody>
        </p:sp>
        <p:grpSp>
          <p:nvGrpSpPr>
            <p:cNvPr id="10" name="Csoportba foglalás 9">
              <a:extLst>
                <a:ext uri="{FF2B5EF4-FFF2-40B4-BE49-F238E27FC236}">
                  <a16:creationId xmlns:a16="http://schemas.microsoft.com/office/drawing/2014/main" id="{572762AB-69DB-86E8-6226-D965AF2F845C}"/>
                </a:ext>
              </a:extLst>
            </p:cNvPr>
            <p:cNvGrpSpPr/>
            <p:nvPr/>
          </p:nvGrpSpPr>
          <p:grpSpPr>
            <a:xfrm>
              <a:off x="2351909" y="2635680"/>
              <a:ext cx="8441755" cy="1272359"/>
              <a:chOff x="2351909" y="2635680"/>
              <a:chExt cx="8441755" cy="1272359"/>
            </a:xfrm>
          </p:grpSpPr>
          <p:grpSp>
            <p:nvGrpSpPr>
              <p:cNvPr id="12" name="Csoportba foglalás 11">
                <a:extLst>
                  <a:ext uri="{FF2B5EF4-FFF2-40B4-BE49-F238E27FC236}">
                    <a16:creationId xmlns:a16="http://schemas.microsoft.com/office/drawing/2014/main" id="{99084BBC-8E39-5350-A812-87E9F4355A20}"/>
                  </a:ext>
                </a:extLst>
              </p:cNvPr>
              <p:cNvGrpSpPr/>
              <p:nvPr/>
            </p:nvGrpSpPr>
            <p:grpSpPr>
              <a:xfrm>
                <a:off x="2351909" y="2635680"/>
                <a:ext cx="8441755" cy="1272359"/>
                <a:chOff x="2351909" y="2635680"/>
                <a:chExt cx="8441755" cy="1272359"/>
              </a:xfrm>
            </p:grpSpPr>
            <p:cxnSp>
              <p:nvCxnSpPr>
                <p:cNvPr id="17" name="Egyenes összekötő 16">
                  <a:extLst>
                    <a:ext uri="{FF2B5EF4-FFF2-40B4-BE49-F238E27FC236}">
                      <a16:creationId xmlns:a16="http://schemas.microsoft.com/office/drawing/2014/main" id="{C3FA14C9-91E0-9D53-0024-2F619D4B9529}"/>
                    </a:ext>
                  </a:extLst>
                </p:cNvPr>
                <p:cNvCxnSpPr/>
                <p:nvPr/>
              </p:nvCxnSpPr>
              <p:spPr>
                <a:xfrm flipV="1">
                  <a:off x="6846797" y="3166394"/>
                  <a:ext cx="0" cy="21600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20" name="Csoportba foglalás 19">
                  <a:extLst>
                    <a:ext uri="{FF2B5EF4-FFF2-40B4-BE49-F238E27FC236}">
                      <a16:creationId xmlns:a16="http://schemas.microsoft.com/office/drawing/2014/main" id="{4611E78E-AAFE-7C70-8AED-34BF5379362D}"/>
                    </a:ext>
                  </a:extLst>
                </p:cNvPr>
                <p:cNvGrpSpPr/>
                <p:nvPr/>
              </p:nvGrpSpPr>
              <p:grpSpPr>
                <a:xfrm>
                  <a:off x="2351909" y="2635680"/>
                  <a:ext cx="8441755" cy="1272359"/>
                  <a:chOff x="2351909" y="2635680"/>
                  <a:chExt cx="8441755" cy="1272359"/>
                </a:xfrm>
              </p:grpSpPr>
              <p:cxnSp>
                <p:nvCxnSpPr>
                  <p:cNvPr id="21" name="Egyenes összekötő 20">
                    <a:extLst>
                      <a:ext uri="{FF2B5EF4-FFF2-40B4-BE49-F238E27FC236}">
                        <a16:creationId xmlns:a16="http://schemas.microsoft.com/office/drawing/2014/main" id="{C862DD99-7B87-110D-064A-7DB01B741E37}"/>
                      </a:ext>
                    </a:extLst>
                  </p:cNvPr>
                  <p:cNvCxnSpPr/>
                  <p:nvPr/>
                </p:nvCxnSpPr>
                <p:spPr>
                  <a:xfrm>
                    <a:off x="2513664" y="3283394"/>
                    <a:ext cx="8280000" cy="0"/>
                  </a:xfrm>
                  <a:prstGeom prst="line">
                    <a:avLst/>
                  </a:prstGeom>
                  <a:ln w="38100">
                    <a:solidFill>
                      <a:schemeClr val="tx1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2" name="Egyenes összekötő 21">
                    <a:extLst>
                      <a:ext uri="{FF2B5EF4-FFF2-40B4-BE49-F238E27FC236}">
                        <a16:creationId xmlns:a16="http://schemas.microsoft.com/office/drawing/2014/main" id="{8D276CC1-55B3-641C-E63A-1A6BD3B5E411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2526797" y="3166394"/>
                    <a:ext cx="0" cy="216000"/>
                  </a:xfrm>
                  <a:prstGeom prst="line">
                    <a:avLst/>
                  </a:prstGeom>
                  <a:ln w="381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3" name="Szövegdoboz 22">
                    <a:extLst>
                      <a:ext uri="{FF2B5EF4-FFF2-40B4-BE49-F238E27FC236}">
                        <a16:creationId xmlns:a16="http://schemas.microsoft.com/office/drawing/2014/main" id="{3D0C57B6-38DE-7E77-6A00-469429A9C21B}"/>
                      </a:ext>
                    </a:extLst>
                  </p:cNvPr>
                  <p:cNvSpPr txBox="1"/>
                  <p:nvPr/>
                </p:nvSpPr>
                <p:spPr>
                  <a:xfrm>
                    <a:off x="2351909" y="2640397"/>
                    <a:ext cx="349776" cy="46166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hu-HU" sz="2400" b="1" dirty="0">
                        <a:solidFill>
                          <a:srgbClr val="2D6497"/>
                        </a:solidFill>
                        <a:latin typeface="Candara" panose="020E0502030303020204" pitchFamily="34" charset="0"/>
                      </a:rPr>
                      <a:t>0</a:t>
                    </a:r>
                    <a:endParaRPr lang="hu-HU" sz="2400" b="1" baseline="-25000" dirty="0">
                      <a:solidFill>
                        <a:srgbClr val="2D6497"/>
                      </a:solidFill>
                      <a:latin typeface="Candara" panose="020E0502030303020204" pitchFamily="34" charset="0"/>
                    </a:endParaRPr>
                  </a:p>
                </p:txBody>
              </p:sp>
              <p:cxnSp>
                <p:nvCxnSpPr>
                  <p:cNvPr id="24" name="Egyenes összekötő 23">
                    <a:extLst>
                      <a:ext uri="{FF2B5EF4-FFF2-40B4-BE49-F238E27FC236}">
                        <a16:creationId xmlns:a16="http://schemas.microsoft.com/office/drawing/2014/main" id="{45828EA1-80FC-0C46-D355-25258872C523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3966797" y="3166394"/>
                    <a:ext cx="0" cy="216000"/>
                  </a:xfrm>
                  <a:prstGeom prst="line">
                    <a:avLst/>
                  </a:prstGeom>
                  <a:ln w="381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5" name="Egyenes összekötő 24">
                    <a:extLst>
                      <a:ext uri="{FF2B5EF4-FFF2-40B4-BE49-F238E27FC236}">
                        <a16:creationId xmlns:a16="http://schemas.microsoft.com/office/drawing/2014/main" id="{87BCD16B-1CAD-FD3B-3F4B-EA48869DDC5B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5406797" y="3166394"/>
                    <a:ext cx="0" cy="216000"/>
                  </a:xfrm>
                  <a:prstGeom prst="line">
                    <a:avLst/>
                  </a:prstGeom>
                  <a:ln w="381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6" name="Szövegdoboz 25">
                    <a:extLst>
                      <a:ext uri="{FF2B5EF4-FFF2-40B4-BE49-F238E27FC236}">
                        <a16:creationId xmlns:a16="http://schemas.microsoft.com/office/drawing/2014/main" id="{43C5AD05-0822-6FD3-58C9-33A43E31CBAF}"/>
                      </a:ext>
                    </a:extLst>
                  </p:cNvPr>
                  <p:cNvSpPr txBox="1"/>
                  <p:nvPr/>
                </p:nvSpPr>
                <p:spPr>
                  <a:xfrm>
                    <a:off x="3821565" y="2635680"/>
                    <a:ext cx="287258" cy="46166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hu-HU" sz="2400" b="1" dirty="0">
                        <a:solidFill>
                          <a:srgbClr val="2D6497"/>
                        </a:solidFill>
                        <a:latin typeface="Candara" panose="020E0502030303020204" pitchFamily="34" charset="0"/>
                      </a:rPr>
                      <a:t>1</a:t>
                    </a:r>
                    <a:endParaRPr lang="hu-HU" sz="2400" b="1" baseline="-25000" dirty="0">
                      <a:solidFill>
                        <a:srgbClr val="2D6497"/>
                      </a:solidFill>
                      <a:latin typeface="Candara" panose="020E0502030303020204" pitchFamily="34" charset="0"/>
                    </a:endParaRPr>
                  </a:p>
                </p:txBody>
              </p:sp>
              <p:sp>
                <p:nvSpPr>
                  <p:cNvPr id="27" name="Szövegdoboz 26">
                    <a:extLst>
                      <a:ext uri="{FF2B5EF4-FFF2-40B4-BE49-F238E27FC236}">
                        <a16:creationId xmlns:a16="http://schemas.microsoft.com/office/drawing/2014/main" id="{CEB753FD-91FC-D4FA-639F-68B5E672AFA6}"/>
                      </a:ext>
                    </a:extLst>
                  </p:cNvPr>
                  <p:cNvSpPr txBox="1"/>
                  <p:nvPr/>
                </p:nvSpPr>
                <p:spPr>
                  <a:xfrm>
                    <a:off x="5240726" y="2646229"/>
                    <a:ext cx="332142" cy="46166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hu-HU" sz="2400" b="1" dirty="0">
                        <a:solidFill>
                          <a:srgbClr val="2D6497"/>
                        </a:solidFill>
                        <a:latin typeface="Candara" panose="020E0502030303020204" pitchFamily="34" charset="0"/>
                      </a:rPr>
                      <a:t>2</a:t>
                    </a:r>
                    <a:endParaRPr lang="hu-HU" sz="2400" b="1" baseline="-25000" dirty="0">
                      <a:solidFill>
                        <a:srgbClr val="2D6497"/>
                      </a:solidFill>
                      <a:latin typeface="Candara" panose="020E0502030303020204" pitchFamily="34" charset="0"/>
                    </a:endParaRPr>
                  </a:p>
                </p:txBody>
              </p:sp>
              <p:sp>
                <p:nvSpPr>
                  <p:cNvPr id="28" name="Szövegdoboz 27">
                    <a:extLst>
                      <a:ext uri="{FF2B5EF4-FFF2-40B4-BE49-F238E27FC236}">
                        <a16:creationId xmlns:a16="http://schemas.microsoft.com/office/drawing/2014/main" id="{EEF257B5-3001-7DA0-FBEA-AC3D27B3BD15}"/>
                      </a:ext>
                    </a:extLst>
                  </p:cNvPr>
                  <p:cNvSpPr txBox="1"/>
                  <p:nvPr/>
                </p:nvSpPr>
                <p:spPr>
                  <a:xfrm>
                    <a:off x="3687052" y="3446374"/>
                    <a:ext cx="718466" cy="46166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hu-HU" sz="2400" b="1" dirty="0">
                        <a:solidFill>
                          <a:srgbClr val="2D6497"/>
                        </a:solidFill>
                        <a:latin typeface="Candara" panose="020E0502030303020204" pitchFamily="34" charset="0"/>
                      </a:rPr>
                      <a:t>80 $</a:t>
                    </a:r>
                    <a:endParaRPr lang="hu-HU" sz="2400" b="1" baseline="-25000" dirty="0">
                      <a:solidFill>
                        <a:srgbClr val="2D6497"/>
                      </a:solidFill>
                      <a:latin typeface="Candara" panose="020E0502030303020204" pitchFamily="34" charset="0"/>
                    </a:endParaRPr>
                  </a:p>
                </p:txBody>
              </p:sp>
            </p:grpSp>
          </p:grpSp>
          <p:grpSp>
            <p:nvGrpSpPr>
              <p:cNvPr id="13" name="Csoportba foglalás 12">
                <a:extLst>
                  <a:ext uri="{FF2B5EF4-FFF2-40B4-BE49-F238E27FC236}">
                    <a16:creationId xmlns:a16="http://schemas.microsoft.com/office/drawing/2014/main" id="{C4E50A6E-C611-0ECF-C4F3-8F8294D911D6}"/>
                  </a:ext>
                </a:extLst>
              </p:cNvPr>
              <p:cNvGrpSpPr/>
              <p:nvPr/>
            </p:nvGrpSpPr>
            <p:grpSpPr>
              <a:xfrm>
                <a:off x="8119037" y="2646229"/>
                <a:ext cx="349776" cy="736165"/>
                <a:chOff x="8119037" y="2646229"/>
                <a:chExt cx="349776" cy="736165"/>
              </a:xfrm>
            </p:grpSpPr>
            <p:cxnSp>
              <p:nvCxnSpPr>
                <p:cNvPr id="14" name="Egyenes összekötő 13">
                  <a:extLst>
                    <a:ext uri="{FF2B5EF4-FFF2-40B4-BE49-F238E27FC236}">
                      <a16:creationId xmlns:a16="http://schemas.microsoft.com/office/drawing/2014/main" id="{40EABB62-B93B-1C10-0CFE-1DC8B47C6A4F}"/>
                    </a:ext>
                  </a:extLst>
                </p:cNvPr>
                <p:cNvCxnSpPr/>
                <p:nvPr/>
              </p:nvCxnSpPr>
              <p:spPr>
                <a:xfrm flipV="1">
                  <a:off x="8286797" y="3166394"/>
                  <a:ext cx="0" cy="21600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5" name="Szövegdoboz 14">
                  <a:extLst>
                    <a:ext uri="{FF2B5EF4-FFF2-40B4-BE49-F238E27FC236}">
                      <a16:creationId xmlns:a16="http://schemas.microsoft.com/office/drawing/2014/main" id="{6DDE5FBC-FAD8-8C6D-0462-0BB69CA3CB23}"/>
                    </a:ext>
                  </a:extLst>
                </p:cNvPr>
                <p:cNvSpPr txBox="1"/>
                <p:nvPr/>
              </p:nvSpPr>
              <p:spPr>
                <a:xfrm>
                  <a:off x="8119037" y="2646229"/>
                  <a:ext cx="349776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hu-HU" sz="2400" b="1" dirty="0">
                      <a:solidFill>
                        <a:srgbClr val="2D6497"/>
                      </a:solidFill>
                      <a:latin typeface="Candara" panose="020E0502030303020204" pitchFamily="34" charset="0"/>
                    </a:rPr>
                    <a:t>9</a:t>
                  </a:r>
                  <a:endParaRPr lang="hu-HU" sz="2400" b="1" baseline="-25000" dirty="0">
                    <a:solidFill>
                      <a:srgbClr val="2D6497"/>
                    </a:solidFill>
                    <a:latin typeface="Candara" panose="020E0502030303020204" pitchFamily="34" charset="0"/>
                  </a:endParaRPr>
                </a:p>
              </p:txBody>
            </p:sp>
          </p:grpSp>
        </p:grpSp>
      </p:grpSp>
      <p:sp>
        <p:nvSpPr>
          <p:cNvPr id="30" name="Szövegdoboz 29">
            <a:extLst>
              <a:ext uri="{FF2B5EF4-FFF2-40B4-BE49-F238E27FC236}">
                <a16:creationId xmlns:a16="http://schemas.microsoft.com/office/drawing/2014/main" id="{F11A1DAD-EEA6-FA05-F68B-511408ED85B9}"/>
              </a:ext>
            </a:extLst>
          </p:cNvPr>
          <p:cNvSpPr txBox="1"/>
          <p:nvPr/>
        </p:nvSpPr>
        <p:spPr>
          <a:xfrm>
            <a:off x="4583810" y="2454062"/>
            <a:ext cx="33855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2400" b="1" baseline="-25000" dirty="0">
                <a:solidFill>
                  <a:srgbClr val="2D6497"/>
                </a:solidFill>
                <a:latin typeface="Candara" panose="020E0502030303020204" pitchFamily="34" charset="0"/>
              </a:rPr>
              <a:t>...</a:t>
            </a:r>
          </a:p>
        </p:txBody>
      </p:sp>
      <p:sp>
        <p:nvSpPr>
          <p:cNvPr id="32" name="Szövegdoboz 31">
            <a:extLst>
              <a:ext uri="{FF2B5EF4-FFF2-40B4-BE49-F238E27FC236}">
                <a16:creationId xmlns:a16="http://schemas.microsoft.com/office/drawing/2014/main" id="{A14FDAA0-FF64-391F-783F-7B33C8D23257}"/>
              </a:ext>
            </a:extLst>
          </p:cNvPr>
          <p:cNvSpPr txBox="1"/>
          <p:nvPr/>
        </p:nvSpPr>
        <p:spPr>
          <a:xfrm>
            <a:off x="-43919" y="3304555"/>
            <a:ext cx="12077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Kamat</a:t>
            </a:r>
          </a:p>
        </p:txBody>
      </p:sp>
      <p:sp>
        <p:nvSpPr>
          <p:cNvPr id="33" name="Szövegdoboz 32">
            <a:extLst>
              <a:ext uri="{FF2B5EF4-FFF2-40B4-BE49-F238E27FC236}">
                <a16:creationId xmlns:a16="http://schemas.microsoft.com/office/drawing/2014/main" id="{DB53FA03-E5EA-B5FF-D128-E02BA6E72033}"/>
              </a:ext>
            </a:extLst>
          </p:cNvPr>
          <p:cNvSpPr txBox="1"/>
          <p:nvPr/>
        </p:nvSpPr>
        <p:spPr>
          <a:xfrm>
            <a:off x="-94273" y="3718656"/>
            <a:ext cx="104192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Névérték</a:t>
            </a:r>
          </a:p>
        </p:txBody>
      </p:sp>
      <p:sp>
        <p:nvSpPr>
          <p:cNvPr id="34" name="Szövegdoboz 33">
            <a:extLst>
              <a:ext uri="{FF2B5EF4-FFF2-40B4-BE49-F238E27FC236}">
                <a16:creationId xmlns:a16="http://schemas.microsoft.com/office/drawing/2014/main" id="{C8EFEF40-6076-0DD5-7597-07B68AF337DF}"/>
              </a:ext>
            </a:extLst>
          </p:cNvPr>
          <p:cNvSpPr txBox="1"/>
          <p:nvPr/>
        </p:nvSpPr>
        <p:spPr>
          <a:xfrm>
            <a:off x="-94273" y="4102850"/>
            <a:ext cx="114998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Összesen</a:t>
            </a:r>
          </a:p>
        </p:txBody>
      </p:sp>
      <p:sp>
        <p:nvSpPr>
          <p:cNvPr id="35" name="Szövegdoboz 34">
            <a:extLst>
              <a:ext uri="{FF2B5EF4-FFF2-40B4-BE49-F238E27FC236}">
                <a16:creationId xmlns:a16="http://schemas.microsoft.com/office/drawing/2014/main" id="{78DD64DC-BA64-0791-1EC9-F8079AE2F4F8}"/>
              </a:ext>
            </a:extLst>
          </p:cNvPr>
          <p:cNvSpPr txBox="1"/>
          <p:nvPr/>
        </p:nvSpPr>
        <p:spPr>
          <a:xfrm>
            <a:off x="2976382" y="3210667"/>
            <a:ext cx="7184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2400" b="1" dirty="0">
                <a:solidFill>
                  <a:srgbClr val="2D6497"/>
                </a:solidFill>
                <a:latin typeface="Candara" panose="020E0502030303020204" pitchFamily="34" charset="0"/>
              </a:rPr>
              <a:t>80 $</a:t>
            </a:r>
            <a:endParaRPr lang="hu-HU" sz="2400" b="1" baseline="-25000" dirty="0">
              <a:solidFill>
                <a:srgbClr val="2D6497"/>
              </a:solidFill>
              <a:latin typeface="Candara" panose="020E0502030303020204" pitchFamily="34" charset="0"/>
            </a:endParaRPr>
          </a:p>
        </p:txBody>
      </p:sp>
      <p:sp>
        <p:nvSpPr>
          <p:cNvPr id="36" name="Szövegdoboz 35">
            <a:extLst>
              <a:ext uri="{FF2B5EF4-FFF2-40B4-BE49-F238E27FC236}">
                <a16:creationId xmlns:a16="http://schemas.microsoft.com/office/drawing/2014/main" id="{57EE8CF9-A4F5-C391-2A38-6960628CD642}"/>
              </a:ext>
            </a:extLst>
          </p:cNvPr>
          <p:cNvSpPr txBox="1"/>
          <p:nvPr/>
        </p:nvSpPr>
        <p:spPr>
          <a:xfrm>
            <a:off x="5863510" y="3201315"/>
            <a:ext cx="7184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2400" b="1" dirty="0">
                <a:solidFill>
                  <a:srgbClr val="2D6497"/>
                </a:solidFill>
                <a:latin typeface="Candara" panose="020E0502030303020204" pitchFamily="34" charset="0"/>
              </a:rPr>
              <a:t>80 $</a:t>
            </a:r>
            <a:endParaRPr lang="hu-HU" sz="2400" b="1" baseline="-25000" dirty="0">
              <a:solidFill>
                <a:srgbClr val="2D6497"/>
              </a:solidFill>
              <a:latin typeface="Candara" panose="020E0502030303020204" pitchFamily="34" charset="0"/>
            </a:endParaRPr>
          </a:p>
        </p:txBody>
      </p:sp>
      <p:sp>
        <p:nvSpPr>
          <p:cNvPr id="37" name="Szövegdoboz 36">
            <a:extLst>
              <a:ext uri="{FF2B5EF4-FFF2-40B4-BE49-F238E27FC236}">
                <a16:creationId xmlns:a16="http://schemas.microsoft.com/office/drawing/2014/main" id="{11E7E121-319C-D897-1190-48ABE4FD7420}"/>
              </a:ext>
            </a:extLst>
          </p:cNvPr>
          <p:cNvSpPr txBox="1"/>
          <p:nvPr/>
        </p:nvSpPr>
        <p:spPr>
          <a:xfrm>
            <a:off x="7296382" y="3206795"/>
            <a:ext cx="7184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2400" b="1" dirty="0">
                <a:solidFill>
                  <a:srgbClr val="2D6497"/>
                </a:solidFill>
                <a:latin typeface="Candara" panose="020E0502030303020204" pitchFamily="34" charset="0"/>
              </a:rPr>
              <a:t>80 $</a:t>
            </a:r>
            <a:endParaRPr lang="hu-HU" sz="2400" b="1" baseline="-25000" dirty="0">
              <a:solidFill>
                <a:srgbClr val="2D6497"/>
              </a:solidFill>
              <a:latin typeface="Candara" panose="020E0502030303020204" pitchFamily="34" charset="0"/>
            </a:endParaRPr>
          </a:p>
        </p:txBody>
      </p:sp>
      <p:sp>
        <p:nvSpPr>
          <p:cNvPr id="38" name="Szövegdoboz 37">
            <a:extLst>
              <a:ext uri="{FF2B5EF4-FFF2-40B4-BE49-F238E27FC236}">
                <a16:creationId xmlns:a16="http://schemas.microsoft.com/office/drawing/2014/main" id="{B10456D9-6C8A-4B21-EE43-7CFCDF468D71}"/>
              </a:ext>
            </a:extLst>
          </p:cNvPr>
          <p:cNvSpPr txBox="1"/>
          <p:nvPr/>
        </p:nvSpPr>
        <p:spPr>
          <a:xfrm>
            <a:off x="7128868" y="3615199"/>
            <a:ext cx="10534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2400" b="1" dirty="0">
                <a:solidFill>
                  <a:srgbClr val="2D6497"/>
                </a:solidFill>
                <a:latin typeface="Candara" panose="020E0502030303020204" pitchFamily="34" charset="0"/>
              </a:rPr>
              <a:t>1 000 $</a:t>
            </a:r>
            <a:endParaRPr lang="hu-HU" sz="2400" b="1" baseline="-25000" dirty="0">
              <a:solidFill>
                <a:srgbClr val="2D6497"/>
              </a:solidFill>
              <a:latin typeface="Candara" panose="020E0502030303020204" pitchFamily="34" charset="0"/>
            </a:endParaRPr>
          </a:p>
        </p:txBody>
      </p:sp>
      <p:cxnSp>
        <p:nvCxnSpPr>
          <p:cNvPr id="40" name="Egyenes összekötő 39">
            <a:extLst>
              <a:ext uri="{FF2B5EF4-FFF2-40B4-BE49-F238E27FC236}">
                <a16:creationId xmlns:a16="http://schemas.microsoft.com/office/drawing/2014/main" id="{B2427D65-44EE-8BF1-11CE-849D65E90509}"/>
              </a:ext>
            </a:extLst>
          </p:cNvPr>
          <p:cNvCxnSpPr/>
          <p:nvPr/>
        </p:nvCxnSpPr>
        <p:spPr>
          <a:xfrm>
            <a:off x="0" y="4035299"/>
            <a:ext cx="9144000" cy="25986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Szövegdoboz 40">
            <a:extLst>
              <a:ext uri="{FF2B5EF4-FFF2-40B4-BE49-F238E27FC236}">
                <a16:creationId xmlns:a16="http://schemas.microsoft.com/office/drawing/2014/main" id="{23B3BEDE-1A5B-56AD-F5C9-E56EAE1A7518}"/>
              </a:ext>
            </a:extLst>
          </p:cNvPr>
          <p:cNvSpPr txBox="1"/>
          <p:nvPr/>
        </p:nvSpPr>
        <p:spPr>
          <a:xfrm>
            <a:off x="1534779" y="4025905"/>
            <a:ext cx="7184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2400" b="1" dirty="0">
                <a:solidFill>
                  <a:srgbClr val="2D6497"/>
                </a:solidFill>
                <a:latin typeface="Candara" panose="020E0502030303020204" pitchFamily="34" charset="0"/>
              </a:rPr>
              <a:t>80 $</a:t>
            </a:r>
            <a:endParaRPr lang="hu-HU" sz="2400" b="1" baseline="-25000" dirty="0">
              <a:solidFill>
                <a:srgbClr val="2D6497"/>
              </a:solidFill>
              <a:latin typeface="Candara" panose="020E0502030303020204" pitchFamily="34" charset="0"/>
            </a:endParaRPr>
          </a:p>
        </p:txBody>
      </p:sp>
      <p:sp>
        <p:nvSpPr>
          <p:cNvPr id="42" name="Szövegdoboz 41">
            <a:extLst>
              <a:ext uri="{FF2B5EF4-FFF2-40B4-BE49-F238E27FC236}">
                <a16:creationId xmlns:a16="http://schemas.microsoft.com/office/drawing/2014/main" id="{4A5DE450-625E-DD14-BB38-64E5192FA09A}"/>
              </a:ext>
            </a:extLst>
          </p:cNvPr>
          <p:cNvSpPr txBox="1"/>
          <p:nvPr/>
        </p:nvSpPr>
        <p:spPr>
          <a:xfrm>
            <a:off x="2936846" y="4025904"/>
            <a:ext cx="7184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2400" b="1" dirty="0">
                <a:solidFill>
                  <a:srgbClr val="2D6497"/>
                </a:solidFill>
                <a:latin typeface="Candara" panose="020E0502030303020204" pitchFamily="34" charset="0"/>
              </a:rPr>
              <a:t>80 $</a:t>
            </a:r>
            <a:endParaRPr lang="hu-HU" sz="2400" b="1" baseline="-25000" dirty="0">
              <a:solidFill>
                <a:srgbClr val="2D6497"/>
              </a:solidFill>
              <a:latin typeface="Candara" panose="020E0502030303020204" pitchFamily="34" charset="0"/>
            </a:endParaRPr>
          </a:p>
        </p:txBody>
      </p:sp>
      <p:sp>
        <p:nvSpPr>
          <p:cNvPr id="43" name="Szövegdoboz 42">
            <a:extLst>
              <a:ext uri="{FF2B5EF4-FFF2-40B4-BE49-F238E27FC236}">
                <a16:creationId xmlns:a16="http://schemas.microsoft.com/office/drawing/2014/main" id="{464E2B14-F59B-2A71-BB1D-9FF4BA155E12}"/>
              </a:ext>
            </a:extLst>
          </p:cNvPr>
          <p:cNvSpPr txBox="1"/>
          <p:nvPr/>
        </p:nvSpPr>
        <p:spPr>
          <a:xfrm>
            <a:off x="5856382" y="4025904"/>
            <a:ext cx="7184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2400" b="1" dirty="0">
                <a:solidFill>
                  <a:srgbClr val="2D6497"/>
                </a:solidFill>
                <a:latin typeface="Candara" panose="020E0502030303020204" pitchFamily="34" charset="0"/>
              </a:rPr>
              <a:t>80 $</a:t>
            </a:r>
            <a:endParaRPr lang="hu-HU" sz="2400" b="1" baseline="-25000" dirty="0">
              <a:solidFill>
                <a:srgbClr val="2D6497"/>
              </a:solidFill>
              <a:latin typeface="Candara" panose="020E0502030303020204" pitchFamily="34" charset="0"/>
            </a:endParaRPr>
          </a:p>
        </p:txBody>
      </p:sp>
      <p:sp>
        <p:nvSpPr>
          <p:cNvPr id="44" name="Szövegdoboz 43">
            <a:extLst>
              <a:ext uri="{FF2B5EF4-FFF2-40B4-BE49-F238E27FC236}">
                <a16:creationId xmlns:a16="http://schemas.microsoft.com/office/drawing/2014/main" id="{AAD72CC8-DF0C-4DF4-549D-63206DB575A3}"/>
              </a:ext>
            </a:extLst>
          </p:cNvPr>
          <p:cNvSpPr txBox="1"/>
          <p:nvPr/>
        </p:nvSpPr>
        <p:spPr>
          <a:xfrm>
            <a:off x="7128868" y="4023603"/>
            <a:ext cx="10534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2400" b="1" dirty="0">
                <a:solidFill>
                  <a:srgbClr val="2D6497"/>
                </a:solidFill>
                <a:latin typeface="Candara" panose="020E0502030303020204" pitchFamily="34" charset="0"/>
              </a:rPr>
              <a:t>1 080 $</a:t>
            </a:r>
            <a:endParaRPr lang="hu-HU" sz="2400" b="1" baseline="-25000" dirty="0">
              <a:solidFill>
                <a:srgbClr val="2D6497"/>
              </a:solidFill>
              <a:latin typeface="Candara" panose="020E0502030303020204" pitchFamily="34" charset="0"/>
            </a:endParaRPr>
          </a:p>
        </p:txBody>
      </p:sp>
      <p:sp>
        <p:nvSpPr>
          <p:cNvPr id="45" name="Szövegdoboz 44">
            <a:extLst>
              <a:ext uri="{FF2B5EF4-FFF2-40B4-BE49-F238E27FC236}">
                <a16:creationId xmlns:a16="http://schemas.microsoft.com/office/drawing/2014/main" id="{25FE38A9-8F02-06A9-0B3B-AA7A22935A5E}"/>
              </a:ext>
            </a:extLst>
          </p:cNvPr>
          <p:cNvSpPr txBox="1"/>
          <p:nvPr/>
        </p:nvSpPr>
        <p:spPr>
          <a:xfrm>
            <a:off x="4542465" y="3219316"/>
            <a:ext cx="33855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2400" b="1" baseline="-25000" dirty="0">
                <a:solidFill>
                  <a:srgbClr val="2D6497"/>
                </a:solidFill>
                <a:latin typeface="Candara" panose="020E0502030303020204" pitchFamily="34" charset="0"/>
              </a:rPr>
              <a:t>...</a:t>
            </a:r>
          </a:p>
        </p:txBody>
      </p:sp>
      <p:sp>
        <p:nvSpPr>
          <p:cNvPr id="46" name="Szövegdoboz 45">
            <a:extLst>
              <a:ext uri="{FF2B5EF4-FFF2-40B4-BE49-F238E27FC236}">
                <a16:creationId xmlns:a16="http://schemas.microsoft.com/office/drawing/2014/main" id="{02175CA9-423C-1B19-C397-5F991D386946}"/>
              </a:ext>
            </a:extLst>
          </p:cNvPr>
          <p:cNvSpPr txBox="1"/>
          <p:nvPr/>
        </p:nvSpPr>
        <p:spPr>
          <a:xfrm>
            <a:off x="4529272" y="4039974"/>
            <a:ext cx="33855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2400" b="1" baseline="-25000" dirty="0">
                <a:solidFill>
                  <a:srgbClr val="2D6497"/>
                </a:solidFill>
                <a:latin typeface="Candara" panose="020E0502030303020204" pitchFamily="34" charset="0"/>
              </a:rPr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1768761632"/>
      </p:ext>
    </p:extLst>
  </p:cSld>
  <p:clrMapOvr>
    <a:masterClrMapping/>
  </p:clrMapOvr>
  <p:transition spd="slow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32" grpId="0"/>
      <p:bldP spid="33" grpId="0"/>
      <p:bldP spid="34" grpId="0"/>
      <p:bldP spid="35" grpId="0"/>
      <p:bldP spid="36" grpId="0"/>
      <p:bldP spid="37" grpId="0"/>
      <p:bldP spid="38" grpId="0"/>
      <p:bldP spid="41" grpId="0"/>
      <p:bldP spid="42" grpId="0"/>
      <p:bldP spid="43" grpId="0"/>
      <p:bldP spid="44" grpId="0"/>
      <p:bldP spid="45" grpId="0"/>
      <p:bldP spid="4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>
          <a:extLst>
            <a:ext uri="{FF2B5EF4-FFF2-40B4-BE49-F238E27FC236}">
              <a16:creationId xmlns:a16="http://schemas.microsoft.com/office/drawing/2014/main" id="{34234298-855F-F53F-D1F1-810104854D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Shape 182">
            <a:extLst>
              <a:ext uri="{FF2B5EF4-FFF2-40B4-BE49-F238E27FC236}">
                <a16:creationId xmlns:a16="http://schemas.microsoft.com/office/drawing/2014/main" id="{0D86F441-4E86-AE31-65D9-2E7F853BE5A6}"/>
              </a:ext>
            </a:extLst>
          </p:cNvPr>
          <p:cNvSpPr txBox="1"/>
          <p:nvPr/>
        </p:nvSpPr>
        <p:spPr>
          <a:xfrm>
            <a:off x="280727" y="1402835"/>
            <a:ext cx="8394000" cy="2238351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228584">
              <a:spcBef>
                <a:spcPts val="400"/>
              </a:spcBef>
              <a:buClr>
                <a:srgbClr val="CCCCCC"/>
              </a:buClr>
            </a:pPr>
            <a:r>
              <a:rPr lang="hu-HU" sz="1800" dirty="0" err="1">
                <a:solidFill>
                  <a:schemeClr val="dk2"/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 Semilight" panose="020B0402040204020203" pitchFamily="34" charset="0"/>
                <a:sym typeface="Source Sans Pro"/>
              </a:rPr>
              <a:t>Xanth</a:t>
            </a:r>
            <a:r>
              <a:rPr lang="hu-HU" sz="1800" dirty="0">
                <a:solidFill>
                  <a:schemeClr val="dk2"/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 Semilight" panose="020B0402040204020203" pitchFamily="34" charset="0"/>
                <a:sym typeface="Source Sans Pro"/>
              </a:rPr>
              <a:t> Co. vállalat 10 éves lejáratú 1 000 $ névértékű kötvényt bocsát ki. Éves kuponja(kamata) 80$. Hasonló kötvények elvárt hozama 7%. Kibocsátáskor mennyiért lehetne eladni a kötvényt? Írjuk fel a pénzáramlásokat, és értékeljük azokat! </a:t>
            </a:r>
            <a:r>
              <a:rPr lang="hu-HU" sz="1800" b="1" i="1" dirty="0">
                <a:solidFill>
                  <a:schemeClr val="accent5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 Semilight" panose="020B0402040204020203" pitchFamily="34" charset="0"/>
                <a:sym typeface="Source Sans Pro"/>
              </a:rPr>
              <a:t>Érdemes-e a kötvényt 105%-os árfolyamon megvásárolni?</a:t>
            </a:r>
          </a:p>
          <a:p>
            <a:pPr marL="228584">
              <a:spcBef>
                <a:spcPts val="400"/>
              </a:spcBef>
              <a:buClr>
                <a:srgbClr val="CCCCCC"/>
              </a:buClr>
            </a:pPr>
            <a:endParaRPr lang="hu" sz="1800" dirty="0">
              <a:solidFill>
                <a:schemeClr val="dk2"/>
              </a:solidFill>
              <a:latin typeface="Segoe UI Semilight" panose="020B0402040204020203" pitchFamily="34" charset="0"/>
              <a:ea typeface="Source Sans Pro"/>
              <a:cs typeface="Segoe UI Semilight" panose="020B0402040204020203" pitchFamily="34" charset="0"/>
              <a:sym typeface="Source Sans Pro"/>
            </a:endParaRPr>
          </a:p>
          <a:p>
            <a:pPr marL="228583">
              <a:spcBef>
                <a:spcPts val="400"/>
              </a:spcBef>
              <a:buClr>
                <a:srgbClr val="CCCCCC"/>
              </a:buClr>
            </a:pPr>
            <a:endParaRPr lang="hu" sz="1800" dirty="0">
              <a:solidFill>
                <a:schemeClr val="dk2"/>
              </a:solidFill>
              <a:latin typeface="Segoe UI Semilight" panose="020B0402040204020203" pitchFamily="34" charset="0"/>
              <a:ea typeface="Source Sans Pro"/>
              <a:cs typeface="Segoe UI Semilight" panose="020B0402040204020203" pitchFamily="34" charset="0"/>
              <a:sym typeface="Source Sans Pro"/>
            </a:endParaRPr>
          </a:p>
        </p:txBody>
      </p:sp>
      <p:sp>
        <p:nvSpPr>
          <p:cNvPr id="7" name="Téglalap 6">
            <a:extLst>
              <a:ext uri="{FF2B5EF4-FFF2-40B4-BE49-F238E27FC236}">
                <a16:creationId xmlns:a16="http://schemas.microsoft.com/office/drawing/2014/main" id="{CEEE13E6-976C-6AFD-453C-C13926EB07A8}"/>
              </a:ext>
            </a:extLst>
          </p:cNvPr>
          <p:cNvSpPr/>
          <p:nvPr/>
        </p:nvSpPr>
        <p:spPr>
          <a:xfrm flipV="1">
            <a:off x="287855" y="562666"/>
            <a:ext cx="98192" cy="33742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>
              <a:highlight>
                <a:srgbClr val="757575"/>
              </a:highlight>
            </a:endParaRPr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60FE655B-7490-A911-6827-96ABBD492A8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86047" y="444500"/>
            <a:ext cx="8521700" cy="573088"/>
          </a:xfrm>
        </p:spPr>
        <p:txBody>
          <a:bodyPr/>
          <a:lstStyle/>
          <a:p>
            <a:r>
              <a:rPr lang="hu-HU" dirty="0"/>
              <a:t>1.PÉLDA</a:t>
            </a:r>
            <a:br>
              <a:rPr lang="hu-HU" dirty="0"/>
            </a:br>
            <a:r>
              <a:rPr lang="hu-HU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Végtörlesztéses kamatozó kötvény értékelése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zövegdoboz 2">
                <a:extLst>
                  <a:ext uri="{FF2B5EF4-FFF2-40B4-BE49-F238E27FC236}">
                    <a16:creationId xmlns:a16="http://schemas.microsoft.com/office/drawing/2014/main" id="{D65334EB-460F-905A-2D2C-D67FA55E7EF8}"/>
                  </a:ext>
                </a:extLst>
              </p:cNvPr>
              <p:cNvSpPr txBox="1"/>
              <p:nvPr/>
            </p:nvSpPr>
            <p:spPr>
              <a:xfrm>
                <a:off x="606829" y="2758843"/>
                <a:ext cx="3624349" cy="571760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34925">
                <a:solidFill>
                  <a:srgbClr val="C0000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hu-H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hu-HU" b="1">
                              <a:latin typeface="Cambria Math" panose="02040503050406030204" pitchFamily="18" charset="0"/>
                            </a:rPr>
                            <m:t>𝐏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hu-HU">
                              <a:latin typeface="Cambria Math" panose="02040503050406030204" pitchFamily="18" charset="0"/>
                            </a:rPr>
                            <m:t>k</m:t>
                          </m:r>
                          <m:r>
                            <a:rPr lang="hu-HU">
                              <a:latin typeface="Cambria Math" panose="02040503050406030204" pitchFamily="18" charset="0"/>
                            </a:rPr>
                            <m:t>ö</m:t>
                          </m:r>
                          <m:r>
                            <m:rPr>
                              <m:sty m:val="p"/>
                            </m:rPr>
                            <a:rPr lang="hu-HU">
                              <a:latin typeface="Cambria Math" panose="02040503050406030204" pitchFamily="18" charset="0"/>
                            </a:rPr>
                            <m:t>tv</m:t>
                          </m:r>
                          <m:r>
                            <a:rPr lang="hu-HU">
                              <a:latin typeface="Cambria Math" panose="02040503050406030204" pitchFamily="18" charset="0"/>
                            </a:rPr>
                            <m:t>é</m:t>
                          </m:r>
                          <m:r>
                            <m:rPr>
                              <m:sty m:val="p"/>
                            </m:rPr>
                            <a:rPr lang="hu-HU">
                              <a:latin typeface="Cambria Math" panose="02040503050406030204" pitchFamily="18" charset="0"/>
                            </a:rPr>
                            <m:t>ny</m:t>
                          </m:r>
                        </m:sub>
                      </m:sSub>
                      <m:r>
                        <a:rPr lang="hu-HU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hu-HU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hu-HU" i="1" dirty="0">
                              <a:latin typeface="Cambria Math" panose="02040503050406030204" pitchFamily="18" charset="0"/>
                            </a:rPr>
                            <m:t>𝐶</m:t>
                          </m:r>
                        </m:num>
                        <m:den>
                          <m:r>
                            <a:rPr lang="hu-HU" i="1" dirty="0">
                              <a:latin typeface="Cambria Math" panose="02040503050406030204" pitchFamily="18" charset="0"/>
                            </a:rPr>
                            <m:t>𝑟</m:t>
                          </m:r>
                        </m:den>
                      </m:f>
                      <m:r>
                        <a:rPr lang="hu-HU" i="1">
                          <a:latin typeface="Cambria Math" panose="02040503050406030204" pitchFamily="18" charset="0"/>
                        </a:rPr>
                        <m:t>∙</m:t>
                      </m:r>
                      <m:d>
                        <m:dPr>
                          <m:begChr m:val="["/>
                          <m:endChr m:val="]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hu-HU" i="1">
                              <a:latin typeface="Cambria Math" panose="02040503050406030204" pitchFamily="18" charset="0"/>
                            </a:rPr>
                            <m:t>1−</m:t>
                          </m:r>
                          <m:f>
                            <m:f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hu-HU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hu-HU" i="1"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  <m:r>
                                        <a:rPr lang="hu-HU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hu-HU" i="1">
                                          <a:latin typeface="Cambria Math" panose="02040503050406030204" pitchFamily="18" charset="0"/>
                                        </a:rPr>
                                        <m:t>𝒓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hu-HU" i="1">
                                      <a:latin typeface="Cambria Math" panose="02040503050406030204" pitchFamily="18" charset="0"/>
                                    </a:rPr>
                                    <m:t>𝒕</m:t>
                                  </m:r>
                                </m:sup>
                              </m:sSup>
                            </m:den>
                          </m:f>
                        </m:e>
                      </m:d>
                      <m:r>
                        <a:rPr lang="hu-HU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hu-HU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hu-HU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P</m:t>
                          </m:r>
                          <m:r>
                            <m:rPr>
                              <m:sty m:val="p"/>
                            </m:rPr>
                            <a:rPr lang="hu-HU" i="1" baseline="-250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n</m:t>
                          </m:r>
                        </m:num>
                        <m:den>
                          <m:sSup>
                            <m:sSupPr>
                              <m:ctrlPr>
                                <a:rPr lang="hu-HU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hu-HU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(1+</m:t>
                              </m:r>
                              <m:r>
                                <a:rPr lang="hu-HU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a:rPr lang="hu-HU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hu-HU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n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hu-HU" dirty="0"/>
              </a:p>
            </p:txBody>
          </p:sp>
        </mc:Choice>
        <mc:Fallback xmlns="">
          <p:sp>
            <p:nvSpPr>
              <p:cNvPr id="3" name="Szövegdoboz 2">
                <a:extLst>
                  <a:ext uri="{FF2B5EF4-FFF2-40B4-BE49-F238E27FC236}">
                    <a16:creationId xmlns:a16="http://schemas.microsoft.com/office/drawing/2014/main" id="{D65334EB-460F-905A-2D2C-D67FA55E7E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6829" y="2758843"/>
                <a:ext cx="3624349" cy="57176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34925"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Szövegdoboz 4">
                <a:extLst>
                  <a:ext uri="{FF2B5EF4-FFF2-40B4-BE49-F238E27FC236}">
                    <a16:creationId xmlns:a16="http://schemas.microsoft.com/office/drawing/2014/main" id="{E4FC7FCB-6CAD-077D-2AAD-2AA690F7F4CD}"/>
                  </a:ext>
                </a:extLst>
              </p:cNvPr>
              <p:cNvSpPr txBox="1"/>
              <p:nvPr/>
            </p:nvSpPr>
            <p:spPr>
              <a:xfrm>
                <a:off x="133002" y="3559459"/>
                <a:ext cx="6134793" cy="5717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hu-HU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hu-HU" sz="1400" b="1" i="0">
                              <a:latin typeface="Cambria Math" panose="02040503050406030204" pitchFamily="18" charset="0"/>
                            </a:rPr>
                            <m:t>𝐏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hu-HU" sz="1400" b="0" i="0" smtClean="0">
                              <a:latin typeface="Cambria Math" panose="02040503050406030204" pitchFamily="18" charset="0"/>
                            </a:rPr>
                            <m:t>k</m:t>
                          </m:r>
                          <m:r>
                            <a:rPr lang="hu-HU" sz="1400" b="0" i="0" smtClean="0">
                              <a:latin typeface="Cambria Math" panose="02040503050406030204" pitchFamily="18" charset="0"/>
                            </a:rPr>
                            <m:t>ö</m:t>
                          </m:r>
                          <m:r>
                            <m:rPr>
                              <m:sty m:val="p"/>
                            </m:rPr>
                            <a:rPr lang="hu-HU" sz="1400" b="0" i="0" smtClean="0">
                              <a:latin typeface="Cambria Math" panose="02040503050406030204" pitchFamily="18" charset="0"/>
                            </a:rPr>
                            <m:t>tv</m:t>
                          </m:r>
                          <m:r>
                            <a:rPr lang="hu-HU" sz="1400" b="0" i="0" smtClean="0">
                              <a:latin typeface="Cambria Math" panose="02040503050406030204" pitchFamily="18" charset="0"/>
                            </a:rPr>
                            <m:t>é</m:t>
                          </m:r>
                          <m:r>
                            <m:rPr>
                              <m:sty m:val="p"/>
                            </m:rPr>
                            <a:rPr lang="hu-HU" sz="1400" b="0" i="0" smtClean="0">
                              <a:latin typeface="Cambria Math" panose="02040503050406030204" pitchFamily="18" charset="0"/>
                            </a:rPr>
                            <m:t>ny</m:t>
                          </m:r>
                        </m:sub>
                      </m:sSub>
                      <m:r>
                        <a:rPr lang="hu-HU" sz="1400" b="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hu-HU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hu-HU" b="0" i="1" dirty="0" smtClean="0">
                              <a:latin typeface="Cambria Math" panose="02040503050406030204" pitchFamily="18" charset="0"/>
                            </a:rPr>
                            <m:t>80</m:t>
                          </m:r>
                        </m:num>
                        <m:den>
                          <m:r>
                            <a:rPr lang="hu-HU" b="0" i="1" dirty="0" smtClean="0">
                              <a:latin typeface="Cambria Math" panose="02040503050406030204" pitchFamily="18" charset="0"/>
                            </a:rPr>
                            <m:t>0,07</m:t>
                          </m:r>
                        </m:den>
                      </m:f>
                      <m:r>
                        <a:rPr lang="hu-HU" i="1">
                          <a:latin typeface="Cambria Math" panose="02040503050406030204" pitchFamily="18" charset="0"/>
                        </a:rPr>
                        <m:t>∙</m:t>
                      </m:r>
                      <m:d>
                        <m:dPr>
                          <m:begChr m:val="["/>
                          <m:endChr m:val="]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hu-HU" i="1">
                              <a:latin typeface="Cambria Math" panose="02040503050406030204" pitchFamily="18" charset="0"/>
                            </a:rPr>
                            <m:t>1−</m:t>
                          </m:r>
                          <m:f>
                            <m:f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hu-HU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hu-HU" i="1"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  <m:r>
                                        <a:rPr lang="hu-HU" i="1">
                                          <a:latin typeface="Cambria Math" panose="02040503050406030204" pitchFamily="18" charset="0"/>
                                        </a:rPr>
                                        <m:t>+0,07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hu-HU" b="0" i="1" smtClean="0"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sup>
                              </m:sSup>
                            </m:den>
                          </m:f>
                        </m:e>
                      </m:d>
                      <m:r>
                        <a:rPr lang="hu-HU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hu-HU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hu-HU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1 000</m:t>
                          </m:r>
                        </m:num>
                        <m:den>
                          <m:sSup>
                            <m:sSupPr>
                              <m:ctrlPr>
                                <a:rPr lang="hu-HU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hu-HU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(1+0,07)</m:t>
                              </m:r>
                            </m:e>
                            <m:sup>
                              <m:r>
                                <a:rPr lang="hu-HU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10</m:t>
                              </m:r>
                            </m:sup>
                          </m:sSup>
                        </m:den>
                      </m:f>
                      <m:r>
                        <a:rPr lang="hu-HU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=1 070, 24 $</m:t>
                      </m:r>
                    </m:oMath>
                  </m:oMathPara>
                </a14:m>
                <a:endParaRPr lang="hu-HU" dirty="0"/>
              </a:p>
            </p:txBody>
          </p:sp>
        </mc:Choice>
        <mc:Fallback xmlns="">
          <p:sp>
            <p:nvSpPr>
              <p:cNvPr id="5" name="Szövegdoboz 4">
                <a:extLst>
                  <a:ext uri="{FF2B5EF4-FFF2-40B4-BE49-F238E27FC236}">
                    <a16:creationId xmlns:a16="http://schemas.microsoft.com/office/drawing/2014/main" id="{E4FC7FCB-6CAD-077D-2AAD-2AA690F7F4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002" y="3559459"/>
                <a:ext cx="6134793" cy="571760"/>
              </a:xfrm>
              <a:prstGeom prst="rect">
                <a:avLst/>
              </a:prstGeom>
              <a:blipFill>
                <a:blip r:embed="rId4"/>
                <a:stretch>
                  <a:fillRect b="-1064"/>
                </a:stretch>
              </a:blipFill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zövegdoboz 3">
            <a:extLst>
              <a:ext uri="{FF2B5EF4-FFF2-40B4-BE49-F238E27FC236}">
                <a16:creationId xmlns:a16="http://schemas.microsoft.com/office/drawing/2014/main" id="{C5C571F6-9995-33D2-6849-02A6F8375684}"/>
              </a:ext>
            </a:extLst>
          </p:cNvPr>
          <p:cNvSpPr txBox="1"/>
          <p:nvPr/>
        </p:nvSpPr>
        <p:spPr>
          <a:xfrm>
            <a:off x="5777948" y="2589436"/>
            <a:ext cx="3282516" cy="1600438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hu-HU" b="1" i="1" dirty="0">
                <a:solidFill>
                  <a:schemeClr val="accent5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10 évig ugyanakkora összeg, ugyanolyan időközönként: ANNUITÁS</a:t>
            </a:r>
          </a:p>
          <a:p>
            <a:r>
              <a:rPr lang="hu-HU" dirty="0">
                <a:latin typeface="Cambria" panose="02040503050406030204" pitchFamily="18" charset="0"/>
                <a:ea typeface="Cambria" panose="02040503050406030204" pitchFamily="18" charset="0"/>
              </a:rPr>
              <a:t>C=80</a:t>
            </a:r>
          </a:p>
          <a:p>
            <a:r>
              <a:rPr lang="hu-HU" dirty="0">
                <a:latin typeface="Cambria" panose="02040503050406030204" pitchFamily="18" charset="0"/>
                <a:ea typeface="Cambria" panose="02040503050406030204" pitchFamily="18" charset="0"/>
              </a:rPr>
              <a:t>r=7%</a:t>
            </a:r>
          </a:p>
          <a:p>
            <a:r>
              <a:rPr lang="hu-HU" dirty="0">
                <a:latin typeface="Cambria" panose="02040503050406030204" pitchFamily="18" charset="0"/>
                <a:ea typeface="Cambria" panose="02040503050406030204" pitchFamily="18" charset="0"/>
              </a:rPr>
              <a:t>t=n=10</a:t>
            </a:r>
          </a:p>
          <a:p>
            <a:r>
              <a:rPr lang="hu-HU" dirty="0">
                <a:latin typeface="Cambria" panose="02040503050406030204" pitchFamily="18" charset="0"/>
                <a:ea typeface="Cambria" panose="02040503050406030204" pitchFamily="18" charset="0"/>
              </a:rPr>
              <a:t>A legvégén kapott névértéket pedig diszkontáljuk.</a:t>
            </a:r>
          </a:p>
        </p:txBody>
      </p:sp>
    </p:spTree>
    <p:extLst>
      <p:ext uri="{BB962C8B-B14F-4D97-AF65-F5344CB8AC3E}">
        <p14:creationId xmlns:p14="http://schemas.microsoft.com/office/powerpoint/2010/main" val="1781852725"/>
      </p:ext>
    </p:extLst>
  </p:cSld>
  <p:clrMapOvr>
    <a:masterClrMapping/>
  </p:clrMapOvr>
  <p:transition spd="slow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>
          <a:extLst>
            <a:ext uri="{FF2B5EF4-FFF2-40B4-BE49-F238E27FC236}">
              <a16:creationId xmlns:a16="http://schemas.microsoft.com/office/drawing/2014/main" id="{F683350A-FAC0-B9CA-83C8-FDC4FAB7C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Shape 182">
            <a:extLst>
              <a:ext uri="{FF2B5EF4-FFF2-40B4-BE49-F238E27FC236}">
                <a16:creationId xmlns:a16="http://schemas.microsoft.com/office/drawing/2014/main" id="{DA8734D5-4273-6A51-41B2-C7D376A8A31C}"/>
              </a:ext>
            </a:extLst>
          </p:cNvPr>
          <p:cNvSpPr txBox="1"/>
          <p:nvPr/>
        </p:nvSpPr>
        <p:spPr>
          <a:xfrm>
            <a:off x="287855" y="1639667"/>
            <a:ext cx="8394000" cy="2238351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228584">
              <a:spcBef>
                <a:spcPts val="400"/>
              </a:spcBef>
              <a:buClr>
                <a:srgbClr val="CCCCCC"/>
              </a:buClr>
            </a:pPr>
            <a:r>
              <a:rPr lang="hu-HU" sz="1800" dirty="0">
                <a:solidFill>
                  <a:schemeClr val="dk2"/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 Semilight" panose="020B0402040204020203" pitchFamily="34" charset="0"/>
                <a:sym typeface="Source Sans Pro"/>
              </a:rPr>
              <a:t>Egy amerikai 1 000 $ névértékű államkötvény </a:t>
            </a:r>
            <a:r>
              <a:rPr lang="hu-HU" sz="1800" b="1" i="1" dirty="0">
                <a:solidFill>
                  <a:schemeClr val="accent5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 Semilight" panose="020B0402040204020203" pitchFamily="34" charset="0"/>
                <a:sym typeface="Source Sans Pro"/>
              </a:rPr>
              <a:t>évente kétszer fizet kamatot</a:t>
            </a:r>
            <a:r>
              <a:rPr lang="hu-HU" sz="1800" dirty="0">
                <a:solidFill>
                  <a:schemeClr val="dk2"/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 Semilight" panose="020B0402040204020203" pitchFamily="34" charset="0"/>
                <a:sym typeface="Source Sans Pro"/>
              </a:rPr>
              <a:t>, kuponrátája(névleges kamata) 14%. Az elvárt hozam 16%. A kötvény hét év múlva jár le.</a:t>
            </a:r>
          </a:p>
          <a:p>
            <a:pPr marL="228584">
              <a:spcBef>
                <a:spcPts val="400"/>
              </a:spcBef>
              <a:buClr>
                <a:srgbClr val="CCCCCC"/>
              </a:buClr>
            </a:pPr>
            <a:r>
              <a:rPr lang="hu-HU" sz="1800" dirty="0">
                <a:solidFill>
                  <a:schemeClr val="dk2"/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 Semilight" panose="020B0402040204020203" pitchFamily="34" charset="0"/>
                <a:sym typeface="Source Sans Pro"/>
              </a:rPr>
              <a:t>Mennyi a kötvény árfolyama? </a:t>
            </a:r>
          </a:p>
          <a:p>
            <a:pPr marL="228584">
              <a:spcBef>
                <a:spcPts val="400"/>
              </a:spcBef>
              <a:buClr>
                <a:srgbClr val="CCCCCC"/>
              </a:buClr>
            </a:pPr>
            <a:r>
              <a:rPr lang="hu-HU" sz="1800" b="1" i="1" dirty="0">
                <a:solidFill>
                  <a:schemeClr val="accent5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 Semilight" panose="020B0402040204020203" pitchFamily="34" charset="0"/>
                <a:sym typeface="Source Sans Pro"/>
              </a:rPr>
              <a:t>(Gondold végig, hogy mit tanultunk az éven belüli kamatozásról!!)</a:t>
            </a:r>
          </a:p>
          <a:p>
            <a:pPr marL="228584">
              <a:spcBef>
                <a:spcPts val="400"/>
              </a:spcBef>
              <a:buClr>
                <a:srgbClr val="CCCCCC"/>
              </a:buClr>
            </a:pPr>
            <a:endParaRPr lang="hu" sz="1800" dirty="0">
              <a:solidFill>
                <a:schemeClr val="dk2"/>
              </a:solidFill>
              <a:latin typeface="Segoe UI Semilight" panose="020B0402040204020203" pitchFamily="34" charset="0"/>
              <a:ea typeface="Source Sans Pro"/>
              <a:cs typeface="Segoe UI Semilight" panose="020B0402040204020203" pitchFamily="34" charset="0"/>
              <a:sym typeface="Source Sans Pro"/>
            </a:endParaRPr>
          </a:p>
          <a:p>
            <a:pPr marL="228583">
              <a:spcBef>
                <a:spcPts val="400"/>
              </a:spcBef>
              <a:buClr>
                <a:srgbClr val="CCCCCC"/>
              </a:buClr>
            </a:pPr>
            <a:endParaRPr lang="hu" sz="1800" dirty="0">
              <a:solidFill>
                <a:schemeClr val="dk2"/>
              </a:solidFill>
              <a:latin typeface="Segoe UI Semilight" panose="020B0402040204020203" pitchFamily="34" charset="0"/>
              <a:ea typeface="Source Sans Pro"/>
              <a:cs typeface="Segoe UI Semilight" panose="020B0402040204020203" pitchFamily="34" charset="0"/>
              <a:sym typeface="Source Sans Pro"/>
            </a:endParaRPr>
          </a:p>
        </p:txBody>
      </p:sp>
      <p:sp>
        <p:nvSpPr>
          <p:cNvPr id="7" name="Téglalap 6">
            <a:extLst>
              <a:ext uri="{FF2B5EF4-FFF2-40B4-BE49-F238E27FC236}">
                <a16:creationId xmlns:a16="http://schemas.microsoft.com/office/drawing/2014/main" id="{EEBE1526-808B-C6AD-FD93-EF50F1ACC169}"/>
              </a:ext>
            </a:extLst>
          </p:cNvPr>
          <p:cNvSpPr/>
          <p:nvPr/>
        </p:nvSpPr>
        <p:spPr>
          <a:xfrm flipV="1">
            <a:off x="287855" y="562666"/>
            <a:ext cx="98192" cy="33742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>
              <a:highlight>
                <a:srgbClr val="757575"/>
              </a:highlight>
            </a:endParaRPr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7BDFD36A-BCF3-0CF6-5DFF-50BAF8CCC50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86047" y="444500"/>
            <a:ext cx="8521700" cy="573088"/>
          </a:xfrm>
        </p:spPr>
        <p:txBody>
          <a:bodyPr/>
          <a:lstStyle/>
          <a:p>
            <a:r>
              <a:rPr lang="hu-HU" dirty="0"/>
              <a:t>2.PÉLDA</a:t>
            </a:r>
            <a:br>
              <a:rPr lang="hu-HU" dirty="0"/>
            </a:br>
            <a:r>
              <a:rPr lang="hu-HU" dirty="0">
                <a:solidFill>
                  <a:schemeClr val="tx1">
                    <a:lumMod val="95000"/>
                    <a:lumOff val="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Végtörlesztéses kamatozó kötvény értékelése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zövegdoboz 2">
                <a:extLst>
                  <a:ext uri="{FF2B5EF4-FFF2-40B4-BE49-F238E27FC236}">
                    <a16:creationId xmlns:a16="http://schemas.microsoft.com/office/drawing/2014/main" id="{6C795F10-4D10-EA8F-94F5-C0763E504B2A}"/>
                  </a:ext>
                </a:extLst>
              </p:cNvPr>
              <p:cNvSpPr txBox="1"/>
              <p:nvPr/>
            </p:nvSpPr>
            <p:spPr>
              <a:xfrm>
                <a:off x="1362205" y="3401573"/>
                <a:ext cx="3624349" cy="571760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34925">
                <a:solidFill>
                  <a:srgbClr val="C0000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hu-H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hu-HU" b="1">
                              <a:latin typeface="Cambria Math" panose="02040503050406030204" pitchFamily="18" charset="0"/>
                            </a:rPr>
                            <m:t>𝐏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hu-HU">
                              <a:latin typeface="Cambria Math" panose="02040503050406030204" pitchFamily="18" charset="0"/>
                            </a:rPr>
                            <m:t>k</m:t>
                          </m:r>
                          <m:r>
                            <a:rPr lang="hu-HU">
                              <a:latin typeface="Cambria Math" panose="02040503050406030204" pitchFamily="18" charset="0"/>
                            </a:rPr>
                            <m:t>ö</m:t>
                          </m:r>
                          <m:r>
                            <m:rPr>
                              <m:sty m:val="p"/>
                            </m:rPr>
                            <a:rPr lang="hu-HU">
                              <a:latin typeface="Cambria Math" panose="02040503050406030204" pitchFamily="18" charset="0"/>
                            </a:rPr>
                            <m:t>tv</m:t>
                          </m:r>
                          <m:r>
                            <a:rPr lang="hu-HU">
                              <a:latin typeface="Cambria Math" panose="02040503050406030204" pitchFamily="18" charset="0"/>
                            </a:rPr>
                            <m:t>é</m:t>
                          </m:r>
                          <m:r>
                            <m:rPr>
                              <m:sty m:val="p"/>
                            </m:rPr>
                            <a:rPr lang="hu-HU">
                              <a:latin typeface="Cambria Math" panose="02040503050406030204" pitchFamily="18" charset="0"/>
                            </a:rPr>
                            <m:t>ny</m:t>
                          </m:r>
                        </m:sub>
                      </m:sSub>
                      <m:r>
                        <a:rPr lang="hu-HU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hu-HU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hu-HU" i="1" dirty="0">
                              <a:latin typeface="Cambria Math" panose="02040503050406030204" pitchFamily="18" charset="0"/>
                            </a:rPr>
                            <m:t>𝐶</m:t>
                          </m:r>
                        </m:num>
                        <m:den>
                          <m:r>
                            <a:rPr lang="hu-HU" i="1" dirty="0">
                              <a:latin typeface="Cambria Math" panose="02040503050406030204" pitchFamily="18" charset="0"/>
                            </a:rPr>
                            <m:t>𝑟</m:t>
                          </m:r>
                        </m:den>
                      </m:f>
                      <m:r>
                        <a:rPr lang="hu-HU" i="1">
                          <a:latin typeface="Cambria Math" panose="02040503050406030204" pitchFamily="18" charset="0"/>
                        </a:rPr>
                        <m:t>∙</m:t>
                      </m:r>
                      <m:d>
                        <m:dPr>
                          <m:begChr m:val="["/>
                          <m:endChr m:val="]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hu-HU" i="1">
                              <a:latin typeface="Cambria Math" panose="02040503050406030204" pitchFamily="18" charset="0"/>
                            </a:rPr>
                            <m:t>1−</m:t>
                          </m:r>
                          <m:f>
                            <m:f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hu-HU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hu-HU" i="1"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  <m:r>
                                        <a:rPr lang="hu-HU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hu-HU" i="1">
                                          <a:latin typeface="Cambria Math" panose="02040503050406030204" pitchFamily="18" charset="0"/>
                                        </a:rPr>
                                        <m:t>𝒓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hu-HU" i="1">
                                      <a:latin typeface="Cambria Math" panose="02040503050406030204" pitchFamily="18" charset="0"/>
                                    </a:rPr>
                                    <m:t>𝒕</m:t>
                                  </m:r>
                                </m:sup>
                              </m:sSup>
                            </m:den>
                          </m:f>
                        </m:e>
                      </m:d>
                      <m:r>
                        <a:rPr lang="hu-HU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hu-HU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hu-HU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P</m:t>
                          </m:r>
                          <m:r>
                            <m:rPr>
                              <m:sty m:val="p"/>
                            </m:rPr>
                            <a:rPr lang="hu-HU" i="1" baseline="-250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n</m:t>
                          </m:r>
                        </m:num>
                        <m:den>
                          <m:sSup>
                            <m:sSupPr>
                              <m:ctrlPr>
                                <a:rPr lang="hu-HU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hu-HU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(1+</m:t>
                              </m:r>
                              <m:r>
                                <a:rPr lang="hu-HU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a:rPr lang="hu-HU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hu-HU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n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hu-HU" dirty="0"/>
              </a:p>
            </p:txBody>
          </p:sp>
        </mc:Choice>
        <mc:Fallback xmlns="">
          <p:sp>
            <p:nvSpPr>
              <p:cNvPr id="3" name="Szövegdoboz 2">
                <a:extLst>
                  <a:ext uri="{FF2B5EF4-FFF2-40B4-BE49-F238E27FC236}">
                    <a16:creationId xmlns:a16="http://schemas.microsoft.com/office/drawing/2014/main" id="{6C795F10-4D10-EA8F-94F5-C0763E504B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2205" y="3401573"/>
                <a:ext cx="3624349" cy="57176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34925"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33463901"/>
      </p:ext>
    </p:extLst>
  </p:cSld>
  <p:clrMapOvr>
    <a:masterClrMapping/>
  </p:clrMapOvr>
  <p:transition spd="slow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>
          <a:extLst>
            <a:ext uri="{FF2B5EF4-FFF2-40B4-BE49-F238E27FC236}">
              <a16:creationId xmlns:a16="http://schemas.microsoft.com/office/drawing/2014/main" id="{A9C21792-B39E-C059-0CBE-6BD78169B0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Shape 182">
            <a:extLst>
              <a:ext uri="{FF2B5EF4-FFF2-40B4-BE49-F238E27FC236}">
                <a16:creationId xmlns:a16="http://schemas.microsoft.com/office/drawing/2014/main" id="{40E941ED-34ED-AFBC-B8CC-8EF733E6040B}"/>
              </a:ext>
            </a:extLst>
          </p:cNvPr>
          <p:cNvSpPr txBox="1"/>
          <p:nvPr/>
        </p:nvSpPr>
        <p:spPr>
          <a:xfrm>
            <a:off x="0" y="962258"/>
            <a:ext cx="9144000" cy="2238351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228584">
              <a:spcBef>
                <a:spcPts val="400"/>
              </a:spcBef>
              <a:buClr>
                <a:srgbClr val="CCCCCC"/>
              </a:buClr>
            </a:pPr>
            <a:r>
              <a:rPr lang="hu-HU" sz="1800" dirty="0">
                <a:solidFill>
                  <a:schemeClr val="dk2"/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 Semilight" panose="020B0402040204020203" pitchFamily="34" charset="0"/>
                <a:sym typeface="Source Sans Pro"/>
              </a:rPr>
              <a:t>Egy amerikai 1 000 $ névértékű államkötvény évente kétszer fizet kamatot, kuponrátája 14%. Az elvárt hozam 16%. A kötvény hét év múlva jár le.</a:t>
            </a:r>
          </a:p>
          <a:p>
            <a:pPr marL="228584">
              <a:spcBef>
                <a:spcPts val="400"/>
              </a:spcBef>
              <a:buClr>
                <a:srgbClr val="CCCCCC"/>
              </a:buClr>
            </a:pPr>
            <a:r>
              <a:rPr lang="hu-HU" sz="1800" dirty="0">
                <a:solidFill>
                  <a:schemeClr val="dk2"/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 Semilight" panose="020B0402040204020203" pitchFamily="34" charset="0"/>
                <a:sym typeface="Source Sans Pro"/>
              </a:rPr>
              <a:t>Mennyi a kötvény árfolyama? </a:t>
            </a:r>
          </a:p>
          <a:p>
            <a:pPr marL="228584">
              <a:spcBef>
                <a:spcPts val="400"/>
              </a:spcBef>
              <a:buClr>
                <a:srgbClr val="CCCCCC"/>
              </a:buClr>
            </a:pPr>
            <a:r>
              <a:rPr lang="hu-HU" sz="1800" b="1" i="1" dirty="0">
                <a:solidFill>
                  <a:schemeClr val="dk2"/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 Semilight" panose="020B0402040204020203" pitchFamily="34" charset="0"/>
                <a:sym typeface="Source Sans Pro"/>
              </a:rPr>
              <a:t>Kuponráta(névleges kamat) 14%, tehát 140 $-t fizet éves szinten, ez félévre vetítve 70 $.</a:t>
            </a:r>
          </a:p>
          <a:p>
            <a:pPr marL="228584">
              <a:spcBef>
                <a:spcPts val="400"/>
              </a:spcBef>
              <a:buClr>
                <a:srgbClr val="CCCCCC"/>
              </a:buClr>
            </a:pPr>
            <a:r>
              <a:rPr lang="hu-HU" sz="1800" b="1" i="1" dirty="0">
                <a:solidFill>
                  <a:schemeClr val="dk2"/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 Semilight" panose="020B0402040204020203" pitchFamily="34" charset="0"/>
                <a:sym typeface="Source Sans Pro"/>
              </a:rPr>
              <a:t>Elvárt hozam 16%, félévre vetítve 8%.</a:t>
            </a:r>
          </a:p>
          <a:p>
            <a:pPr marL="228584">
              <a:spcBef>
                <a:spcPts val="400"/>
              </a:spcBef>
              <a:buClr>
                <a:srgbClr val="CCCCCC"/>
              </a:buClr>
            </a:pPr>
            <a:r>
              <a:rPr lang="hu-HU" sz="1800" b="1" i="1" dirty="0">
                <a:solidFill>
                  <a:schemeClr val="dk2"/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 Semilight" panose="020B0402040204020203" pitchFamily="34" charset="0"/>
                <a:sym typeface="Source Sans Pro"/>
              </a:rPr>
              <a:t>Lejárat 7 év, kamatfizetés félévente, összesen 14 periódus</a:t>
            </a:r>
            <a:r>
              <a:rPr lang="hu-HU" sz="1800" b="1" dirty="0">
                <a:solidFill>
                  <a:schemeClr val="dk2"/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 Semilight" panose="020B0402040204020203" pitchFamily="34" charset="0"/>
                <a:sym typeface="Source Sans Pro"/>
              </a:rPr>
              <a:t>!</a:t>
            </a:r>
          </a:p>
          <a:p>
            <a:pPr marL="228584">
              <a:spcBef>
                <a:spcPts val="400"/>
              </a:spcBef>
              <a:buClr>
                <a:srgbClr val="CCCCCC"/>
              </a:buClr>
            </a:pPr>
            <a:endParaRPr lang="hu-HU" sz="1800" dirty="0">
              <a:solidFill>
                <a:schemeClr val="dk2"/>
              </a:solidFill>
              <a:latin typeface="Segoe UI Semilight" panose="020B0402040204020203" pitchFamily="34" charset="0"/>
              <a:ea typeface="Source Sans Pro"/>
              <a:cs typeface="Segoe UI Semilight" panose="020B0402040204020203" pitchFamily="34" charset="0"/>
              <a:sym typeface="Source Sans Pro"/>
            </a:endParaRPr>
          </a:p>
          <a:p>
            <a:pPr marL="228584">
              <a:spcBef>
                <a:spcPts val="400"/>
              </a:spcBef>
              <a:buClr>
                <a:srgbClr val="CCCCCC"/>
              </a:buClr>
            </a:pPr>
            <a:r>
              <a:rPr lang="hu" sz="1800" b="1" i="1" dirty="0">
                <a:solidFill>
                  <a:schemeClr val="accent5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 Semilight" panose="020B0402040204020203" pitchFamily="34" charset="0"/>
                <a:sym typeface="Source Sans Pro"/>
              </a:rPr>
              <a:t>Behelyettesítve a képletbe:</a:t>
            </a:r>
          </a:p>
          <a:p>
            <a:pPr marL="228583">
              <a:spcBef>
                <a:spcPts val="400"/>
              </a:spcBef>
              <a:buClr>
                <a:srgbClr val="CCCCCC"/>
              </a:buClr>
            </a:pPr>
            <a:endParaRPr lang="hu" sz="1800" dirty="0">
              <a:solidFill>
                <a:schemeClr val="dk2"/>
              </a:solidFill>
              <a:latin typeface="Segoe UI Semilight" panose="020B0402040204020203" pitchFamily="34" charset="0"/>
              <a:ea typeface="Source Sans Pro"/>
              <a:cs typeface="Segoe UI Semilight" panose="020B0402040204020203" pitchFamily="34" charset="0"/>
              <a:sym typeface="Source Sans Pro"/>
            </a:endParaRPr>
          </a:p>
        </p:txBody>
      </p:sp>
      <p:sp>
        <p:nvSpPr>
          <p:cNvPr id="7" name="Téglalap 6">
            <a:extLst>
              <a:ext uri="{FF2B5EF4-FFF2-40B4-BE49-F238E27FC236}">
                <a16:creationId xmlns:a16="http://schemas.microsoft.com/office/drawing/2014/main" id="{2E2BD754-5B11-CF7E-B433-ADEA89F9F922}"/>
              </a:ext>
            </a:extLst>
          </p:cNvPr>
          <p:cNvSpPr/>
          <p:nvPr/>
        </p:nvSpPr>
        <p:spPr>
          <a:xfrm flipV="1">
            <a:off x="287855" y="562666"/>
            <a:ext cx="98192" cy="33742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>
              <a:highlight>
                <a:srgbClr val="757575"/>
              </a:highlight>
            </a:endParaRPr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FB3D5D19-FAA6-30F9-7539-34F9E9E8DB9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86047" y="444500"/>
            <a:ext cx="8521700" cy="573088"/>
          </a:xfrm>
        </p:spPr>
        <p:txBody>
          <a:bodyPr/>
          <a:lstStyle/>
          <a:p>
            <a:r>
              <a:rPr lang="hu-HU" dirty="0"/>
              <a:t>2.PÉLDA</a:t>
            </a:r>
            <a:endParaRPr lang="hu-HU" dirty="0">
              <a:solidFill>
                <a:schemeClr val="bg2">
                  <a:lumMod val="40000"/>
                  <a:lumOff val="6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zövegdoboz 2">
                <a:extLst>
                  <a:ext uri="{FF2B5EF4-FFF2-40B4-BE49-F238E27FC236}">
                    <a16:creationId xmlns:a16="http://schemas.microsoft.com/office/drawing/2014/main" id="{46883BF3-EAD3-A2BB-66CE-E7BEB292CC5E}"/>
                  </a:ext>
                </a:extLst>
              </p:cNvPr>
              <p:cNvSpPr txBox="1"/>
              <p:nvPr/>
            </p:nvSpPr>
            <p:spPr>
              <a:xfrm>
                <a:off x="5283398" y="3225892"/>
                <a:ext cx="3624349" cy="571760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34925">
                <a:solidFill>
                  <a:srgbClr val="C0000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hu-HU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hu-HU" b="1">
                              <a:latin typeface="Cambria Math" panose="02040503050406030204" pitchFamily="18" charset="0"/>
                            </a:rPr>
                            <m:t>𝐏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hu-HU">
                              <a:latin typeface="Cambria Math" panose="02040503050406030204" pitchFamily="18" charset="0"/>
                            </a:rPr>
                            <m:t>k</m:t>
                          </m:r>
                          <m:r>
                            <a:rPr lang="hu-HU">
                              <a:latin typeface="Cambria Math" panose="02040503050406030204" pitchFamily="18" charset="0"/>
                            </a:rPr>
                            <m:t>ö</m:t>
                          </m:r>
                          <m:r>
                            <m:rPr>
                              <m:sty m:val="p"/>
                            </m:rPr>
                            <a:rPr lang="hu-HU">
                              <a:latin typeface="Cambria Math" panose="02040503050406030204" pitchFamily="18" charset="0"/>
                            </a:rPr>
                            <m:t>tv</m:t>
                          </m:r>
                          <m:r>
                            <a:rPr lang="hu-HU">
                              <a:latin typeface="Cambria Math" panose="02040503050406030204" pitchFamily="18" charset="0"/>
                            </a:rPr>
                            <m:t>é</m:t>
                          </m:r>
                          <m:r>
                            <m:rPr>
                              <m:sty m:val="p"/>
                            </m:rPr>
                            <a:rPr lang="hu-HU">
                              <a:latin typeface="Cambria Math" panose="02040503050406030204" pitchFamily="18" charset="0"/>
                            </a:rPr>
                            <m:t>ny</m:t>
                          </m:r>
                        </m:sub>
                      </m:sSub>
                      <m:r>
                        <a:rPr lang="hu-HU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hu-HU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hu-HU" i="1" dirty="0">
                              <a:latin typeface="Cambria Math" panose="02040503050406030204" pitchFamily="18" charset="0"/>
                            </a:rPr>
                            <m:t>𝐶</m:t>
                          </m:r>
                        </m:num>
                        <m:den>
                          <m:r>
                            <a:rPr lang="hu-HU" i="1" dirty="0">
                              <a:latin typeface="Cambria Math" panose="02040503050406030204" pitchFamily="18" charset="0"/>
                            </a:rPr>
                            <m:t>𝑟</m:t>
                          </m:r>
                        </m:den>
                      </m:f>
                      <m:r>
                        <a:rPr lang="hu-HU" i="1">
                          <a:latin typeface="Cambria Math" panose="02040503050406030204" pitchFamily="18" charset="0"/>
                        </a:rPr>
                        <m:t>∙</m:t>
                      </m:r>
                      <m:d>
                        <m:dPr>
                          <m:begChr m:val="["/>
                          <m:endChr m:val="]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hu-HU" i="1">
                              <a:latin typeface="Cambria Math" panose="02040503050406030204" pitchFamily="18" charset="0"/>
                            </a:rPr>
                            <m:t>1−</m:t>
                          </m:r>
                          <m:f>
                            <m:f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hu-HU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hu-HU" i="1"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  <m:r>
                                        <a:rPr lang="hu-HU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hu-HU" i="1">
                                          <a:latin typeface="Cambria Math" panose="02040503050406030204" pitchFamily="18" charset="0"/>
                                        </a:rPr>
                                        <m:t>𝒓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hu-HU" i="1">
                                      <a:latin typeface="Cambria Math" panose="02040503050406030204" pitchFamily="18" charset="0"/>
                                    </a:rPr>
                                    <m:t>𝒕</m:t>
                                  </m:r>
                                </m:sup>
                              </m:sSup>
                            </m:den>
                          </m:f>
                        </m:e>
                      </m:d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hu-HU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hu-HU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P</m:t>
                          </m:r>
                          <m:r>
                            <m:rPr>
                              <m:sty m:val="p"/>
                            </m:rPr>
                            <a:rPr lang="hu-HU" i="1" baseline="-250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n</m:t>
                          </m:r>
                        </m:num>
                        <m:den>
                          <m:sSup>
                            <m:sSupPr>
                              <m:ctrlPr>
                                <a:rPr lang="hu-HU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hu-HU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(1+</m:t>
                              </m:r>
                              <m:r>
                                <a:rPr lang="hu-HU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a:rPr lang="hu-HU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hu-HU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n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hu-HU" dirty="0"/>
              </a:p>
            </p:txBody>
          </p:sp>
        </mc:Choice>
        <mc:Fallback xmlns="">
          <p:sp>
            <p:nvSpPr>
              <p:cNvPr id="3" name="Szövegdoboz 2">
                <a:extLst>
                  <a:ext uri="{FF2B5EF4-FFF2-40B4-BE49-F238E27FC236}">
                    <a16:creationId xmlns:a16="http://schemas.microsoft.com/office/drawing/2014/main" id="{46883BF3-EAD3-A2BB-66CE-E7BEB292CC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3398" y="3225892"/>
                <a:ext cx="3624349" cy="57176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34925"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Szövegdoboz 4">
                <a:extLst>
                  <a:ext uri="{FF2B5EF4-FFF2-40B4-BE49-F238E27FC236}">
                    <a16:creationId xmlns:a16="http://schemas.microsoft.com/office/drawing/2014/main" id="{AF52DB6E-983E-05B8-3B7E-ECC0DE2A26DF}"/>
                  </a:ext>
                </a:extLst>
              </p:cNvPr>
              <p:cNvSpPr txBox="1"/>
              <p:nvPr/>
            </p:nvSpPr>
            <p:spPr>
              <a:xfrm>
                <a:off x="179385" y="3811251"/>
                <a:ext cx="6134793" cy="5717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hu-HU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hu-HU" sz="1400" b="1" i="0">
                              <a:latin typeface="Cambria Math" panose="02040503050406030204" pitchFamily="18" charset="0"/>
                            </a:rPr>
                            <m:t>𝐏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hu-HU" sz="1400" b="0" i="0" smtClean="0">
                              <a:latin typeface="Cambria Math" panose="02040503050406030204" pitchFamily="18" charset="0"/>
                            </a:rPr>
                            <m:t>k</m:t>
                          </m:r>
                          <m:r>
                            <a:rPr lang="hu-HU" sz="1400" b="0" i="0" smtClean="0">
                              <a:latin typeface="Cambria Math" panose="02040503050406030204" pitchFamily="18" charset="0"/>
                            </a:rPr>
                            <m:t>ö</m:t>
                          </m:r>
                          <m:r>
                            <m:rPr>
                              <m:sty m:val="p"/>
                            </m:rPr>
                            <a:rPr lang="hu-HU" sz="1400" b="0" i="0" smtClean="0">
                              <a:latin typeface="Cambria Math" panose="02040503050406030204" pitchFamily="18" charset="0"/>
                            </a:rPr>
                            <m:t>tv</m:t>
                          </m:r>
                          <m:r>
                            <a:rPr lang="hu-HU" sz="1400" b="0" i="0" smtClean="0">
                              <a:latin typeface="Cambria Math" panose="02040503050406030204" pitchFamily="18" charset="0"/>
                            </a:rPr>
                            <m:t>é</m:t>
                          </m:r>
                          <m:r>
                            <m:rPr>
                              <m:sty m:val="p"/>
                            </m:rPr>
                            <a:rPr lang="hu-HU" sz="1400" b="0" i="0" smtClean="0">
                              <a:latin typeface="Cambria Math" panose="02040503050406030204" pitchFamily="18" charset="0"/>
                            </a:rPr>
                            <m:t>ny</m:t>
                          </m:r>
                        </m:sub>
                      </m:sSub>
                      <m:r>
                        <a:rPr lang="hu-HU" sz="1400" b="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hu-HU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hu-HU" b="0" i="1" dirty="0" smtClean="0">
                              <a:latin typeface="Cambria Math" panose="02040503050406030204" pitchFamily="18" charset="0"/>
                            </a:rPr>
                            <m:t>70</m:t>
                          </m:r>
                        </m:num>
                        <m:den>
                          <m:r>
                            <a:rPr lang="hu-HU" b="0" i="1" dirty="0" smtClean="0">
                              <a:latin typeface="Cambria Math" panose="02040503050406030204" pitchFamily="18" charset="0"/>
                            </a:rPr>
                            <m:t>0,08</m:t>
                          </m:r>
                        </m:den>
                      </m:f>
                      <m:r>
                        <a:rPr lang="hu-HU" i="1">
                          <a:latin typeface="Cambria Math" panose="02040503050406030204" pitchFamily="18" charset="0"/>
                        </a:rPr>
                        <m:t>∙</m:t>
                      </m:r>
                      <m:d>
                        <m:dPr>
                          <m:begChr m:val="["/>
                          <m:endChr m:val="]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hu-HU" i="1">
                              <a:latin typeface="Cambria Math" panose="02040503050406030204" pitchFamily="18" charset="0"/>
                            </a:rPr>
                            <m:t>1−</m:t>
                          </m:r>
                          <m:f>
                            <m:f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hu-HU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hu-HU" i="1"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  <m:r>
                                        <a:rPr lang="hu-HU" i="1">
                                          <a:latin typeface="Cambria Math" panose="02040503050406030204" pitchFamily="18" charset="0"/>
                                        </a:rPr>
                                        <m:t>+0,08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hu-HU" b="0" i="1" smtClean="0">
                                      <a:latin typeface="Cambria Math" panose="02040503050406030204" pitchFamily="18" charset="0"/>
                                    </a:rPr>
                                    <m:t>14</m:t>
                                  </m:r>
                                </m:sup>
                              </m:sSup>
                            </m:den>
                          </m:f>
                        </m:e>
                      </m:d>
                      <m:r>
                        <a:rPr lang="hu-HU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hu-HU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hu-HU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1 000</m:t>
                          </m:r>
                        </m:num>
                        <m:den>
                          <m:sSup>
                            <m:sSupPr>
                              <m:ctrlPr>
                                <a:rPr lang="hu-HU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hu-HU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(1+0,08)</m:t>
                              </m:r>
                            </m:e>
                            <m:sup>
                              <m:r>
                                <a:rPr lang="hu-HU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14</m:t>
                              </m:r>
                            </m:sup>
                          </m:sSup>
                        </m:den>
                      </m:f>
                      <m:r>
                        <a:rPr lang="hu-HU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=917, 56 $</m:t>
                      </m:r>
                    </m:oMath>
                  </m:oMathPara>
                </a14:m>
                <a:endParaRPr lang="hu-HU" dirty="0"/>
              </a:p>
            </p:txBody>
          </p:sp>
        </mc:Choice>
        <mc:Fallback xmlns="">
          <p:sp>
            <p:nvSpPr>
              <p:cNvPr id="5" name="Szövegdoboz 4">
                <a:extLst>
                  <a:ext uri="{FF2B5EF4-FFF2-40B4-BE49-F238E27FC236}">
                    <a16:creationId xmlns:a16="http://schemas.microsoft.com/office/drawing/2014/main" id="{AF52DB6E-983E-05B8-3B7E-ECC0DE2A26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385" y="3811251"/>
                <a:ext cx="6134793" cy="571760"/>
              </a:xfrm>
              <a:prstGeom prst="rect">
                <a:avLst/>
              </a:prstGeom>
              <a:blipFill>
                <a:blip r:embed="rId4"/>
                <a:stretch>
                  <a:fillRect b="-1064"/>
                </a:stretch>
              </a:blipFill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64793637"/>
      </p:ext>
    </p:extLst>
  </p:cSld>
  <p:clrMapOvr>
    <a:masterClrMapping/>
  </p:clrMapOvr>
  <p:transition spd="slow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8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8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>
          <a:extLst>
            <a:ext uri="{FF2B5EF4-FFF2-40B4-BE49-F238E27FC236}">
              <a16:creationId xmlns:a16="http://schemas.microsoft.com/office/drawing/2014/main" id="{6399D33E-7E28-66AC-BC26-5EBBC58E1E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Shape 182">
            <a:extLst>
              <a:ext uri="{FF2B5EF4-FFF2-40B4-BE49-F238E27FC236}">
                <a16:creationId xmlns:a16="http://schemas.microsoft.com/office/drawing/2014/main" id="{91489AB7-15B3-4B91-FE72-655BDA778AE7}"/>
              </a:ext>
            </a:extLst>
          </p:cNvPr>
          <p:cNvSpPr txBox="1"/>
          <p:nvPr/>
        </p:nvSpPr>
        <p:spPr>
          <a:xfrm>
            <a:off x="153026" y="1402835"/>
            <a:ext cx="8706051" cy="2238351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228584">
              <a:spcBef>
                <a:spcPts val="400"/>
              </a:spcBef>
              <a:buClr>
                <a:srgbClr val="CCCCCC"/>
              </a:buClr>
            </a:pPr>
            <a:r>
              <a:rPr lang="hu-HU" sz="1800" dirty="0">
                <a:solidFill>
                  <a:schemeClr val="dk2"/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 Semilight" panose="020B0402040204020203" pitchFamily="34" charset="0"/>
                <a:sym typeface="Source Sans Pro"/>
              </a:rPr>
              <a:t>Az Elkus Co. </a:t>
            </a:r>
            <a:r>
              <a:rPr lang="hu-HU" sz="1800" b="1" i="1" u="sng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 Semilight" panose="020B0402040204020203" pitchFamily="34" charset="0"/>
                <a:sym typeface="Source Sans Pro"/>
              </a:rPr>
              <a:t>egy éve bocsátott ki </a:t>
            </a:r>
            <a:r>
              <a:rPr lang="hu-HU" sz="1800" dirty="0">
                <a:solidFill>
                  <a:schemeClr val="dk2"/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 Semilight" panose="020B0402040204020203" pitchFamily="34" charset="0"/>
                <a:sym typeface="Source Sans Pro"/>
              </a:rPr>
              <a:t>15 éves kötvényeket 5,4% kuponrátával. A kötvény félévente fizet, névértéke 1000 USD. Ha az elvárt hozam 6,1%, mennyi a kötvény </a:t>
            </a:r>
            <a:r>
              <a:rPr lang="hu-HU" sz="1800" b="1" dirty="0">
                <a:solidFill>
                  <a:schemeClr val="accent5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 Semilight" panose="020B0402040204020203" pitchFamily="34" charset="0"/>
                <a:sym typeface="Source Sans Pro"/>
              </a:rPr>
              <a:t>jelenlegi árfolyama</a:t>
            </a:r>
            <a:r>
              <a:rPr lang="hu-HU" sz="1800" dirty="0">
                <a:solidFill>
                  <a:schemeClr val="dk2"/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 Semilight" panose="020B0402040204020203" pitchFamily="34" charset="0"/>
                <a:sym typeface="Source Sans Pro"/>
              </a:rPr>
              <a:t>?</a:t>
            </a:r>
          </a:p>
          <a:p>
            <a:pPr marL="228584">
              <a:spcBef>
                <a:spcPts val="400"/>
              </a:spcBef>
              <a:buClr>
                <a:srgbClr val="CCCCCC"/>
              </a:buClr>
            </a:pPr>
            <a:r>
              <a:rPr lang="hu-HU" sz="1800" b="1" dirty="0">
                <a:solidFill>
                  <a:schemeClr val="dk2"/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 Semilight" panose="020B0402040204020203" pitchFamily="34" charset="0"/>
                <a:sym typeface="Source Sans Pro"/>
              </a:rPr>
              <a:t>Kuponráta 5,4%, tehát 54 $-t fizet éves szinten, ez félévre vetítve 27 $.</a:t>
            </a:r>
          </a:p>
          <a:p>
            <a:pPr marL="228584">
              <a:spcBef>
                <a:spcPts val="400"/>
              </a:spcBef>
              <a:buClr>
                <a:srgbClr val="CCCCCC"/>
              </a:buClr>
            </a:pPr>
            <a:r>
              <a:rPr lang="hu-HU" sz="1800" b="1" dirty="0">
                <a:solidFill>
                  <a:schemeClr val="dk2"/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 Semilight" panose="020B0402040204020203" pitchFamily="34" charset="0"/>
                <a:sym typeface="Source Sans Pro"/>
              </a:rPr>
              <a:t>Elvárt hozam 6,1%, félévre vetítve 3,05%.</a:t>
            </a:r>
          </a:p>
          <a:p>
            <a:pPr marL="228584">
              <a:spcBef>
                <a:spcPts val="400"/>
              </a:spcBef>
              <a:buClr>
                <a:srgbClr val="CCCCCC"/>
              </a:buClr>
            </a:pPr>
            <a:r>
              <a:rPr lang="hu-HU" sz="1800" b="1" dirty="0">
                <a:solidFill>
                  <a:schemeClr val="dk2"/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 Semilight" panose="020B0402040204020203" pitchFamily="34" charset="0"/>
                <a:sym typeface="Source Sans Pro"/>
              </a:rPr>
              <a:t>Lejárat 15 év, ebből 1 év eltelt, kamatfizetés félévente, összesen 28 periódus!</a:t>
            </a:r>
          </a:p>
          <a:p>
            <a:pPr marL="228584">
              <a:spcBef>
                <a:spcPts val="400"/>
              </a:spcBef>
              <a:buClr>
                <a:srgbClr val="CCCCCC"/>
              </a:buClr>
            </a:pPr>
            <a:endParaRPr lang="hu" sz="1800" dirty="0">
              <a:solidFill>
                <a:schemeClr val="dk2"/>
              </a:solidFill>
              <a:latin typeface="Segoe UI Semilight" panose="020B0402040204020203" pitchFamily="34" charset="0"/>
              <a:ea typeface="Source Sans Pro"/>
              <a:cs typeface="Segoe UI Semilight" panose="020B0402040204020203" pitchFamily="34" charset="0"/>
              <a:sym typeface="Source Sans Pro"/>
            </a:endParaRPr>
          </a:p>
          <a:p>
            <a:pPr marL="228583">
              <a:spcBef>
                <a:spcPts val="400"/>
              </a:spcBef>
              <a:buClr>
                <a:srgbClr val="CCCCCC"/>
              </a:buClr>
            </a:pPr>
            <a:endParaRPr lang="hu" sz="1800" dirty="0">
              <a:solidFill>
                <a:schemeClr val="dk2"/>
              </a:solidFill>
              <a:latin typeface="Segoe UI Semilight" panose="020B0402040204020203" pitchFamily="34" charset="0"/>
              <a:ea typeface="Source Sans Pro"/>
              <a:cs typeface="Segoe UI Semilight" panose="020B0402040204020203" pitchFamily="34" charset="0"/>
              <a:sym typeface="Source Sans Pro"/>
            </a:endParaRPr>
          </a:p>
        </p:txBody>
      </p:sp>
      <p:sp>
        <p:nvSpPr>
          <p:cNvPr id="7" name="Téglalap 6">
            <a:extLst>
              <a:ext uri="{FF2B5EF4-FFF2-40B4-BE49-F238E27FC236}">
                <a16:creationId xmlns:a16="http://schemas.microsoft.com/office/drawing/2014/main" id="{67DACB25-344E-5065-4B25-6340240686B7}"/>
              </a:ext>
            </a:extLst>
          </p:cNvPr>
          <p:cNvSpPr/>
          <p:nvPr/>
        </p:nvSpPr>
        <p:spPr>
          <a:xfrm flipV="1">
            <a:off x="287855" y="562666"/>
            <a:ext cx="98192" cy="33742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>
              <a:highlight>
                <a:srgbClr val="757575"/>
              </a:highlight>
            </a:endParaRPr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E85FB1B3-445A-A637-1F36-980557CAFAE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86047" y="327004"/>
            <a:ext cx="8521700" cy="573088"/>
          </a:xfrm>
        </p:spPr>
        <p:txBody>
          <a:bodyPr/>
          <a:lstStyle/>
          <a:p>
            <a:r>
              <a:rPr lang="hu-HU" dirty="0"/>
              <a:t>3.PÉLDA</a:t>
            </a:r>
            <a:br>
              <a:rPr lang="hu-HU" dirty="0"/>
            </a:br>
            <a:r>
              <a:rPr lang="hu-HU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Végtörlesztéses kamatozó kötvény értékelése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Szövegdoboz 4">
                <a:extLst>
                  <a:ext uri="{FF2B5EF4-FFF2-40B4-BE49-F238E27FC236}">
                    <a16:creationId xmlns:a16="http://schemas.microsoft.com/office/drawing/2014/main" id="{5A36AB34-B499-0C01-88F4-9E87E26C2CA4}"/>
                  </a:ext>
                </a:extLst>
              </p:cNvPr>
              <p:cNvSpPr txBox="1"/>
              <p:nvPr/>
            </p:nvSpPr>
            <p:spPr>
              <a:xfrm>
                <a:off x="236253" y="3858049"/>
                <a:ext cx="6134793" cy="5717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hu-HU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hu-HU" sz="1400" b="1" i="0">
                              <a:latin typeface="Cambria Math" panose="02040503050406030204" pitchFamily="18" charset="0"/>
                            </a:rPr>
                            <m:t>𝐏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hu-HU" sz="1400" b="0" i="0" smtClean="0">
                              <a:latin typeface="Cambria Math" panose="02040503050406030204" pitchFamily="18" charset="0"/>
                            </a:rPr>
                            <m:t>k</m:t>
                          </m:r>
                          <m:r>
                            <a:rPr lang="hu-HU" sz="1400" b="0" i="0" smtClean="0">
                              <a:latin typeface="Cambria Math" panose="02040503050406030204" pitchFamily="18" charset="0"/>
                            </a:rPr>
                            <m:t>ö</m:t>
                          </m:r>
                          <m:r>
                            <m:rPr>
                              <m:sty m:val="p"/>
                            </m:rPr>
                            <a:rPr lang="hu-HU" sz="1400" b="0" i="0" smtClean="0">
                              <a:latin typeface="Cambria Math" panose="02040503050406030204" pitchFamily="18" charset="0"/>
                            </a:rPr>
                            <m:t>tv</m:t>
                          </m:r>
                          <m:r>
                            <a:rPr lang="hu-HU" sz="1400" b="0" i="0" smtClean="0">
                              <a:latin typeface="Cambria Math" panose="02040503050406030204" pitchFamily="18" charset="0"/>
                            </a:rPr>
                            <m:t>é</m:t>
                          </m:r>
                          <m:r>
                            <m:rPr>
                              <m:sty m:val="p"/>
                            </m:rPr>
                            <a:rPr lang="hu-HU" sz="1400" b="0" i="0" smtClean="0">
                              <a:latin typeface="Cambria Math" panose="02040503050406030204" pitchFamily="18" charset="0"/>
                            </a:rPr>
                            <m:t>ny</m:t>
                          </m:r>
                        </m:sub>
                      </m:sSub>
                      <m:r>
                        <a:rPr lang="hu-HU" sz="1400" b="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hu-HU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hu-HU" b="0" i="1" dirty="0" smtClean="0">
                              <a:latin typeface="Cambria Math" panose="02040503050406030204" pitchFamily="18" charset="0"/>
                            </a:rPr>
                            <m:t>27</m:t>
                          </m:r>
                        </m:num>
                        <m:den>
                          <m:r>
                            <a:rPr lang="hu-HU" b="0" i="1" dirty="0" smtClean="0">
                              <a:latin typeface="Cambria Math" panose="02040503050406030204" pitchFamily="18" charset="0"/>
                            </a:rPr>
                            <m:t>0,0305</m:t>
                          </m:r>
                        </m:den>
                      </m:f>
                      <m:r>
                        <a:rPr lang="hu-HU" i="1">
                          <a:latin typeface="Cambria Math" panose="02040503050406030204" pitchFamily="18" charset="0"/>
                        </a:rPr>
                        <m:t>∙</m:t>
                      </m:r>
                      <m:d>
                        <m:dPr>
                          <m:begChr m:val="["/>
                          <m:endChr m:val="]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hu-HU" i="1">
                              <a:latin typeface="Cambria Math" panose="02040503050406030204" pitchFamily="18" charset="0"/>
                            </a:rPr>
                            <m:t>1−</m:t>
                          </m:r>
                          <m:f>
                            <m:f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hu-HU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hu-HU" i="1"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  <m:r>
                                        <a:rPr lang="hu-HU" i="1">
                                          <a:latin typeface="Cambria Math" panose="02040503050406030204" pitchFamily="18" charset="0"/>
                                        </a:rPr>
                                        <m:t>+0,0305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hu-HU" b="0" i="1" smtClean="0">
                                      <a:latin typeface="Cambria Math" panose="02040503050406030204" pitchFamily="18" charset="0"/>
                                    </a:rPr>
                                    <m:t>28</m:t>
                                  </m:r>
                                </m:sup>
                              </m:sSup>
                            </m:den>
                          </m:f>
                        </m:e>
                      </m:d>
                      <m:r>
                        <a:rPr lang="hu-HU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hu-HU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hu-HU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1 000</m:t>
                          </m:r>
                        </m:num>
                        <m:den>
                          <m:sSup>
                            <m:sSupPr>
                              <m:ctrlPr>
                                <a:rPr lang="hu-HU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hu-HU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(1+</m:t>
                              </m:r>
                              <m:r>
                                <a:rPr lang="hu-HU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0,0305</m:t>
                              </m:r>
                              <m:r>
                                <a:rPr lang="hu-HU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hu-HU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28</m:t>
                              </m:r>
                            </m:sup>
                          </m:sSup>
                        </m:den>
                      </m:f>
                      <m:r>
                        <a:rPr lang="hu-HU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hu-HU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934,73</m:t>
                      </m:r>
                      <m:r>
                        <a:rPr lang="hu-H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hu-HU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$</m:t>
                      </m:r>
                    </m:oMath>
                  </m:oMathPara>
                </a14:m>
                <a:endParaRPr lang="hu-HU" dirty="0"/>
              </a:p>
            </p:txBody>
          </p:sp>
        </mc:Choice>
        <mc:Fallback xmlns="">
          <p:sp>
            <p:nvSpPr>
              <p:cNvPr id="5" name="Szövegdoboz 4">
                <a:extLst>
                  <a:ext uri="{FF2B5EF4-FFF2-40B4-BE49-F238E27FC236}">
                    <a16:creationId xmlns:a16="http://schemas.microsoft.com/office/drawing/2014/main" id="{5A36AB34-B499-0C01-88F4-9E87E26C2C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253" y="3858049"/>
                <a:ext cx="6134793" cy="571760"/>
              </a:xfrm>
              <a:prstGeom prst="rect">
                <a:avLst/>
              </a:prstGeom>
              <a:blipFill>
                <a:blip r:embed="rId3"/>
                <a:stretch>
                  <a:fillRect b="-1064"/>
                </a:stretch>
              </a:blipFill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Szövegdoboz 5">
                <a:extLst>
                  <a:ext uri="{FF2B5EF4-FFF2-40B4-BE49-F238E27FC236}">
                    <a16:creationId xmlns:a16="http://schemas.microsoft.com/office/drawing/2014/main" id="{3ED6D38A-23F5-FDF7-A49D-8D5276CBE925}"/>
                  </a:ext>
                </a:extLst>
              </p:cNvPr>
              <p:cNvSpPr txBox="1"/>
              <p:nvPr/>
            </p:nvSpPr>
            <p:spPr>
              <a:xfrm>
                <a:off x="5283398" y="3355306"/>
                <a:ext cx="3624349" cy="571760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34925">
                <a:solidFill>
                  <a:srgbClr val="C0000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hu-HU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hu-HU" b="1">
                              <a:latin typeface="Cambria Math" panose="02040503050406030204" pitchFamily="18" charset="0"/>
                            </a:rPr>
                            <m:t>𝐏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hu-HU">
                              <a:latin typeface="Cambria Math" panose="02040503050406030204" pitchFamily="18" charset="0"/>
                            </a:rPr>
                            <m:t>k</m:t>
                          </m:r>
                          <m:r>
                            <a:rPr lang="hu-HU">
                              <a:latin typeface="Cambria Math" panose="02040503050406030204" pitchFamily="18" charset="0"/>
                            </a:rPr>
                            <m:t>ö</m:t>
                          </m:r>
                          <m:r>
                            <m:rPr>
                              <m:sty m:val="p"/>
                            </m:rPr>
                            <a:rPr lang="hu-HU">
                              <a:latin typeface="Cambria Math" panose="02040503050406030204" pitchFamily="18" charset="0"/>
                            </a:rPr>
                            <m:t>tv</m:t>
                          </m:r>
                          <m:r>
                            <a:rPr lang="hu-HU">
                              <a:latin typeface="Cambria Math" panose="02040503050406030204" pitchFamily="18" charset="0"/>
                            </a:rPr>
                            <m:t>é</m:t>
                          </m:r>
                          <m:r>
                            <m:rPr>
                              <m:sty m:val="p"/>
                            </m:rPr>
                            <a:rPr lang="hu-HU">
                              <a:latin typeface="Cambria Math" panose="02040503050406030204" pitchFamily="18" charset="0"/>
                            </a:rPr>
                            <m:t>ny</m:t>
                          </m:r>
                        </m:sub>
                      </m:sSub>
                      <m:r>
                        <a:rPr lang="hu-HU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hu-HU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hu-HU" i="1" dirty="0">
                              <a:latin typeface="Cambria Math" panose="02040503050406030204" pitchFamily="18" charset="0"/>
                            </a:rPr>
                            <m:t>𝐶</m:t>
                          </m:r>
                        </m:num>
                        <m:den>
                          <m:r>
                            <a:rPr lang="hu-HU" i="1" dirty="0">
                              <a:latin typeface="Cambria Math" panose="02040503050406030204" pitchFamily="18" charset="0"/>
                            </a:rPr>
                            <m:t>𝑟</m:t>
                          </m:r>
                        </m:den>
                      </m:f>
                      <m:r>
                        <a:rPr lang="hu-HU" i="1">
                          <a:latin typeface="Cambria Math" panose="02040503050406030204" pitchFamily="18" charset="0"/>
                        </a:rPr>
                        <m:t>∙</m:t>
                      </m:r>
                      <m:d>
                        <m:dPr>
                          <m:begChr m:val="["/>
                          <m:endChr m:val="]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hu-HU" i="1">
                              <a:latin typeface="Cambria Math" panose="02040503050406030204" pitchFamily="18" charset="0"/>
                            </a:rPr>
                            <m:t>1−</m:t>
                          </m:r>
                          <m:f>
                            <m:f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hu-HU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hu-HU" i="1"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  <m:r>
                                        <a:rPr lang="hu-HU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hu-HU" i="1">
                                          <a:latin typeface="Cambria Math" panose="02040503050406030204" pitchFamily="18" charset="0"/>
                                        </a:rPr>
                                        <m:t>𝒓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hu-HU" i="1">
                                      <a:latin typeface="Cambria Math" panose="02040503050406030204" pitchFamily="18" charset="0"/>
                                    </a:rPr>
                                    <m:t>𝒕</m:t>
                                  </m:r>
                                </m:sup>
                              </m:sSup>
                            </m:den>
                          </m:f>
                        </m:e>
                      </m:d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hu-HU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hu-HU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P</m:t>
                          </m:r>
                          <m:r>
                            <m:rPr>
                              <m:sty m:val="p"/>
                            </m:rPr>
                            <a:rPr lang="hu-HU" i="1" baseline="-250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n</m:t>
                          </m:r>
                        </m:num>
                        <m:den>
                          <m:sSup>
                            <m:sSupPr>
                              <m:ctrlPr>
                                <a:rPr lang="hu-HU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hu-HU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(1+</m:t>
                              </m:r>
                              <m:r>
                                <a:rPr lang="hu-HU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a:rPr lang="hu-HU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hu-HU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n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hu-HU" dirty="0"/>
              </a:p>
            </p:txBody>
          </p:sp>
        </mc:Choice>
        <mc:Fallback xmlns="">
          <p:sp>
            <p:nvSpPr>
              <p:cNvPr id="6" name="Szövegdoboz 5">
                <a:extLst>
                  <a:ext uri="{FF2B5EF4-FFF2-40B4-BE49-F238E27FC236}">
                    <a16:creationId xmlns:a16="http://schemas.microsoft.com/office/drawing/2014/main" id="{3ED6D38A-23F5-FDF7-A49D-8D5276CBE9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3398" y="3355306"/>
                <a:ext cx="3624349" cy="57176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34925"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38342098"/>
      </p:ext>
    </p:extLst>
  </p:cSld>
  <p:clrMapOvr>
    <a:masterClrMapping/>
  </p:clrMapOvr>
  <p:transition spd="slow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>
          <a:extLst>
            <a:ext uri="{FF2B5EF4-FFF2-40B4-BE49-F238E27FC236}">
              <a16:creationId xmlns:a16="http://schemas.microsoft.com/office/drawing/2014/main" id="{DCE4441D-1855-AD12-E544-FB850DEB00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Shape 182">
            <a:extLst>
              <a:ext uri="{FF2B5EF4-FFF2-40B4-BE49-F238E27FC236}">
                <a16:creationId xmlns:a16="http://schemas.microsoft.com/office/drawing/2014/main" id="{F60669B8-2407-299D-7BA9-3A8E45DCCE91}"/>
              </a:ext>
            </a:extLst>
          </p:cNvPr>
          <p:cNvSpPr txBox="1"/>
          <p:nvPr/>
        </p:nvSpPr>
        <p:spPr>
          <a:xfrm>
            <a:off x="280727" y="1402835"/>
            <a:ext cx="8394000" cy="2238351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228584">
              <a:spcBef>
                <a:spcPts val="400"/>
              </a:spcBef>
              <a:buClr>
                <a:srgbClr val="CCCCCC"/>
              </a:buClr>
            </a:pPr>
            <a:r>
              <a:rPr lang="hu-HU" sz="1800" dirty="0">
                <a:solidFill>
                  <a:schemeClr val="dk2"/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 Semilight" panose="020B0402040204020203" pitchFamily="34" charset="0"/>
                <a:sym typeface="Source Sans Pro"/>
              </a:rPr>
              <a:t>Egy öt éves futamidejű 10.000 forint névértékű kötvényt bocsátottak ki</a:t>
            </a:r>
            <a:r>
              <a:rPr lang="hu-HU" sz="1800" b="1" i="1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 Semilight" panose="020B0402040204020203" pitchFamily="34" charset="0"/>
                <a:sym typeface="Source Sans Pro"/>
              </a:rPr>
              <a:t> éppen 1 évvel ezelőtt</a:t>
            </a:r>
            <a:r>
              <a:rPr lang="hu-HU" sz="1800" dirty="0">
                <a:solidFill>
                  <a:schemeClr val="dk2"/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 Semilight" panose="020B0402040204020203" pitchFamily="34" charset="0"/>
                <a:sym typeface="Source Sans Pro"/>
              </a:rPr>
              <a:t>. A kötvény kuponrátája 5%. A kamatot évente, a névértéket lejáratkor fizeti ki egyösszegben. A piaci kamatláb (elvárt hozam) 3%. Mekkora a kötvény árfolyama… </a:t>
            </a:r>
          </a:p>
          <a:p>
            <a:pPr marL="571484" indent="-342900">
              <a:spcBef>
                <a:spcPts val="400"/>
              </a:spcBef>
              <a:buClr>
                <a:srgbClr val="CCCCCC"/>
              </a:buClr>
              <a:buAutoNum type="alphaLcParenR"/>
            </a:pPr>
            <a:r>
              <a:rPr lang="hu-HU" sz="1800" dirty="0">
                <a:solidFill>
                  <a:schemeClr val="dk2"/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 Semilight" panose="020B0402040204020203" pitchFamily="34" charset="0"/>
                <a:sym typeface="Source Sans Pro"/>
              </a:rPr>
              <a:t>	… a kibocsátás napján?</a:t>
            </a:r>
          </a:p>
          <a:p>
            <a:pPr marL="571484" indent="-342900">
              <a:spcBef>
                <a:spcPts val="400"/>
              </a:spcBef>
              <a:buClr>
                <a:srgbClr val="CCCCCC"/>
              </a:buClr>
              <a:buAutoNum type="alphaLcParenR"/>
            </a:pPr>
            <a:r>
              <a:rPr lang="hu-HU" sz="1800" dirty="0">
                <a:solidFill>
                  <a:schemeClr val="dk2"/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 Semilight" panose="020B0402040204020203" pitchFamily="34" charset="0"/>
                <a:sym typeface="Source Sans Pro"/>
              </a:rPr>
              <a:t>	… ma (1 évvel a kibocsátást követően), közvetlenül a kamatfizetés után, ha a piaci kamatláb változatlanul 3%? </a:t>
            </a:r>
          </a:p>
          <a:p>
            <a:pPr marL="228584">
              <a:spcBef>
                <a:spcPts val="400"/>
              </a:spcBef>
              <a:buClr>
                <a:srgbClr val="CCCCCC"/>
              </a:buClr>
            </a:pPr>
            <a:endParaRPr lang="hu" sz="1800" dirty="0">
              <a:solidFill>
                <a:schemeClr val="dk2"/>
              </a:solidFill>
              <a:latin typeface="Segoe UI Semilight" panose="020B0402040204020203" pitchFamily="34" charset="0"/>
              <a:ea typeface="Source Sans Pro"/>
              <a:cs typeface="Segoe UI Semilight" panose="020B0402040204020203" pitchFamily="34" charset="0"/>
              <a:sym typeface="Source Sans Pro"/>
            </a:endParaRPr>
          </a:p>
          <a:p>
            <a:pPr marL="228583">
              <a:spcBef>
                <a:spcPts val="400"/>
              </a:spcBef>
              <a:buClr>
                <a:srgbClr val="CCCCCC"/>
              </a:buClr>
            </a:pPr>
            <a:endParaRPr lang="hu" sz="1800" dirty="0">
              <a:solidFill>
                <a:schemeClr val="dk2"/>
              </a:solidFill>
              <a:latin typeface="Segoe UI Semilight" panose="020B0402040204020203" pitchFamily="34" charset="0"/>
              <a:ea typeface="Source Sans Pro"/>
              <a:cs typeface="Segoe UI Semilight" panose="020B0402040204020203" pitchFamily="34" charset="0"/>
              <a:sym typeface="Source Sans Pro"/>
            </a:endParaRPr>
          </a:p>
        </p:txBody>
      </p:sp>
      <p:sp>
        <p:nvSpPr>
          <p:cNvPr id="7" name="Téglalap 6">
            <a:extLst>
              <a:ext uri="{FF2B5EF4-FFF2-40B4-BE49-F238E27FC236}">
                <a16:creationId xmlns:a16="http://schemas.microsoft.com/office/drawing/2014/main" id="{0F6476DB-3D77-7DA6-3C7D-9A72E3C5AAC6}"/>
              </a:ext>
            </a:extLst>
          </p:cNvPr>
          <p:cNvSpPr/>
          <p:nvPr/>
        </p:nvSpPr>
        <p:spPr>
          <a:xfrm flipV="1">
            <a:off x="287855" y="562666"/>
            <a:ext cx="98192" cy="33742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>
              <a:highlight>
                <a:srgbClr val="757575"/>
              </a:highlight>
            </a:endParaRPr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3E42BD40-BA09-93E0-8FC3-44EDE61C9F26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86047" y="444500"/>
            <a:ext cx="8521700" cy="573088"/>
          </a:xfrm>
        </p:spPr>
        <p:txBody>
          <a:bodyPr/>
          <a:lstStyle/>
          <a:p>
            <a:r>
              <a:rPr lang="hu-HU" dirty="0"/>
              <a:t>4.PÉLDA</a:t>
            </a:r>
            <a:br>
              <a:rPr lang="hu-HU" dirty="0"/>
            </a:br>
            <a:r>
              <a:rPr lang="hu-HU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Végtörlesztéses kamatozó kötvény értékelése</a:t>
            </a:r>
          </a:p>
        </p:txBody>
      </p:sp>
    </p:spTree>
    <p:extLst>
      <p:ext uri="{BB962C8B-B14F-4D97-AF65-F5344CB8AC3E}">
        <p14:creationId xmlns:p14="http://schemas.microsoft.com/office/powerpoint/2010/main" val="2312639833"/>
      </p:ext>
    </p:extLst>
  </p:cSld>
  <p:clrMapOvr>
    <a:masterClrMapping/>
  </p:clrMapOvr>
  <p:transition spd="slow">
    <p:cut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>
          <a:extLst>
            <a:ext uri="{FF2B5EF4-FFF2-40B4-BE49-F238E27FC236}">
              <a16:creationId xmlns:a16="http://schemas.microsoft.com/office/drawing/2014/main" id="{A1641B27-A257-4634-BFF7-B72F386F9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Shape 182">
            <a:extLst>
              <a:ext uri="{FF2B5EF4-FFF2-40B4-BE49-F238E27FC236}">
                <a16:creationId xmlns:a16="http://schemas.microsoft.com/office/drawing/2014/main" id="{C2067DDE-60C3-D94C-BDDE-9855A3FF3F38}"/>
              </a:ext>
            </a:extLst>
          </p:cNvPr>
          <p:cNvSpPr txBox="1"/>
          <p:nvPr/>
        </p:nvSpPr>
        <p:spPr>
          <a:xfrm>
            <a:off x="164349" y="1017588"/>
            <a:ext cx="8394000" cy="2238351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228584">
              <a:spcBef>
                <a:spcPts val="400"/>
              </a:spcBef>
              <a:buClr>
                <a:srgbClr val="CCCCCC"/>
              </a:buClr>
            </a:pPr>
            <a:r>
              <a:rPr lang="hu-HU" sz="1800" dirty="0">
                <a:solidFill>
                  <a:schemeClr val="dk2"/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 Semilight" panose="020B0402040204020203" pitchFamily="34" charset="0"/>
                <a:sym typeface="Source Sans Pro"/>
              </a:rPr>
              <a:t>Egy öt éves futamidejű 10.000 forint névértékű kötvényt bocsátottak ki éppen 1 évvel ezelőtt. A kötvény kuponrátája 5%. A kamatot évente, a névértéket lejáratkor fizeti ki egyösszegben. A piaci kamatláb (elvárt hozam) 3%. Mekkora a kötvény árfolyama… </a:t>
            </a:r>
          </a:p>
          <a:p>
            <a:pPr marL="571484" indent="-342900">
              <a:spcBef>
                <a:spcPts val="400"/>
              </a:spcBef>
              <a:buClr>
                <a:srgbClr val="CCCCCC"/>
              </a:buClr>
              <a:buAutoNum type="alphaLcParenR"/>
            </a:pPr>
            <a:r>
              <a:rPr lang="hu-HU" sz="1800" dirty="0">
                <a:solidFill>
                  <a:schemeClr val="dk2"/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 Semilight" panose="020B0402040204020203" pitchFamily="34" charset="0"/>
                <a:sym typeface="Source Sans Pro"/>
              </a:rPr>
              <a:t>… a kibocsátás napján?</a:t>
            </a:r>
          </a:p>
          <a:p>
            <a:pPr marL="228584">
              <a:spcBef>
                <a:spcPts val="400"/>
              </a:spcBef>
              <a:buClr>
                <a:srgbClr val="CCCCCC"/>
              </a:buClr>
            </a:pPr>
            <a:endParaRPr lang="hu" sz="1800" dirty="0">
              <a:solidFill>
                <a:schemeClr val="dk2"/>
              </a:solidFill>
              <a:latin typeface="Segoe UI Semilight" panose="020B0402040204020203" pitchFamily="34" charset="0"/>
              <a:ea typeface="Source Sans Pro"/>
              <a:cs typeface="Segoe UI Semilight" panose="020B0402040204020203" pitchFamily="34" charset="0"/>
              <a:sym typeface="Source Sans Pro"/>
            </a:endParaRPr>
          </a:p>
          <a:p>
            <a:pPr marL="228583">
              <a:spcBef>
                <a:spcPts val="400"/>
              </a:spcBef>
              <a:buClr>
                <a:srgbClr val="CCCCCC"/>
              </a:buClr>
            </a:pPr>
            <a:endParaRPr lang="hu" sz="1800" dirty="0">
              <a:solidFill>
                <a:schemeClr val="dk2"/>
              </a:solidFill>
              <a:latin typeface="Segoe UI Semilight" panose="020B0402040204020203" pitchFamily="34" charset="0"/>
              <a:ea typeface="Source Sans Pro"/>
              <a:cs typeface="Segoe UI Semilight" panose="020B0402040204020203" pitchFamily="34" charset="0"/>
              <a:sym typeface="Source Sans Pro"/>
            </a:endParaRPr>
          </a:p>
        </p:txBody>
      </p:sp>
      <p:sp>
        <p:nvSpPr>
          <p:cNvPr id="7" name="Téglalap 6">
            <a:extLst>
              <a:ext uri="{FF2B5EF4-FFF2-40B4-BE49-F238E27FC236}">
                <a16:creationId xmlns:a16="http://schemas.microsoft.com/office/drawing/2014/main" id="{C697778C-D64C-2BAC-FA7A-037A49254479}"/>
              </a:ext>
            </a:extLst>
          </p:cNvPr>
          <p:cNvSpPr/>
          <p:nvPr/>
        </p:nvSpPr>
        <p:spPr>
          <a:xfrm flipV="1">
            <a:off x="287855" y="562666"/>
            <a:ext cx="98192" cy="33742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>
              <a:highlight>
                <a:srgbClr val="757575"/>
              </a:highlight>
            </a:endParaRPr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A7F1BCC6-4022-74A3-B344-D63B2D4D872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86047" y="444500"/>
            <a:ext cx="8521700" cy="573088"/>
          </a:xfrm>
        </p:spPr>
        <p:txBody>
          <a:bodyPr/>
          <a:lstStyle/>
          <a:p>
            <a:r>
              <a:rPr lang="hu-HU" dirty="0"/>
              <a:t>4.PÉLDA</a:t>
            </a:r>
            <a:br>
              <a:rPr lang="hu-HU" dirty="0"/>
            </a:br>
            <a:endParaRPr lang="hu-HU" dirty="0">
              <a:solidFill>
                <a:schemeClr val="bg2">
                  <a:lumMod val="40000"/>
                  <a:lumOff val="60000"/>
                </a:schemeClr>
              </a:solidFill>
            </a:endParaRPr>
          </a:p>
        </p:txBody>
      </p:sp>
      <p:graphicFrame>
        <p:nvGraphicFramePr>
          <p:cNvPr id="3" name="Táblázat 2">
            <a:extLst>
              <a:ext uri="{FF2B5EF4-FFF2-40B4-BE49-F238E27FC236}">
                <a16:creationId xmlns:a16="http://schemas.microsoft.com/office/drawing/2014/main" id="{BE888465-AD36-A73D-73C5-AEEA2BFD6C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1583020"/>
              </p:ext>
            </p:extLst>
          </p:nvPr>
        </p:nvGraphicFramePr>
        <p:xfrm>
          <a:off x="486639" y="2664515"/>
          <a:ext cx="7564057" cy="1712532"/>
        </p:xfrm>
        <a:graphic>
          <a:graphicData uri="http://schemas.openxmlformats.org/drawingml/2006/table">
            <a:tbl>
              <a:tblPr firstRow="1" firstCol="1" bandRow="1">
                <a:tableStyleId>{FE464744-5EF8-4A23-BA49-EC68D10D153F}</a:tableStyleId>
              </a:tblPr>
              <a:tblGrid>
                <a:gridCol w="554661">
                  <a:extLst>
                    <a:ext uri="{9D8B030D-6E8A-4147-A177-3AD203B41FA5}">
                      <a16:colId xmlns:a16="http://schemas.microsoft.com/office/drawing/2014/main" val="3584457726"/>
                    </a:ext>
                  </a:extLst>
                </a:gridCol>
                <a:gridCol w="2098498">
                  <a:extLst>
                    <a:ext uri="{9D8B030D-6E8A-4147-A177-3AD203B41FA5}">
                      <a16:colId xmlns:a16="http://schemas.microsoft.com/office/drawing/2014/main" val="1949636536"/>
                    </a:ext>
                  </a:extLst>
                </a:gridCol>
                <a:gridCol w="1758093">
                  <a:extLst>
                    <a:ext uri="{9D8B030D-6E8A-4147-A177-3AD203B41FA5}">
                      <a16:colId xmlns:a16="http://schemas.microsoft.com/office/drawing/2014/main" val="2106810522"/>
                    </a:ext>
                  </a:extLst>
                </a:gridCol>
                <a:gridCol w="2216140">
                  <a:extLst>
                    <a:ext uri="{9D8B030D-6E8A-4147-A177-3AD203B41FA5}">
                      <a16:colId xmlns:a16="http://schemas.microsoft.com/office/drawing/2014/main" val="550830500"/>
                    </a:ext>
                  </a:extLst>
                </a:gridCol>
                <a:gridCol w="936665">
                  <a:extLst>
                    <a:ext uri="{9D8B030D-6E8A-4147-A177-3AD203B41FA5}">
                      <a16:colId xmlns:a16="http://schemas.microsoft.com/office/drawing/2014/main" val="119544683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hu-HU" sz="16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</a:t>
                      </a:r>
                      <a:endParaRPr lang="hu-HU" sz="16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hu-HU" sz="16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Fennálló névérték</a:t>
                      </a:r>
                      <a:br>
                        <a:rPr lang="hu-HU" sz="16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</a:br>
                      <a:r>
                        <a:rPr lang="hu-HU" sz="16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(év elején)</a:t>
                      </a:r>
                      <a:endParaRPr lang="hu-HU" sz="16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hu-HU" sz="16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Tőketörlesztés</a:t>
                      </a:r>
                      <a:br>
                        <a:rPr lang="hu-HU" sz="16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</a:br>
                      <a:r>
                        <a:rPr lang="hu-HU" sz="16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(év végén)</a:t>
                      </a:r>
                      <a:endParaRPr lang="hu-HU" sz="16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hu-HU" sz="16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Kamatfizetés </a:t>
                      </a:r>
                      <a:br>
                        <a:rPr lang="hu-HU" sz="16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</a:br>
                      <a:r>
                        <a:rPr lang="hu-HU" sz="16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(év végén)</a:t>
                      </a:r>
                      <a:endParaRPr lang="hu-HU" sz="16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hu-HU" sz="16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CF</a:t>
                      </a:r>
                      <a:endParaRPr lang="hu-HU" sz="16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1829911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hu-HU" sz="16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</a:t>
                      </a:r>
                      <a:endParaRPr lang="hu-HU" sz="16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hu-HU" sz="16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10.000</a:t>
                      </a:r>
                      <a:endParaRPr lang="hu-HU" sz="16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hu-HU" sz="16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0</a:t>
                      </a:r>
                      <a:endParaRPr lang="hu-HU" sz="16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hu-HU" sz="16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10.000 ∙ 0,05 = 500</a:t>
                      </a:r>
                      <a:endParaRPr lang="hu-HU" sz="16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hu-HU" sz="16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500</a:t>
                      </a:r>
                      <a:endParaRPr lang="hu-HU" sz="16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2220060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hu-HU" sz="16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2</a:t>
                      </a:r>
                      <a:endParaRPr lang="hu-HU" sz="16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hu-HU" sz="16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10.000</a:t>
                      </a:r>
                      <a:endParaRPr lang="hu-HU" sz="16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hu-HU" sz="16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0</a:t>
                      </a:r>
                      <a:endParaRPr lang="hu-HU" sz="16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hu-HU" sz="16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500</a:t>
                      </a:r>
                      <a:endParaRPr lang="hu-HU" sz="16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hu-HU" sz="16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500</a:t>
                      </a:r>
                      <a:endParaRPr lang="hu-HU" sz="16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7807075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hu-HU" sz="16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3</a:t>
                      </a:r>
                      <a:endParaRPr lang="hu-HU" sz="16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hu-HU" sz="16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10.000</a:t>
                      </a:r>
                      <a:endParaRPr lang="hu-HU" sz="16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hu-HU" sz="16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0</a:t>
                      </a:r>
                      <a:endParaRPr lang="hu-HU" sz="16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hu-HU" sz="16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500</a:t>
                      </a:r>
                      <a:endParaRPr lang="hu-HU" sz="16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hu-HU" sz="16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500</a:t>
                      </a:r>
                      <a:endParaRPr lang="hu-HU" sz="16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1835312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hu-HU" sz="16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4</a:t>
                      </a:r>
                      <a:endParaRPr lang="hu-HU" sz="16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hu-HU" sz="16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10.000</a:t>
                      </a:r>
                      <a:endParaRPr lang="hu-HU" sz="16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hu-HU" sz="16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0</a:t>
                      </a:r>
                      <a:endParaRPr lang="hu-HU" sz="16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hu-HU" sz="16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500</a:t>
                      </a:r>
                      <a:endParaRPr lang="hu-HU" sz="16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hu-HU" sz="16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500</a:t>
                      </a:r>
                      <a:endParaRPr lang="hu-HU" sz="16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8820449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hu-HU" sz="16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5</a:t>
                      </a:r>
                      <a:endParaRPr lang="hu-HU" sz="16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hu-HU" sz="16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10.000</a:t>
                      </a:r>
                      <a:endParaRPr lang="hu-HU" sz="16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hu-HU" sz="16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10.000</a:t>
                      </a:r>
                      <a:endParaRPr lang="hu-HU" sz="16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hu-HU" sz="16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500</a:t>
                      </a:r>
                      <a:endParaRPr lang="hu-HU" sz="16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hu-HU" sz="16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10.500</a:t>
                      </a:r>
                      <a:endParaRPr lang="hu-HU" sz="16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7291877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65646066"/>
      </p:ext>
    </p:extLst>
  </p:cSld>
  <p:clrMapOvr>
    <a:masterClrMapping/>
  </p:clrMapOvr>
  <p:transition spd="slow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>
          <a:extLst>
            <a:ext uri="{FF2B5EF4-FFF2-40B4-BE49-F238E27FC236}">
              <a16:creationId xmlns:a16="http://schemas.microsoft.com/office/drawing/2014/main" id="{B4ABF7A2-13FA-672B-7F7E-91A9BA471A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églalap 6">
            <a:extLst>
              <a:ext uri="{FF2B5EF4-FFF2-40B4-BE49-F238E27FC236}">
                <a16:creationId xmlns:a16="http://schemas.microsoft.com/office/drawing/2014/main" id="{7C7F4236-4338-3AB8-87FD-114455C035B5}"/>
              </a:ext>
            </a:extLst>
          </p:cNvPr>
          <p:cNvSpPr/>
          <p:nvPr/>
        </p:nvSpPr>
        <p:spPr>
          <a:xfrm flipV="1">
            <a:off x="287855" y="562666"/>
            <a:ext cx="98192" cy="33742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>
              <a:highlight>
                <a:srgbClr val="757575"/>
              </a:highlight>
            </a:endParaRPr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7804C4CF-C19D-3606-7C94-38FA13E9144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86047" y="444500"/>
            <a:ext cx="8521700" cy="573088"/>
          </a:xfrm>
        </p:spPr>
        <p:txBody>
          <a:bodyPr/>
          <a:lstStyle/>
          <a:p>
            <a:r>
              <a:rPr lang="hu-HU" dirty="0"/>
              <a:t>4.PÉLDA</a:t>
            </a:r>
            <a:br>
              <a:rPr lang="hu-HU" dirty="0"/>
            </a:br>
            <a:endParaRPr lang="hu-HU" dirty="0">
              <a:solidFill>
                <a:schemeClr val="bg2">
                  <a:lumMod val="40000"/>
                  <a:lumOff val="60000"/>
                </a:schemeClr>
              </a:solidFill>
            </a:endParaRPr>
          </a:p>
        </p:txBody>
      </p:sp>
      <p:graphicFrame>
        <p:nvGraphicFramePr>
          <p:cNvPr id="3" name="Táblázat 2">
            <a:extLst>
              <a:ext uri="{FF2B5EF4-FFF2-40B4-BE49-F238E27FC236}">
                <a16:creationId xmlns:a16="http://schemas.microsoft.com/office/drawing/2014/main" id="{C6EDDA70-29BC-B9CA-E5E1-3BFE16C184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1506997"/>
              </p:ext>
            </p:extLst>
          </p:nvPr>
        </p:nvGraphicFramePr>
        <p:xfrm>
          <a:off x="1395268" y="1141369"/>
          <a:ext cx="4779645" cy="1506604"/>
        </p:xfrm>
        <a:graphic>
          <a:graphicData uri="http://schemas.openxmlformats.org/drawingml/2006/table">
            <a:tbl>
              <a:tblPr firstRow="1" firstCol="1" bandRow="1">
                <a:tableStyleId>{FE464744-5EF8-4A23-BA49-EC68D10D153F}</a:tableStyleId>
              </a:tblPr>
              <a:tblGrid>
                <a:gridCol w="351790">
                  <a:extLst>
                    <a:ext uri="{9D8B030D-6E8A-4147-A177-3AD203B41FA5}">
                      <a16:colId xmlns:a16="http://schemas.microsoft.com/office/drawing/2014/main" val="3584457726"/>
                    </a:ext>
                  </a:extLst>
                </a:gridCol>
                <a:gridCol w="1355725">
                  <a:extLst>
                    <a:ext uri="{9D8B030D-6E8A-4147-A177-3AD203B41FA5}">
                      <a16:colId xmlns:a16="http://schemas.microsoft.com/office/drawing/2014/main" val="1949636536"/>
                    </a:ext>
                  </a:extLst>
                </a:gridCol>
                <a:gridCol w="1115060">
                  <a:extLst>
                    <a:ext uri="{9D8B030D-6E8A-4147-A177-3AD203B41FA5}">
                      <a16:colId xmlns:a16="http://schemas.microsoft.com/office/drawing/2014/main" val="2106810522"/>
                    </a:ext>
                  </a:extLst>
                </a:gridCol>
                <a:gridCol w="1150620">
                  <a:extLst>
                    <a:ext uri="{9D8B030D-6E8A-4147-A177-3AD203B41FA5}">
                      <a16:colId xmlns:a16="http://schemas.microsoft.com/office/drawing/2014/main" val="550830500"/>
                    </a:ext>
                  </a:extLst>
                </a:gridCol>
                <a:gridCol w="806450">
                  <a:extLst>
                    <a:ext uri="{9D8B030D-6E8A-4147-A177-3AD203B41FA5}">
                      <a16:colId xmlns:a16="http://schemas.microsoft.com/office/drawing/2014/main" val="119544683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hu-HU" sz="1200" dirty="0">
                          <a:effectLst/>
                        </a:rPr>
                        <a:t>t</a:t>
                      </a:r>
                      <a:endParaRPr lang="hu-H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hu-HU" sz="1200" dirty="0">
                          <a:effectLst/>
                        </a:rPr>
                        <a:t>Fennálló névérték</a:t>
                      </a:r>
                      <a:br>
                        <a:rPr lang="hu-HU" sz="1200" dirty="0">
                          <a:effectLst/>
                        </a:rPr>
                      </a:br>
                      <a:r>
                        <a:rPr lang="hu-HU" sz="1200" dirty="0">
                          <a:effectLst/>
                        </a:rPr>
                        <a:t>(év elején)</a:t>
                      </a:r>
                      <a:endParaRPr lang="hu-H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hu-HU" sz="1200">
                          <a:effectLst/>
                        </a:rPr>
                        <a:t>Tőketörlesztés</a:t>
                      </a:r>
                      <a:br>
                        <a:rPr lang="hu-HU" sz="1200">
                          <a:effectLst/>
                        </a:rPr>
                      </a:br>
                      <a:r>
                        <a:rPr lang="hu-HU" sz="1200">
                          <a:effectLst/>
                        </a:rPr>
                        <a:t>(év végén)</a:t>
                      </a:r>
                      <a:endParaRPr lang="hu-H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hu-HU" sz="1200">
                          <a:effectLst/>
                        </a:rPr>
                        <a:t>Kamatfizetés </a:t>
                      </a:r>
                      <a:br>
                        <a:rPr lang="hu-HU" sz="1200">
                          <a:effectLst/>
                        </a:rPr>
                      </a:br>
                      <a:r>
                        <a:rPr lang="hu-HU" sz="1200">
                          <a:effectLst/>
                        </a:rPr>
                        <a:t>(év végén)</a:t>
                      </a:r>
                      <a:endParaRPr lang="hu-H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hu-HU" sz="1200">
                          <a:effectLst/>
                        </a:rPr>
                        <a:t>CF</a:t>
                      </a:r>
                      <a:endParaRPr lang="hu-H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1829911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hu-HU" sz="1200">
                          <a:effectLst/>
                        </a:rPr>
                        <a:t>1</a:t>
                      </a:r>
                      <a:endParaRPr lang="hu-H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hu-HU" sz="1200">
                          <a:effectLst/>
                        </a:rPr>
                        <a:t>10.000</a:t>
                      </a:r>
                      <a:endParaRPr lang="hu-H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hu-HU" sz="1200">
                          <a:effectLst/>
                        </a:rPr>
                        <a:t>0</a:t>
                      </a:r>
                      <a:endParaRPr lang="hu-H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hu-HU" sz="1200">
                          <a:effectLst/>
                        </a:rPr>
                        <a:t>10.000 ∙ 0,05 = 500</a:t>
                      </a:r>
                      <a:endParaRPr lang="hu-H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hu-HU" sz="1200">
                          <a:effectLst/>
                        </a:rPr>
                        <a:t>500</a:t>
                      </a:r>
                      <a:endParaRPr lang="hu-H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2220060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hu-HU" sz="1200">
                          <a:effectLst/>
                        </a:rPr>
                        <a:t>2</a:t>
                      </a:r>
                      <a:endParaRPr lang="hu-H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hu-HU" sz="1200" dirty="0">
                          <a:effectLst/>
                        </a:rPr>
                        <a:t>10.000</a:t>
                      </a:r>
                      <a:endParaRPr lang="hu-H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hu-HU" sz="1200">
                          <a:effectLst/>
                        </a:rPr>
                        <a:t>0</a:t>
                      </a:r>
                      <a:endParaRPr lang="hu-H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hu-HU" sz="1200">
                          <a:effectLst/>
                        </a:rPr>
                        <a:t>500</a:t>
                      </a:r>
                      <a:endParaRPr lang="hu-H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hu-HU" sz="1200">
                          <a:effectLst/>
                        </a:rPr>
                        <a:t>500</a:t>
                      </a:r>
                      <a:endParaRPr lang="hu-H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7807075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hu-HU" sz="1200">
                          <a:effectLst/>
                        </a:rPr>
                        <a:t>3</a:t>
                      </a:r>
                      <a:endParaRPr lang="hu-H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hu-HU" sz="1200">
                          <a:effectLst/>
                        </a:rPr>
                        <a:t>10.000</a:t>
                      </a:r>
                      <a:endParaRPr lang="hu-H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hu-HU" sz="1200">
                          <a:effectLst/>
                        </a:rPr>
                        <a:t>0</a:t>
                      </a:r>
                      <a:endParaRPr lang="hu-H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hu-HU" sz="1200">
                          <a:effectLst/>
                        </a:rPr>
                        <a:t>500</a:t>
                      </a:r>
                      <a:endParaRPr lang="hu-H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hu-HU" sz="1200">
                          <a:effectLst/>
                        </a:rPr>
                        <a:t>500</a:t>
                      </a:r>
                      <a:endParaRPr lang="hu-H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1835312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hu-HU" sz="1200">
                          <a:effectLst/>
                        </a:rPr>
                        <a:t>4</a:t>
                      </a:r>
                      <a:endParaRPr lang="hu-H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hu-HU" sz="1200">
                          <a:effectLst/>
                        </a:rPr>
                        <a:t>10.000</a:t>
                      </a:r>
                      <a:endParaRPr lang="hu-H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hu-HU" sz="1200">
                          <a:effectLst/>
                        </a:rPr>
                        <a:t>0</a:t>
                      </a:r>
                      <a:endParaRPr lang="hu-H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hu-HU" sz="1200">
                          <a:effectLst/>
                        </a:rPr>
                        <a:t>500</a:t>
                      </a:r>
                      <a:endParaRPr lang="hu-H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hu-HU" sz="1200">
                          <a:effectLst/>
                        </a:rPr>
                        <a:t>500</a:t>
                      </a:r>
                      <a:endParaRPr lang="hu-H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8820449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hu-HU" sz="1200">
                          <a:effectLst/>
                        </a:rPr>
                        <a:t>5</a:t>
                      </a:r>
                      <a:endParaRPr lang="hu-H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hu-HU" sz="1200">
                          <a:effectLst/>
                        </a:rPr>
                        <a:t>10.000</a:t>
                      </a:r>
                      <a:endParaRPr lang="hu-H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hu-HU" sz="1200">
                          <a:effectLst/>
                        </a:rPr>
                        <a:t>10.000</a:t>
                      </a:r>
                      <a:endParaRPr lang="hu-H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hu-HU" sz="1200">
                          <a:effectLst/>
                        </a:rPr>
                        <a:t>500</a:t>
                      </a:r>
                      <a:endParaRPr lang="hu-H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hu-HU" sz="1200" dirty="0">
                          <a:effectLst/>
                        </a:rPr>
                        <a:t>10.500</a:t>
                      </a:r>
                      <a:endParaRPr lang="hu-H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729187716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0" name="Szövegdoboz 9">
                <a:extLst>
                  <a:ext uri="{FF2B5EF4-FFF2-40B4-BE49-F238E27FC236}">
                    <a16:creationId xmlns:a16="http://schemas.microsoft.com/office/drawing/2014/main" id="{53F69E5B-1883-AEA8-B7CF-D91E20E22BB0}"/>
                  </a:ext>
                </a:extLst>
              </p:cNvPr>
              <p:cNvSpPr txBox="1"/>
              <p:nvPr/>
            </p:nvSpPr>
            <p:spPr>
              <a:xfrm>
                <a:off x="498764" y="2937162"/>
                <a:ext cx="7888777" cy="78951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hu-HU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hu-HU" b="1">
                              <a:latin typeface="Cambria Math" panose="02040503050406030204" pitchFamily="18" charset="0"/>
                            </a:rPr>
                            <m:t>𝐏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hu-HU">
                              <a:latin typeface="Cambria Math" panose="02040503050406030204" pitchFamily="18" charset="0"/>
                            </a:rPr>
                            <m:t>k</m:t>
                          </m:r>
                          <m:r>
                            <a:rPr lang="hu-HU">
                              <a:latin typeface="Cambria Math" panose="02040503050406030204" pitchFamily="18" charset="0"/>
                            </a:rPr>
                            <m:t>ö</m:t>
                          </m:r>
                          <m:r>
                            <m:rPr>
                              <m:sty m:val="p"/>
                            </m:rPr>
                            <a:rPr lang="hu-HU">
                              <a:latin typeface="Cambria Math" panose="02040503050406030204" pitchFamily="18" charset="0"/>
                            </a:rPr>
                            <m:t>tv</m:t>
                          </m:r>
                          <m:r>
                            <a:rPr lang="hu-HU">
                              <a:latin typeface="Cambria Math" panose="02040503050406030204" pitchFamily="18" charset="0"/>
                            </a:rPr>
                            <m:t>é</m:t>
                          </m:r>
                          <m:r>
                            <m:rPr>
                              <m:sty m:val="p"/>
                            </m:rPr>
                            <a:rPr lang="hu-HU">
                              <a:latin typeface="Cambria Math" panose="02040503050406030204" pitchFamily="18" charset="0"/>
                            </a:rPr>
                            <m:t>ny</m:t>
                          </m:r>
                        </m:sub>
                      </m:sSub>
                      <m:r>
                        <a:rPr lang="hu-HU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hu-HU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hu-HU" i="0">
                              <a:latin typeface="Cambria Math" panose="02040503050406030204" pitchFamily="18" charset="0"/>
                            </a:rPr>
                            <m:t>500</m:t>
                          </m:r>
                        </m:num>
                        <m:den>
                          <m:d>
                            <m:dPr>
                              <m:endChr m:val=""/>
                              <m:ctrlPr>
                                <a:rPr lang="hu-HU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hu-HU" i="0"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sSup>
                                <m:sSupPr>
                                  <m:ctrlPr>
                                    <a:rPr lang="hu-HU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"/>
                                      <m:ctrlPr>
                                        <a:rPr lang="hu-HU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hu-HU">
                                          <a:latin typeface="Cambria Math" panose="02040503050406030204" pitchFamily="18" charset="0"/>
                                        </a:rPr>
                                        <m:t>0,03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hu-HU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p>
                            </m:e>
                          </m:d>
                        </m:den>
                      </m:f>
                      <m:r>
                        <a:rPr lang="hu-HU" i="0">
                          <a:latin typeface="Cambria Math" panose="02040503050406030204" pitchFamily="18" charset="0"/>
                        </a:rPr>
                        <m:t>+ </m:t>
                      </m:r>
                      <m:f>
                        <m:fPr>
                          <m:ctrlPr>
                            <a:rPr lang="hu-HU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hu-HU" i="0">
                              <a:latin typeface="Cambria Math" panose="02040503050406030204" pitchFamily="18" charset="0"/>
                            </a:rPr>
                            <m:t>500</m:t>
                          </m:r>
                        </m:num>
                        <m:den>
                          <m:d>
                            <m:dPr>
                              <m:endChr m:val=""/>
                              <m:ctrlPr>
                                <a:rPr lang="hu-HU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hu-HU" i="0"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sSup>
                                <m:sSupPr>
                                  <m:ctrlPr>
                                    <a:rPr lang="hu-HU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"/>
                                      <m:ctrlPr>
                                        <a:rPr lang="hu-HU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hu-HU">
                                          <a:latin typeface="Cambria Math" panose="02040503050406030204" pitchFamily="18" charset="0"/>
                                        </a:rPr>
                                        <m:t>0,03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hu-HU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den>
                      </m:f>
                      <m:r>
                        <a:rPr lang="hu-HU" i="0">
                          <a:latin typeface="Cambria Math" panose="02040503050406030204" pitchFamily="18" charset="0"/>
                        </a:rPr>
                        <m:t>+ </m:t>
                      </m:r>
                      <m:f>
                        <m:fPr>
                          <m:ctrlPr>
                            <a:rPr lang="hu-HU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hu-HU" i="0">
                              <a:latin typeface="Cambria Math" panose="02040503050406030204" pitchFamily="18" charset="0"/>
                            </a:rPr>
                            <m:t>500</m:t>
                          </m:r>
                        </m:num>
                        <m:den>
                          <m:d>
                            <m:dPr>
                              <m:endChr m:val=""/>
                              <m:ctrlPr>
                                <a:rPr lang="hu-HU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hu-HU" i="0"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sSup>
                                <m:sSupPr>
                                  <m:ctrlPr>
                                    <a:rPr lang="hu-HU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"/>
                                      <m:ctrlPr>
                                        <a:rPr lang="hu-HU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hu-HU">
                                          <a:latin typeface="Cambria Math" panose="02040503050406030204" pitchFamily="18" charset="0"/>
                                        </a:rPr>
                                        <m:t>0,03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hu-HU" i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e>
                          </m:d>
                        </m:den>
                      </m:f>
                      <m:r>
                        <a:rPr lang="hu-HU" i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hu-HU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hu-HU" i="0">
                              <a:latin typeface="Cambria Math" panose="02040503050406030204" pitchFamily="18" charset="0"/>
                            </a:rPr>
                            <m:t>500</m:t>
                          </m:r>
                        </m:num>
                        <m:den>
                          <m:d>
                            <m:dPr>
                              <m:endChr m:val=""/>
                              <m:ctrlPr>
                                <a:rPr lang="hu-HU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hu-HU" i="0"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sSup>
                                <m:sSupPr>
                                  <m:ctrlPr>
                                    <a:rPr lang="hu-HU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"/>
                                      <m:ctrlPr>
                                        <a:rPr lang="hu-HU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hu-HU">
                                          <a:latin typeface="Cambria Math" panose="02040503050406030204" pitchFamily="18" charset="0"/>
                                        </a:rPr>
                                        <m:t>0,03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hu-HU" i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p>
                              </m:sSup>
                            </m:e>
                          </m:d>
                        </m:den>
                      </m:f>
                      <m:r>
                        <a:rPr lang="hu-HU" i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hu-HU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hu-HU" i="0">
                              <a:latin typeface="Cambria Math" panose="02040503050406030204" pitchFamily="18" charset="0"/>
                            </a:rPr>
                            <m:t>10.500</m:t>
                          </m:r>
                        </m:num>
                        <m:den>
                          <m:d>
                            <m:dPr>
                              <m:endChr m:val=""/>
                              <m:ctrlPr>
                                <a:rPr lang="hu-HU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hu-HU" i="0"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sSup>
                                <m:sSupPr>
                                  <m:ctrlPr>
                                    <a:rPr lang="hu-HU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"/>
                                      <m:ctrlPr>
                                        <a:rPr lang="hu-HU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hu-HU">
                                          <a:latin typeface="Cambria Math" panose="02040503050406030204" pitchFamily="18" charset="0"/>
                                        </a:rPr>
                                        <m:t>0,03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hu-HU" i="0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sup>
                              </m:sSup>
                            </m:e>
                          </m:d>
                        </m:den>
                      </m:f>
                      <m:r>
                        <a:rPr lang="hu-HU" i="0">
                          <a:latin typeface="Cambria Math" panose="02040503050406030204" pitchFamily="18" charset="0"/>
                        </a:rPr>
                        <m:t> =  10.915,94 </m:t>
                      </m:r>
                      <m:r>
                        <a:rPr lang="hu-HU" b="1" i="1">
                          <a:latin typeface="Cambria Math" panose="02040503050406030204" pitchFamily="18" charset="0"/>
                        </a:rPr>
                        <m:t>𝑭𝒕</m:t>
                      </m:r>
                    </m:oMath>
                  </m:oMathPara>
                </a14:m>
                <a:endParaRPr lang="hu-HU" b="1" dirty="0"/>
              </a:p>
              <a:p>
                <a:pPr algn="ctr"/>
                <a:r>
                  <a:rPr lang="hu-HU" b="1" dirty="0"/>
                  <a:t>vagy</a:t>
                </a:r>
                <a:r>
                  <a:rPr lang="hu-HU" dirty="0"/>
                  <a:t> </a:t>
                </a:r>
              </a:p>
            </p:txBody>
          </p:sp>
        </mc:Choice>
        <mc:Fallback xmlns="">
          <p:sp>
            <p:nvSpPr>
              <p:cNvPr id="10" name="Szövegdoboz 9">
                <a:extLst>
                  <a:ext uri="{FF2B5EF4-FFF2-40B4-BE49-F238E27FC236}">
                    <a16:creationId xmlns:a16="http://schemas.microsoft.com/office/drawing/2014/main" id="{53F69E5B-1883-AEA8-B7CF-D91E20E22B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8764" y="2937162"/>
                <a:ext cx="7888777" cy="789512"/>
              </a:xfrm>
              <a:prstGeom prst="rect">
                <a:avLst/>
              </a:prstGeom>
              <a:blipFill>
                <a:blip r:embed="rId3"/>
                <a:stretch>
                  <a:fillRect t="-27132" b="-63566"/>
                </a:stretch>
              </a:blipFill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Szövegdoboz 3">
                <a:extLst>
                  <a:ext uri="{FF2B5EF4-FFF2-40B4-BE49-F238E27FC236}">
                    <a16:creationId xmlns:a16="http://schemas.microsoft.com/office/drawing/2014/main" id="{991781DA-7B6A-5CAF-BD76-5E1C76A926D3}"/>
                  </a:ext>
                </a:extLst>
              </p:cNvPr>
              <p:cNvSpPr txBox="1"/>
              <p:nvPr/>
            </p:nvSpPr>
            <p:spPr>
              <a:xfrm>
                <a:off x="972589" y="3640312"/>
                <a:ext cx="6134793" cy="78720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hu-HU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hu-HU" sz="1400" b="1" i="0">
                              <a:latin typeface="Cambria Math" panose="02040503050406030204" pitchFamily="18" charset="0"/>
                            </a:rPr>
                            <m:t>𝐏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hu-HU" sz="1400" b="0" i="0" smtClean="0">
                              <a:latin typeface="Cambria Math" panose="02040503050406030204" pitchFamily="18" charset="0"/>
                            </a:rPr>
                            <m:t>k</m:t>
                          </m:r>
                          <m:r>
                            <a:rPr lang="hu-HU" sz="1400" b="0" i="0" smtClean="0">
                              <a:latin typeface="Cambria Math" panose="02040503050406030204" pitchFamily="18" charset="0"/>
                            </a:rPr>
                            <m:t>ö</m:t>
                          </m:r>
                          <m:r>
                            <m:rPr>
                              <m:sty m:val="p"/>
                            </m:rPr>
                            <a:rPr lang="hu-HU" sz="1400" b="0" i="0" smtClean="0">
                              <a:latin typeface="Cambria Math" panose="02040503050406030204" pitchFamily="18" charset="0"/>
                            </a:rPr>
                            <m:t>tv</m:t>
                          </m:r>
                          <m:r>
                            <a:rPr lang="hu-HU" sz="1400" b="0" i="0" smtClean="0">
                              <a:latin typeface="Cambria Math" panose="02040503050406030204" pitchFamily="18" charset="0"/>
                            </a:rPr>
                            <m:t>é</m:t>
                          </m:r>
                          <m:r>
                            <m:rPr>
                              <m:sty m:val="p"/>
                            </m:rPr>
                            <a:rPr lang="hu-HU" sz="1400" b="0" i="0" smtClean="0">
                              <a:latin typeface="Cambria Math" panose="02040503050406030204" pitchFamily="18" charset="0"/>
                            </a:rPr>
                            <m:t>ny</m:t>
                          </m:r>
                        </m:sub>
                      </m:sSub>
                      <m:r>
                        <a:rPr lang="hu-HU" sz="1400" b="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hu-HU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hu-HU" b="0" i="1" dirty="0" smtClean="0">
                              <a:latin typeface="Cambria Math" panose="02040503050406030204" pitchFamily="18" charset="0"/>
                            </a:rPr>
                            <m:t>500</m:t>
                          </m:r>
                        </m:num>
                        <m:den>
                          <m:r>
                            <a:rPr lang="hu-HU" b="0" i="1" dirty="0" smtClean="0">
                              <a:latin typeface="Cambria Math" panose="02040503050406030204" pitchFamily="18" charset="0"/>
                            </a:rPr>
                            <m:t>0,03</m:t>
                          </m:r>
                        </m:den>
                      </m:f>
                      <m:r>
                        <a:rPr lang="hu-HU" i="1">
                          <a:latin typeface="Cambria Math" panose="02040503050406030204" pitchFamily="18" charset="0"/>
                        </a:rPr>
                        <m:t>∙</m:t>
                      </m:r>
                      <m:d>
                        <m:dPr>
                          <m:begChr m:val="["/>
                          <m:endChr m:val="]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hu-HU" i="1">
                              <a:latin typeface="Cambria Math" panose="02040503050406030204" pitchFamily="18" charset="0"/>
                            </a:rPr>
                            <m:t>1−</m:t>
                          </m:r>
                          <m:f>
                            <m:f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hu-HU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hu-HU" i="1"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  <m:r>
                                        <a:rPr lang="hu-HU" i="1">
                                          <a:latin typeface="Cambria Math" panose="02040503050406030204" pitchFamily="18" charset="0"/>
                                        </a:rPr>
                                        <m:t>+0,03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hu-HU" b="0" i="1" smtClean="0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sup>
                              </m:sSup>
                            </m:den>
                          </m:f>
                        </m:e>
                      </m:d>
                      <m:r>
                        <a:rPr lang="hu-HU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hu-HU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hu-HU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10 000</m:t>
                          </m:r>
                        </m:num>
                        <m:den>
                          <m:sSup>
                            <m:sSupPr>
                              <m:ctrlPr>
                                <a:rPr lang="hu-HU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hu-HU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(1+0,03)</m:t>
                              </m:r>
                            </m:e>
                            <m:sup>
                              <m:r>
                                <a:rPr lang="hu-HU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5</m:t>
                              </m:r>
                            </m:sup>
                          </m:sSup>
                        </m:den>
                      </m:f>
                      <m:r>
                        <a:rPr lang="hu-HU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hu-HU">
                          <a:latin typeface="Cambria Math" panose="02040503050406030204" pitchFamily="18" charset="0"/>
                        </a:rPr>
                        <m:t>10.915,94 </m:t>
                      </m:r>
                      <m:r>
                        <a:rPr lang="hu-HU" b="1" i="1">
                          <a:latin typeface="Cambria Math" panose="02040503050406030204" pitchFamily="18" charset="0"/>
                        </a:rPr>
                        <m:t>𝑭𝒕</m:t>
                      </m:r>
                    </m:oMath>
                  </m:oMathPara>
                </a14:m>
                <a:endParaRPr lang="hu-HU" b="1" dirty="0"/>
              </a:p>
              <a:p>
                <a:endParaRPr lang="hu-HU" dirty="0"/>
              </a:p>
            </p:txBody>
          </p:sp>
        </mc:Choice>
        <mc:Fallback xmlns="">
          <p:sp>
            <p:nvSpPr>
              <p:cNvPr id="4" name="Szövegdoboz 3">
                <a:extLst>
                  <a:ext uri="{FF2B5EF4-FFF2-40B4-BE49-F238E27FC236}">
                    <a16:creationId xmlns:a16="http://schemas.microsoft.com/office/drawing/2014/main" id="{991781DA-7B6A-5CAF-BD76-5E1C76A926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2589" y="3640312"/>
                <a:ext cx="6134793" cy="78720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Csoportba foglalás 8">
            <a:extLst>
              <a:ext uri="{FF2B5EF4-FFF2-40B4-BE49-F238E27FC236}">
                <a16:creationId xmlns:a16="http://schemas.microsoft.com/office/drawing/2014/main" id="{FEA494C2-26E4-C3D8-32BB-04EDFAABAD7A}"/>
              </a:ext>
            </a:extLst>
          </p:cNvPr>
          <p:cNvGrpSpPr/>
          <p:nvPr/>
        </p:nvGrpSpPr>
        <p:grpSpPr>
          <a:xfrm>
            <a:off x="6908473" y="1330037"/>
            <a:ext cx="2085919" cy="1454727"/>
            <a:chOff x="6908473" y="1330037"/>
            <a:chExt cx="2085919" cy="1454727"/>
          </a:xfrm>
        </p:grpSpPr>
        <p:pic>
          <p:nvPicPr>
            <p:cNvPr id="6" name="Kép 5">
              <a:extLst>
                <a:ext uri="{FF2B5EF4-FFF2-40B4-BE49-F238E27FC236}">
                  <a16:creationId xmlns:a16="http://schemas.microsoft.com/office/drawing/2014/main" id="{409CE19C-7D4C-DD93-04FC-7EFD349C846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7026988" y="1503189"/>
              <a:ext cx="1967404" cy="1281575"/>
            </a:xfrm>
            <a:prstGeom prst="rect">
              <a:avLst/>
            </a:prstGeom>
          </p:spPr>
        </p:pic>
        <p:sp>
          <p:nvSpPr>
            <p:cNvPr id="8" name="Shape 182">
              <a:extLst>
                <a:ext uri="{FF2B5EF4-FFF2-40B4-BE49-F238E27FC236}">
                  <a16:creationId xmlns:a16="http://schemas.microsoft.com/office/drawing/2014/main" id="{FE37669E-136E-C56D-2255-D2C322C53B38}"/>
                </a:ext>
              </a:extLst>
            </p:cNvPr>
            <p:cNvSpPr txBox="1"/>
            <p:nvPr/>
          </p:nvSpPr>
          <p:spPr>
            <a:xfrm>
              <a:off x="6908473" y="1330037"/>
              <a:ext cx="1886392" cy="1389862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228583">
                <a:spcBef>
                  <a:spcPts val="400"/>
                </a:spcBef>
                <a:buClr>
                  <a:srgbClr val="CCCCCC"/>
                </a:buClr>
              </a:pPr>
              <a:endParaRPr lang="hu" sz="1800" dirty="0">
                <a:solidFill>
                  <a:schemeClr val="dk2"/>
                </a:solidFill>
                <a:latin typeface="Segoe UI Semilight" panose="020B0402040204020203" pitchFamily="34" charset="0"/>
                <a:ea typeface="Source Sans Pro"/>
                <a:cs typeface="Segoe UI Semilight" panose="020B0402040204020203" pitchFamily="34" charset="0"/>
                <a:sym typeface="Source Sans Pro"/>
              </a:endParaRPr>
            </a:p>
            <a:p>
              <a:pPr marL="228583">
                <a:spcBef>
                  <a:spcPts val="400"/>
                </a:spcBef>
                <a:buClr>
                  <a:srgbClr val="CCCCCC"/>
                </a:buClr>
              </a:pPr>
              <a:r>
                <a:rPr lang="hu" sz="1200" b="1" dirty="0">
                  <a:solidFill>
                    <a:schemeClr val="dk2"/>
                  </a:solidFill>
                  <a:latin typeface="Segoe UI Semilight" panose="020B0402040204020203" pitchFamily="34" charset="0"/>
                  <a:ea typeface="Source Sans Pro"/>
                  <a:cs typeface="Segoe UI Semilight" panose="020B0402040204020203" pitchFamily="34" charset="0"/>
                  <a:sym typeface="Source Sans Pro"/>
                </a:rPr>
                <a:t>Akár külön-külön értékeljük a CF-kat, akár annuitásként a kamatokat, ugyanazt az értéket kapjuk! </a:t>
              </a:r>
              <a:endParaRPr lang="hu" sz="1200" b="1" dirty="0">
                <a:solidFill>
                  <a:srgbClr val="0070C0"/>
                </a:solidFill>
                <a:latin typeface="Segoe UI Semilight" panose="020B0402040204020203" pitchFamily="34" charset="0"/>
                <a:ea typeface="Source Sans Pro"/>
                <a:cs typeface="Segoe UI Semilight" panose="020B0402040204020203" pitchFamily="34" charset="0"/>
                <a:sym typeface="Source Sans Pro"/>
              </a:endParaRPr>
            </a:p>
            <a:p>
              <a:pPr marL="228583">
                <a:spcBef>
                  <a:spcPts val="400"/>
                </a:spcBef>
                <a:buClr>
                  <a:srgbClr val="CCCCCC"/>
                </a:buClr>
              </a:pPr>
              <a:endParaRPr lang="hu" sz="1800" dirty="0">
                <a:solidFill>
                  <a:schemeClr val="dk2"/>
                </a:solidFill>
                <a:latin typeface="Segoe UI Semilight" panose="020B0402040204020203" pitchFamily="34" charset="0"/>
                <a:ea typeface="Source Sans Pro"/>
                <a:cs typeface="Segoe UI Semilight" panose="020B0402040204020203" pitchFamily="34" charset="0"/>
                <a:sym typeface="Source Sans Pro"/>
              </a:endParaRPr>
            </a:p>
            <a:p>
              <a:pPr marL="457167" indent="-228584">
                <a:spcBef>
                  <a:spcPts val="400"/>
                </a:spcBef>
                <a:buClr>
                  <a:srgbClr val="CCCCCC"/>
                </a:buClr>
                <a:buChar char="●"/>
              </a:pPr>
              <a:endParaRPr lang="hu" sz="1800" dirty="0">
                <a:solidFill>
                  <a:schemeClr val="dk2"/>
                </a:solidFill>
                <a:latin typeface="Segoe UI Semilight" panose="020B0402040204020203" pitchFamily="34" charset="0"/>
                <a:ea typeface="Source Sans Pro"/>
                <a:cs typeface="Segoe UI Semilight" panose="020B0402040204020203" pitchFamily="34" charset="0"/>
                <a:sym typeface="Source Sans Pro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Szövegdoboz 4">
                <a:extLst>
                  <a:ext uri="{FF2B5EF4-FFF2-40B4-BE49-F238E27FC236}">
                    <a16:creationId xmlns:a16="http://schemas.microsoft.com/office/drawing/2014/main" id="{3327BAD8-A8D0-C0AC-0C93-648C2F89F90B}"/>
                  </a:ext>
                </a:extLst>
              </p:cNvPr>
              <p:cNvSpPr txBox="1"/>
              <p:nvPr/>
            </p:nvSpPr>
            <p:spPr>
              <a:xfrm>
                <a:off x="2177211" y="4494877"/>
                <a:ext cx="3624349" cy="571760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34925">
                <a:solidFill>
                  <a:srgbClr val="C0000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hu-H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hu-HU" b="1">
                              <a:latin typeface="Cambria Math" panose="02040503050406030204" pitchFamily="18" charset="0"/>
                            </a:rPr>
                            <m:t>𝐏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hu-HU">
                              <a:latin typeface="Cambria Math" panose="02040503050406030204" pitchFamily="18" charset="0"/>
                            </a:rPr>
                            <m:t>k</m:t>
                          </m:r>
                          <m:r>
                            <a:rPr lang="hu-HU">
                              <a:latin typeface="Cambria Math" panose="02040503050406030204" pitchFamily="18" charset="0"/>
                            </a:rPr>
                            <m:t>ö</m:t>
                          </m:r>
                          <m:r>
                            <m:rPr>
                              <m:sty m:val="p"/>
                            </m:rPr>
                            <a:rPr lang="hu-HU">
                              <a:latin typeface="Cambria Math" panose="02040503050406030204" pitchFamily="18" charset="0"/>
                            </a:rPr>
                            <m:t>tv</m:t>
                          </m:r>
                          <m:r>
                            <a:rPr lang="hu-HU">
                              <a:latin typeface="Cambria Math" panose="02040503050406030204" pitchFamily="18" charset="0"/>
                            </a:rPr>
                            <m:t>é</m:t>
                          </m:r>
                          <m:r>
                            <m:rPr>
                              <m:sty m:val="p"/>
                            </m:rPr>
                            <a:rPr lang="hu-HU">
                              <a:latin typeface="Cambria Math" panose="02040503050406030204" pitchFamily="18" charset="0"/>
                            </a:rPr>
                            <m:t>ny</m:t>
                          </m:r>
                        </m:sub>
                      </m:sSub>
                      <m:r>
                        <a:rPr lang="hu-HU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hu-HU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hu-HU" i="1" dirty="0">
                              <a:latin typeface="Cambria Math" panose="02040503050406030204" pitchFamily="18" charset="0"/>
                            </a:rPr>
                            <m:t>𝐶</m:t>
                          </m:r>
                        </m:num>
                        <m:den>
                          <m:r>
                            <a:rPr lang="hu-HU" i="1" dirty="0">
                              <a:latin typeface="Cambria Math" panose="02040503050406030204" pitchFamily="18" charset="0"/>
                            </a:rPr>
                            <m:t>𝑟</m:t>
                          </m:r>
                        </m:den>
                      </m:f>
                      <m:r>
                        <a:rPr lang="hu-HU" i="1">
                          <a:latin typeface="Cambria Math" panose="02040503050406030204" pitchFamily="18" charset="0"/>
                        </a:rPr>
                        <m:t>∙</m:t>
                      </m:r>
                      <m:d>
                        <m:dPr>
                          <m:begChr m:val="["/>
                          <m:endChr m:val="]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hu-HU" i="1">
                              <a:latin typeface="Cambria Math" panose="02040503050406030204" pitchFamily="18" charset="0"/>
                            </a:rPr>
                            <m:t>1−</m:t>
                          </m:r>
                          <m:f>
                            <m:f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hu-HU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hu-HU" i="1"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  <m:r>
                                        <a:rPr lang="hu-HU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hu-HU" i="1">
                                          <a:latin typeface="Cambria Math" panose="02040503050406030204" pitchFamily="18" charset="0"/>
                                        </a:rPr>
                                        <m:t>𝒓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hu-HU" i="1">
                                      <a:latin typeface="Cambria Math" panose="02040503050406030204" pitchFamily="18" charset="0"/>
                                    </a:rPr>
                                    <m:t>𝒕</m:t>
                                  </m:r>
                                </m:sup>
                              </m:sSup>
                            </m:den>
                          </m:f>
                        </m:e>
                      </m:d>
                      <m:r>
                        <a:rPr lang="hu-HU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hu-HU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hu-HU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P</m:t>
                          </m:r>
                          <m:r>
                            <m:rPr>
                              <m:sty m:val="p"/>
                            </m:rPr>
                            <a:rPr lang="hu-HU" i="1" baseline="-250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n</m:t>
                          </m:r>
                        </m:num>
                        <m:den>
                          <m:sSup>
                            <m:sSupPr>
                              <m:ctrlPr>
                                <a:rPr lang="hu-HU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hu-HU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(1+</m:t>
                              </m:r>
                              <m:r>
                                <a:rPr lang="hu-HU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a:rPr lang="hu-HU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hu-HU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n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hu-HU" dirty="0"/>
              </a:p>
            </p:txBody>
          </p:sp>
        </mc:Choice>
        <mc:Fallback xmlns="">
          <p:sp>
            <p:nvSpPr>
              <p:cNvPr id="5" name="Szövegdoboz 4">
                <a:extLst>
                  <a:ext uri="{FF2B5EF4-FFF2-40B4-BE49-F238E27FC236}">
                    <a16:creationId xmlns:a16="http://schemas.microsoft.com/office/drawing/2014/main" id="{3327BAD8-A8D0-C0AC-0C93-648C2F89F9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7211" y="4494877"/>
                <a:ext cx="3624349" cy="57176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34925"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3998828"/>
      </p:ext>
    </p:extLst>
  </p:cSld>
  <p:clrMapOvr>
    <a:masterClrMapping/>
  </p:clrMapOvr>
  <p:transition spd="slow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4" grpId="0"/>
      <p:bldP spid="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>
          <a:extLst>
            <a:ext uri="{FF2B5EF4-FFF2-40B4-BE49-F238E27FC236}">
              <a16:creationId xmlns:a16="http://schemas.microsoft.com/office/drawing/2014/main" id="{FC99ECD8-1ADC-0C4A-BAEA-A0589BBE9D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Shape 182">
            <a:extLst>
              <a:ext uri="{FF2B5EF4-FFF2-40B4-BE49-F238E27FC236}">
                <a16:creationId xmlns:a16="http://schemas.microsoft.com/office/drawing/2014/main" id="{1A727538-DC88-8305-9B23-D8E3FEA1C2AA}"/>
              </a:ext>
            </a:extLst>
          </p:cNvPr>
          <p:cNvSpPr txBox="1"/>
          <p:nvPr/>
        </p:nvSpPr>
        <p:spPr>
          <a:xfrm>
            <a:off x="287855" y="859647"/>
            <a:ext cx="8394000" cy="2238351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228584">
              <a:spcBef>
                <a:spcPts val="400"/>
              </a:spcBef>
              <a:buClr>
                <a:srgbClr val="CCCCCC"/>
              </a:buClr>
            </a:pPr>
            <a:r>
              <a:rPr lang="hu-HU" sz="1800" dirty="0">
                <a:solidFill>
                  <a:schemeClr val="dk2"/>
                </a:solidFill>
                <a:latin typeface="Segoe UI Semilight" panose="020B0402040204020203" pitchFamily="34" charset="0"/>
                <a:ea typeface="Source Sans Pro"/>
                <a:cs typeface="Segoe UI Semilight" panose="020B0402040204020203" pitchFamily="34" charset="0"/>
                <a:sym typeface="Source Sans Pro"/>
              </a:rPr>
              <a:t>	b)… ma (1 évvel a kibocsátást követően), közvetlenül a kamatfizetés után, ha a piaci kamatláb változatlanul 3%? </a:t>
            </a:r>
          </a:p>
          <a:p>
            <a:pPr marL="228584">
              <a:spcBef>
                <a:spcPts val="400"/>
              </a:spcBef>
              <a:buClr>
                <a:srgbClr val="CCCCCC"/>
              </a:buClr>
            </a:pPr>
            <a:endParaRPr lang="hu" sz="1800" dirty="0">
              <a:solidFill>
                <a:schemeClr val="dk2"/>
              </a:solidFill>
              <a:latin typeface="Segoe UI Semilight" panose="020B0402040204020203" pitchFamily="34" charset="0"/>
              <a:ea typeface="Source Sans Pro"/>
              <a:cs typeface="Segoe UI Semilight" panose="020B0402040204020203" pitchFamily="34" charset="0"/>
              <a:sym typeface="Source Sans Pro"/>
            </a:endParaRPr>
          </a:p>
          <a:p>
            <a:pPr marL="228583">
              <a:spcBef>
                <a:spcPts val="400"/>
              </a:spcBef>
              <a:buClr>
                <a:srgbClr val="CCCCCC"/>
              </a:buClr>
            </a:pPr>
            <a:endParaRPr lang="hu" sz="1800" dirty="0">
              <a:solidFill>
                <a:schemeClr val="dk2"/>
              </a:solidFill>
              <a:latin typeface="Segoe UI Semilight" panose="020B0402040204020203" pitchFamily="34" charset="0"/>
              <a:ea typeface="Source Sans Pro"/>
              <a:cs typeface="Segoe UI Semilight" panose="020B0402040204020203" pitchFamily="34" charset="0"/>
              <a:sym typeface="Source Sans Pro"/>
            </a:endParaRPr>
          </a:p>
        </p:txBody>
      </p:sp>
      <p:sp>
        <p:nvSpPr>
          <p:cNvPr id="7" name="Téglalap 6">
            <a:extLst>
              <a:ext uri="{FF2B5EF4-FFF2-40B4-BE49-F238E27FC236}">
                <a16:creationId xmlns:a16="http://schemas.microsoft.com/office/drawing/2014/main" id="{8257D6F8-0EF8-F1BF-9090-8EE3714CB0C3}"/>
              </a:ext>
            </a:extLst>
          </p:cNvPr>
          <p:cNvSpPr/>
          <p:nvPr/>
        </p:nvSpPr>
        <p:spPr>
          <a:xfrm flipV="1">
            <a:off x="287855" y="562666"/>
            <a:ext cx="98192" cy="33742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>
              <a:highlight>
                <a:srgbClr val="757575"/>
              </a:highlight>
            </a:endParaRPr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60EBD5EE-4392-CB76-F41D-C81AE0063C6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86047" y="444500"/>
            <a:ext cx="8521700" cy="573088"/>
          </a:xfrm>
        </p:spPr>
        <p:txBody>
          <a:bodyPr/>
          <a:lstStyle/>
          <a:p>
            <a:r>
              <a:rPr lang="hu-HU" dirty="0"/>
              <a:t>4.PÉLDA</a:t>
            </a:r>
            <a:br>
              <a:rPr lang="hu-HU" dirty="0"/>
            </a:br>
            <a:endParaRPr lang="hu-HU" dirty="0">
              <a:solidFill>
                <a:schemeClr val="bg2">
                  <a:lumMod val="40000"/>
                  <a:lumOff val="60000"/>
                </a:schemeClr>
              </a:solidFill>
            </a:endParaRPr>
          </a:p>
        </p:txBody>
      </p:sp>
      <p:graphicFrame>
        <p:nvGraphicFramePr>
          <p:cNvPr id="3" name="Táblázat 2">
            <a:extLst>
              <a:ext uri="{FF2B5EF4-FFF2-40B4-BE49-F238E27FC236}">
                <a16:creationId xmlns:a16="http://schemas.microsoft.com/office/drawing/2014/main" id="{D22C8138-4C6E-DEC1-45E6-FB20046A09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2793858"/>
              </p:ext>
            </p:extLst>
          </p:nvPr>
        </p:nvGraphicFramePr>
        <p:xfrm>
          <a:off x="234107" y="1542068"/>
          <a:ext cx="4779645" cy="1506604"/>
        </p:xfrm>
        <a:graphic>
          <a:graphicData uri="http://schemas.openxmlformats.org/drawingml/2006/table">
            <a:tbl>
              <a:tblPr firstRow="1" firstCol="1" bandRow="1">
                <a:tableStyleId>{FE464744-5EF8-4A23-BA49-EC68D10D153F}</a:tableStyleId>
              </a:tblPr>
              <a:tblGrid>
                <a:gridCol w="351790">
                  <a:extLst>
                    <a:ext uri="{9D8B030D-6E8A-4147-A177-3AD203B41FA5}">
                      <a16:colId xmlns:a16="http://schemas.microsoft.com/office/drawing/2014/main" val="1715633086"/>
                    </a:ext>
                  </a:extLst>
                </a:gridCol>
                <a:gridCol w="1355725">
                  <a:extLst>
                    <a:ext uri="{9D8B030D-6E8A-4147-A177-3AD203B41FA5}">
                      <a16:colId xmlns:a16="http://schemas.microsoft.com/office/drawing/2014/main" val="533280412"/>
                    </a:ext>
                  </a:extLst>
                </a:gridCol>
                <a:gridCol w="1115060">
                  <a:extLst>
                    <a:ext uri="{9D8B030D-6E8A-4147-A177-3AD203B41FA5}">
                      <a16:colId xmlns:a16="http://schemas.microsoft.com/office/drawing/2014/main" val="3683639048"/>
                    </a:ext>
                  </a:extLst>
                </a:gridCol>
                <a:gridCol w="1150620">
                  <a:extLst>
                    <a:ext uri="{9D8B030D-6E8A-4147-A177-3AD203B41FA5}">
                      <a16:colId xmlns:a16="http://schemas.microsoft.com/office/drawing/2014/main" val="3521624852"/>
                    </a:ext>
                  </a:extLst>
                </a:gridCol>
                <a:gridCol w="806450">
                  <a:extLst>
                    <a:ext uri="{9D8B030D-6E8A-4147-A177-3AD203B41FA5}">
                      <a16:colId xmlns:a16="http://schemas.microsoft.com/office/drawing/2014/main" val="242265591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hu-HU" sz="1200">
                          <a:effectLst/>
                        </a:rPr>
                        <a:t>t</a:t>
                      </a:r>
                      <a:endParaRPr lang="hu-H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hu-HU" sz="1200" dirty="0">
                          <a:effectLst/>
                        </a:rPr>
                        <a:t>Fennálló névérték</a:t>
                      </a:r>
                      <a:br>
                        <a:rPr lang="hu-HU" sz="1200" dirty="0">
                          <a:effectLst/>
                        </a:rPr>
                      </a:br>
                      <a:r>
                        <a:rPr lang="hu-HU" sz="1200" dirty="0">
                          <a:effectLst/>
                        </a:rPr>
                        <a:t>(év elején)</a:t>
                      </a:r>
                      <a:endParaRPr lang="hu-H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hu-HU" sz="1200">
                          <a:effectLst/>
                        </a:rPr>
                        <a:t>Tőketörlesztés</a:t>
                      </a:r>
                      <a:br>
                        <a:rPr lang="hu-HU" sz="1200">
                          <a:effectLst/>
                        </a:rPr>
                      </a:br>
                      <a:r>
                        <a:rPr lang="hu-HU" sz="1200">
                          <a:effectLst/>
                        </a:rPr>
                        <a:t>(év végén)</a:t>
                      </a:r>
                      <a:endParaRPr lang="hu-H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hu-HU" sz="1200">
                          <a:effectLst/>
                        </a:rPr>
                        <a:t>Kamatfizetés </a:t>
                      </a:r>
                      <a:br>
                        <a:rPr lang="hu-HU" sz="1200">
                          <a:effectLst/>
                        </a:rPr>
                      </a:br>
                      <a:r>
                        <a:rPr lang="hu-HU" sz="1200">
                          <a:effectLst/>
                        </a:rPr>
                        <a:t>(év végén)</a:t>
                      </a:r>
                      <a:endParaRPr lang="hu-H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hu-HU" sz="1200">
                          <a:effectLst/>
                        </a:rPr>
                        <a:t>CF</a:t>
                      </a:r>
                      <a:endParaRPr lang="hu-H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1267348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hu-HU" sz="1200" u="none" strike="noStrike">
                          <a:effectLst/>
                        </a:rPr>
                        <a:t> </a:t>
                      </a:r>
                      <a:endParaRPr lang="hu-H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hu-HU" sz="1200" strike="sngStrike" dirty="0">
                          <a:effectLst/>
                        </a:rPr>
                        <a:t>10.000</a:t>
                      </a:r>
                      <a:endParaRPr lang="hu-H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hu-HU" sz="1200" strike="sngStrike">
                          <a:effectLst/>
                        </a:rPr>
                        <a:t>0</a:t>
                      </a:r>
                      <a:endParaRPr lang="hu-H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hu-HU" sz="1200" strike="sngStrike">
                          <a:effectLst/>
                        </a:rPr>
                        <a:t>10.000 ∙ 0,05 = 500</a:t>
                      </a:r>
                      <a:endParaRPr lang="hu-H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hu-HU" sz="1200" strike="sngStrike">
                          <a:effectLst/>
                        </a:rPr>
                        <a:t>500</a:t>
                      </a:r>
                      <a:endParaRPr lang="hu-H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6714357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hu-HU" sz="1200">
                          <a:effectLst/>
                        </a:rPr>
                        <a:t>1</a:t>
                      </a:r>
                      <a:endParaRPr lang="hu-H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hu-HU" sz="1200">
                          <a:effectLst/>
                        </a:rPr>
                        <a:t>10.000</a:t>
                      </a:r>
                      <a:endParaRPr lang="hu-H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hu-HU" sz="1200">
                          <a:effectLst/>
                        </a:rPr>
                        <a:t>0</a:t>
                      </a:r>
                      <a:endParaRPr lang="hu-H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hu-HU" sz="1200">
                          <a:effectLst/>
                        </a:rPr>
                        <a:t>500</a:t>
                      </a:r>
                      <a:endParaRPr lang="hu-H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hu-HU" sz="1200">
                          <a:effectLst/>
                        </a:rPr>
                        <a:t>500</a:t>
                      </a:r>
                      <a:endParaRPr lang="hu-H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8481034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hu-HU" sz="1200">
                          <a:effectLst/>
                        </a:rPr>
                        <a:t>2</a:t>
                      </a:r>
                      <a:endParaRPr lang="hu-H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hu-HU" sz="1200">
                          <a:effectLst/>
                        </a:rPr>
                        <a:t>10.000</a:t>
                      </a:r>
                      <a:endParaRPr lang="hu-H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hu-HU" sz="1200">
                          <a:effectLst/>
                        </a:rPr>
                        <a:t>0</a:t>
                      </a:r>
                      <a:endParaRPr lang="hu-H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hu-HU" sz="1200">
                          <a:effectLst/>
                        </a:rPr>
                        <a:t>500</a:t>
                      </a:r>
                      <a:endParaRPr lang="hu-H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hu-HU" sz="1200">
                          <a:effectLst/>
                        </a:rPr>
                        <a:t>500</a:t>
                      </a:r>
                      <a:endParaRPr lang="hu-H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7907905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hu-HU" sz="1200">
                          <a:effectLst/>
                        </a:rPr>
                        <a:t>3</a:t>
                      </a:r>
                      <a:endParaRPr lang="hu-H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hu-HU" sz="1200">
                          <a:effectLst/>
                        </a:rPr>
                        <a:t>10.000</a:t>
                      </a:r>
                      <a:endParaRPr lang="hu-H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hu-HU" sz="1200">
                          <a:effectLst/>
                        </a:rPr>
                        <a:t>0</a:t>
                      </a:r>
                      <a:endParaRPr lang="hu-H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hu-HU" sz="1200">
                          <a:effectLst/>
                        </a:rPr>
                        <a:t>500</a:t>
                      </a:r>
                      <a:endParaRPr lang="hu-H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hu-HU" sz="1200">
                          <a:effectLst/>
                        </a:rPr>
                        <a:t>500</a:t>
                      </a:r>
                      <a:endParaRPr lang="hu-H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1736074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hu-HU" sz="1200">
                          <a:effectLst/>
                        </a:rPr>
                        <a:t>4</a:t>
                      </a:r>
                      <a:endParaRPr lang="hu-H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hu-HU" sz="1200">
                          <a:effectLst/>
                        </a:rPr>
                        <a:t>10.000</a:t>
                      </a:r>
                      <a:endParaRPr lang="hu-H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hu-HU" sz="1200">
                          <a:effectLst/>
                        </a:rPr>
                        <a:t>10.000</a:t>
                      </a:r>
                      <a:endParaRPr lang="hu-H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hu-HU" sz="1200">
                          <a:effectLst/>
                        </a:rPr>
                        <a:t>500</a:t>
                      </a:r>
                      <a:endParaRPr lang="hu-H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hu-HU" sz="1200" dirty="0">
                          <a:effectLst/>
                        </a:rPr>
                        <a:t>10.500</a:t>
                      </a:r>
                      <a:endParaRPr lang="hu-H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46644294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" name="Szövegdoboz 4">
                <a:extLst>
                  <a:ext uri="{FF2B5EF4-FFF2-40B4-BE49-F238E27FC236}">
                    <a16:creationId xmlns:a16="http://schemas.microsoft.com/office/drawing/2014/main" id="{37FC0D4C-8D5B-8D77-FDA9-1A704243CC03}"/>
                  </a:ext>
                </a:extLst>
              </p:cNvPr>
              <p:cNvSpPr txBox="1"/>
              <p:nvPr/>
            </p:nvSpPr>
            <p:spPr>
              <a:xfrm>
                <a:off x="1012551" y="3231337"/>
                <a:ext cx="7268691" cy="505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hu-HU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hu-HU" sz="1200" b="1">
                              <a:latin typeface="Cambria Math" panose="02040503050406030204" pitchFamily="18" charset="0"/>
                            </a:rPr>
                            <m:t>𝐏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hu-HU" sz="1200">
                              <a:latin typeface="Cambria Math" panose="02040503050406030204" pitchFamily="18" charset="0"/>
                            </a:rPr>
                            <m:t>k</m:t>
                          </m:r>
                          <m:r>
                            <a:rPr lang="hu-HU" sz="1200">
                              <a:latin typeface="Cambria Math" panose="02040503050406030204" pitchFamily="18" charset="0"/>
                            </a:rPr>
                            <m:t>ö</m:t>
                          </m:r>
                          <m:r>
                            <m:rPr>
                              <m:sty m:val="p"/>
                            </m:rPr>
                            <a:rPr lang="hu-HU" sz="1200">
                              <a:latin typeface="Cambria Math" panose="02040503050406030204" pitchFamily="18" charset="0"/>
                            </a:rPr>
                            <m:t>tv</m:t>
                          </m:r>
                          <m:r>
                            <a:rPr lang="hu-HU" sz="1200">
                              <a:latin typeface="Cambria Math" panose="02040503050406030204" pitchFamily="18" charset="0"/>
                            </a:rPr>
                            <m:t>é</m:t>
                          </m:r>
                          <m:r>
                            <m:rPr>
                              <m:sty m:val="p"/>
                            </m:rPr>
                            <a:rPr lang="hu-HU" sz="1200">
                              <a:latin typeface="Cambria Math" panose="02040503050406030204" pitchFamily="18" charset="0"/>
                            </a:rPr>
                            <m:t>ny</m:t>
                          </m:r>
                        </m:sub>
                      </m:sSub>
                      <m:r>
                        <a:rPr lang="hu-HU" sz="12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hu-HU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hu-HU" sz="1200" i="0">
                              <a:latin typeface="Cambria Math" panose="02040503050406030204" pitchFamily="18" charset="0"/>
                            </a:rPr>
                            <m:t>500</m:t>
                          </m:r>
                        </m:num>
                        <m:den>
                          <m:d>
                            <m:dPr>
                              <m:endChr m:val=""/>
                              <m:ctrlPr>
                                <a:rPr lang="hu-HU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hu-HU" sz="1200" i="0"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sSup>
                                <m:sSupPr>
                                  <m:ctrlPr>
                                    <a:rPr lang="hu-HU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"/>
                                      <m:ctrlPr>
                                        <a:rPr lang="hu-HU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hu-HU" sz="1200">
                                          <a:latin typeface="Cambria Math" panose="02040503050406030204" pitchFamily="18" charset="0"/>
                                        </a:rPr>
                                        <m:t>0,03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hu-HU" sz="1200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p>
                            </m:e>
                          </m:d>
                        </m:den>
                      </m:f>
                      <m:r>
                        <a:rPr lang="hu-HU" sz="1200" i="0">
                          <a:latin typeface="Cambria Math" panose="02040503050406030204" pitchFamily="18" charset="0"/>
                        </a:rPr>
                        <m:t>+ </m:t>
                      </m:r>
                      <m:f>
                        <m:fPr>
                          <m:ctrlPr>
                            <a:rPr lang="hu-HU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hu-HU" sz="1200" i="0">
                              <a:latin typeface="Cambria Math" panose="02040503050406030204" pitchFamily="18" charset="0"/>
                            </a:rPr>
                            <m:t>500</m:t>
                          </m:r>
                        </m:num>
                        <m:den>
                          <m:d>
                            <m:dPr>
                              <m:endChr m:val=""/>
                              <m:ctrlPr>
                                <a:rPr lang="hu-HU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hu-HU" sz="1200" i="0"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sSup>
                                <m:sSupPr>
                                  <m:ctrlPr>
                                    <a:rPr lang="hu-HU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"/>
                                      <m:ctrlPr>
                                        <a:rPr lang="hu-HU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hu-HU" sz="1200">
                                          <a:latin typeface="Cambria Math" panose="02040503050406030204" pitchFamily="18" charset="0"/>
                                        </a:rPr>
                                        <m:t>0,03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hu-HU" sz="120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den>
                      </m:f>
                      <m:r>
                        <a:rPr lang="hu-HU" sz="1200" i="0">
                          <a:latin typeface="Cambria Math" panose="02040503050406030204" pitchFamily="18" charset="0"/>
                        </a:rPr>
                        <m:t>+ </m:t>
                      </m:r>
                      <m:f>
                        <m:fPr>
                          <m:ctrlPr>
                            <a:rPr lang="hu-HU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hu-HU" sz="1200" i="0">
                              <a:latin typeface="Cambria Math" panose="02040503050406030204" pitchFamily="18" charset="0"/>
                            </a:rPr>
                            <m:t>500</m:t>
                          </m:r>
                        </m:num>
                        <m:den>
                          <m:d>
                            <m:dPr>
                              <m:endChr m:val=""/>
                              <m:ctrlPr>
                                <a:rPr lang="hu-HU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hu-HU" sz="1200" i="0"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sSup>
                                <m:sSupPr>
                                  <m:ctrlPr>
                                    <a:rPr lang="hu-HU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"/>
                                      <m:ctrlPr>
                                        <a:rPr lang="hu-HU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hu-HU" sz="1200">
                                          <a:latin typeface="Cambria Math" panose="02040503050406030204" pitchFamily="18" charset="0"/>
                                        </a:rPr>
                                        <m:t>0,03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hu-HU" sz="1200" i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e>
                          </m:d>
                        </m:den>
                      </m:f>
                      <m:r>
                        <a:rPr lang="hu-HU" sz="1200" i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hu-HU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hu-HU" sz="1200" i="0">
                              <a:latin typeface="Cambria Math" panose="02040503050406030204" pitchFamily="18" charset="0"/>
                            </a:rPr>
                            <m:t>10.500</m:t>
                          </m:r>
                        </m:num>
                        <m:den>
                          <m:d>
                            <m:dPr>
                              <m:endChr m:val=""/>
                              <m:ctrlPr>
                                <a:rPr lang="hu-HU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hu-HU" sz="1200" i="0"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sSup>
                                <m:sSupPr>
                                  <m:ctrlPr>
                                    <a:rPr lang="hu-HU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"/>
                                      <m:ctrlPr>
                                        <a:rPr lang="hu-HU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hu-HU" sz="1200">
                                          <a:latin typeface="Cambria Math" panose="02040503050406030204" pitchFamily="18" charset="0"/>
                                        </a:rPr>
                                        <m:t>0,03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hu-HU" sz="1200" i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p>
                              </m:sSup>
                            </m:e>
                          </m:d>
                        </m:den>
                      </m:f>
                      <m:r>
                        <a:rPr lang="hu-HU" sz="1200" i="0">
                          <a:latin typeface="Cambria Math" panose="02040503050406030204" pitchFamily="18" charset="0"/>
                        </a:rPr>
                        <m:t> = 10.743,42 </m:t>
                      </m:r>
                      <m:r>
                        <a:rPr lang="hu-HU" sz="1200" b="1" i="1">
                          <a:latin typeface="Cambria Math" panose="02040503050406030204" pitchFamily="18" charset="0"/>
                        </a:rPr>
                        <m:t>𝑭𝒕</m:t>
                      </m:r>
                    </m:oMath>
                  </m:oMathPara>
                </a14:m>
                <a:endParaRPr lang="hu-HU" sz="1200" dirty="0"/>
              </a:p>
            </p:txBody>
          </p:sp>
        </mc:Choice>
        <mc:Fallback xmlns="">
          <p:sp>
            <p:nvSpPr>
              <p:cNvPr id="5" name="Szövegdoboz 4">
                <a:extLst>
                  <a:ext uri="{FF2B5EF4-FFF2-40B4-BE49-F238E27FC236}">
                    <a16:creationId xmlns:a16="http://schemas.microsoft.com/office/drawing/2014/main" id="{37FC0D4C-8D5B-8D77-FDA9-1A704243CC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2551" y="3231337"/>
                <a:ext cx="7268691" cy="505331"/>
              </a:xfrm>
              <a:prstGeom prst="rect">
                <a:avLst/>
              </a:prstGeom>
              <a:blipFill>
                <a:blip r:embed="rId3"/>
                <a:stretch>
                  <a:fillRect t="-37349" b="-116867"/>
                </a:stretch>
              </a:blipFill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Szövegdoboz 3">
                <a:extLst>
                  <a:ext uri="{FF2B5EF4-FFF2-40B4-BE49-F238E27FC236}">
                    <a16:creationId xmlns:a16="http://schemas.microsoft.com/office/drawing/2014/main" id="{816D4620-3285-3AAE-5D00-CAE48F4FF538}"/>
                  </a:ext>
                </a:extLst>
              </p:cNvPr>
              <p:cNvSpPr txBox="1"/>
              <p:nvPr/>
            </p:nvSpPr>
            <p:spPr>
              <a:xfrm>
                <a:off x="1313411" y="3805405"/>
                <a:ext cx="6134793" cy="71872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hu-HU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hu-HU" sz="1200" b="1" i="0">
                              <a:latin typeface="Cambria Math" panose="02040503050406030204" pitchFamily="18" charset="0"/>
                            </a:rPr>
                            <m:t>𝐏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hu-HU" sz="1200" b="0" i="0" smtClean="0">
                              <a:latin typeface="Cambria Math" panose="02040503050406030204" pitchFamily="18" charset="0"/>
                            </a:rPr>
                            <m:t>k</m:t>
                          </m:r>
                          <m:r>
                            <a:rPr lang="hu-HU" sz="1200" b="0" i="0" smtClean="0">
                              <a:latin typeface="Cambria Math" panose="02040503050406030204" pitchFamily="18" charset="0"/>
                            </a:rPr>
                            <m:t>ö</m:t>
                          </m:r>
                          <m:r>
                            <m:rPr>
                              <m:sty m:val="p"/>
                            </m:rPr>
                            <a:rPr lang="hu-HU" sz="1200" b="0" i="0" smtClean="0">
                              <a:latin typeface="Cambria Math" panose="02040503050406030204" pitchFamily="18" charset="0"/>
                            </a:rPr>
                            <m:t>tv</m:t>
                          </m:r>
                          <m:r>
                            <a:rPr lang="hu-HU" sz="1200" b="0" i="0" smtClean="0">
                              <a:latin typeface="Cambria Math" panose="02040503050406030204" pitchFamily="18" charset="0"/>
                            </a:rPr>
                            <m:t>é</m:t>
                          </m:r>
                          <m:r>
                            <m:rPr>
                              <m:sty m:val="p"/>
                            </m:rPr>
                            <a:rPr lang="hu-HU" sz="1200" b="0" i="0" smtClean="0">
                              <a:latin typeface="Cambria Math" panose="02040503050406030204" pitchFamily="18" charset="0"/>
                            </a:rPr>
                            <m:t>ny</m:t>
                          </m:r>
                        </m:sub>
                      </m:sSub>
                      <m:r>
                        <a:rPr lang="hu-HU" sz="1200" b="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hu-HU" sz="12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hu-HU" sz="1200" b="0" i="1" dirty="0" smtClean="0">
                              <a:latin typeface="Cambria Math" panose="02040503050406030204" pitchFamily="18" charset="0"/>
                            </a:rPr>
                            <m:t>500</m:t>
                          </m:r>
                        </m:num>
                        <m:den>
                          <m:r>
                            <a:rPr lang="hu-HU" sz="1200" b="0" i="1" dirty="0" smtClean="0">
                              <a:latin typeface="Cambria Math" panose="02040503050406030204" pitchFamily="18" charset="0"/>
                            </a:rPr>
                            <m:t>0,03</m:t>
                          </m:r>
                        </m:den>
                      </m:f>
                      <m:r>
                        <a:rPr lang="hu-HU" sz="1200" i="1">
                          <a:latin typeface="Cambria Math" panose="02040503050406030204" pitchFamily="18" charset="0"/>
                        </a:rPr>
                        <m:t>∙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hu-HU" sz="1200" i="1">
                              <a:latin typeface="Cambria Math" panose="02040503050406030204" pitchFamily="18" charset="0"/>
                            </a:rPr>
                            <m:t>1−</m:t>
                          </m:r>
                          <m:f>
                            <m:fPr>
                              <m:ctrlPr>
                                <a:rPr lang="en-GB" sz="12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hu-HU" sz="1200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GB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GB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hu-HU" sz="1200" i="1"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  <m:r>
                                        <a:rPr lang="hu-HU" sz="1200" i="1">
                                          <a:latin typeface="Cambria Math" panose="02040503050406030204" pitchFamily="18" charset="0"/>
                                        </a:rPr>
                                        <m:t>+0,03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hu-HU" sz="1200" b="0" i="1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p>
                              </m:sSup>
                            </m:den>
                          </m:f>
                        </m:e>
                      </m:d>
                      <m:r>
                        <a:rPr lang="hu-HU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hu-HU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hu-HU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10 000</m:t>
                          </m:r>
                        </m:num>
                        <m:den>
                          <m:sSup>
                            <m:sSupPr>
                              <m:ctrlPr>
                                <a:rPr lang="hu-HU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hu-HU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(1+0,03)</m:t>
                              </m:r>
                            </m:e>
                            <m:sup>
                              <m:r>
                                <a:rPr lang="hu-HU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</m:t>
                              </m:r>
                            </m:sup>
                          </m:sSup>
                        </m:den>
                      </m:f>
                      <m:r>
                        <a:rPr lang="hu-HU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hu-HU" sz="1200">
                          <a:latin typeface="Cambria Math" panose="02040503050406030204" pitchFamily="18" charset="0"/>
                        </a:rPr>
                        <m:t>10.743,42</m:t>
                      </m:r>
                      <m:r>
                        <a:rPr lang="hu-HU" sz="12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hu-HU" sz="1200" b="1" i="1">
                          <a:latin typeface="Cambria Math" panose="02040503050406030204" pitchFamily="18" charset="0"/>
                        </a:rPr>
                        <m:t>𝑭𝒕</m:t>
                      </m:r>
                    </m:oMath>
                  </m:oMathPara>
                </a14:m>
                <a:endParaRPr lang="hu-HU" sz="1200" b="1" dirty="0"/>
              </a:p>
              <a:p>
                <a:endParaRPr lang="hu-HU" dirty="0"/>
              </a:p>
            </p:txBody>
          </p:sp>
        </mc:Choice>
        <mc:Fallback xmlns="">
          <p:sp>
            <p:nvSpPr>
              <p:cNvPr id="4" name="Szövegdoboz 3">
                <a:extLst>
                  <a:ext uri="{FF2B5EF4-FFF2-40B4-BE49-F238E27FC236}">
                    <a16:creationId xmlns:a16="http://schemas.microsoft.com/office/drawing/2014/main" id="{816D4620-3285-3AAE-5D00-CAE48F4FF5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3411" y="3805405"/>
                <a:ext cx="6134793" cy="71872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Szövegdoboz 5">
                <a:extLst>
                  <a:ext uri="{FF2B5EF4-FFF2-40B4-BE49-F238E27FC236}">
                    <a16:creationId xmlns:a16="http://schemas.microsoft.com/office/drawing/2014/main" id="{033A00A2-3066-6206-28E2-FCC355A86AD9}"/>
                  </a:ext>
                </a:extLst>
              </p:cNvPr>
              <p:cNvSpPr txBox="1"/>
              <p:nvPr/>
            </p:nvSpPr>
            <p:spPr>
              <a:xfrm>
                <a:off x="2672680" y="4474999"/>
                <a:ext cx="3624349" cy="571760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34925">
                <a:solidFill>
                  <a:srgbClr val="C0000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hu-H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hu-HU" b="1">
                              <a:latin typeface="Cambria Math" panose="02040503050406030204" pitchFamily="18" charset="0"/>
                            </a:rPr>
                            <m:t>𝐏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hu-HU">
                              <a:latin typeface="Cambria Math" panose="02040503050406030204" pitchFamily="18" charset="0"/>
                            </a:rPr>
                            <m:t>k</m:t>
                          </m:r>
                          <m:r>
                            <a:rPr lang="hu-HU">
                              <a:latin typeface="Cambria Math" panose="02040503050406030204" pitchFamily="18" charset="0"/>
                            </a:rPr>
                            <m:t>ö</m:t>
                          </m:r>
                          <m:r>
                            <m:rPr>
                              <m:sty m:val="p"/>
                            </m:rPr>
                            <a:rPr lang="hu-HU">
                              <a:latin typeface="Cambria Math" panose="02040503050406030204" pitchFamily="18" charset="0"/>
                            </a:rPr>
                            <m:t>tv</m:t>
                          </m:r>
                          <m:r>
                            <a:rPr lang="hu-HU">
                              <a:latin typeface="Cambria Math" panose="02040503050406030204" pitchFamily="18" charset="0"/>
                            </a:rPr>
                            <m:t>é</m:t>
                          </m:r>
                          <m:r>
                            <m:rPr>
                              <m:sty m:val="p"/>
                            </m:rPr>
                            <a:rPr lang="hu-HU">
                              <a:latin typeface="Cambria Math" panose="02040503050406030204" pitchFamily="18" charset="0"/>
                            </a:rPr>
                            <m:t>ny</m:t>
                          </m:r>
                        </m:sub>
                      </m:sSub>
                      <m:r>
                        <a:rPr lang="hu-HU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hu-HU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hu-HU" i="1" dirty="0">
                              <a:latin typeface="Cambria Math" panose="02040503050406030204" pitchFamily="18" charset="0"/>
                            </a:rPr>
                            <m:t>𝐶</m:t>
                          </m:r>
                        </m:num>
                        <m:den>
                          <m:r>
                            <a:rPr lang="hu-HU" i="1" dirty="0">
                              <a:latin typeface="Cambria Math" panose="02040503050406030204" pitchFamily="18" charset="0"/>
                            </a:rPr>
                            <m:t>𝑟</m:t>
                          </m:r>
                        </m:den>
                      </m:f>
                      <m:r>
                        <a:rPr lang="hu-HU" i="1">
                          <a:latin typeface="Cambria Math" panose="02040503050406030204" pitchFamily="18" charset="0"/>
                        </a:rPr>
                        <m:t>∙</m:t>
                      </m:r>
                      <m:d>
                        <m:dPr>
                          <m:begChr m:val="["/>
                          <m:endChr m:val="]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hu-HU" i="1">
                              <a:latin typeface="Cambria Math" panose="02040503050406030204" pitchFamily="18" charset="0"/>
                            </a:rPr>
                            <m:t>1−</m:t>
                          </m:r>
                          <m:f>
                            <m:f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hu-HU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hu-HU" i="1"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  <m:r>
                                        <a:rPr lang="hu-HU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hu-HU" i="1">
                                          <a:latin typeface="Cambria Math" panose="02040503050406030204" pitchFamily="18" charset="0"/>
                                        </a:rPr>
                                        <m:t>𝒓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hu-HU" i="1">
                                      <a:latin typeface="Cambria Math" panose="02040503050406030204" pitchFamily="18" charset="0"/>
                                    </a:rPr>
                                    <m:t>𝒕</m:t>
                                  </m:r>
                                </m:sup>
                              </m:sSup>
                            </m:den>
                          </m:f>
                        </m:e>
                      </m:d>
                      <m:r>
                        <a:rPr lang="hu-HU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hu-HU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hu-HU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P</m:t>
                          </m:r>
                          <m:r>
                            <m:rPr>
                              <m:sty m:val="p"/>
                            </m:rPr>
                            <a:rPr lang="hu-HU" i="1" baseline="-250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n</m:t>
                          </m:r>
                        </m:num>
                        <m:den>
                          <m:sSup>
                            <m:sSupPr>
                              <m:ctrlPr>
                                <a:rPr lang="hu-HU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hu-HU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(1+</m:t>
                              </m:r>
                              <m:r>
                                <a:rPr lang="hu-HU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a:rPr lang="hu-HU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hu-HU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n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hu-HU" dirty="0"/>
              </a:p>
            </p:txBody>
          </p:sp>
        </mc:Choice>
        <mc:Fallback xmlns="">
          <p:sp>
            <p:nvSpPr>
              <p:cNvPr id="6" name="Szövegdoboz 5">
                <a:extLst>
                  <a:ext uri="{FF2B5EF4-FFF2-40B4-BE49-F238E27FC236}">
                    <a16:creationId xmlns:a16="http://schemas.microsoft.com/office/drawing/2014/main" id="{033A00A2-3066-6206-28E2-FCC355A86A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2680" y="4474999"/>
                <a:ext cx="3624349" cy="57176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34925"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Szövegdoboz 7">
            <a:extLst>
              <a:ext uri="{FF2B5EF4-FFF2-40B4-BE49-F238E27FC236}">
                <a16:creationId xmlns:a16="http://schemas.microsoft.com/office/drawing/2014/main" id="{4F31DA82-FF0B-428D-E594-E2053605F742}"/>
              </a:ext>
            </a:extLst>
          </p:cNvPr>
          <p:cNvSpPr txBox="1"/>
          <p:nvPr/>
        </p:nvSpPr>
        <p:spPr>
          <a:xfrm>
            <a:off x="5067500" y="1687182"/>
            <a:ext cx="4076500" cy="954107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hu-HU" i="1" dirty="0">
                <a:solidFill>
                  <a:schemeClr val="accent5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FONTOS!!</a:t>
            </a:r>
          </a:p>
          <a:p>
            <a:r>
              <a:rPr lang="hu-HU" i="1" dirty="0">
                <a:solidFill>
                  <a:schemeClr val="accent5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Nem az a kérdés, hogy mennyi a lejárati idő, hanem, hogy mennyi idő van hátra abban a pillanatban, amikor hozzád került az értékpapír</a:t>
            </a:r>
          </a:p>
        </p:txBody>
      </p:sp>
    </p:spTree>
    <p:extLst>
      <p:ext uri="{BB962C8B-B14F-4D97-AF65-F5344CB8AC3E}">
        <p14:creationId xmlns:p14="http://schemas.microsoft.com/office/powerpoint/2010/main" val="2563963101"/>
      </p:ext>
    </p:extLst>
  </p:cSld>
  <p:clrMapOvr>
    <a:masterClrMapping/>
  </p:clrMapOvr>
  <p:transition spd="slow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4" grpId="0"/>
      <p:bldP spid="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>
          <a:extLst>
            <a:ext uri="{FF2B5EF4-FFF2-40B4-BE49-F238E27FC236}">
              <a16:creationId xmlns:a16="http://schemas.microsoft.com/office/drawing/2014/main" id="{D52C52ED-902D-0881-FD2D-17A8B92E51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Shape 182">
            <a:extLst>
              <a:ext uri="{FF2B5EF4-FFF2-40B4-BE49-F238E27FC236}">
                <a16:creationId xmlns:a16="http://schemas.microsoft.com/office/drawing/2014/main" id="{E0087F79-ACA9-D6E4-094C-30FC28D9C7B9}"/>
              </a:ext>
            </a:extLst>
          </p:cNvPr>
          <p:cNvSpPr txBox="1"/>
          <p:nvPr/>
        </p:nvSpPr>
        <p:spPr>
          <a:xfrm>
            <a:off x="280727" y="1402835"/>
            <a:ext cx="8394000" cy="2238351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228584">
              <a:spcBef>
                <a:spcPts val="400"/>
              </a:spcBef>
              <a:buClr>
                <a:srgbClr val="CCCCCC"/>
              </a:buClr>
            </a:pPr>
            <a:r>
              <a:rPr lang="hu-HU" sz="1800" dirty="0">
                <a:solidFill>
                  <a:schemeClr val="dk2"/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 Semilight" panose="020B0402040204020203" pitchFamily="34" charset="0"/>
                <a:sym typeface="Source Sans Pro"/>
              </a:rPr>
              <a:t>Egy hároméves futamidejű 5.000 forint névértékű kötvényt terveznek kibocsátani. A kötvény névleges kamatlába 7,5%. A kamatot évente, a névértéket utolsó két évben egyenlő arányban fizeti ki. A piaci hozamkörnyezet (elvárt hozam) 10%. Mekkora a kötvény árfolyama kibocsátáskor?</a:t>
            </a:r>
          </a:p>
          <a:p>
            <a:pPr marL="228584">
              <a:spcBef>
                <a:spcPts val="400"/>
              </a:spcBef>
              <a:buClr>
                <a:srgbClr val="CCCCCC"/>
              </a:buClr>
            </a:pPr>
            <a:endParaRPr lang="hu" sz="1800" dirty="0">
              <a:solidFill>
                <a:schemeClr val="dk2"/>
              </a:solidFill>
              <a:latin typeface="Segoe UI Semilight" panose="020B0402040204020203" pitchFamily="34" charset="0"/>
              <a:ea typeface="Source Sans Pro"/>
              <a:cs typeface="Segoe UI Semilight" panose="020B0402040204020203" pitchFamily="34" charset="0"/>
              <a:sym typeface="Source Sans Pro"/>
            </a:endParaRPr>
          </a:p>
          <a:p>
            <a:pPr marL="228583">
              <a:spcBef>
                <a:spcPts val="400"/>
              </a:spcBef>
              <a:buClr>
                <a:srgbClr val="CCCCCC"/>
              </a:buClr>
            </a:pPr>
            <a:endParaRPr lang="hu" sz="1800" dirty="0">
              <a:solidFill>
                <a:schemeClr val="dk2"/>
              </a:solidFill>
              <a:latin typeface="Segoe UI Semilight" panose="020B0402040204020203" pitchFamily="34" charset="0"/>
              <a:ea typeface="Source Sans Pro"/>
              <a:cs typeface="Segoe UI Semilight" panose="020B0402040204020203" pitchFamily="34" charset="0"/>
              <a:sym typeface="Source Sans Pro"/>
            </a:endParaRPr>
          </a:p>
        </p:txBody>
      </p:sp>
      <p:sp>
        <p:nvSpPr>
          <p:cNvPr id="7" name="Téglalap 6">
            <a:extLst>
              <a:ext uri="{FF2B5EF4-FFF2-40B4-BE49-F238E27FC236}">
                <a16:creationId xmlns:a16="http://schemas.microsoft.com/office/drawing/2014/main" id="{FF0E60D6-6F24-1BD6-ABB1-04D1EFCC42E2}"/>
              </a:ext>
            </a:extLst>
          </p:cNvPr>
          <p:cNvSpPr/>
          <p:nvPr/>
        </p:nvSpPr>
        <p:spPr>
          <a:xfrm flipV="1">
            <a:off x="287855" y="562666"/>
            <a:ext cx="98192" cy="33742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>
              <a:highlight>
                <a:srgbClr val="757575"/>
              </a:highlight>
            </a:endParaRPr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0DEFEF7C-EB8F-097A-58E0-FB49A87590DF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86047" y="444500"/>
            <a:ext cx="8521700" cy="573088"/>
          </a:xfrm>
        </p:spPr>
        <p:txBody>
          <a:bodyPr/>
          <a:lstStyle/>
          <a:p>
            <a:r>
              <a:rPr lang="hu-HU" dirty="0"/>
              <a:t>5.PÉLDA</a:t>
            </a:r>
            <a:br>
              <a:rPr lang="hu-HU" dirty="0"/>
            </a:br>
            <a:r>
              <a:rPr lang="hu-HU" b="1" u="sng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Nem</a:t>
            </a:r>
            <a:r>
              <a:rPr lang="hu-HU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végtörlesztéses kamatozó kötvény értékelése</a:t>
            </a:r>
          </a:p>
        </p:txBody>
      </p:sp>
      <p:graphicFrame>
        <p:nvGraphicFramePr>
          <p:cNvPr id="3" name="Táblázat 2">
            <a:extLst>
              <a:ext uri="{FF2B5EF4-FFF2-40B4-BE49-F238E27FC236}">
                <a16:creationId xmlns:a16="http://schemas.microsoft.com/office/drawing/2014/main" id="{62BD251E-7C7D-B782-1B2E-DBC2E537ED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4876428"/>
              </p:ext>
            </p:extLst>
          </p:nvPr>
        </p:nvGraphicFramePr>
        <p:xfrm>
          <a:off x="148905" y="3081970"/>
          <a:ext cx="6046963" cy="1308898"/>
        </p:xfrm>
        <a:graphic>
          <a:graphicData uri="http://schemas.openxmlformats.org/drawingml/2006/table">
            <a:tbl>
              <a:tblPr firstRow="1" firstCol="1" bandRow="1">
                <a:tableStyleId>{FE464744-5EF8-4A23-BA49-EC68D10D153F}</a:tableStyleId>
              </a:tblPr>
              <a:tblGrid>
                <a:gridCol w="433099">
                  <a:extLst>
                    <a:ext uri="{9D8B030D-6E8A-4147-A177-3AD203B41FA5}">
                      <a16:colId xmlns:a16="http://schemas.microsoft.com/office/drawing/2014/main" val="1850451997"/>
                    </a:ext>
                  </a:extLst>
                </a:gridCol>
                <a:gridCol w="1669071">
                  <a:extLst>
                    <a:ext uri="{9D8B030D-6E8A-4147-A177-3AD203B41FA5}">
                      <a16:colId xmlns:a16="http://schemas.microsoft.com/office/drawing/2014/main" val="3259901427"/>
                    </a:ext>
                  </a:extLst>
                </a:gridCol>
                <a:gridCol w="1135090">
                  <a:extLst>
                    <a:ext uri="{9D8B030D-6E8A-4147-A177-3AD203B41FA5}">
                      <a16:colId xmlns:a16="http://schemas.microsoft.com/office/drawing/2014/main" val="999884262"/>
                    </a:ext>
                  </a:extLst>
                </a:gridCol>
                <a:gridCol w="1812169">
                  <a:extLst>
                    <a:ext uri="{9D8B030D-6E8A-4147-A177-3AD203B41FA5}">
                      <a16:colId xmlns:a16="http://schemas.microsoft.com/office/drawing/2014/main" val="1590429648"/>
                    </a:ext>
                  </a:extLst>
                </a:gridCol>
                <a:gridCol w="997534">
                  <a:extLst>
                    <a:ext uri="{9D8B030D-6E8A-4147-A177-3AD203B41FA5}">
                      <a16:colId xmlns:a16="http://schemas.microsoft.com/office/drawing/2014/main" val="3671565803"/>
                    </a:ext>
                  </a:extLst>
                </a:gridCol>
              </a:tblGrid>
              <a:tr h="570892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hu-HU" sz="1200" dirty="0">
                          <a:effectLst/>
                        </a:rPr>
                        <a:t>t</a:t>
                      </a:r>
                      <a:endParaRPr lang="hu-H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hu-HU" sz="1200" dirty="0">
                          <a:effectLst/>
                        </a:rPr>
                        <a:t>Fennálló névérték</a:t>
                      </a:r>
                      <a:br>
                        <a:rPr lang="hu-HU" sz="1200" dirty="0">
                          <a:effectLst/>
                        </a:rPr>
                      </a:br>
                      <a:r>
                        <a:rPr lang="hu-HU" sz="1200" dirty="0">
                          <a:effectLst/>
                        </a:rPr>
                        <a:t>(év elején)</a:t>
                      </a:r>
                      <a:endParaRPr lang="hu-H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hu-HU" sz="1200" dirty="0">
                          <a:effectLst/>
                        </a:rPr>
                        <a:t>Tőketörlesztés</a:t>
                      </a:r>
                      <a:br>
                        <a:rPr lang="hu-HU" sz="1200" dirty="0">
                          <a:effectLst/>
                        </a:rPr>
                      </a:br>
                      <a:r>
                        <a:rPr lang="hu-HU" sz="1200" dirty="0">
                          <a:effectLst/>
                        </a:rPr>
                        <a:t>(év végén)</a:t>
                      </a:r>
                      <a:endParaRPr lang="hu-H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hu-HU" sz="1200" dirty="0">
                          <a:effectLst/>
                        </a:rPr>
                        <a:t>Kamatfizetés </a:t>
                      </a:r>
                      <a:br>
                        <a:rPr lang="hu-HU" sz="1200" dirty="0">
                          <a:effectLst/>
                        </a:rPr>
                      </a:br>
                      <a:r>
                        <a:rPr lang="hu-HU" sz="1200" dirty="0">
                          <a:effectLst/>
                        </a:rPr>
                        <a:t>(év végén)</a:t>
                      </a:r>
                      <a:endParaRPr lang="hu-H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hu-HU" sz="1200" dirty="0">
                          <a:effectLst/>
                        </a:rPr>
                        <a:t>CF</a:t>
                      </a:r>
                      <a:endParaRPr lang="hu-H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274353779"/>
                  </a:ext>
                </a:extLst>
              </a:tr>
              <a:tr h="246002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hu-HU" sz="1200">
                          <a:effectLst/>
                        </a:rPr>
                        <a:t>1</a:t>
                      </a:r>
                      <a:endParaRPr lang="hu-H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endParaRPr lang="hu-H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endParaRPr lang="hu-H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endParaRPr lang="hu-H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endParaRPr lang="hu-H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64424539"/>
                  </a:ext>
                </a:extLst>
              </a:tr>
              <a:tr h="246002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hu-HU" sz="1200">
                          <a:effectLst/>
                        </a:rPr>
                        <a:t>2</a:t>
                      </a:r>
                      <a:endParaRPr lang="hu-H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endParaRPr lang="hu-H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endParaRPr lang="hu-H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endParaRPr lang="hu-H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endParaRPr lang="hu-H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94762812"/>
                  </a:ext>
                </a:extLst>
              </a:tr>
              <a:tr h="246002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hu-HU" sz="1200">
                          <a:effectLst/>
                        </a:rPr>
                        <a:t>3</a:t>
                      </a:r>
                      <a:endParaRPr lang="hu-H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endParaRPr lang="hu-H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endParaRPr lang="hu-H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endParaRPr lang="hu-H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endParaRPr lang="hu-H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541009761"/>
                  </a:ext>
                </a:extLst>
              </a:tr>
            </a:tbl>
          </a:graphicData>
        </a:graphic>
      </p:graphicFrame>
      <p:sp>
        <p:nvSpPr>
          <p:cNvPr id="4" name="Szövegdoboz 3">
            <a:extLst>
              <a:ext uri="{FF2B5EF4-FFF2-40B4-BE49-F238E27FC236}">
                <a16:creationId xmlns:a16="http://schemas.microsoft.com/office/drawing/2014/main" id="{7EEE6A06-6B6B-797D-FA60-8194CC04DE9A}"/>
              </a:ext>
            </a:extLst>
          </p:cNvPr>
          <p:cNvSpPr txBox="1"/>
          <p:nvPr/>
        </p:nvSpPr>
        <p:spPr>
          <a:xfrm>
            <a:off x="6327690" y="2806932"/>
            <a:ext cx="2769927" cy="1384995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hu-HU" b="1" i="1" u="sng" dirty="0">
                <a:solidFill>
                  <a:schemeClr val="accent5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Mindig ugyanaz a feladat: </a:t>
            </a:r>
            <a:r>
              <a:rPr lang="hu-HU" i="1" dirty="0">
                <a:solidFill>
                  <a:schemeClr val="accent5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 kötvény birtokba vételétől kezdve milyen pénzáramok várhatók. Mindegy, hogy ezek egyformák (annuitás) vagy sem. Ezeket kell diszkontálnod (PV)!!</a:t>
            </a:r>
          </a:p>
        </p:txBody>
      </p:sp>
    </p:spTree>
    <p:extLst>
      <p:ext uri="{BB962C8B-B14F-4D97-AF65-F5344CB8AC3E}">
        <p14:creationId xmlns:p14="http://schemas.microsoft.com/office/powerpoint/2010/main" val="3929110642"/>
      </p:ext>
    </p:extLst>
  </p:cSld>
  <p:clrMapOvr>
    <a:masterClrMapping/>
  </p:clrMapOvr>
  <p:transition spd="slow">
    <p:cut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>
          <a:extLst>
            <a:ext uri="{FF2B5EF4-FFF2-40B4-BE49-F238E27FC236}">
              <a16:creationId xmlns:a16="http://schemas.microsoft.com/office/drawing/2014/main" id="{ED5CE211-3CFC-3446-1388-33FC87B0E7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82" name="Shape 182">
                <a:extLst>
                  <a:ext uri="{FF2B5EF4-FFF2-40B4-BE49-F238E27FC236}">
                    <a16:creationId xmlns:a16="http://schemas.microsoft.com/office/drawing/2014/main" id="{31A9782C-5A62-B8E7-5409-C227C82FBD72}"/>
                  </a:ext>
                </a:extLst>
              </p:cNvPr>
              <p:cNvSpPr txBox="1"/>
              <p:nvPr/>
            </p:nvSpPr>
            <p:spPr>
              <a:xfrm>
                <a:off x="0" y="3363592"/>
                <a:ext cx="8394000" cy="7975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91425" tIns="45700" rIns="91425" bIns="45700" anchor="t" anchorCtr="0">
                <a:noAutofit/>
              </a:bodyPr>
              <a:lstStyle/>
              <a:p>
                <a:pPr marL="228584">
                  <a:spcBef>
                    <a:spcPts val="400"/>
                  </a:spcBef>
                  <a:buClr>
                    <a:srgbClr val="CCCCCC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hu-H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hu-HU" b="1">
                              <a:latin typeface="Cambria Math" panose="02040503050406030204" pitchFamily="18" charset="0"/>
                            </a:rPr>
                            <m:t>𝐏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hu-HU">
                              <a:latin typeface="Cambria Math" panose="02040503050406030204" pitchFamily="18" charset="0"/>
                            </a:rPr>
                            <m:t>k</m:t>
                          </m:r>
                          <m:r>
                            <a:rPr lang="hu-HU">
                              <a:latin typeface="Cambria Math" panose="02040503050406030204" pitchFamily="18" charset="0"/>
                            </a:rPr>
                            <m:t>ö</m:t>
                          </m:r>
                          <m:r>
                            <m:rPr>
                              <m:sty m:val="p"/>
                            </m:rPr>
                            <a:rPr lang="hu-HU">
                              <a:latin typeface="Cambria Math" panose="02040503050406030204" pitchFamily="18" charset="0"/>
                            </a:rPr>
                            <m:t>tv</m:t>
                          </m:r>
                          <m:r>
                            <a:rPr lang="hu-HU">
                              <a:latin typeface="Cambria Math" panose="02040503050406030204" pitchFamily="18" charset="0"/>
                            </a:rPr>
                            <m:t>é</m:t>
                          </m:r>
                          <m:r>
                            <m:rPr>
                              <m:sty m:val="p"/>
                            </m:rPr>
                            <a:rPr lang="hu-HU">
                              <a:latin typeface="Cambria Math" panose="02040503050406030204" pitchFamily="18" charset="0"/>
                            </a:rPr>
                            <m:t>ny</m:t>
                          </m:r>
                        </m:sub>
                      </m:sSub>
                      <m:r>
                        <a:rPr lang="hu-HU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hu-HU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hu-HU" i="1">
                              <a:latin typeface="Cambria Math" panose="02040503050406030204" pitchFamily="18" charset="0"/>
                            </a:rPr>
                            <m:t>375</m:t>
                          </m:r>
                        </m:num>
                        <m:den>
                          <m:r>
                            <a:rPr lang="hu-HU" i="1">
                              <a:latin typeface="Cambria Math" panose="02040503050406030204" pitchFamily="18" charset="0"/>
                            </a:rPr>
                            <m:t>(1+0,1</m:t>
                          </m:r>
                          <m:sSup>
                            <m:sSupPr>
                              <m:ctrlPr>
                                <a:rPr lang="hu-HU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hu-HU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hu-HU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</m:den>
                      </m:f>
                      <m:r>
                        <a:rPr lang="hu-HU" i="1">
                          <a:latin typeface="Cambria Math" panose="02040503050406030204" pitchFamily="18" charset="0"/>
                        </a:rPr>
                        <m:t>+ </m:t>
                      </m:r>
                      <m:f>
                        <m:fPr>
                          <m:ctrlPr>
                            <a:rPr lang="hu-HU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hu-HU" i="1">
                              <a:latin typeface="Cambria Math" panose="02040503050406030204" pitchFamily="18" charset="0"/>
                            </a:rPr>
                            <m:t>2.875</m:t>
                          </m:r>
                        </m:num>
                        <m:den>
                          <m:r>
                            <a:rPr lang="hu-HU" i="1">
                              <a:latin typeface="Cambria Math" panose="02040503050406030204" pitchFamily="18" charset="0"/>
                            </a:rPr>
                            <m:t>(1+0,1</m:t>
                          </m:r>
                          <m:sSup>
                            <m:sSupPr>
                              <m:ctrlPr>
                                <a:rPr lang="hu-HU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hu-HU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hu-HU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hu-HU" i="1">
                          <a:latin typeface="Cambria Math" panose="02040503050406030204" pitchFamily="18" charset="0"/>
                        </a:rPr>
                        <m:t>+ </m:t>
                      </m:r>
                      <m:f>
                        <m:fPr>
                          <m:ctrlPr>
                            <a:rPr lang="hu-HU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hu-HU" i="1">
                              <a:latin typeface="Cambria Math" panose="02040503050406030204" pitchFamily="18" charset="0"/>
                            </a:rPr>
                            <m:t>2.687,5</m:t>
                          </m:r>
                        </m:num>
                        <m:den>
                          <m:r>
                            <a:rPr lang="hu-HU" i="1">
                              <a:latin typeface="Cambria Math" panose="02040503050406030204" pitchFamily="18" charset="0"/>
                            </a:rPr>
                            <m:t>(1+0,1</m:t>
                          </m:r>
                          <m:sSup>
                            <m:sSupPr>
                              <m:ctrlPr>
                                <a:rPr lang="hu-HU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hu-HU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hu-HU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den>
                      </m:f>
                      <m:r>
                        <a:rPr lang="hu-HU" i="1"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hu-HU" b="1" i="1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hu-HU" b="1" i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hu-HU" b="1" i="1">
                          <a:latin typeface="Cambria Math" panose="02040503050406030204" pitchFamily="18" charset="0"/>
                        </a:rPr>
                        <m:t>𝟕𝟑𝟔</m:t>
                      </m:r>
                      <m:r>
                        <a:rPr lang="hu-HU" b="1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hu-HU" b="1" i="1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hu-HU" b="1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hu-HU" b="1" i="1">
                          <a:latin typeface="Cambria Math" panose="02040503050406030204" pitchFamily="18" charset="0"/>
                        </a:rPr>
                        <m:t>𝑭𝒕</m:t>
                      </m:r>
                    </m:oMath>
                  </m:oMathPara>
                </a14:m>
                <a:endParaRPr lang="hu-HU" dirty="0"/>
              </a:p>
              <a:p>
                <a:pPr marL="228584">
                  <a:spcBef>
                    <a:spcPts val="400"/>
                  </a:spcBef>
                  <a:buClr>
                    <a:srgbClr val="CCCCCC"/>
                  </a:buClr>
                </a:pPr>
                <a:endParaRPr lang="hu" sz="1800" dirty="0">
                  <a:solidFill>
                    <a:schemeClr val="dk2"/>
                  </a:solidFill>
                  <a:latin typeface="Segoe UI Semilight" panose="020B0402040204020203" pitchFamily="34" charset="0"/>
                  <a:ea typeface="Source Sans Pro"/>
                  <a:cs typeface="Segoe UI Semilight" panose="020B0402040204020203" pitchFamily="34" charset="0"/>
                  <a:sym typeface="Source Sans Pro"/>
                </a:endParaRPr>
              </a:p>
              <a:p>
                <a:pPr marL="228583">
                  <a:spcBef>
                    <a:spcPts val="400"/>
                  </a:spcBef>
                  <a:buClr>
                    <a:srgbClr val="CCCCCC"/>
                  </a:buClr>
                </a:pPr>
                <a:endParaRPr lang="hu" sz="1800" dirty="0">
                  <a:solidFill>
                    <a:schemeClr val="dk2"/>
                  </a:solidFill>
                  <a:latin typeface="Segoe UI Semilight" panose="020B0402040204020203" pitchFamily="34" charset="0"/>
                  <a:ea typeface="Source Sans Pro"/>
                  <a:cs typeface="Segoe UI Semilight" panose="020B0402040204020203" pitchFamily="34" charset="0"/>
                  <a:sym typeface="Source Sans Pro"/>
                </a:endParaRPr>
              </a:p>
            </p:txBody>
          </p:sp>
        </mc:Choice>
        <mc:Fallback xmlns="">
          <p:sp>
            <p:nvSpPr>
              <p:cNvPr id="182" name="Shape 182">
                <a:extLst>
                  <a:ext uri="{FF2B5EF4-FFF2-40B4-BE49-F238E27FC236}">
                    <a16:creationId xmlns:a16="http://schemas.microsoft.com/office/drawing/2014/main" id="{31A9782C-5A62-B8E7-5409-C227C82FBD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3363592"/>
                <a:ext cx="8394000" cy="79759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églalap 6">
            <a:extLst>
              <a:ext uri="{FF2B5EF4-FFF2-40B4-BE49-F238E27FC236}">
                <a16:creationId xmlns:a16="http://schemas.microsoft.com/office/drawing/2014/main" id="{DAFDA832-ACF2-388D-A3A0-0AA2E859C020}"/>
              </a:ext>
            </a:extLst>
          </p:cNvPr>
          <p:cNvSpPr/>
          <p:nvPr/>
        </p:nvSpPr>
        <p:spPr>
          <a:xfrm flipV="1">
            <a:off x="287855" y="562666"/>
            <a:ext cx="98192" cy="33742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>
              <a:highlight>
                <a:srgbClr val="757575"/>
              </a:highlight>
            </a:endParaRPr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715A4841-EC6E-E9A3-8A62-93DB9298739D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86047" y="444500"/>
            <a:ext cx="8521700" cy="573088"/>
          </a:xfrm>
        </p:spPr>
        <p:txBody>
          <a:bodyPr/>
          <a:lstStyle/>
          <a:p>
            <a:r>
              <a:rPr lang="hu-HU" dirty="0"/>
              <a:t>5.PÉLDA</a:t>
            </a:r>
            <a:br>
              <a:rPr lang="hu-HU" dirty="0"/>
            </a:br>
            <a:r>
              <a:rPr lang="hu-HU" b="1" u="sng" dirty="0">
                <a:solidFill>
                  <a:schemeClr val="bg2">
                    <a:lumMod val="40000"/>
                    <a:lumOff val="60000"/>
                  </a:schemeClr>
                </a:solidFill>
              </a:rPr>
              <a:t>Nem</a:t>
            </a:r>
            <a:r>
              <a:rPr lang="hu-HU" dirty="0">
                <a:solidFill>
                  <a:schemeClr val="bg2">
                    <a:lumMod val="40000"/>
                    <a:lumOff val="60000"/>
                  </a:schemeClr>
                </a:solidFill>
              </a:rPr>
              <a:t> végtörlesztéses kamatozó kötvény értékelése</a:t>
            </a:r>
          </a:p>
        </p:txBody>
      </p:sp>
      <p:graphicFrame>
        <p:nvGraphicFramePr>
          <p:cNvPr id="3" name="Táblázat 2">
            <a:extLst>
              <a:ext uri="{FF2B5EF4-FFF2-40B4-BE49-F238E27FC236}">
                <a16:creationId xmlns:a16="http://schemas.microsoft.com/office/drawing/2014/main" id="{FDB0517E-F948-29C9-6FF9-E7F97FB6CD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5174125"/>
              </p:ext>
            </p:extLst>
          </p:nvPr>
        </p:nvGraphicFramePr>
        <p:xfrm>
          <a:off x="501458" y="1695210"/>
          <a:ext cx="6046963" cy="1365866"/>
        </p:xfrm>
        <a:graphic>
          <a:graphicData uri="http://schemas.openxmlformats.org/drawingml/2006/table">
            <a:tbl>
              <a:tblPr firstRow="1" firstCol="1" bandRow="1">
                <a:tableStyleId>{FE464744-5EF8-4A23-BA49-EC68D10D153F}</a:tableStyleId>
              </a:tblPr>
              <a:tblGrid>
                <a:gridCol w="433099">
                  <a:extLst>
                    <a:ext uri="{9D8B030D-6E8A-4147-A177-3AD203B41FA5}">
                      <a16:colId xmlns:a16="http://schemas.microsoft.com/office/drawing/2014/main" val="1850451997"/>
                    </a:ext>
                  </a:extLst>
                </a:gridCol>
                <a:gridCol w="1669071">
                  <a:extLst>
                    <a:ext uri="{9D8B030D-6E8A-4147-A177-3AD203B41FA5}">
                      <a16:colId xmlns:a16="http://schemas.microsoft.com/office/drawing/2014/main" val="3259901427"/>
                    </a:ext>
                  </a:extLst>
                </a:gridCol>
                <a:gridCol w="1135090">
                  <a:extLst>
                    <a:ext uri="{9D8B030D-6E8A-4147-A177-3AD203B41FA5}">
                      <a16:colId xmlns:a16="http://schemas.microsoft.com/office/drawing/2014/main" val="999884262"/>
                    </a:ext>
                  </a:extLst>
                </a:gridCol>
                <a:gridCol w="1812169">
                  <a:extLst>
                    <a:ext uri="{9D8B030D-6E8A-4147-A177-3AD203B41FA5}">
                      <a16:colId xmlns:a16="http://schemas.microsoft.com/office/drawing/2014/main" val="1590429648"/>
                    </a:ext>
                  </a:extLst>
                </a:gridCol>
                <a:gridCol w="997534">
                  <a:extLst>
                    <a:ext uri="{9D8B030D-6E8A-4147-A177-3AD203B41FA5}">
                      <a16:colId xmlns:a16="http://schemas.microsoft.com/office/drawing/2014/main" val="3671565803"/>
                    </a:ext>
                  </a:extLst>
                </a:gridCol>
              </a:tblGrid>
              <a:tr h="62786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hu-HU" sz="1200" dirty="0">
                          <a:effectLst/>
                        </a:rPr>
                        <a:t>t</a:t>
                      </a:r>
                      <a:endParaRPr lang="hu-H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hu-HU" sz="1200">
                          <a:effectLst/>
                        </a:rPr>
                        <a:t>Fennálló névérték</a:t>
                      </a:r>
                      <a:br>
                        <a:rPr lang="hu-HU" sz="1200">
                          <a:effectLst/>
                        </a:rPr>
                      </a:br>
                      <a:r>
                        <a:rPr lang="hu-HU" sz="1200">
                          <a:effectLst/>
                        </a:rPr>
                        <a:t>(év elején)</a:t>
                      </a:r>
                      <a:endParaRPr lang="hu-H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hu-HU" sz="1200" dirty="0">
                          <a:effectLst/>
                        </a:rPr>
                        <a:t>Tőketörlesztés</a:t>
                      </a:r>
                      <a:br>
                        <a:rPr lang="hu-HU" sz="1200" dirty="0">
                          <a:effectLst/>
                        </a:rPr>
                      </a:br>
                      <a:r>
                        <a:rPr lang="hu-HU" sz="1200" dirty="0">
                          <a:effectLst/>
                        </a:rPr>
                        <a:t>(év végén)</a:t>
                      </a:r>
                      <a:endParaRPr lang="hu-H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hu-HU" sz="1200">
                          <a:effectLst/>
                        </a:rPr>
                        <a:t>Kamatfizetés </a:t>
                      </a:r>
                      <a:br>
                        <a:rPr lang="hu-HU" sz="1200">
                          <a:effectLst/>
                        </a:rPr>
                      </a:br>
                      <a:r>
                        <a:rPr lang="hu-HU" sz="1200">
                          <a:effectLst/>
                        </a:rPr>
                        <a:t>(év végén)</a:t>
                      </a:r>
                      <a:endParaRPr lang="hu-H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hu-HU" sz="1200" dirty="0">
                          <a:effectLst/>
                        </a:rPr>
                        <a:t>CF</a:t>
                      </a:r>
                      <a:endParaRPr lang="hu-H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274353779"/>
                  </a:ext>
                </a:extLst>
              </a:tr>
              <a:tr h="246002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hu-HU" sz="1200">
                          <a:effectLst/>
                        </a:rPr>
                        <a:t>1</a:t>
                      </a:r>
                      <a:endParaRPr lang="hu-H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hu-HU" sz="1200">
                          <a:effectLst/>
                        </a:rPr>
                        <a:t>5.000</a:t>
                      </a:r>
                      <a:endParaRPr lang="hu-H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hu-HU" sz="1200">
                          <a:effectLst/>
                        </a:rPr>
                        <a:t>0</a:t>
                      </a:r>
                      <a:endParaRPr lang="hu-H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hu-HU" sz="1200">
                          <a:effectLst/>
                        </a:rPr>
                        <a:t>5.000 ∙ 0,075 = 375</a:t>
                      </a:r>
                      <a:endParaRPr lang="hu-H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hu-HU" sz="1200" b="1" i="1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</a:rPr>
                        <a:t>375</a:t>
                      </a:r>
                      <a:endParaRPr lang="hu-HU" sz="1100" b="1" i="1"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64424539"/>
                  </a:ext>
                </a:extLst>
              </a:tr>
              <a:tr h="246002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hu-HU" sz="1200">
                          <a:effectLst/>
                        </a:rPr>
                        <a:t>2</a:t>
                      </a:r>
                      <a:endParaRPr lang="hu-H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hu-HU" sz="1200">
                          <a:effectLst/>
                        </a:rPr>
                        <a:t>5.000</a:t>
                      </a:r>
                      <a:endParaRPr lang="hu-H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hu-HU" sz="1200">
                          <a:effectLst/>
                        </a:rPr>
                        <a:t>2.500</a:t>
                      </a:r>
                      <a:endParaRPr lang="hu-H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hu-HU" sz="1200">
                          <a:effectLst/>
                        </a:rPr>
                        <a:t>5.000 ∙ 0,075 = 375</a:t>
                      </a:r>
                      <a:endParaRPr lang="hu-H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hu-HU" sz="1200" b="1" i="1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</a:rPr>
                        <a:t>2.875</a:t>
                      </a:r>
                      <a:endParaRPr lang="hu-HU" sz="1100" b="1" i="1"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94762812"/>
                  </a:ext>
                </a:extLst>
              </a:tr>
              <a:tr h="246002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hu-HU" sz="1200">
                          <a:effectLst/>
                        </a:rPr>
                        <a:t>3</a:t>
                      </a:r>
                      <a:endParaRPr lang="hu-H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hu-HU" sz="1200">
                          <a:effectLst/>
                        </a:rPr>
                        <a:t>2.500</a:t>
                      </a:r>
                      <a:endParaRPr lang="hu-H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hu-HU" sz="1200">
                          <a:effectLst/>
                        </a:rPr>
                        <a:t>2.500</a:t>
                      </a:r>
                      <a:endParaRPr lang="hu-H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hu-HU" sz="1200">
                          <a:effectLst/>
                        </a:rPr>
                        <a:t>2.500 ∙ 0,075 = 187,5</a:t>
                      </a:r>
                      <a:endParaRPr lang="hu-H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hu-HU" sz="1200" b="1" i="1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</a:rPr>
                        <a:t>2.687,5</a:t>
                      </a:r>
                      <a:endParaRPr lang="hu-HU" sz="1100" b="1" i="1" dirty="0"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541009761"/>
                  </a:ext>
                </a:extLst>
              </a:tr>
            </a:tbl>
          </a:graphicData>
        </a:graphic>
      </p:graphicFrame>
      <p:grpSp>
        <p:nvGrpSpPr>
          <p:cNvPr id="6" name="Csoportba foglalás 5">
            <a:extLst>
              <a:ext uri="{FF2B5EF4-FFF2-40B4-BE49-F238E27FC236}">
                <a16:creationId xmlns:a16="http://schemas.microsoft.com/office/drawing/2014/main" id="{6A4BC156-05AE-E9AF-0B59-7062FA1E9405}"/>
              </a:ext>
            </a:extLst>
          </p:cNvPr>
          <p:cNvGrpSpPr/>
          <p:nvPr/>
        </p:nvGrpSpPr>
        <p:grpSpPr>
          <a:xfrm>
            <a:off x="6548421" y="1677178"/>
            <a:ext cx="2749812" cy="1990091"/>
            <a:chOff x="6357228" y="4611407"/>
            <a:chExt cx="2749812" cy="1990091"/>
          </a:xfrm>
        </p:grpSpPr>
        <p:pic>
          <p:nvPicPr>
            <p:cNvPr id="4" name="Kép 3">
              <a:extLst>
                <a:ext uri="{FF2B5EF4-FFF2-40B4-BE49-F238E27FC236}">
                  <a16:creationId xmlns:a16="http://schemas.microsoft.com/office/drawing/2014/main" id="{89E2EB2B-C3B4-56AA-E5BC-1F2DAB2611C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6518151" y="4611407"/>
              <a:ext cx="2588889" cy="1686413"/>
            </a:xfrm>
            <a:prstGeom prst="rect">
              <a:avLst/>
            </a:prstGeom>
          </p:spPr>
        </p:pic>
        <p:sp>
          <p:nvSpPr>
            <p:cNvPr id="5" name="Shape 182">
              <a:extLst>
                <a:ext uri="{FF2B5EF4-FFF2-40B4-BE49-F238E27FC236}">
                  <a16:creationId xmlns:a16="http://schemas.microsoft.com/office/drawing/2014/main" id="{B81241DF-C978-AC13-D545-AF2A3D781F81}"/>
                </a:ext>
              </a:extLst>
            </p:cNvPr>
            <p:cNvSpPr txBox="1"/>
            <p:nvPr/>
          </p:nvSpPr>
          <p:spPr>
            <a:xfrm>
              <a:off x="6357228" y="4654153"/>
              <a:ext cx="2506948" cy="1947345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228583">
                <a:spcBef>
                  <a:spcPts val="400"/>
                </a:spcBef>
                <a:buClr>
                  <a:srgbClr val="CCCCCC"/>
                </a:buClr>
              </a:pPr>
              <a:endParaRPr lang="hu" sz="1800" dirty="0">
                <a:solidFill>
                  <a:schemeClr val="dk2"/>
                </a:solidFill>
                <a:latin typeface="Segoe UI Semilight" panose="020B0402040204020203" pitchFamily="34" charset="0"/>
                <a:ea typeface="Source Sans Pro"/>
                <a:cs typeface="Segoe UI Semilight" panose="020B0402040204020203" pitchFamily="34" charset="0"/>
                <a:sym typeface="Source Sans Pro"/>
              </a:endParaRPr>
            </a:p>
            <a:p>
              <a:pPr marL="228583">
                <a:spcBef>
                  <a:spcPts val="400"/>
                </a:spcBef>
                <a:buClr>
                  <a:srgbClr val="CCCCCC"/>
                </a:buClr>
              </a:pPr>
              <a:r>
                <a:rPr lang="hu-HU" sz="1200" b="1" dirty="0">
                  <a:solidFill>
                    <a:schemeClr val="dk2"/>
                  </a:solidFill>
                  <a:latin typeface="Segoe UI Semilight" panose="020B0402040204020203" pitchFamily="34" charset="0"/>
                  <a:ea typeface="Source Sans Pro"/>
                  <a:cs typeface="Segoe UI Semilight" panose="020B0402040204020203" pitchFamily="34" charset="0"/>
                  <a:sym typeface="Source Sans Pro"/>
                </a:rPr>
                <a:t>A futamidő alatti tőketörlesztés miatt a kamatok változnak, ezért annuitásos képlet nem alkalmazható; a CF-</a:t>
              </a:r>
              <a:r>
                <a:rPr lang="hu-HU" sz="1200" b="1" dirty="0" err="1">
                  <a:solidFill>
                    <a:schemeClr val="dk2"/>
                  </a:solidFill>
                  <a:latin typeface="Segoe UI Semilight" panose="020B0402040204020203" pitchFamily="34" charset="0"/>
                  <a:ea typeface="Source Sans Pro"/>
                  <a:cs typeface="Segoe UI Semilight" panose="020B0402040204020203" pitchFamily="34" charset="0"/>
                  <a:sym typeface="Source Sans Pro"/>
                </a:rPr>
                <a:t>kat</a:t>
              </a:r>
              <a:r>
                <a:rPr lang="hu-HU" sz="1200" b="1" dirty="0">
                  <a:solidFill>
                    <a:schemeClr val="dk2"/>
                  </a:solidFill>
                  <a:latin typeface="Segoe UI Semilight" panose="020B0402040204020203" pitchFamily="34" charset="0"/>
                  <a:ea typeface="Source Sans Pro"/>
                  <a:cs typeface="Segoe UI Semilight" panose="020B0402040204020203" pitchFamily="34" charset="0"/>
                  <a:sym typeface="Source Sans Pro"/>
                </a:rPr>
                <a:t> külön kell értékelni.</a:t>
              </a:r>
              <a:endParaRPr lang="hu" sz="1800" dirty="0">
                <a:solidFill>
                  <a:schemeClr val="dk2"/>
                </a:solidFill>
                <a:latin typeface="Segoe UI Semilight" panose="020B0402040204020203" pitchFamily="34" charset="0"/>
                <a:ea typeface="Source Sans Pro"/>
                <a:cs typeface="Segoe UI Semilight" panose="020B0402040204020203" pitchFamily="34" charset="0"/>
                <a:sym typeface="Source Sans Pro"/>
              </a:endParaRPr>
            </a:p>
            <a:p>
              <a:pPr marL="457167" indent="-228584">
                <a:spcBef>
                  <a:spcPts val="400"/>
                </a:spcBef>
                <a:buClr>
                  <a:srgbClr val="CCCCCC"/>
                </a:buClr>
                <a:buChar char="●"/>
              </a:pPr>
              <a:endParaRPr lang="hu" sz="1800" dirty="0">
                <a:solidFill>
                  <a:schemeClr val="dk2"/>
                </a:solidFill>
                <a:latin typeface="Segoe UI Semilight" panose="020B0402040204020203" pitchFamily="34" charset="0"/>
                <a:ea typeface="Source Sans Pro"/>
                <a:cs typeface="Segoe UI Semilight" panose="020B0402040204020203" pitchFamily="34" charset="0"/>
                <a:sym typeface="Source Sans Pro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19483403"/>
      </p:ext>
    </p:extLst>
  </p:cSld>
  <p:clrMapOvr>
    <a:masterClrMapping/>
  </p:clrMapOvr>
  <p:transition spd="slow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>
          <a:extLst>
            <a:ext uri="{FF2B5EF4-FFF2-40B4-BE49-F238E27FC236}">
              <a16:creationId xmlns:a16="http://schemas.microsoft.com/office/drawing/2014/main" id="{2E45690E-32DB-C6F1-4D7D-1AEEA51ACF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Shape 182">
            <a:extLst>
              <a:ext uri="{FF2B5EF4-FFF2-40B4-BE49-F238E27FC236}">
                <a16:creationId xmlns:a16="http://schemas.microsoft.com/office/drawing/2014/main" id="{A4FEC868-1393-F2E0-8E50-9468F8AEF80B}"/>
              </a:ext>
            </a:extLst>
          </p:cNvPr>
          <p:cNvSpPr txBox="1"/>
          <p:nvPr/>
        </p:nvSpPr>
        <p:spPr>
          <a:xfrm>
            <a:off x="62631" y="1292138"/>
            <a:ext cx="8394000" cy="2465215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228583">
              <a:spcBef>
                <a:spcPts val="400"/>
              </a:spcBef>
              <a:buClr>
                <a:srgbClr val="CCCCCC"/>
              </a:buClr>
            </a:pPr>
            <a:r>
              <a:rPr lang="hu-HU" sz="1800" dirty="0">
                <a:solidFill>
                  <a:schemeClr val="dk2"/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 Semilight" panose="020B0402040204020203" pitchFamily="34" charset="0"/>
                <a:sym typeface="Source Sans Pro"/>
              </a:rPr>
              <a:t>Az elemi kötvény csak egyetlen egy pénzáramlást biztosít, a kötvény lejáratakor a névérték kerül megfizetésre. A kötvény futamideje alatt nincs semmilyen kamatfizetés. </a:t>
            </a:r>
          </a:p>
          <a:p>
            <a:pPr marL="228583">
              <a:spcBef>
                <a:spcPts val="400"/>
              </a:spcBef>
              <a:buClr>
                <a:srgbClr val="CCCCCC"/>
              </a:buClr>
            </a:pPr>
            <a:r>
              <a:rPr lang="hu-HU" sz="1800" dirty="0">
                <a:solidFill>
                  <a:schemeClr val="dk2"/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 Semilight" panose="020B0402040204020203" pitchFamily="34" charset="0"/>
                <a:sym typeface="Source Sans Pro"/>
              </a:rPr>
              <a:t>Miért éri meg mégis a befektetőknek elemi kötvényt vásárolni? A hozamot nem csak kamatfizetésen keresztül lehet elérni, hanem az árfolyam változásának hatására is! Ebből eredően névérték alatt kerül kibocsátásra a kötvény!</a:t>
            </a:r>
            <a:endParaRPr lang="hu" sz="1800" dirty="0">
              <a:solidFill>
                <a:schemeClr val="dk2"/>
              </a:solidFill>
              <a:highlight>
                <a:srgbClr val="FFFF00"/>
              </a:highlight>
              <a:latin typeface="Cambria" panose="02040503050406030204" pitchFamily="18" charset="0"/>
              <a:ea typeface="Cambria" panose="02040503050406030204" pitchFamily="18" charset="0"/>
              <a:cs typeface="Segoe UI Semilight" panose="020B0402040204020203" pitchFamily="34" charset="0"/>
              <a:sym typeface="Source Sans Pro"/>
            </a:endParaRPr>
          </a:p>
          <a:p>
            <a:pPr marL="228583">
              <a:spcBef>
                <a:spcPts val="400"/>
              </a:spcBef>
              <a:buClr>
                <a:srgbClr val="CCCCCC"/>
              </a:buClr>
            </a:pPr>
            <a:endParaRPr lang="hu" sz="1800" dirty="0">
              <a:solidFill>
                <a:schemeClr val="dk2"/>
              </a:solidFill>
              <a:latin typeface="Segoe UI Semilight" panose="020B0402040204020203" pitchFamily="34" charset="0"/>
              <a:ea typeface="Source Sans Pro"/>
              <a:cs typeface="Segoe UI Semilight" panose="020B0402040204020203" pitchFamily="34" charset="0"/>
              <a:sym typeface="Source Sans Pro"/>
            </a:endParaRPr>
          </a:p>
          <a:p>
            <a:pPr marL="228583">
              <a:spcBef>
                <a:spcPts val="400"/>
              </a:spcBef>
              <a:buClr>
                <a:srgbClr val="CCCCCC"/>
              </a:buClr>
            </a:pPr>
            <a:endParaRPr lang="hu" sz="1800" dirty="0">
              <a:solidFill>
                <a:schemeClr val="dk2"/>
              </a:solidFill>
              <a:latin typeface="Segoe UI Semilight" panose="020B0402040204020203" pitchFamily="34" charset="0"/>
              <a:ea typeface="Source Sans Pro"/>
              <a:cs typeface="Segoe UI Semilight" panose="020B0402040204020203" pitchFamily="34" charset="0"/>
              <a:sym typeface="Source Sans Pro"/>
            </a:endParaRPr>
          </a:p>
          <a:p>
            <a:pPr marL="228583">
              <a:spcBef>
                <a:spcPts val="400"/>
              </a:spcBef>
              <a:buClr>
                <a:srgbClr val="CCCCCC"/>
              </a:buClr>
            </a:pPr>
            <a:endParaRPr lang="hu" sz="1800" dirty="0">
              <a:solidFill>
                <a:schemeClr val="dk2"/>
              </a:solidFill>
              <a:latin typeface="Segoe UI Semilight" panose="020B0402040204020203" pitchFamily="34" charset="0"/>
              <a:ea typeface="Source Sans Pro"/>
              <a:cs typeface="Segoe UI Semilight" panose="020B0402040204020203" pitchFamily="34" charset="0"/>
              <a:sym typeface="Source Sans Pro"/>
            </a:endParaRPr>
          </a:p>
          <a:p>
            <a:pPr marL="457167" indent="-228584">
              <a:spcBef>
                <a:spcPts val="400"/>
              </a:spcBef>
              <a:buClr>
                <a:srgbClr val="CCCCCC"/>
              </a:buClr>
              <a:buChar char="●"/>
            </a:pPr>
            <a:endParaRPr lang="hu" sz="1800" dirty="0">
              <a:solidFill>
                <a:schemeClr val="dk2"/>
              </a:solidFill>
              <a:latin typeface="Segoe UI Semilight" panose="020B0402040204020203" pitchFamily="34" charset="0"/>
              <a:ea typeface="Source Sans Pro"/>
              <a:cs typeface="Segoe UI Semilight" panose="020B0402040204020203" pitchFamily="34" charset="0"/>
              <a:sym typeface="Source Sans Pro"/>
            </a:endParaRPr>
          </a:p>
        </p:txBody>
      </p:sp>
      <p:sp>
        <p:nvSpPr>
          <p:cNvPr id="7" name="Téglalap 6">
            <a:extLst>
              <a:ext uri="{FF2B5EF4-FFF2-40B4-BE49-F238E27FC236}">
                <a16:creationId xmlns:a16="http://schemas.microsoft.com/office/drawing/2014/main" id="{AC128B36-2431-40F7-99BC-F32AB7562134}"/>
              </a:ext>
            </a:extLst>
          </p:cNvPr>
          <p:cNvSpPr/>
          <p:nvPr/>
        </p:nvSpPr>
        <p:spPr>
          <a:xfrm flipV="1">
            <a:off x="287855" y="562666"/>
            <a:ext cx="98192" cy="33742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>
              <a:highlight>
                <a:srgbClr val="757575"/>
              </a:highlight>
            </a:endParaRPr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D832EE89-F6A9-7DB8-45C0-3A810BCA910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86047" y="444500"/>
            <a:ext cx="8521700" cy="573088"/>
          </a:xfrm>
        </p:spPr>
        <p:txBody>
          <a:bodyPr/>
          <a:lstStyle/>
          <a:p>
            <a:r>
              <a:rPr lang="hu-HU" dirty="0"/>
              <a:t>ELEMI KÖTVÉNY (KAMATSZELVÉNY NÉLKÜLI)</a:t>
            </a:r>
            <a:br>
              <a:rPr lang="hu-HU" dirty="0"/>
            </a:br>
            <a:endParaRPr lang="hu-HU" dirty="0">
              <a:solidFill>
                <a:schemeClr val="bg2">
                  <a:lumMod val="40000"/>
                  <a:lumOff val="6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zövegdoboz 2">
                <a:extLst>
                  <a:ext uri="{FF2B5EF4-FFF2-40B4-BE49-F238E27FC236}">
                    <a16:creationId xmlns:a16="http://schemas.microsoft.com/office/drawing/2014/main" id="{DC25BAE8-5285-015E-33E8-3EF6519D6BAE}"/>
                  </a:ext>
                </a:extLst>
              </p:cNvPr>
              <p:cNvSpPr txBox="1"/>
              <p:nvPr/>
            </p:nvSpPr>
            <p:spPr>
              <a:xfrm>
                <a:off x="2304646" y="3490421"/>
                <a:ext cx="4089863" cy="533864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34925">
                <a:solidFill>
                  <a:srgbClr val="C0000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hu-HU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hu-HU" sz="1400" b="1" i="0">
                              <a:latin typeface="Cambria Math" panose="02040503050406030204" pitchFamily="18" charset="0"/>
                            </a:rPr>
                            <m:t>𝐏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hu-HU" sz="1400" b="0" i="0" smtClean="0">
                              <a:latin typeface="Cambria Math" panose="02040503050406030204" pitchFamily="18" charset="0"/>
                            </a:rPr>
                            <m:t>elemi</m:t>
                          </m:r>
                          <m:r>
                            <a:rPr lang="hu-HU" sz="1400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hu-HU" sz="1400" b="0" i="0" smtClean="0">
                              <a:latin typeface="Cambria Math" panose="02040503050406030204" pitchFamily="18" charset="0"/>
                            </a:rPr>
                            <m:t>k</m:t>
                          </m:r>
                          <m:r>
                            <a:rPr lang="hu-HU" sz="1400" b="0" i="0" smtClean="0">
                              <a:latin typeface="Cambria Math" panose="02040503050406030204" pitchFamily="18" charset="0"/>
                            </a:rPr>
                            <m:t>ö</m:t>
                          </m:r>
                          <m:r>
                            <m:rPr>
                              <m:sty m:val="p"/>
                            </m:rPr>
                            <a:rPr lang="hu-HU" sz="1400" b="0" i="0" smtClean="0">
                              <a:latin typeface="Cambria Math" panose="02040503050406030204" pitchFamily="18" charset="0"/>
                            </a:rPr>
                            <m:t>tv</m:t>
                          </m:r>
                          <m:r>
                            <a:rPr lang="hu-HU" sz="1400" b="0" i="0" smtClean="0">
                              <a:latin typeface="Cambria Math" panose="02040503050406030204" pitchFamily="18" charset="0"/>
                            </a:rPr>
                            <m:t>é</m:t>
                          </m:r>
                          <m:r>
                            <m:rPr>
                              <m:sty m:val="p"/>
                            </m:rPr>
                            <a:rPr lang="hu-HU" sz="1400" b="0" i="0" smtClean="0">
                              <a:latin typeface="Cambria Math" panose="02040503050406030204" pitchFamily="18" charset="0"/>
                            </a:rPr>
                            <m:t>ny</m:t>
                          </m:r>
                        </m:sub>
                      </m:sSub>
                      <m:r>
                        <a:rPr lang="hu-HU" sz="1400" b="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hu-HU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hu-HU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P</m:t>
                          </m:r>
                          <m:r>
                            <m:rPr>
                              <m:sty m:val="p"/>
                            </m:rPr>
                            <a:rPr lang="hu-HU" i="1" baseline="-250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n</m:t>
                          </m:r>
                        </m:num>
                        <m:den>
                          <m:sSup>
                            <m:sSupPr>
                              <m:ctrlPr>
                                <a:rPr lang="hu-HU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hu-HU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(1+</m:t>
                              </m:r>
                              <m:r>
                                <a:rPr lang="hu-HU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a:rPr lang="hu-HU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hu-HU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hu-HU" dirty="0"/>
              </a:p>
            </p:txBody>
          </p:sp>
        </mc:Choice>
        <mc:Fallback xmlns="">
          <p:sp>
            <p:nvSpPr>
              <p:cNvPr id="3" name="Szövegdoboz 2">
                <a:extLst>
                  <a:ext uri="{FF2B5EF4-FFF2-40B4-BE49-F238E27FC236}">
                    <a16:creationId xmlns:a16="http://schemas.microsoft.com/office/drawing/2014/main" id="{DC25BAE8-5285-015E-33E8-3EF6519D6B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4646" y="3490421"/>
                <a:ext cx="4089863" cy="533864"/>
              </a:xfrm>
              <a:prstGeom prst="rect">
                <a:avLst/>
              </a:prstGeom>
              <a:blipFill>
                <a:blip r:embed="rId3"/>
                <a:stretch>
                  <a:fillRect b="-2151"/>
                </a:stretch>
              </a:blipFill>
              <a:ln w="34925"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>
            <a:extLst>
              <a:ext uri="{FF2B5EF4-FFF2-40B4-BE49-F238E27FC236}">
                <a16:creationId xmlns:a16="http://schemas.microsoft.com/office/drawing/2014/main" id="{A63C085B-2366-7F35-67B6-0C68AA0353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4627" y="3138910"/>
            <a:ext cx="1708748" cy="1279911"/>
          </a:xfrm>
          <a:prstGeom prst="rect">
            <a:avLst/>
          </a:prstGeom>
          <a:noFill/>
          <a:effectLst>
            <a:softEdge rad="63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24028251"/>
      </p:ext>
    </p:extLst>
  </p:cSld>
  <p:clrMapOvr>
    <a:masterClrMapping/>
  </p:clrMapOvr>
  <p:transition spd="slow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>
          <a:extLst>
            <a:ext uri="{FF2B5EF4-FFF2-40B4-BE49-F238E27FC236}">
              <a16:creationId xmlns:a16="http://schemas.microsoft.com/office/drawing/2014/main" id="{F3BD1E53-74D3-E3B1-EC48-33230EA09A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Shape 182">
            <a:extLst>
              <a:ext uri="{FF2B5EF4-FFF2-40B4-BE49-F238E27FC236}">
                <a16:creationId xmlns:a16="http://schemas.microsoft.com/office/drawing/2014/main" id="{4CBCE007-19E6-24B4-9E6F-1A82E35C3DD1}"/>
              </a:ext>
            </a:extLst>
          </p:cNvPr>
          <p:cNvSpPr txBox="1"/>
          <p:nvPr/>
        </p:nvSpPr>
        <p:spPr>
          <a:xfrm>
            <a:off x="287855" y="1554481"/>
            <a:ext cx="8394000" cy="2541274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228584">
              <a:spcBef>
                <a:spcPts val="400"/>
              </a:spcBef>
              <a:buClr>
                <a:srgbClr val="CCCCCC"/>
              </a:buClr>
            </a:pPr>
            <a:r>
              <a:rPr lang="hu-HU" sz="1800" dirty="0">
                <a:solidFill>
                  <a:schemeClr val="dk2"/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 Semilight" panose="020B0402040204020203" pitchFamily="34" charset="0"/>
                <a:sym typeface="Source Sans Pro"/>
              </a:rPr>
              <a:t>Egy 5 éve kibocsátott, 10 éves futamidejű, 100.000 Ft névértékű elemi kötvénytől a befektetők 6%-os hozamot várnak el.  Mekkora a diszkontkötvény jelenlegi árfolyama?</a:t>
            </a:r>
            <a:endParaRPr lang="hu" sz="1800" dirty="0">
              <a:solidFill>
                <a:schemeClr val="dk2"/>
              </a:solidFill>
              <a:latin typeface="Cambria" panose="02040503050406030204" pitchFamily="18" charset="0"/>
              <a:ea typeface="Cambria" panose="02040503050406030204" pitchFamily="18" charset="0"/>
              <a:cs typeface="Segoe UI Semilight" panose="020B0402040204020203" pitchFamily="34" charset="0"/>
              <a:sym typeface="Source Sans Pro"/>
            </a:endParaRPr>
          </a:p>
        </p:txBody>
      </p:sp>
      <p:sp>
        <p:nvSpPr>
          <p:cNvPr id="7" name="Téglalap 6">
            <a:extLst>
              <a:ext uri="{FF2B5EF4-FFF2-40B4-BE49-F238E27FC236}">
                <a16:creationId xmlns:a16="http://schemas.microsoft.com/office/drawing/2014/main" id="{53948CE7-3D06-A054-A79D-24F738D6DB19}"/>
              </a:ext>
            </a:extLst>
          </p:cNvPr>
          <p:cNvSpPr/>
          <p:nvPr/>
        </p:nvSpPr>
        <p:spPr>
          <a:xfrm flipV="1">
            <a:off x="287855" y="562666"/>
            <a:ext cx="98192" cy="33742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>
              <a:highlight>
                <a:srgbClr val="757575"/>
              </a:highlight>
            </a:endParaRPr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BAD5EE57-72AC-66F0-A714-6A90077AF32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86047" y="444500"/>
            <a:ext cx="8521700" cy="573088"/>
          </a:xfrm>
        </p:spPr>
        <p:txBody>
          <a:bodyPr/>
          <a:lstStyle/>
          <a:p>
            <a:r>
              <a:rPr lang="hu-HU" dirty="0"/>
              <a:t>6.PÉLDA</a:t>
            </a:r>
            <a:br>
              <a:rPr lang="hu-HU" dirty="0"/>
            </a:br>
            <a:r>
              <a:rPr lang="hu-HU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Elemi kötvény értékelése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Szövegdoboz 3">
                <a:extLst>
                  <a:ext uri="{FF2B5EF4-FFF2-40B4-BE49-F238E27FC236}">
                    <a16:creationId xmlns:a16="http://schemas.microsoft.com/office/drawing/2014/main" id="{C7FE7233-B070-89BE-92CC-583BA956AFFA}"/>
                  </a:ext>
                </a:extLst>
              </p:cNvPr>
              <p:cNvSpPr txBox="1"/>
              <p:nvPr/>
            </p:nvSpPr>
            <p:spPr>
              <a:xfrm>
                <a:off x="-623454" y="2704868"/>
                <a:ext cx="4572000" cy="5338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hu-HU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hu-HU" sz="1400" b="1" i="0">
                              <a:latin typeface="Cambria Math" panose="02040503050406030204" pitchFamily="18" charset="0"/>
                            </a:rPr>
                            <m:t>𝐏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hu-HU" sz="1400" b="0" i="0" smtClean="0">
                              <a:latin typeface="Cambria Math" panose="02040503050406030204" pitchFamily="18" charset="0"/>
                            </a:rPr>
                            <m:t>elemi</m:t>
                          </m:r>
                          <m:r>
                            <a:rPr lang="hu-HU" sz="1400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hu-HU" sz="1400" b="0" i="0" smtClean="0">
                              <a:latin typeface="Cambria Math" panose="02040503050406030204" pitchFamily="18" charset="0"/>
                            </a:rPr>
                            <m:t>k</m:t>
                          </m:r>
                          <m:r>
                            <a:rPr lang="hu-HU" sz="1400" b="0" i="0" smtClean="0">
                              <a:latin typeface="Cambria Math" panose="02040503050406030204" pitchFamily="18" charset="0"/>
                            </a:rPr>
                            <m:t>ö</m:t>
                          </m:r>
                          <m:r>
                            <m:rPr>
                              <m:sty m:val="p"/>
                            </m:rPr>
                            <a:rPr lang="hu-HU" sz="1400" b="0" i="0" smtClean="0">
                              <a:latin typeface="Cambria Math" panose="02040503050406030204" pitchFamily="18" charset="0"/>
                            </a:rPr>
                            <m:t>tv</m:t>
                          </m:r>
                          <m:r>
                            <a:rPr lang="hu-HU" sz="1400" b="0" i="0" smtClean="0">
                              <a:latin typeface="Cambria Math" panose="02040503050406030204" pitchFamily="18" charset="0"/>
                            </a:rPr>
                            <m:t>é</m:t>
                          </m:r>
                          <m:r>
                            <m:rPr>
                              <m:sty m:val="p"/>
                            </m:rPr>
                            <a:rPr lang="hu-HU" sz="1400" b="0" i="0" smtClean="0">
                              <a:latin typeface="Cambria Math" panose="02040503050406030204" pitchFamily="18" charset="0"/>
                            </a:rPr>
                            <m:t>ny</m:t>
                          </m:r>
                        </m:sub>
                      </m:sSub>
                      <m:r>
                        <a:rPr lang="hu-HU" sz="1400" b="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hu-HU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hu-HU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P</m:t>
                          </m:r>
                          <m:r>
                            <m:rPr>
                              <m:sty m:val="p"/>
                            </m:rPr>
                            <a:rPr lang="hu-HU" i="1" baseline="-250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n</m:t>
                          </m:r>
                        </m:num>
                        <m:den>
                          <m:sSup>
                            <m:sSupPr>
                              <m:ctrlPr>
                                <a:rPr lang="hu-HU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hu-HU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(1+</m:t>
                              </m:r>
                              <m:r>
                                <a:rPr lang="hu-HU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a:rPr lang="hu-HU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hu-HU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hu-HU" dirty="0"/>
              </a:p>
            </p:txBody>
          </p:sp>
        </mc:Choice>
        <mc:Fallback xmlns="">
          <p:sp>
            <p:nvSpPr>
              <p:cNvPr id="4" name="Szövegdoboz 3">
                <a:extLst>
                  <a:ext uri="{FF2B5EF4-FFF2-40B4-BE49-F238E27FC236}">
                    <a16:creationId xmlns:a16="http://schemas.microsoft.com/office/drawing/2014/main" id="{C7FE7233-B070-89BE-92CC-583BA956AF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623454" y="2704868"/>
                <a:ext cx="4572000" cy="533864"/>
              </a:xfrm>
              <a:prstGeom prst="rect">
                <a:avLst/>
              </a:prstGeom>
              <a:blipFill>
                <a:blip r:embed="rId3"/>
                <a:stretch>
                  <a:fillRect b="-5747"/>
                </a:stretch>
              </a:blipFill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Szövegdoboz 4">
                <a:extLst>
                  <a:ext uri="{FF2B5EF4-FFF2-40B4-BE49-F238E27FC236}">
                    <a16:creationId xmlns:a16="http://schemas.microsoft.com/office/drawing/2014/main" id="{C1240101-065A-DC55-28BA-14B2C8253455}"/>
                  </a:ext>
                </a:extLst>
              </p:cNvPr>
              <p:cNvSpPr txBox="1"/>
              <p:nvPr/>
            </p:nvSpPr>
            <p:spPr>
              <a:xfrm>
                <a:off x="74897" y="3403702"/>
                <a:ext cx="4572000" cy="5538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hu-HU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hu-HU" sz="1400" b="1" i="0">
                              <a:latin typeface="Cambria Math" panose="02040503050406030204" pitchFamily="18" charset="0"/>
                            </a:rPr>
                            <m:t>𝐏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hu-HU" sz="1400" b="0" i="0" smtClean="0">
                              <a:latin typeface="Cambria Math" panose="02040503050406030204" pitchFamily="18" charset="0"/>
                            </a:rPr>
                            <m:t>elemi</m:t>
                          </m:r>
                          <m:r>
                            <a:rPr lang="hu-HU" sz="1400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hu-HU" sz="1400" b="0" i="0" smtClean="0">
                              <a:latin typeface="Cambria Math" panose="02040503050406030204" pitchFamily="18" charset="0"/>
                            </a:rPr>
                            <m:t>k</m:t>
                          </m:r>
                          <m:r>
                            <a:rPr lang="hu-HU" sz="1400" b="0" i="0" smtClean="0">
                              <a:latin typeface="Cambria Math" panose="02040503050406030204" pitchFamily="18" charset="0"/>
                            </a:rPr>
                            <m:t>ö</m:t>
                          </m:r>
                          <m:r>
                            <m:rPr>
                              <m:sty m:val="p"/>
                            </m:rPr>
                            <a:rPr lang="hu-HU" sz="1400" b="0" i="0" smtClean="0">
                              <a:latin typeface="Cambria Math" panose="02040503050406030204" pitchFamily="18" charset="0"/>
                            </a:rPr>
                            <m:t>tv</m:t>
                          </m:r>
                          <m:r>
                            <a:rPr lang="hu-HU" sz="1400" b="0" i="0" smtClean="0">
                              <a:latin typeface="Cambria Math" panose="02040503050406030204" pitchFamily="18" charset="0"/>
                            </a:rPr>
                            <m:t>é</m:t>
                          </m:r>
                          <m:r>
                            <m:rPr>
                              <m:sty m:val="p"/>
                            </m:rPr>
                            <a:rPr lang="hu-HU" sz="1400" b="0" i="0" smtClean="0">
                              <a:latin typeface="Cambria Math" panose="02040503050406030204" pitchFamily="18" charset="0"/>
                            </a:rPr>
                            <m:t>ny</m:t>
                          </m:r>
                        </m:sub>
                      </m:sSub>
                      <m:r>
                        <a:rPr lang="hu-HU" sz="1400" b="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hu-HU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hu-HU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100.000</m:t>
                          </m:r>
                        </m:num>
                        <m:den>
                          <m:sSup>
                            <m:sSupPr>
                              <m:ctrlPr>
                                <a:rPr lang="hu-HU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hu-HU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(1+0,06)</m:t>
                              </m:r>
                            </m:e>
                            <m:sup>
                              <m:r>
                                <a:rPr lang="hu-HU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5</m:t>
                              </m:r>
                            </m:sup>
                          </m:sSup>
                        </m:den>
                      </m:f>
                      <m:r>
                        <a:rPr lang="hu-HU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=74.725,82 </m:t>
                      </m:r>
                      <m:r>
                        <a:rPr lang="hu-HU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𝐹𝑡</m:t>
                      </m:r>
                    </m:oMath>
                  </m:oMathPara>
                </a14:m>
                <a:endParaRPr lang="hu-HU" dirty="0"/>
              </a:p>
            </p:txBody>
          </p:sp>
        </mc:Choice>
        <mc:Fallback xmlns="">
          <p:sp>
            <p:nvSpPr>
              <p:cNvPr id="5" name="Szövegdoboz 4">
                <a:extLst>
                  <a:ext uri="{FF2B5EF4-FFF2-40B4-BE49-F238E27FC236}">
                    <a16:creationId xmlns:a16="http://schemas.microsoft.com/office/drawing/2014/main" id="{C1240101-065A-DC55-28BA-14B2C82534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897" y="3403702"/>
                <a:ext cx="4572000" cy="553870"/>
              </a:xfrm>
              <a:prstGeom prst="rect">
                <a:avLst/>
              </a:prstGeom>
              <a:blipFill>
                <a:blip r:embed="rId4"/>
                <a:stretch>
                  <a:fillRect b="-2198"/>
                </a:stretch>
              </a:blipFill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62506231"/>
      </p:ext>
    </p:extLst>
  </p:cSld>
  <p:clrMapOvr>
    <a:masterClrMapping/>
  </p:clrMapOvr>
  <p:transition spd="slow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>
          <a:extLst>
            <a:ext uri="{FF2B5EF4-FFF2-40B4-BE49-F238E27FC236}">
              <a16:creationId xmlns:a16="http://schemas.microsoft.com/office/drawing/2014/main" id="{3AEBB086-79A2-8489-D62A-F20E482711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Shape 182">
            <a:extLst>
              <a:ext uri="{FF2B5EF4-FFF2-40B4-BE49-F238E27FC236}">
                <a16:creationId xmlns:a16="http://schemas.microsoft.com/office/drawing/2014/main" id="{3F8894CE-6C30-0436-AF39-8FEA4EA19B05}"/>
              </a:ext>
            </a:extLst>
          </p:cNvPr>
          <p:cNvSpPr txBox="1"/>
          <p:nvPr/>
        </p:nvSpPr>
        <p:spPr>
          <a:xfrm>
            <a:off x="287855" y="1554481"/>
            <a:ext cx="8394000" cy="2541274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228584">
              <a:spcBef>
                <a:spcPts val="400"/>
              </a:spcBef>
              <a:buClr>
                <a:srgbClr val="CCCCCC"/>
              </a:buClr>
            </a:pPr>
            <a:r>
              <a:rPr lang="hu-HU" sz="1800" dirty="0">
                <a:solidFill>
                  <a:schemeClr val="dk2"/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 Semilight" panose="020B0402040204020203" pitchFamily="34" charset="0"/>
                <a:sym typeface="Source Sans Pro"/>
              </a:rPr>
              <a:t>Egy diszkontkincstárjegy hátralévő futamideje 63 nap. A befektetők 4%-os éves hozamot várnak el. Mekkora a diszkontkincstárjegy árfolyama a névérték százalékában kifejezve? (A példa kedvéért a kamatos kamat képlettel számoljunk és egy évet tekintsünk 360 naposnak!)</a:t>
            </a:r>
            <a:endParaRPr lang="hu" sz="1800" dirty="0">
              <a:solidFill>
                <a:schemeClr val="dk2"/>
              </a:solidFill>
              <a:latin typeface="Cambria" panose="02040503050406030204" pitchFamily="18" charset="0"/>
              <a:ea typeface="Cambria" panose="02040503050406030204" pitchFamily="18" charset="0"/>
              <a:cs typeface="Segoe UI Semilight" panose="020B0402040204020203" pitchFamily="34" charset="0"/>
              <a:sym typeface="Source Sans Pro"/>
            </a:endParaRPr>
          </a:p>
        </p:txBody>
      </p:sp>
      <p:sp>
        <p:nvSpPr>
          <p:cNvPr id="7" name="Téglalap 6">
            <a:extLst>
              <a:ext uri="{FF2B5EF4-FFF2-40B4-BE49-F238E27FC236}">
                <a16:creationId xmlns:a16="http://schemas.microsoft.com/office/drawing/2014/main" id="{ED43FC14-0492-FFE7-FC6E-CE5BC82C6E30}"/>
              </a:ext>
            </a:extLst>
          </p:cNvPr>
          <p:cNvSpPr/>
          <p:nvPr/>
        </p:nvSpPr>
        <p:spPr>
          <a:xfrm flipV="1">
            <a:off x="287855" y="562666"/>
            <a:ext cx="98192" cy="33742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>
              <a:highlight>
                <a:srgbClr val="757575"/>
              </a:highlight>
            </a:endParaRPr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7BBC077F-69F3-0D31-9D87-2729292C5336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86047" y="444500"/>
            <a:ext cx="8521700" cy="573088"/>
          </a:xfrm>
        </p:spPr>
        <p:txBody>
          <a:bodyPr/>
          <a:lstStyle/>
          <a:p>
            <a:r>
              <a:rPr lang="hu-HU" dirty="0"/>
              <a:t>7.PÉLDA</a:t>
            </a:r>
            <a:br>
              <a:rPr lang="hu-HU" dirty="0"/>
            </a:br>
            <a:r>
              <a:rPr lang="hu-HU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Elemi kötvény értékelése éven belüli lejárattal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Szövegdoboz 3">
                <a:extLst>
                  <a:ext uri="{FF2B5EF4-FFF2-40B4-BE49-F238E27FC236}">
                    <a16:creationId xmlns:a16="http://schemas.microsoft.com/office/drawing/2014/main" id="{D98057D0-41D6-FF16-A5D2-87DA042E0C5C}"/>
                  </a:ext>
                </a:extLst>
              </p:cNvPr>
              <p:cNvSpPr txBox="1"/>
              <p:nvPr/>
            </p:nvSpPr>
            <p:spPr>
              <a:xfrm>
                <a:off x="-623454" y="2704868"/>
                <a:ext cx="4572000" cy="5338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hu-HU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hu-HU" sz="1400" b="1" i="0">
                              <a:latin typeface="Cambria Math" panose="02040503050406030204" pitchFamily="18" charset="0"/>
                            </a:rPr>
                            <m:t>𝐏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hu-HU" sz="1400" b="0" i="0" smtClean="0">
                              <a:latin typeface="Cambria Math" panose="02040503050406030204" pitchFamily="18" charset="0"/>
                            </a:rPr>
                            <m:t>elemi</m:t>
                          </m:r>
                          <m:r>
                            <a:rPr lang="hu-HU" sz="1400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hu-HU" sz="1400" b="0" i="0" smtClean="0">
                              <a:latin typeface="Cambria Math" panose="02040503050406030204" pitchFamily="18" charset="0"/>
                            </a:rPr>
                            <m:t>k</m:t>
                          </m:r>
                          <m:r>
                            <a:rPr lang="hu-HU" sz="1400" b="0" i="0" smtClean="0">
                              <a:latin typeface="Cambria Math" panose="02040503050406030204" pitchFamily="18" charset="0"/>
                            </a:rPr>
                            <m:t>ö</m:t>
                          </m:r>
                          <m:r>
                            <m:rPr>
                              <m:sty m:val="p"/>
                            </m:rPr>
                            <a:rPr lang="hu-HU" sz="1400" b="0" i="0" smtClean="0">
                              <a:latin typeface="Cambria Math" panose="02040503050406030204" pitchFamily="18" charset="0"/>
                            </a:rPr>
                            <m:t>tv</m:t>
                          </m:r>
                          <m:r>
                            <a:rPr lang="hu-HU" sz="1400" b="0" i="0" smtClean="0">
                              <a:latin typeface="Cambria Math" panose="02040503050406030204" pitchFamily="18" charset="0"/>
                            </a:rPr>
                            <m:t>é</m:t>
                          </m:r>
                          <m:r>
                            <m:rPr>
                              <m:sty m:val="p"/>
                            </m:rPr>
                            <a:rPr lang="hu-HU" sz="1400" b="0" i="0" smtClean="0">
                              <a:latin typeface="Cambria Math" panose="02040503050406030204" pitchFamily="18" charset="0"/>
                            </a:rPr>
                            <m:t>ny</m:t>
                          </m:r>
                        </m:sub>
                      </m:sSub>
                      <m:r>
                        <a:rPr lang="hu-HU" sz="1400" b="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hu-HU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hu-HU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P</m:t>
                          </m:r>
                          <m:r>
                            <m:rPr>
                              <m:sty m:val="p"/>
                            </m:rPr>
                            <a:rPr lang="hu-HU" i="1" baseline="-250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n</m:t>
                          </m:r>
                        </m:num>
                        <m:den>
                          <m:sSup>
                            <m:sSupPr>
                              <m:ctrlPr>
                                <a:rPr lang="hu-HU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hu-HU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(1+</m:t>
                              </m:r>
                              <m:r>
                                <a:rPr lang="hu-HU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a:rPr lang="hu-HU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hu-HU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hu-HU" dirty="0"/>
              </a:p>
            </p:txBody>
          </p:sp>
        </mc:Choice>
        <mc:Fallback xmlns="">
          <p:sp>
            <p:nvSpPr>
              <p:cNvPr id="4" name="Szövegdoboz 3">
                <a:extLst>
                  <a:ext uri="{FF2B5EF4-FFF2-40B4-BE49-F238E27FC236}">
                    <a16:creationId xmlns:a16="http://schemas.microsoft.com/office/drawing/2014/main" id="{D98057D0-41D6-FF16-A5D2-87DA042E0C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623454" y="2704868"/>
                <a:ext cx="4572000" cy="533864"/>
              </a:xfrm>
              <a:prstGeom prst="rect">
                <a:avLst/>
              </a:prstGeom>
              <a:blipFill>
                <a:blip r:embed="rId3"/>
                <a:stretch>
                  <a:fillRect b="-5747"/>
                </a:stretch>
              </a:blipFill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6" name="Csoportba foglalás 15">
            <a:extLst>
              <a:ext uri="{FF2B5EF4-FFF2-40B4-BE49-F238E27FC236}">
                <a16:creationId xmlns:a16="http://schemas.microsoft.com/office/drawing/2014/main" id="{16909D36-E71F-6A55-D3EA-39756D3B1DF1}"/>
              </a:ext>
            </a:extLst>
          </p:cNvPr>
          <p:cNvGrpSpPr/>
          <p:nvPr/>
        </p:nvGrpSpPr>
        <p:grpSpPr>
          <a:xfrm>
            <a:off x="6471181" y="2293324"/>
            <a:ext cx="1833233" cy="1664248"/>
            <a:chOff x="6792856" y="3778757"/>
            <a:chExt cx="1478577" cy="1356951"/>
          </a:xfrm>
        </p:grpSpPr>
        <p:pic>
          <p:nvPicPr>
            <p:cNvPr id="17" name="Kép 16">
              <a:extLst>
                <a:ext uri="{FF2B5EF4-FFF2-40B4-BE49-F238E27FC236}">
                  <a16:creationId xmlns:a16="http://schemas.microsoft.com/office/drawing/2014/main" id="{42FC29F4-569A-1645-FF2D-B3A7CD2ABC3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6938601" y="3963153"/>
              <a:ext cx="1332832" cy="1172555"/>
            </a:xfrm>
            <a:prstGeom prst="rect">
              <a:avLst/>
            </a:prstGeom>
          </p:spPr>
        </p:pic>
        <p:sp>
          <p:nvSpPr>
            <p:cNvPr id="18" name="Shape 182">
              <a:extLst>
                <a:ext uri="{FF2B5EF4-FFF2-40B4-BE49-F238E27FC236}">
                  <a16:creationId xmlns:a16="http://schemas.microsoft.com/office/drawing/2014/main" id="{64C63B71-8F9E-FA46-A140-559A1A07F29A}"/>
                </a:ext>
              </a:extLst>
            </p:cNvPr>
            <p:cNvSpPr txBox="1"/>
            <p:nvPr/>
          </p:nvSpPr>
          <p:spPr>
            <a:xfrm>
              <a:off x="6792856" y="3778757"/>
              <a:ext cx="1332832" cy="815545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228583">
                <a:spcBef>
                  <a:spcPts val="400"/>
                </a:spcBef>
                <a:buClr>
                  <a:srgbClr val="CCCCCC"/>
                </a:buClr>
              </a:pPr>
              <a:endParaRPr lang="hu" sz="1800" dirty="0">
                <a:solidFill>
                  <a:schemeClr val="dk2"/>
                </a:solidFill>
                <a:latin typeface="Segoe UI Semilight" panose="020B0402040204020203" pitchFamily="34" charset="0"/>
                <a:ea typeface="Source Sans Pro"/>
                <a:cs typeface="Segoe UI Semilight" panose="020B0402040204020203" pitchFamily="34" charset="0"/>
                <a:sym typeface="Source Sans Pro"/>
              </a:endParaRPr>
            </a:p>
            <a:p>
              <a:pPr marL="228583">
                <a:spcBef>
                  <a:spcPts val="400"/>
                </a:spcBef>
                <a:buClr>
                  <a:srgbClr val="CCCCCC"/>
                </a:buClr>
              </a:pPr>
              <a:r>
                <a:rPr lang="hu" sz="1200" b="1" dirty="0">
                  <a:solidFill>
                    <a:schemeClr val="dk2"/>
                  </a:solidFill>
                  <a:latin typeface="Segoe UI Semilight" panose="020B0402040204020203" pitchFamily="34" charset="0"/>
                  <a:ea typeface="Source Sans Pro"/>
                  <a:cs typeface="Segoe UI Semilight" panose="020B0402040204020203" pitchFamily="34" charset="0"/>
                  <a:sym typeface="Source Sans Pro"/>
                </a:rPr>
                <a:t>Névérték jelen esetben egy egész, mivel a névérték 100%-t fizeti vissza lejáratkor!</a:t>
              </a:r>
              <a:endParaRPr lang="hu" sz="1800" dirty="0">
                <a:solidFill>
                  <a:schemeClr val="dk2"/>
                </a:solidFill>
                <a:latin typeface="Segoe UI Semilight" panose="020B0402040204020203" pitchFamily="34" charset="0"/>
                <a:ea typeface="Source Sans Pro"/>
                <a:cs typeface="Segoe UI Semilight" panose="020B0402040204020203" pitchFamily="34" charset="0"/>
                <a:sym typeface="Source Sans Pro"/>
              </a:endParaRPr>
            </a:p>
            <a:p>
              <a:pPr marL="457167" indent="-228584">
                <a:spcBef>
                  <a:spcPts val="400"/>
                </a:spcBef>
                <a:buClr>
                  <a:srgbClr val="CCCCCC"/>
                </a:buClr>
                <a:buChar char="●"/>
              </a:pPr>
              <a:endParaRPr lang="hu" sz="1800" dirty="0">
                <a:solidFill>
                  <a:schemeClr val="dk2"/>
                </a:solidFill>
                <a:latin typeface="Segoe UI Semilight" panose="020B0402040204020203" pitchFamily="34" charset="0"/>
                <a:ea typeface="Source Sans Pro"/>
                <a:cs typeface="Segoe UI Semilight" panose="020B0402040204020203" pitchFamily="34" charset="0"/>
                <a:sym typeface="Source Sans Pro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Szövegdoboz 5">
                <a:extLst>
                  <a:ext uri="{FF2B5EF4-FFF2-40B4-BE49-F238E27FC236}">
                    <a16:creationId xmlns:a16="http://schemas.microsoft.com/office/drawing/2014/main" id="{80A7A75E-9093-C1CC-CB17-0E28DA5DD8E4}"/>
                  </a:ext>
                </a:extLst>
              </p:cNvPr>
              <p:cNvSpPr txBox="1"/>
              <p:nvPr/>
            </p:nvSpPr>
            <p:spPr>
              <a:xfrm>
                <a:off x="197053" y="3351099"/>
                <a:ext cx="4883726" cy="63228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hu-H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hu-HU" b="1">
                              <a:latin typeface="Cambria Math" panose="02040503050406030204" pitchFamily="18" charset="0"/>
                            </a:rPr>
                            <m:t>𝐏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hu-HU">
                              <a:latin typeface="Cambria Math" panose="02040503050406030204" pitchFamily="18" charset="0"/>
                            </a:rPr>
                            <m:t>elemi</m:t>
                          </m:r>
                          <m:r>
                            <a:rPr lang="hu-HU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hu-HU">
                              <a:latin typeface="Cambria Math" panose="02040503050406030204" pitchFamily="18" charset="0"/>
                            </a:rPr>
                            <m:t>k</m:t>
                          </m:r>
                          <m:r>
                            <a:rPr lang="hu-HU">
                              <a:latin typeface="Cambria Math" panose="02040503050406030204" pitchFamily="18" charset="0"/>
                            </a:rPr>
                            <m:t>ö</m:t>
                          </m:r>
                          <m:r>
                            <m:rPr>
                              <m:sty m:val="p"/>
                            </m:rPr>
                            <a:rPr lang="hu-HU">
                              <a:latin typeface="Cambria Math" panose="02040503050406030204" pitchFamily="18" charset="0"/>
                            </a:rPr>
                            <m:t>tv</m:t>
                          </m:r>
                          <m:r>
                            <a:rPr lang="hu-HU">
                              <a:latin typeface="Cambria Math" panose="02040503050406030204" pitchFamily="18" charset="0"/>
                            </a:rPr>
                            <m:t>é</m:t>
                          </m:r>
                          <m:r>
                            <m:rPr>
                              <m:sty m:val="p"/>
                            </m:rPr>
                            <a:rPr lang="hu-HU">
                              <a:latin typeface="Cambria Math" panose="02040503050406030204" pitchFamily="18" charset="0"/>
                            </a:rPr>
                            <m:t>ny</m:t>
                          </m:r>
                        </m:sub>
                      </m:sSub>
                      <m:r>
                        <a:rPr lang="hu-HU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hu-HU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hu-HU" i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hu-HU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hu-HU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hu-HU" i="0">
                                      <a:latin typeface="Cambria Math" panose="02040503050406030204" pitchFamily="18" charset="0"/>
                                    </a:rPr>
                                    <m:t>1+0,04</m:t>
                                  </m:r>
                                </m:e>
                              </m:d>
                            </m:e>
                            <m:sup>
                              <m:f>
                                <m:fPr>
                                  <m:ctrlPr>
                                    <a:rPr lang="hu-HU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hu-HU" i="0">
                                      <a:latin typeface="Cambria Math" panose="02040503050406030204" pitchFamily="18" charset="0"/>
                                    </a:rPr>
                                    <m:t>63</m:t>
                                  </m:r>
                                </m:num>
                                <m:den>
                                  <m:r>
                                    <a:rPr lang="hu-HU" i="0">
                                      <a:latin typeface="Cambria Math" panose="02040503050406030204" pitchFamily="18" charset="0"/>
                                    </a:rPr>
                                    <m:t>360</m:t>
                                  </m:r>
                                </m:den>
                              </m:f>
                            </m:sup>
                          </m:sSup>
                        </m:den>
                      </m:f>
                      <m:r>
                        <a:rPr lang="hu-HU" i="0">
                          <a:latin typeface="Cambria Math" panose="02040503050406030204" pitchFamily="18" charset="0"/>
                        </a:rPr>
                        <m:t>=0,9932=99,32%</m:t>
                      </m:r>
                    </m:oMath>
                  </m:oMathPara>
                </a14:m>
                <a:endParaRPr lang="hu-HU" dirty="0"/>
              </a:p>
            </p:txBody>
          </p:sp>
        </mc:Choice>
        <mc:Fallback xmlns="">
          <p:sp>
            <p:nvSpPr>
              <p:cNvPr id="6" name="Szövegdoboz 5">
                <a:extLst>
                  <a:ext uri="{FF2B5EF4-FFF2-40B4-BE49-F238E27FC236}">
                    <a16:creationId xmlns:a16="http://schemas.microsoft.com/office/drawing/2014/main" id="{80A7A75E-9093-C1CC-CB17-0E28DA5DD8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053" y="3351099"/>
                <a:ext cx="4883726" cy="63228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48488881"/>
      </p:ext>
    </p:extLst>
  </p:cSld>
  <p:clrMapOvr>
    <a:masterClrMapping/>
  </p:clrMapOvr>
  <p:transition spd="slow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80000"/>
            <a:lum/>
          </a:blip>
          <a:srcRect/>
          <a:stretch>
            <a:fillRect t="-80000"/>
          </a:stretch>
        </a:blipFill>
        <a:effectLst/>
      </p:bgPr>
    </p:bg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Shape 323"/>
          <p:cNvSpPr txBox="1"/>
          <p:nvPr/>
        </p:nvSpPr>
        <p:spPr>
          <a:xfrm>
            <a:off x="0" y="2073014"/>
            <a:ext cx="9144000" cy="20612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algn="ctr"/>
            <a:r>
              <a:rPr lang="hu" sz="3600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Köszönöm a figyelmet!</a:t>
            </a:r>
            <a:br>
              <a:rPr lang="hu" sz="3600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</a:br>
            <a:endParaRPr lang="hu" sz="3600" b="1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</p:spTree>
  </p:cSld>
  <p:clrMapOvr>
    <a:masterClrMapping/>
  </p:clrMapOvr>
  <p:transition spd="slow">
    <p:cut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F0643B42-E676-DC76-9BE7-F30D0F23AE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ím 1">
            <a:extLst>
              <a:ext uri="{FF2B5EF4-FFF2-40B4-BE49-F238E27FC236}">
                <a16:creationId xmlns:a16="http://schemas.microsoft.com/office/drawing/2014/main" id="{AF9CD1FB-AC01-6CB8-9AAD-4451D6507289}"/>
              </a:ext>
            </a:extLst>
          </p:cNvPr>
          <p:cNvSpPr txBox="1">
            <a:spLocks/>
          </p:cNvSpPr>
          <p:nvPr/>
        </p:nvSpPr>
        <p:spPr>
          <a:xfrm>
            <a:off x="357732" y="2236904"/>
            <a:ext cx="8520599" cy="2390328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  <a:defRPr sz="2800" b="0" i="0" u="none" strike="noStrike" cap="all" baseline="0">
                <a:solidFill>
                  <a:schemeClr val="dk1"/>
                </a:solidFill>
                <a:latin typeface="Segoe UI Semibold" panose="020B0702040204020203" pitchFamily="34" charset="0"/>
                <a:ea typeface="Arial"/>
                <a:cs typeface="Segoe UI Semibold" panose="020B0702040204020203" pitchFamily="34" charset="0"/>
                <a:sym typeface="Arial"/>
                <a:rtl val="0"/>
              </a:defRPr>
            </a:lvl1pPr>
            <a:lvl2pPr lvl="1" algn="ctr">
              <a:spcBef>
                <a:spcPts val="0"/>
              </a:spcBef>
              <a:buClr>
                <a:schemeClr val="dk1"/>
              </a:buClr>
              <a:buSzPct val="100000"/>
              <a:buNone/>
              <a:defRPr sz="52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buClr>
                <a:schemeClr val="dk1"/>
              </a:buClr>
              <a:buSzPct val="100000"/>
              <a:buNone/>
              <a:defRPr sz="52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buClr>
                <a:schemeClr val="dk1"/>
              </a:buClr>
              <a:buSzPct val="100000"/>
              <a:buNone/>
              <a:defRPr sz="52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buClr>
                <a:schemeClr val="dk1"/>
              </a:buClr>
              <a:buSzPct val="100000"/>
              <a:buNone/>
              <a:defRPr sz="52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buClr>
                <a:schemeClr val="dk1"/>
              </a:buClr>
              <a:buSzPct val="100000"/>
              <a:buNone/>
              <a:defRPr sz="52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buClr>
                <a:schemeClr val="dk1"/>
              </a:buClr>
              <a:buSzPct val="100000"/>
              <a:buNone/>
              <a:defRPr sz="52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buClr>
                <a:schemeClr val="dk1"/>
              </a:buClr>
              <a:buSzPct val="100000"/>
              <a:buNone/>
              <a:defRPr sz="52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buClr>
                <a:schemeClr val="dk1"/>
              </a:buClr>
              <a:buSzPct val="100000"/>
              <a:buNone/>
              <a:defRPr sz="5200">
                <a:solidFill>
                  <a:schemeClr val="dk1"/>
                </a:solidFill>
              </a:defRPr>
            </a:lvl9pPr>
          </a:lstStyle>
          <a:p>
            <a:r>
              <a:rPr lang="hu-HU" dirty="0"/>
              <a:t>Kötvények és értékelésük</a:t>
            </a:r>
            <a:br>
              <a:rPr lang="hu-HU" dirty="0"/>
            </a:br>
            <a:r>
              <a:rPr lang="hu-HU" sz="2000" dirty="0">
                <a:solidFill>
                  <a:schemeClr val="tx1"/>
                </a:solidFill>
              </a:rPr>
              <a:t>7. Szeminárium</a:t>
            </a:r>
          </a:p>
          <a:p>
            <a:endParaRPr lang="hu-HU" sz="2000" dirty="0">
              <a:solidFill>
                <a:schemeClr val="bg2">
                  <a:lumMod val="40000"/>
                  <a:lumOff val="60000"/>
                </a:schemeClr>
              </a:solidFill>
            </a:endParaRPr>
          </a:p>
          <a:p>
            <a:endParaRPr lang="hu-HU" sz="2000" dirty="0">
              <a:solidFill>
                <a:schemeClr val="bg2">
                  <a:lumMod val="40000"/>
                  <a:lumOff val="60000"/>
                </a:schemeClr>
              </a:solidFill>
            </a:endParaRPr>
          </a:p>
          <a:p>
            <a:r>
              <a:rPr lang="hu-HU" sz="2000" dirty="0">
                <a:solidFill>
                  <a:schemeClr val="tx1"/>
                </a:solidFill>
              </a:rPr>
              <a:t>Gyakorló feladatok</a:t>
            </a:r>
          </a:p>
          <a:p>
            <a:endParaRPr lang="hu-HU" sz="2000" dirty="0">
              <a:solidFill>
                <a:schemeClr val="tx1"/>
              </a:solidFill>
            </a:endParaRPr>
          </a:p>
          <a:p>
            <a:endParaRPr lang="hu-HU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4749248"/>
      </p:ext>
    </p:extLst>
  </p:cSld>
  <p:clrMapOvr>
    <a:masterClrMapping/>
  </p:clrMapOvr>
  <p:transition spd="slow">
    <p:cut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>
          <a:extLst>
            <a:ext uri="{FF2B5EF4-FFF2-40B4-BE49-F238E27FC236}">
              <a16:creationId xmlns:a16="http://schemas.microsoft.com/office/drawing/2014/main" id="{B5614F42-C8F2-E3F7-BAEE-784B56382D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Shape 182">
            <a:extLst>
              <a:ext uri="{FF2B5EF4-FFF2-40B4-BE49-F238E27FC236}">
                <a16:creationId xmlns:a16="http://schemas.microsoft.com/office/drawing/2014/main" id="{270FF728-FB57-7E1D-D3F9-F16CD0D28244}"/>
              </a:ext>
            </a:extLst>
          </p:cNvPr>
          <p:cNvSpPr txBox="1"/>
          <p:nvPr/>
        </p:nvSpPr>
        <p:spPr>
          <a:xfrm>
            <a:off x="280727" y="1402835"/>
            <a:ext cx="8394000" cy="2238351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228584">
              <a:spcBef>
                <a:spcPts val="400"/>
              </a:spcBef>
              <a:buClr>
                <a:srgbClr val="CCCCCC"/>
              </a:buClr>
            </a:pPr>
            <a:r>
              <a:rPr lang="hu-HU" sz="1800" dirty="0">
                <a:solidFill>
                  <a:schemeClr val="dk2"/>
                </a:solidFill>
                <a:latin typeface="Segoe UI Semilight" panose="020B0402040204020203" pitchFamily="34" charset="0"/>
                <a:ea typeface="Source Sans Pro"/>
                <a:cs typeface="Segoe UI Semilight" panose="020B0402040204020203" pitchFamily="34" charset="0"/>
                <a:sym typeface="Source Sans Pro"/>
              </a:rPr>
              <a:t>Az Orion Corp. </a:t>
            </a:r>
            <a:r>
              <a:rPr lang="hu-HU" sz="1800" b="1" dirty="0">
                <a:solidFill>
                  <a:srgbClr val="C00000"/>
                </a:solidFill>
                <a:latin typeface="Segoe UI Semilight" panose="020B0402040204020203" pitchFamily="34" charset="0"/>
                <a:ea typeface="Source Sans Pro"/>
                <a:cs typeface="Segoe UI Semilight" panose="020B0402040204020203" pitchFamily="34" charset="0"/>
                <a:sym typeface="Source Sans Pro"/>
              </a:rPr>
              <a:t>két éve bocsátott </a:t>
            </a:r>
            <a:r>
              <a:rPr lang="hu-HU" sz="1800" dirty="0">
                <a:solidFill>
                  <a:schemeClr val="dk2"/>
                </a:solidFill>
                <a:latin typeface="Segoe UI Semilight" panose="020B0402040204020203" pitchFamily="34" charset="0"/>
                <a:ea typeface="Source Sans Pro"/>
                <a:cs typeface="Segoe UI Semilight" panose="020B0402040204020203" pitchFamily="34" charset="0"/>
                <a:sym typeface="Source Sans Pro"/>
              </a:rPr>
              <a:t>ki 20 éves kötvényeket 6,2% kuponrátával. A </a:t>
            </a:r>
            <a:r>
              <a:rPr lang="hu-HU" sz="1800" b="1" i="1" dirty="0">
                <a:solidFill>
                  <a:schemeClr val="accent5">
                    <a:lumMod val="75000"/>
                  </a:schemeClr>
                </a:solidFill>
                <a:latin typeface="Segoe UI Semilight" panose="020B0402040204020203" pitchFamily="34" charset="0"/>
                <a:ea typeface="Source Sans Pro"/>
                <a:cs typeface="Segoe UI Semilight" panose="020B0402040204020203" pitchFamily="34" charset="0"/>
                <a:sym typeface="Source Sans Pro"/>
              </a:rPr>
              <a:t>kötvény félévente fizet, </a:t>
            </a:r>
            <a:r>
              <a:rPr lang="hu-HU" sz="1800" dirty="0">
                <a:solidFill>
                  <a:schemeClr val="dk2"/>
                </a:solidFill>
                <a:latin typeface="Segoe UI Semilight" panose="020B0402040204020203" pitchFamily="34" charset="0"/>
                <a:ea typeface="Source Sans Pro"/>
                <a:cs typeface="Segoe UI Semilight" panose="020B0402040204020203" pitchFamily="34" charset="0"/>
                <a:sym typeface="Source Sans Pro"/>
              </a:rPr>
              <a:t>névértéke 1000 USD. Ha az elvárt hozam 5,8%, mennyi a kötvény jelenlegi árfolyama? </a:t>
            </a:r>
          </a:p>
          <a:p>
            <a:pPr marL="228584">
              <a:spcBef>
                <a:spcPts val="400"/>
              </a:spcBef>
              <a:buClr>
                <a:srgbClr val="CCCCCC"/>
              </a:buClr>
            </a:pPr>
            <a:endParaRPr lang="hu" sz="1800" dirty="0">
              <a:solidFill>
                <a:schemeClr val="dk2"/>
              </a:solidFill>
              <a:latin typeface="Segoe UI Semilight" panose="020B0402040204020203" pitchFamily="34" charset="0"/>
              <a:ea typeface="Source Sans Pro"/>
              <a:cs typeface="Segoe UI Semilight" panose="020B0402040204020203" pitchFamily="34" charset="0"/>
              <a:sym typeface="Source Sans Pro"/>
            </a:endParaRPr>
          </a:p>
          <a:p>
            <a:pPr marL="228583">
              <a:spcBef>
                <a:spcPts val="400"/>
              </a:spcBef>
              <a:buClr>
                <a:srgbClr val="CCCCCC"/>
              </a:buClr>
            </a:pPr>
            <a:endParaRPr lang="hu" sz="1800" dirty="0">
              <a:solidFill>
                <a:schemeClr val="dk2"/>
              </a:solidFill>
              <a:latin typeface="Segoe UI Semilight" panose="020B0402040204020203" pitchFamily="34" charset="0"/>
              <a:ea typeface="Source Sans Pro"/>
              <a:cs typeface="Segoe UI Semilight" panose="020B0402040204020203" pitchFamily="34" charset="0"/>
              <a:sym typeface="Source Sans Pro"/>
            </a:endParaRPr>
          </a:p>
        </p:txBody>
      </p:sp>
      <p:sp>
        <p:nvSpPr>
          <p:cNvPr id="7" name="Téglalap 6">
            <a:extLst>
              <a:ext uri="{FF2B5EF4-FFF2-40B4-BE49-F238E27FC236}">
                <a16:creationId xmlns:a16="http://schemas.microsoft.com/office/drawing/2014/main" id="{D992DFA8-5A80-60C1-3424-042DBD5273C3}"/>
              </a:ext>
            </a:extLst>
          </p:cNvPr>
          <p:cNvSpPr/>
          <p:nvPr/>
        </p:nvSpPr>
        <p:spPr>
          <a:xfrm flipV="1">
            <a:off x="287855" y="562666"/>
            <a:ext cx="98192" cy="33742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>
              <a:highlight>
                <a:srgbClr val="757575"/>
              </a:highlight>
            </a:endParaRPr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B112CD1B-00AA-757A-BC20-6685CF1D93D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86047" y="444500"/>
            <a:ext cx="8521700" cy="573088"/>
          </a:xfrm>
        </p:spPr>
        <p:txBody>
          <a:bodyPr/>
          <a:lstStyle/>
          <a:p>
            <a:r>
              <a:rPr lang="hu-HU" dirty="0"/>
              <a:t>GY.1.Feladat</a:t>
            </a:r>
            <a:br>
              <a:rPr lang="hu-HU" dirty="0"/>
            </a:br>
            <a:r>
              <a:rPr lang="hu-HU" dirty="0">
                <a:solidFill>
                  <a:schemeClr val="bg2">
                    <a:lumMod val="40000"/>
                    <a:lumOff val="60000"/>
                  </a:schemeClr>
                </a:solidFill>
              </a:rPr>
              <a:t>Végtörlesztéses kamatozó kötvény értékelése</a:t>
            </a:r>
          </a:p>
        </p:txBody>
      </p:sp>
    </p:spTree>
    <p:extLst>
      <p:ext uri="{BB962C8B-B14F-4D97-AF65-F5344CB8AC3E}">
        <p14:creationId xmlns:p14="http://schemas.microsoft.com/office/powerpoint/2010/main" val="1056986839"/>
      </p:ext>
    </p:extLst>
  </p:cSld>
  <p:clrMapOvr>
    <a:masterClrMapping/>
  </p:clrMapOvr>
  <p:transition spd="slow">
    <p:cut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>
          <a:extLst>
            <a:ext uri="{FF2B5EF4-FFF2-40B4-BE49-F238E27FC236}">
              <a16:creationId xmlns:a16="http://schemas.microsoft.com/office/drawing/2014/main" id="{91654F5B-B8B3-AAE1-41F0-BF89B9E2E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Shape 182">
            <a:extLst>
              <a:ext uri="{FF2B5EF4-FFF2-40B4-BE49-F238E27FC236}">
                <a16:creationId xmlns:a16="http://schemas.microsoft.com/office/drawing/2014/main" id="{6BAB88BB-F0BD-9FFE-3D91-81E4CA6FBE40}"/>
              </a:ext>
            </a:extLst>
          </p:cNvPr>
          <p:cNvSpPr txBox="1"/>
          <p:nvPr/>
        </p:nvSpPr>
        <p:spPr>
          <a:xfrm>
            <a:off x="280727" y="1402835"/>
            <a:ext cx="8394000" cy="2238351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228584">
              <a:spcBef>
                <a:spcPts val="400"/>
              </a:spcBef>
              <a:buClr>
                <a:srgbClr val="CCCCCC"/>
              </a:buClr>
            </a:pPr>
            <a:r>
              <a:rPr lang="hu-HU" sz="1800" dirty="0">
                <a:solidFill>
                  <a:schemeClr val="dk2"/>
                </a:solidFill>
                <a:latin typeface="Segoe UI Semilight" panose="020B0402040204020203" pitchFamily="34" charset="0"/>
                <a:ea typeface="Source Sans Pro"/>
                <a:cs typeface="Segoe UI Semilight" panose="020B0402040204020203" pitchFamily="34" charset="0"/>
                <a:sym typeface="Source Sans Pro"/>
              </a:rPr>
              <a:t>Az Orion Corp. két éve bocsátott ki 20 éves kötvényeket 6,2% kuponrátával. A kötvény félévente fizet, névértéke 1000 USD. Ha az elvárt hozam 5,8%, mennyi a kötvény jelenlegi árfolyama? </a:t>
            </a:r>
          </a:p>
          <a:p>
            <a:pPr marL="228584">
              <a:spcBef>
                <a:spcPts val="400"/>
              </a:spcBef>
              <a:buClr>
                <a:srgbClr val="CCCCCC"/>
              </a:buClr>
            </a:pPr>
            <a:r>
              <a:rPr lang="hu-HU" sz="1800" b="1" dirty="0">
                <a:solidFill>
                  <a:schemeClr val="dk2"/>
                </a:solidFill>
                <a:latin typeface="Segoe UI Semilight" panose="020B0402040204020203" pitchFamily="34" charset="0"/>
                <a:ea typeface="Source Sans Pro"/>
                <a:cs typeface="Segoe UI Semilight" panose="020B0402040204020203" pitchFamily="34" charset="0"/>
                <a:sym typeface="Source Sans Pro"/>
              </a:rPr>
              <a:t>Kuponráta 6,2%, tehát 62 $-t fizet éves szinten, ez félévre vetítve 31 $.</a:t>
            </a:r>
          </a:p>
          <a:p>
            <a:pPr marL="228584">
              <a:spcBef>
                <a:spcPts val="400"/>
              </a:spcBef>
              <a:buClr>
                <a:srgbClr val="CCCCCC"/>
              </a:buClr>
            </a:pPr>
            <a:r>
              <a:rPr lang="hu-HU" sz="1800" b="1" dirty="0">
                <a:solidFill>
                  <a:schemeClr val="dk2"/>
                </a:solidFill>
                <a:latin typeface="Segoe UI Semilight" panose="020B0402040204020203" pitchFamily="34" charset="0"/>
                <a:ea typeface="Source Sans Pro"/>
                <a:cs typeface="Segoe UI Semilight" panose="020B0402040204020203" pitchFamily="34" charset="0"/>
                <a:sym typeface="Source Sans Pro"/>
              </a:rPr>
              <a:t>Elvárt hozam 5,8%, félévre vetítve 2,9%.</a:t>
            </a:r>
          </a:p>
          <a:p>
            <a:pPr marL="228584">
              <a:spcBef>
                <a:spcPts val="400"/>
              </a:spcBef>
              <a:buClr>
                <a:srgbClr val="CCCCCC"/>
              </a:buClr>
            </a:pPr>
            <a:r>
              <a:rPr lang="hu-HU" sz="1800" b="1" dirty="0">
                <a:solidFill>
                  <a:schemeClr val="dk2"/>
                </a:solidFill>
                <a:latin typeface="Segoe UI Semilight" panose="020B0402040204020203" pitchFamily="34" charset="0"/>
                <a:ea typeface="Source Sans Pro"/>
                <a:cs typeface="Segoe UI Semilight" panose="020B0402040204020203" pitchFamily="34" charset="0"/>
                <a:sym typeface="Source Sans Pro"/>
              </a:rPr>
              <a:t>Lejárat 20 év, ebből 2 év eltelt, kamatfizetés félévente, összesen 36 periódus!</a:t>
            </a:r>
          </a:p>
          <a:p>
            <a:pPr marL="228584">
              <a:spcBef>
                <a:spcPts val="400"/>
              </a:spcBef>
              <a:buClr>
                <a:srgbClr val="CCCCCC"/>
              </a:buClr>
            </a:pPr>
            <a:endParaRPr lang="hu" sz="1800" dirty="0">
              <a:solidFill>
                <a:schemeClr val="dk2"/>
              </a:solidFill>
              <a:latin typeface="Segoe UI Semilight" panose="020B0402040204020203" pitchFamily="34" charset="0"/>
              <a:ea typeface="Source Sans Pro"/>
              <a:cs typeface="Segoe UI Semilight" panose="020B0402040204020203" pitchFamily="34" charset="0"/>
              <a:sym typeface="Source Sans Pro"/>
            </a:endParaRPr>
          </a:p>
          <a:p>
            <a:pPr marL="228583">
              <a:spcBef>
                <a:spcPts val="400"/>
              </a:spcBef>
              <a:buClr>
                <a:srgbClr val="CCCCCC"/>
              </a:buClr>
            </a:pPr>
            <a:endParaRPr lang="hu" sz="1800" dirty="0">
              <a:solidFill>
                <a:schemeClr val="dk2"/>
              </a:solidFill>
              <a:latin typeface="Segoe UI Semilight" panose="020B0402040204020203" pitchFamily="34" charset="0"/>
              <a:ea typeface="Source Sans Pro"/>
              <a:cs typeface="Segoe UI Semilight" panose="020B0402040204020203" pitchFamily="34" charset="0"/>
              <a:sym typeface="Source Sans Pro"/>
            </a:endParaRPr>
          </a:p>
        </p:txBody>
      </p:sp>
      <p:sp>
        <p:nvSpPr>
          <p:cNvPr id="7" name="Téglalap 6">
            <a:extLst>
              <a:ext uri="{FF2B5EF4-FFF2-40B4-BE49-F238E27FC236}">
                <a16:creationId xmlns:a16="http://schemas.microsoft.com/office/drawing/2014/main" id="{AE3EB6E2-E83E-D630-740A-6EA701EF7C6F}"/>
              </a:ext>
            </a:extLst>
          </p:cNvPr>
          <p:cNvSpPr/>
          <p:nvPr/>
        </p:nvSpPr>
        <p:spPr>
          <a:xfrm flipV="1">
            <a:off x="287855" y="562666"/>
            <a:ext cx="98192" cy="33742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>
              <a:highlight>
                <a:srgbClr val="757575"/>
              </a:highlight>
            </a:endParaRPr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DC86636A-3718-4A74-AB67-CE834B54CD9B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86047" y="444500"/>
            <a:ext cx="8521700" cy="573088"/>
          </a:xfrm>
        </p:spPr>
        <p:txBody>
          <a:bodyPr/>
          <a:lstStyle/>
          <a:p>
            <a:r>
              <a:rPr lang="hu-HU" dirty="0"/>
              <a:t>GY.1.Feladat</a:t>
            </a:r>
            <a:br>
              <a:rPr lang="hu-HU" dirty="0"/>
            </a:br>
            <a:r>
              <a:rPr lang="hu-HU" dirty="0">
                <a:solidFill>
                  <a:schemeClr val="bg2">
                    <a:lumMod val="40000"/>
                    <a:lumOff val="60000"/>
                  </a:schemeClr>
                </a:solidFill>
              </a:rPr>
              <a:t>Végtörlesztéses kamatozó kötvény értékelése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Szövegdoboz 4">
                <a:extLst>
                  <a:ext uri="{FF2B5EF4-FFF2-40B4-BE49-F238E27FC236}">
                    <a16:creationId xmlns:a16="http://schemas.microsoft.com/office/drawing/2014/main" id="{2E72C143-BE40-33AC-D1EC-1DE273550B67}"/>
                  </a:ext>
                </a:extLst>
              </p:cNvPr>
              <p:cNvSpPr txBox="1"/>
              <p:nvPr/>
            </p:nvSpPr>
            <p:spPr>
              <a:xfrm>
                <a:off x="91438" y="3416807"/>
                <a:ext cx="6134793" cy="5717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hu-HU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hu-HU" sz="1400" b="1" i="0">
                              <a:latin typeface="Cambria Math" panose="02040503050406030204" pitchFamily="18" charset="0"/>
                            </a:rPr>
                            <m:t>𝐏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hu-HU" sz="1400" b="0" i="0" smtClean="0">
                              <a:latin typeface="Cambria Math" panose="02040503050406030204" pitchFamily="18" charset="0"/>
                            </a:rPr>
                            <m:t>k</m:t>
                          </m:r>
                          <m:r>
                            <a:rPr lang="hu-HU" sz="1400" b="0" i="0" smtClean="0">
                              <a:latin typeface="Cambria Math" panose="02040503050406030204" pitchFamily="18" charset="0"/>
                            </a:rPr>
                            <m:t>ö</m:t>
                          </m:r>
                          <m:r>
                            <m:rPr>
                              <m:sty m:val="p"/>
                            </m:rPr>
                            <a:rPr lang="hu-HU" sz="1400" b="0" i="0" smtClean="0">
                              <a:latin typeface="Cambria Math" panose="02040503050406030204" pitchFamily="18" charset="0"/>
                            </a:rPr>
                            <m:t>tv</m:t>
                          </m:r>
                          <m:r>
                            <a:rPr lang="hu-HU" sz="1400" b="0" i="0" smtClean="0">
                              <a:latin typeface="Cambria Math" panose="02040503050406030204" pitchFamily="18" charset="0"/>
                            </a:rPr>
                            <m:t>é</m:t>
                          </m:r>
                          <m:r>
                            <m:rPr>
                              <m:sty m:val="p"/>
                            </m:rPr>
                            <a:rPr lang="hu-HU" sz="1400" b="0" i="0" smtClean="0">
                              <a:latin typeface="Cambria Math" panose="02040503050406030204" pitchFamily="18" charset="0"/>
                            </a:rPr>
                            <m:t>ny</m:t>
                          </m:r>
                        </m:sub>
                      </m:sSub>
                      <m:r>
                        <a:rPr lang="hu-HU" sz="1400" b="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hu-HU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hu-HU" b="0" i="1" dirty="0" smtClean="0">
                              <a:latin typeface="Cambria Math" panose="02040503050406030204" pitchFamily="18" charset="0"/>
                            </a:rPr>
                            <m:t>31</m:t>
                          </m:r>
                        </m:num>
                        <m:den>
                          <m:r>
                            <a:rPr lang="hu-HU" b="0" i="1" dirty="0" smtClean="0">
                              <a:latin typeface="Cambria Math" panose="02040503050406030204" pitchFamily="18" charset="0"/>
                            </a:rPr>
                            <m:t>0,029</m:t>
                          </m:r>
                        </m:den>
                      </m:f>
                      <m:r>
                        <a:rPr lang="hu-HU" i="1">
                          <a:latin typeface="Cambria Math" panose="02040503050406030204" pitchFamily="18" charset="0"/>
                        </a:rPr>
                        <m:t>∙</m:t>
                      </m:r>
                      <m:d>
                        <m:dPr>
                          <m:begChr m:val="["/>
                          <m:endChr m:val="]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hu-HU" i="1">
                              <a:latin typeface="Cambria Math" panose="02040503050406030204" pitchFamily="18" charset="0"/>
                            </a:rPr>
                            <m:t>1−</m:t>
                          </m:r>
                          <m:f>
                            <m:f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hu-HU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hu-HU" i="1"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  <m:r>
                                        <a:rPr lang="hu-HU" i="1">
                                          <a:latin typeface="Cambria Math" panose="02040503050406030204" pitchFamily="18" charset="0"/>
                                        </a:rPr>
                                        <m:t>+0,029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hu-HU" b="0" i="1" smtClean="0">
                                      <a:latin typeface="Cambria Math" panose="02040503050406030204" pitchFamily="18" charset="0"/>
                                    </a:rPr>
                                    <m:t>36</m:t>
                                  </m:r>
                                </m:sup>
                              </m:sSup>
                            </m:den>
                          </m:f>
                        </m:e>
                      </m:d>
                      <m:r>
                        <a:rPr lang="hu-HU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hu-HU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hu-HU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1 000</m:t>
                          </m:r>
                        </m:num>
                        <m:den>
                          <m:sSup>
                            <m:sSupPr>
                              <m:ctrlPr>
                                <a:rPr lang="hu-HU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hu-HU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(1+</m:t>
                              </m:r>
                              <m:r>
                                <a:rPr lang="hu-HU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0,0</m:t>
                              </m:r>
                              <m:r>
                                <a:rPr lang="hu-HU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29</m:t>
                              </m:r>
                              <m:r>
                                <a:rPr lang="hu-HU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hu-HU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36</m:t>
                              </m:r>
                            </m:sup>
                          </m:sSup>
                        </m:den>
                      </m:f>
                      <m:r>
                        <a:rPr lang="hu-HU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=1 044</m:t>
                      </m:r>
                      <m:r>
                        <a:rPr lang="hu-HU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hu-H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32 </m:t>
                      </m:r>
                      <m:r>
                        <a:rPr lang="hu-HU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$</m:t>
                      </m:r>
                    </m:oMath>
                  </m:oMathPara>
                </a14:m>
                <a:endParaRPr lang="hu-HU" dirty="0"/>
              </a:p>
            </p:txBody>
          </p:sp>
        </mc:Choice>
        <mc:Fallback xmlns="">
          <p:sp>
            <p:nvSpPr>
              <p:cNvPr id="5" name="Szövegdoboz 4">
                <a:extLst>
                  <a:ext uri="{FF2B5EF4-FFF2-40B4-BE49-F238E27FC236}">
                    <a16:creationId xmlns:a16="http://schemas.microsoft.com/office/drawing/2014/main" id="{2E72C143-BE40-33AC-D1EC-1DE273550B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38" y="3416807"/>
                <a:ext cx="6134793" cy="571760"/>
              </a:xfrm>
              <a:prstGeom prst="rect">
                <a:avLst/>
              </a:prstGeom>
              <a:blipFill>
                <a:blip r:embed="rId3"/>
                <a:stretch>
                  <a:fillRect b="-1064"/>
                </a:stretch>
              </a:blipFill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30041935"/>
      </p:ext>
    </p:extLst>
  </p:cSld>
  <p:clrMapOvr>
    <a:masterClrMapping/>
  </p:clrMapOvr>
  <p:transition spd="slow">
    <p:cut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>
          <a:extLst>
            <a:ext uri="{FF2B5EF4-FFF2-40B4-BE49-F238E27FC236}">
              <a16:creationId xmlns:a16="http://schemas.microsoft.com/office/drawing/2014/main" id="{CCAA1B41-1CB5-C129-96C3-B960A001F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Shape 182">
            <a:extLst>
              <a:ext uri="{FF2B5EF4-FFF2-40B4-BE49-F238E27FC236}">
                <a16:creationId xmlns:a16="http://schemas.microsoft.com/office/drawing/2014/main" id="{F78D587B-431E-8B8B-9700-1EC6C8EA6303}"/>
              </a:ext>
            </a:extLst>
          </p:cNvPr>
          <p:cNvSpPr txBox="1"/>
          <p:nvPr/>
        </p:nvSpPr>
        <p:spPr>
          <a:xfrm>
            <a:off x="287855" y="1554481"/>
            <a:ext cx="8394000" cy="2541274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228584">
              <a:spcBef>
                <a:spcPts val="400"/>
              </a:spcBef>
              <a:buClr>
                <a:srgbClr val="CCCCCC"/>
              </a:buClr>
            </a:pPr>
            <a:r>
              <a:rPr lang="hu-HU" sz="1800" dirty="0">
                <a:solidFill>
                  <a:schemeClr val="dk2"/>
                </a:solidFill>
                <a:latin typeface="Segoe UI Semilight" panose="020B0402040204020203" pitchFamily="34" charset="0"/>
                <a:ea typeface="Source Sans Pro"/>
                <a:cs typeface="Segoe UI Semilight" panose="020B0402040204020203" pitchFamily="34" charset="0"/>
                <a:sym typeface="Source Sans Pro"/>
              </a:rPr>
              <a:t>Egy féléves diszkontkincstárjegy hátralévő futamideje 102 nap. A befektetők 7,2%-os éves hozamot várnak el. Mekkora a diszkontkincstárjegy árfolyama a névérték százalékában kifejezve? (A példa kedvéért a kamatos kamat képlettel számoljunk és egy évet tekintsünk 360 naposnak!)</a:t>
            </a:r>
            <a:endParaRPr lang="hu" sz="1800" dirty="0">
              <a:solidFill>
                <a:schemeClr val="dk2"/>
              </a:solidFill>
              <a:latin typeface="Segoe UI Semilight" panose="020B0402040204020203" pitchFamily="34" charset="0"/>
              <a:ea typeface="Source Sans Pro"/>
              <a:cs typeface="Segoe UI Semilight" panose="020B0402040204020203" pitchFamily="34" charset="0"/>
              <a:sym typeface="Source Sans Pro"/>
            </a:endParaRPr>
          </a:p>
        </p:txBody>
      </p:sp>
      <p:sp>
        <p:nvSpPr>
          <p:cNvPr id="7" name="Téglalap 6">
            <a:extLst>
              <a:ext uri="{FF2B5EF4-FFF2-40B4-BE49-F238E27FC236}">
                <a16:creationId xmlns:a16="http://schemas.microsoft.com/office/drawing/2014/main" id="{92CB163B-CFC4-F58F-F49E-821C7A42F1C5}"/>
              </a:ext>
            </a:extLst>
          </p:cNvPr>
          <p:cNvSpPr/>
          <p:nvPr/>
        </p:nvSpPr>
        <p:spPr>
          <a:xfrm flipV="1">
            <a:off x="287855" y="562666"/>
            <a:ext cx="98192" cy="33742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>
              <a:highlight>
                <a:srgbClr val="757575"/>
              </a:highlight>
            </a:endParaRPr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4D3452D0-51A4-95EF-6365-1C31A33094F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86047" y="444500"/>
            <a:ext cx="8521700" cy="573088"/>
          </a:xfrm>
        </p:spPr>
        <p:txBody>
          <a:bodyPr/>
          <a:lstStyle/>
          <a:p>
            <a:r>
              <a:rPr lang="hu-HU" dirty="0"/>
              <a:t>GY.2.Feladat</a:t>
            </a:r>
            <a:br>
              <a:rPr lang="hu-HU" dirty="0"/>
            </a:br>
            <a:r>
              <a:rPr lang="hu-HU" dirty="0">
                <a:solidFill>
                  <a:schemeClr val="bg2">
                    <a:lumMod val="40000"/>
                    <a:lumOff val="60000"/>
                  </a:schemeClr>
                </a:solidFill>
              </a:rPr>
              <a:t>Elemi kötvény értékelése éven belüli lejárattal</a:t>
            </a:r>
          </a:p>
        </p:txBody>
      </p:sp>
    </p:spTree>
    <p:extLst>
      <p:ext uri="{BB962C8B-B14F-4D97-AF65-F5344CB8AC3E}">
        <p14:creationId xmlns:p14="http://schemas.microsoft.com/office/powerpoint/2010/main" val="3044994172"/>
      </p:ext>
    </p:extLst>
  </p:cSld>
  <p:clrMapOvr>
    <a:masterClrMapping/>
  </p:clrMapOvr>
  <p:transition spd="slow">
    <p:cut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>
          <a:extLst>
            <a:ext uri="{FF2B5EF4-FFF2-40B4-BE49-F238E27FC236}">
              <a16:creationId xmlns:a16="http://schemas.microsoft.com/office/drawing/2014/main" id="{ACBD04A9-1F91-974B-B171-5AAD5C7589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Shape 182">
            <a:extLst>
              <a:ext uri="{FF2B5EF4-FFF2-40B4-BE49-F238E27FC236}">
                <a16:creationId xmlns:a16="http://schemas.microsoft.com/office/drawing/2014/main" id="{B8244771-D739-BE36-4D7C-C3774F95AEBA}"/>
              </a:ext>
            </a:extLst>
          </p:cNvPr>
          <p:cNvSpPr txBox="1"/>
          <p:nvPr/>
        </p:nvSpPr>
        <p:spPr>
          <a:xfrm>
            <a:off x="287855" y="1554481"/>
            <a:ext cx="8394000" cy="2541274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228584">
              <a:spcBef>
                <a:spcPts val="400"/>
              </a:spcBef>
              <a:buClr>
                <a:srgbClr val="CCCCCC"/>
              </a:buClr>
            </a:pPr>
            <a:r>
              <a:rPr lang="hu-HU" sz="1800" dirty="0">
                <a:solidFill>
                  <a:schemeClr val="dk2"/>
                </a:solidFill>
                <a:latin typeface="Segoe UI Semilight" panose="020B0402040204020203" pitchFamily="34" charset="0"/>
                <a:ea typeface="Source Sans Pro"/>
                <a:cs typeface="Segoe UI Semilight" panose="020B0402040204020203" pitchFamily="34" charset="0"/>
                <a:sym typeface="Source Sans Pro"/>
              </a:rPr>
              <a:t>Egy féléves diszkontkincstárjegy hátralévő futamideje 102 nap. A befektetők 7,2%-os éves hozamot várnak el. Mekkora a diszkontkincstárjegy árfolyama a névérték százalékában kifejezve? (A példa kedvéért a kamatos kamat képlettel számoljunk és egy évet tekintsünk 360 naposnak!)</a:t>
            </a:r>
            <a:endParaRPr lang="hu" sz="1800" dirty="0">
              <a:solidFill>
                <a:schemeClr val="dk2"/>
              </a:solidFill>
              <a:latin typeface="Segoe UI Semilight" panose="020B0402040204020203" pitchFamily="34" charset="0"/>
              <a:ea typeface="Source Sans Pro"/>
              <a:cs typeface="Segoe UI Semilight" panose="020B0402040204020203" pitchFamily="34" charset="0"/>
              <a:sym typeface="Source Sans Pro"/>
            </a:endParaRPr>
          </a:p>
        </p:txBody>
      </p:sp>
      <p:sp>
        <p:nvSpPr>
          <p:cNvPr id="7" name="Téglalap 6">
            <a:extLst>
              <a:ext uri="{FF2B5EF4-FFF2-40B4-BE49-F238E27FC236}">
                <a16:creationId xmlns:a16="http://schemas.microsoft.com/office/drawing/2014/main" id="{27B5F8A9-79E9-1412-29E5-AA45497EBAEB}"/>
              </a:ext>
            </a:extLst>
          </p:cNvPr>
          <p:cNvSpPr/>
          <p:nvPr/>
        </p:nvSpPr>
        <p:spPr>
          <a:xfrm flipV="1">
            <a:off x="287855" y="562666"/>
            <a:ext cx="98192" cy="33742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>
              <a:highlight>
                <a:srgbClr val="757575"/>
              </a:highlight>
            </a:endParaRPr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DBCBE174-DC6A-9CD6-C38D-0E026F1C7087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86047" y="444500"/>
            <a:ext cx="8521700" cy="573088"/>
          </a:xfrm>
        </p:spPr>
        <p:txBody>
          <a:bodyPr/>
          <a:lstStyle/>
          <a:p>
            <a:r>
              <a:rPr lang="hu-HU" dirty="0"/>
              <a:t>GY.2.Feladat</a:t>
            </a:r>
            <a:br>
              <a:rPr lang="hu-HU" dirty="0"/>
            </a:br>
            <a:r>
              <a:rPr lang="hu-HU" dirty="0">
                <a:solidFill>
                  <a:schemeClr val="bg2">
                    <a:lumMod val="40000"/>
                    <a:lumOff val="60000"/>
                  </a:schemeClr>
                </a:solidFill>
              </a:rPr>
              <a:t>Elemi kötvény értékelése éven belüli lejárattal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Szövegdoboz 3">
                <a:extLst>
                  <a:ext uri="{FF2B5EF4-FFF2-40B4-BE49-F238E27FC236}">
                    <a16:creationId xmlns:a16="http://schemas.microsoft.com/office/drawing/2014/main" id="{AE628629-2D32-8760-0AE8-32014F720944}"/>
                  </a:ext>
                </a:extLst>
              </p:cNvPr>
              <p:cNvSpPr txBox="1"/>
              <p:nvPr/>
            </p:nvSpPr>
            <p:spPr>
              <a:xfrm>
                <a:off x="-498763" y="2934731"/>
                <a:ext cx="4572000" cy="5338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hu-HU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hu-HU" sz="1400" b="1" i="0">
                              <a:latin typeface="Cambria Math" panose="02040503050406030204" pitchFamily="18" charset="0"/>
                            </a:rPr>
                            <m:t>𝐏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hu-HU" sz="1400" b="0" i="0" smtClean="0">
                              <a:latin typeface="Cambria Math" panose="02040503050406030204" pitchFamily="18" charset="0"/>
                            </a:rPr>
                            <m:t>elemi</m:t>
                          </m:r>
                          <m:r>
                            <a:rPr lang="hu-HU" sz="1400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hu-HU" sz="1400" b="0" i="0" smtClean="0">
                              <a:latin typeface="Cambria Math" panose="02040503050406030204" pitchFamily="18" charset="0"/>
                            </a:rPr>
                            <m:t>k</m:t>
                          </m:r>
                          <m:r>
                            <a:rPr lang="hu-HU" sz="1400" b="0" i="0" smtClean="0">
                              <a:latin typeface="Cambria Math" panose="02040503050406030204" pitchFamily="18" charset="0"/>
                            </a:rPr>
                            <m:t>ö</m:t>
                          </m:r>
                          <m:r>
                            <m:rPr>
                              <m:sty m:val="p"/>
                            </m:rPr>
                            <a:rPr lang="hu-HU" sz="1400" b="0" i="0" smtClean="0">
                              <a:latin typeface="Cambria Math" panose="02040503050406030204" pitchFamily="18" charset="0"/>
                            </a:rPr>
                            <m:t>tv</m:t>
                          </m:r>
                          <m:r>
                            <a:rPr lang="hu-HU" sz="1400" b="0" i="0" smtClean="0">
                              <a:latin typeface="Cambria Math" panose="02040503050406030204" pitchFamily="18" charset="0"/>
                            </a:rPr>
                            <m:t>é</m:t>
                          </m:r>
                          <m:r>
                            <m:rPr>
                              <m:sty m:val="p"/>
                            </m:rPr>
                            <a:rPr lang="hu-HU" sz="1400" b="0" i="0" smtClean="0">
                              <a:latin typeface="Cambria Math" panose="02040503050406030204" pitchFamily="18" charset="0"/>
                            </a:rPr>
                            <m:t>ny</m:t>
                          </m:r>
                        </m:sub>
                      </m:sSub>
                      <m:r>
                        <a:rPr lang="hu-HU" sz="1400" b="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hu-HU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hu-HU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P</m:t>
                          </m:r>
                          <m:r>
                            <m:rPr>
                              <m:sty m:val="p"/>
                            </m:rPr>
                            <a:rPr lang="hu-HU" i="1" baseline="-250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n</m:t>
                          </m:r>
                        </m:num>
                        <m:den>
                          <m:sSup>
                            <m:sSupPr>
                              <m:ctrlPr>
                                <a:rPr lang="hu-HU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hu-HU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(1+</m:t>
                              </m:r>
                              <m:r>
                                <a:rPr lang="hu-HU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a:rPr lang="hu-HU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hu-HU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hu-HU" dirty="0"/>
              </a:p>
            </p:txBody>
          </p:sp>
        </mc:Choice>
        <mc:Fallback xmlns="">
          <p:sp>
            <p:nvSpPr>
              <p:cNvPr id="4" name="Szövegdoboz 3">
                <a:extLst>
                  <a:ext uri="{FF2B5EF4-FFF2-40B4-BE49-F238E27FC236}">
                    <a16:creationId xmlns:a16="http://schemas.microsoft.com/office/drawing/2014/main" id="{AE628629-2D32-8760-0AE8-32014F7209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98763" y="2934731"/>
                <a:ext cx="4572000" cy="533864"/>
              </a:xfrm>
              <a:prstGeom prst="rect">
                <a:avLst/>
              </a:prstGeom>
              <a:blipFill>
                <a:blip r:embed="rId3"/>
                <a:stretch>
                  <a:fillRect b="-4545"/>
                </a:stretch>
              </a:blipFill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Szövegdoboz 5">
                <a:extLst>
                  <a:ext uri="{FF2B5EF4-FFF2-40B4-BE49-F238E27FC236}">
                    <a16:creationId xmlns:a16="http://schemas.microsoft.com/office/drawing/2014/main" id="{10C6409D-9393-71D9-FABC-F4F02F13CD19}"/>
                  </a:ext>
                </a:extLst>
              </p:cNvPr>
              <p:cNvSpPr txBox="1"/>
              <p:nvPr/>
            </p:nvSpPr>
            <p:spPr>
              <a:xfrm>
                <a:off x="386047" y="3583855"/>
                <a:ext cx="4883726" cy="63228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hu-HU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hu-HU" b="1">
                              <a:latin typeface="Cambria Math" panose="02040503050406030204" pitchFamily="18" charset="0"/>
                            </a:rPr>
                            <m:t>𝐏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hu-HU">
                              <a:latin typeface="Cambria Math" panose="02040503050406030204" pitchFamily="18" charset="0"/>
                            </a:rPr>
                            <m:t>elemi</m:t>
                          </m:r>
                          <m:r>
                            <a:rPr lang="hu-HU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hu-HU">
                              <a:latin typeface="Cambria Math" panose="02040503050406030204" pitchFamily="18" charset="0"/>
                            </a:rPr>
                            <m:t>k</m:t>
                          </m:r>
                          <m:r>
                            <a:rPr lang="hu-HU">
                              <a:latin typeface="Cambria Math" panose="02040503050406030204" pitchFamily="18" charset="0"/>
                            </a:rPr>
                            <m:t>ö</m:t>
                          </m:r>
                          <m:r>
                            <m:rPr>
                              <m:sty m:val="p"/>
                            </m:rPr>
                            <a:rPr lang="hu-HU">
                              <a:latin typeface="Cambria Math" panose="02040503050406030204" pitchFamily="18" charset="0"/>
                            </a:rPr>
                            <m:t>tv</m:t>
                          </m:r>
                          <m:r>
                            <a:rPr lang="hu-HU">
                              <a:latin typeface="Cambria Math" panose="02040503050406030204" pitchFamily="18" charset="0"/>
                            </a:rPr>
                            <m:t>é</m:t>
                          </m:r>
                          <m:r>
                            <m:rPr>
                              <m:sty m:val="p"/>
                            </m:rPr>
                            <a:rPr lang="hu-HU">
                              <a:latin typeface="Cambria Math" panose="02040503050406030204" pitchFamily="18" charset="0"/>
                            </a:rPr>
                            <m:t>ny</m:t>
                          </m:r>
                        </m:sub>
                      </m:sSub>
                      <m:r>
                        <a:rPr lang="hu-HU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hu-HU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hu-HU" i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hu-HU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hu-HU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hu-HU" i="0">
                                      <a:latin typeface="Cambria Math" panose="02040503050406030204" pitchFamily="18" charset="0"/>
                                    </a:rPr>
                                    <m:t>1+0,0</m:t>
                                  </m:r>
                                  <m:r>
                                    <a:rPr lang="hu-HU" b="0" i="1" smtClean="0">
                                      <a:latin typeface="Cambria Math" panose="02040503050406030204" pitchFamily="18" charset="0"/>
                                    </a:rPr>
                                    <m:t>72</m:t>
                                  </m:r>
                                </m:e>
                              </m:d>
                            </m:e>
                            <m:sup>
                              <m:f>
                                <m:fPr>
                                  <m:ctrlPr>
                                    <a:rPr lang="hu-HU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hu-HU" b="0" i="0" smtClean="0">
                                      <a:latin typeface="Cambria Math" panose="02040503050406030204" pitchFamily="18" charset="0"/>
                                    </a:rPr>
                                    <m:t>102</m:t>
                                  </m:r>
                                </m:num>
                                <m:den>
                                  <m:r>
                                    <a:rPr lang="hu-HU" i="0">
                                      <a:latin typeface="Cambria Math" panose="02040503050406030204" pitchFamily="18" charset="0"/>
                                    </a:rPr>
                                    <m:t>360</m:t>
                                  </m:r>
                                </m:den>
                              </m:f>
                            </m:sup>
                          </m:sSup>
                        </m:den>
                      </m:f>
                      <m:r>
                        <a:rPr lang="hu-HU" i="0">
                          <a:latin typeface="Cambria Math" panose="02040503050406030204" pitchFamily="18" charset="0"/>
                        </a:rPr>
                        <m:t>=0,9</m:t>
                      </m:r>
                      <m:r>
                        <a:rPr lang="hu-HU" b="0" i="0" smtClean="0">
                          <a:latin typeface="Cambria Math" panose="02040503050406030204" pitchFamily="18" charset="0"/>
                        </a:rPr>
                        <m:t>805</m:t>
                      </m:r>
                      <m:r>
                        <a:rPr lang="hu-HU" i="0">
                          <a:latin typeface="Cambria Math" panose="02040503050406030204" pitchFamily="18" charset="0"/>
                        </a:rPr>
                        <m:t>=9</m:t>
                      </m:r>
                      <m:r>
                        <a:rPr lang="hu-HU" b="0" i="0" smtClean="0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hu-HU" i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hu-HU" b="0" i="0" smtClean="0">
                          <a:latin typeface="Cambria Math" panose="02040503050406030204" pitchFamily="18" charset="0"/>
                        </a:rPr>
                        <m:t>05</m:t>
                      </m:r>
                      <m:r>
                        <a:rPr lang="hu-HU" i="0">
                          <a:latin typeface="Cambria Math" panose="02040503050406030204" pitchFamily="18" charset="0"/>
                        </a:rPr>
                        <m:t>%</m:t>
                      </m:r>
                    </m:oMath>
                  </m:oMathPara>
                </a14:m>
                <a:endParaRPr lang="hu-HU" dirty="0"/>
              </a:p>
            </p:txBody>
          </p:sp>
        </mc:Choice>
        <mc:Fallback xmlns="">
          <p:sp>
            <p:nvSpPr>
              <p:cNvPr id="6" name="Szövegdoboz 5">
                <a:extLst>
                  <a:ext uri="{FF2B5EF4-FFF2-40B4-BE49-F238E27FC236}">
                    <a16:creationId xmlns:a16="http://schemas.microsoft.com/office/drawing/2014/main" id="{10C6409D-9393-71D9-FABC-F4F02F13CD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047" y="3583855"/>
                <a:ext cx="4883726" cy="63228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04967666"/>
      </p:ext>
    </p:extLst>
  </p:cSld>
  <p:clrMapOvr>
    <a:masterClrMapping/>
  </p:clrMapOvr>
  <p:transition spd="slow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>
          <a:extLst>
            <a:ext uri="{FF2B5EF4-FFF2-40B4-BE49-F238E27FC236}">
              <a16:creationId xmlns:a16="http://schemas.microsoft.com/office/drawing/2014/main" id="{E6D9FBBF-24F6-D473-10BB-20AD12824F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Shape 182">
            <a:extLst>
              <a:ext uri="{FF2B5EF4-FFF2-40B4-BE49-F238E27FC236}">
                <a16:creationId xmlns:a16="http://schemas.microsoft.com/office/drawing/2014/main" id="{5F517E97-1B03-B4FD-0D96-42FA767A825A}"/>
              </a:ext>
            </a:extLst>
          </p:cNvPr>
          <p:cNvSpPr txBox="1"/>
          <p:nvPr/>
        </p:nvSpPr>
        <p:spPr>
          <a:xfrm>
            <a:off x="280727" y="1402835"/>
            <a:ext cx="8394000" cy="2238351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228584">
              <a:spcBef>
                <a:spcPts val="400"/>
              </a:spcBef>
              <a:buClr>
                <a:srgbClr val="CCCCCC"/>
              </a:buClr>
            </a:pPr>
            <a:r>
              <a:rPr lang="hu-HU" sz="1800" dirty="0">
                <a:solidFill>
                  <a:schemeClr val="dk2"/>
                </a:solidFill>
                <a:latin typeface="Segoe UI Semilight" panose="020B0402040204020203" pitchFamily="34" charset="0"/>
                <a:ea typeface="Source Sans Pro"/>
                <a:cs typeface="Segoe UI Semilight" panose="020B0402040204020203" pitchFamily="34" charset="0"/>
                <a:sym typeface="Source Sans Pro"/>
              </a:rPr>
              <a:t>Egy négyéves futamidejű 40.000 forint névértékű kötvényt terveznek kibocsátani. A kötvény névleges kamatlába (kuponráta) 10%. A kamatot évente, a névértéket egyenletesen (minden évben azonos összegben) fizeti ki. Az elvárt hozam 7%. Mekkora a kötvény árfolyama kibocsátáskor?</a:t>
            </a:r>
          </a:p>
          <a:p>
            <a:pPr marL="228584">
              <a:spcBef>
                <a:spcPts val="400"/>
              </a:spcBef>
              <a:buClr>
                <a:srgbClr val="CCCCCC"/>
              </a:buClr>
            </a:pPr>
            <a:endParaRPr lang="hu" sz="1800" dirty="0">
              <a:solidFill>
                <a:schemeClr val="dk2"/>
              </a:solidFill>
              <a:latin typeface="Segoe UI Semilight" panose="020B0402040204020203" pitchFamily="34" charset="0"/>
              <a:ea typeface="Source Sans Pro"/>
              <a:cs typeface="Segoe UI Semilight" panose="020B0402040204020203" pitchFamily="34" charset="0"/>
              <a:sym typeface="Source Sans Pro"/>
            </a:endParaRPr>
          </a:p>
          <a:p>
            <a:pPr marL="228583">
              <a:spcBef>
                <a:spcPts val="400"/>
              </a:spcBef>
              <a:buClr>
                <a:srgbClr val="CCCCCC"/>
              </a:buClr>
            </a:pPr>
            <a:endParaRPr lang="hu" sz="1800" dirty="0">
              <a:solidFill>
                <a:schemeClr val="dk2"/>
              </a:solidFill>
              <a:latin typeface="Segoe UI Semilight" panose="020B0402040204020203" pitchFamily="34" charset="0"/>
              <a:ea typeface="Source Sans Pro"/>
              <a:cs typeface="Segoe UI Semilight" panose="020B0402040204020203" pitchFamily="34" charset="0"/>
              <a:sym typeface="Source Sans Pro"/>
            </a:endParaRPr>
          </a:p>
        </p:txBody>
      </p:sp>
      <p:sp>
        <p:nvSpPr>
          <p:cNvPr id="7" name="Téglalap 6">
            <a:extLst>
              <a:ext uri="{FF2B5EF4-FFF2-40B4-BE49-F238E27FC236}">
                <a16:creationId xmlns:a16="http://schemas.microsoft.com/office/drawing/2014/main" id="{4C8E5D14-CE30-E4F4-9312-F1956ED60670}"/>
              </a:ext>
            </a:extLst>
          </p:cNvPr>
          <p:cNvSpPr/>
          <p:nvPr/>
        </p:nvSpPr>
        <p:spPr>
          <a:xfrm flipV="1">
            <a:off x="287855" y="562666"/>
            <a:ext cx="98192" cy="33742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>
              <a:highlight>
                <a:srgbClr val="757575"/>
              </a:highlight>
            </a:endParaRPr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BFCFEAC0-F60A-A398-6ABB-B3602AF33C7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86047" y="444500"/>
            <a:ext cx="8521700" cy="573088"/>
          </a:xfrm>
        </p:spPr>
        <p:txBody>
          <a:bodyPr/>
          <a:lstStyle/>
          <a:p>
            <a:r>
              <a:rPr lang="hu-HU" dirty="0"/>
              <a:t>GY.3 Feladat</a:t>
            </a:r>
            <a:br>
              <a:rPr lang="hu-HU" dirty="0"/>
            </a:br>
            <a:r>
              <a:rPr lang="hu-HU" b="1" u="sng" dirty="0">
                <a:solidFill>
                  <a:schemeClr val="bg2">
                    <a:lumMod val="40000"/>
                    <a:lumOff val="60000"/>
                  </a:schemeClr>
                </a:solidFill>
              </a:rPr>
              <a:t>Nem</a:t>
            </a:r>
            <a:r>
              <a:rPr lang="hu-HU" dirty="0">
                <a:solidFill>
                  <a:schemeClr val="bg2">
                    <a:lumMod val="40000"/>
                    <a:lumOff val="60000"/>
                  </a:schemeClr>
                </a:solidFill>
              </a:rPr>
              <a:t> végtörlesztéses kamatozó kötvény értékelése</a:t>
            </a:r>
          </a:p>
        </p:txBody>
      </p:sp>
    </p:spTree>
    <p:extLst>
      <p:ext uri="{BB962C8B-B14F-4D97-AF65-F5344CB8AC3E}">
        <p14:creationId xmlns:p14="http://schemas.microsoft.com/office/powerpoint/2010/main" val="1776730818"/>
      </p:ext>
    </p:extLst>
  </p:cSld>
  <p:clrMapOvr>
    <a:masterClrMapping/>
  </p:clrMapOvr>
  <p:transition spd="slow">
    <p:cut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>
          <a:extLst>
            <a:ext uri="{FF2B5EF4-FFF2-40B4-BE49-F238E27FC236}">
              <a16:creationId xmlns:a16="http://schemas.microsoft.com/office/drawing/2014/main" id="{9BC1FA53-65FF-52BA-8765-C8D84BEDA8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Shape 182">
            <a:extLst>
              <a:ext uri="{FF2B5EF4-FFF2-40B4-BE49-F238E27FC236}">
                <a16:creationId xmlns:a16="http://schemas.microsoft.com/office/drawing/2014/main" id="{284A64B8-D6BD-932E-A765-0F9D0F1EBA24}"/>
              </a:ext>
            </a:extLst>
          </p:cNvPr>
          <p:cNvSpPr txBox="1"/>
          <p:nvPr/>
        </p:nvSpPr>
        <p:spPr>
          <a:xfrm>
            <a:off x="280727" y="1402835"/>
            <a:ext cx="8394000" cy="2238351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228584">
              <a:spcBef>
                <a:spcPts val="400"/>
              </a:spcBef>
              <a:buClr>
                <a:srgbClr val="CCCCCC"/>
              </a:buClr>
            </a:pPr>
            <a:r>
              <a:rPr lang="hu-HU" sz="1800" dirty="0">
                <a:solidFill>
                  <a:schemeClr val="dk2"/>
                </a:solidFill>
                <a:latin typeface="Segoe UI Semilight" panose="020B0402040204020203" pitchFamily="34" charset="0"/>
                <a:ea typeface="Source Sans Pro"/>
                <a:cs typeface="Segoe UI Semilight" panose="020B0402040204020203" pitchFamily="34" charset="0"/>
                <a:sym typeface="Source Sans Pro"/>
              </a:rPr>
              <a:t>Egy négyéves futamidejű 40.000 forint névértékű kötvényt terveznek kibocsátani. A kötvény névleges kamatlába (kuponráta) 10%. A kamatot évente, a névértéket egyenletesen (minden évben azonos összegben) fizeti ki. Az elvárt hozam 7%. Mekkora a kötvény árfolyama kibocsátáskor?</a:t>
            </a:r>
          </a:p>
          <a:p>
            <a:pPr marL="228584">
              <a:spcBef>
                <a:spcPts val="400"/>
              </a:spcBef>
              <a:buClr>
                <a:srgbClr val="CCCCCC"/>
              </a:buClr>
            </a:pPr>
            <a:endParaRPr lang="hu" sz="1800" dirty="0">
              <a:solidFill>
                <a:schemeClr val="dk2"/>
              </a:solidFill>
              <a:latin typeface="Segoe UI Semilight" panose="020B0402040204020203" pitchFamily="34" charset="0"/>
              <a:ea typeface="Source Sans Pro"/>
              <a:cs typeface="Segoe UI Semilight" panose="020B0402040204020203" pitchFamily="34" charset="0"/>
              <a:sym typeface="Source Sans Pro"/>
            </a:endParaRPr>
          </a:p>
          <a:p>
            <a:pPr marL="228583">
              <a:spcBef>
                <a:spcPts val="400"/>
              </a:spcBef>
              <a:buClr>
                <a:srgbClr val="CCCCCC"/>
              </a:buClr>
            </a:pPr>
            <a:endParaRPr lang="hu" sz="1800" dirty="0">
              <a:solidFill>
                <a:schemeClr val="dk2"/>
              </a:solidFill>
              <a:latin typeface="Segoe UI Semilight" panose="020B0402040204020203" pitchFamily="34" charset="0"/>
              <a:ea typeface="Source Sans Pro"/>
              <a:cs typeface="Segoe UI Semilight" panose="020B0402040204020203" pitchFamily="34" charset="0"/>
              <a:sym typeface="Source Sans Pro"/>
            </a:endParaRPr>
          </a:p>
        </p:txBody>
      </p:sp>
      <p:sp>
        <p:nvSpPr>
          <p:cNvPr id="7" name="Téglalap 6">
            <a:extLst>
              <a:ext uri="{FF2B5EF4-FFF2-40B4-BE49-F238E27FC236}">
                <a16:creationId xmlns:a16="http://schemas.microsoft.com/office/drawing/2014/main" id="{23649FDA-E6CD-E99C-95C1-509C5AFA0B64}"/>
              </a:ext>
            </a:extLst>
          </p:cNvPr>
          <p:cNvSpPr/>
          <p:nvPr/>
        </p:nvSpPr>
        <p:spPr>
          <a:xfrm flipV="1">
            <a:off x="287855" y="562666"/>
            <a:ext cx="98192" cy="33742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>
              <a:highlight>
                <a:srgbClr val="757575"/>
              </a:highlight>
            </a:endParaRPr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9D91FAE2-137F-51F9-9349-AB8C2F41FF8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86047" y="444500"/>
            <a:ext cx="8521700" cy="573088"/>
          </a:xfrm>
        </p:spPr>
        <p:txBody>
          <a:bodyPr/>
          <a:lstStyle/>
          <a:p>
            <a:r>
              <a:rPr lang="hu-HU" dirty="0"/>
              <a:t>GY.3 Feladat</a:t>
            </a:r>
            <a:br>
              <a:rPr lang="hu-HU" dirty="0"/>
            </a:br>
            <a:r>
              <a:rPr lang="hu-HU" b="1" u="sng" dirty="0">
                <a:solidFill>
                  <a:schemeClr val="bg2">
                    <a:lumMod val="40000"/>
                    <a:lumOff val="60000"/>
                  </a:schemeClr>
                </a:solidFill>
              </a:rPr>
              <a:t>Nem</a:t>
            </a:r>
            <a:r>
              <a:rPr lang="hu-HU" dirty="0">
                <a:solidFill>
                  <a:schemeClr val="bg2">
                    <a:lumMod val="40000"/>
                    <a:lumOff val="60000"/>
                  </a:schemeClr>
                </a:solidFill>
              </a:rPr>
              <a:t> végtörlesztéses kamatozó kötvény értékelése</a:t>
            </a:r>
          </a:p>
        </p:txBody>
      </p:sp>
      <p:graphicFrame>
        <p:nvGraphicFramePr>
          <p:cNvPr id="4" name="Táblázat 3">
            <a:extLst>
              <a:ext uri="{FF2B5EF4-FFF2-40B4-BE49-F238E27FC236}">
                <a16:creationId xmlns:a16="http://schemas.microsoft.com/office/drawing/2014/main" id="{3E1EC0D7-5B41-88AA-3ED2-19880EC01D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4206141"/>
              </p:ext>
            </p:extLst>
          </p:nvPr>
        </p:nvGraphicFramePr>
        <p:xfrm>
          <a:off x="1916079" y="2815663"/>
          <a:ext cx="5461635" cy="1125032"/>
        </p:xfrm>
        <a:graphic>
          <a:graphicData uri="http://schemas.openxmlformats.org/drawingml/2006/table">
            <a:tbl>
              <a:tblPr firstRow="1" firstCol="1" bandRow="1">
                <a:tableStyleId>{FE464744-5EF8-4A23-BA49-EC68D10D153F}</a:tableStyleId>
              </a:tblPr>
              <a:tblGrid>
                <a:gridCol w="351790">
                  <a:extLst>
                    <a:ext uri="{9D8B030D-6E8A-4147-A177-3AD203B41FA5}">
                      <a16:colId xmlns:a16="http://schemas.microsoft.com/office/drawing/2014/main" val="1227109970"/>
                    </a:ext>
                  </a:extLst>
                </a:gridCol>
                <a:gridCol w="1330960">
                  <a:extLst>
                    <a:ext uri="{9D8B030D-6E8A-4147-A177-3AD203B41FA5}">
                      <a16:colId xmlns:a16="http://schemas.microsoft.com/office/drawing/2014/main" val="515926263"/>
                    </a:ext>
                  </a:extLst>
                </a:gridCol>
                <a:gridCol w="1435735">
                  <a:extLst>
                    <a:ext uri="{9D8B030D-6E8A-4147-A177-3AD203B41FA5}">
                      <a16:colId xmlns:a16="http://schemas.microsoft.com/office/drawing/2014/main" val="3445002555"/>
                    </a:ext>
                  </a:extLst>
                </a:gridCol>
                <a:gridCol w="1532890">
                  <a:extLst>
                    <a:ext uri="{9D8B030D-6E8A-4147-A177-3AD203B41FA5}">
                      <a16:colId xmlns:a16="http://schemas.microsoft.com/office/drawing/2014/main" val="2383721083"/>
                    </a:ext>
                  </a:extLst>
                </a:gridCol>
                <a:gridCol w="810260">
                  <a:extLst>
                    <a:ext uri="{9D8B030D-6E8A-4147-A177-3AD203B41FA5}">
                      <a16:colId xmlns:a16="http://schemas.microsoft.com/office/drawing/2014/main" val="377944900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hu-HU" sz="1200">
                          <a:effectLst/>
                        </a:rPr>
                        <a:t>t</a:t>
                      </a:r>
                      <a:endParaRPr lang="hu-H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hu-HU" sz="1200">
                          <a:effectLst/>
                        </a:rPr>
                        <a:t>Fennálló névérték</a:t>
                      </a:r>
                      <a:br>
                        <a:rPr lang="hu-HU" sz="1200">
                          <a:effectLst/>
                        </a:rPr>
                      </a:br>
                      <a:r>
                        <a:rPr lang="hu-HU" sz="1200">
                          <a:effectLst/>
                        </a:rPr>
                        <a:t>(év elején)</a:t>
                      </a:r>
                      <a:endParaRPr lang="hu-H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hu-HU" sz="1200">
                          <a:effectLst/>
                        </a:rPr>
                        <a:t>Tőketörlesztés</a:t>
                      </a:r>
                      <a:br>
                        <a:rPr lang="hu-HU" sz="1200">
                          <a:effectLst/>
                        </a:rPr>
                      </a:br>
                      <a:r>
                        <a:rPr lang="hu-HU" sz="1200">
                          <a:effectLst/>
                        </a:rPr>
                        <a:t>(év végén)</a:t>
                      </a:r>
                      <a:endParaRPr lang="hu-H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hu-HU" sz="1200">
                          <a:effectLst/>
                        </a:rPr>
                        <a:t>Kamatfizetés </a:t>
                      </a:r>
                      <a:br>
                        <a:rPr lang="hu-HU" sz="1200">
                          <a:effectLst/>
                        </a:rPr>
                      </a:br>
                      <a:r>
                        <a:rPr lang="hu-HU" sz="1200">
                          <a:effectLst/>
                        </a:rPr>
                        <a:t>(év végén)</a:t>
                      </a:r>
                      <a:endParaRPr lang="hu-H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hu-HU" sz="1200">
                          <a:effectLst/>
                        </a:rPr>
                        <a:t>CF</a:t>
                      </a:r>
                      <a:endParaRPr lang="hu-H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6967293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hu-HU" sz="1200">
                          <a:effectLst/>
                        </a:rPr>
                        <a:t>1</a:t>
                      </a:r>
                      <a:endParaRPr lang="hu-H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hu-HU" sz="1200">
                          <a:effectLst/>
                        </a:rPr>
                        <a:t>40.000</a:t>
                      </a:r>
                      <a:endParaRPr lang="hu-H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hu-HU" sz="1200">
                          <a:effectLst/>
                        </a:rPr>
                        <a:t>40.000 / 4 = 10.000</a:t>
                      </a:r>
                      <a:endParaRPr lang="hu-H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hu-HU" sz="1200">
                          <a:effectLst/>
                        </a:rPr>
                        <a:t>40.000 ∙ 0,1 = 4.000</a:t>
                      </a:r>
                      <a:endParaRPr lang="hu-H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hu-HU" sz="1200">
                          <a:effectLst/>
                        </a:rPr>
                        <a:t>14.000</a:t>
                      </a:r>
                      <a:endParaRPr lang="hu-H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1971704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hu-HU" sz="1200">
                          <a:effectLst/>
                        </a:rPr>
                        <a:t>2</a:t>
                      </a:r>
                      <a:endParaRPr lang="hu-H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hu-HU" sz="1200">
                          <a:effectLst/>
                        </a:rPr>
                        <a:t>30.000</a:t>
                      </a:r>
                      <a:endParaRPr lang="hu-H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hu-HU" sz="1200">
                          <a:effectLst/>
                        </a:rPr>
                        <a:t>10.000</a:t>
                      </a:r>
                      <a:endParaRPr lang="hu-H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hu-HU" sz="1200">
                          <a:effectLst/>
                        </a:rPr>
                        <a:t>30.000 ∙ 0,1 = 3.000</a:t>
                      </a:r>
                      <a:endParaRPr lang="hu-H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hu-HU" sz="1200">
                          <a:effectLst/>
                        </a:rPr>
                        <a:t>13.000</a:t>
                      </a:r>
                      <a:endParaRPr lang="hu-H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5864507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hu-HU" sz="1200">
                          <a:effectLst/>
                        </a:rPr>
                        <a:t>3</a:t>
                      </a:r>
                      <a:endParaRPr lang="hu-H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hu-HU" sz="1200">
                          <a:effectLst/>
                        </a:rPr>
                        <a:t>20.000</a:t>
                      </a:r>
                      <a:endParaRPr lang="hu-H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hu-HU" sz="1200">
                          <a:effectLst/>
                        </a:rPr>
                        <a:t>10.000</a:t>
                      </a:r>
                      <a:endParaRPr lang="hu-H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hu-HU" sz="1200">
                          <a:effectLst/>
                        </a:rPr>
                        <a:t>20.000 ∙ 0,1 = 2.000</a:t>
                      </a:r>
                      <a:endParaRPr lang="hu-H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hu-HU" sz="1200">
                          <a:effectLst/>
                        </a:rPr>
                        <a:t>12.000</a:t>
                      </a:r>
                      <a:endParaRPr lang="hu-H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5529367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hu-HU" sz="1200">
                          <a:effectLst/>
                        </a:rPr>
                        <a:t>4</a:t>
                      </a:r>
                      <a:endParaRPr lang="hu-H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hu-HU" sz="1200">
                          <a:effectLst/>
                        </a:rPr>
                        <a:t>10.000</a:t>
                      </a:r>
                      <a:endParaRPr lang="hu-H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hu-HU" sz="1200">
                          <a:effectLst/>
                        </a:rPr>
                        <a:t>10.000</a:t>
                      </a:r>
                      <a:endParaRPr lang="hu-H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hu-HU" sz="1200">
                          <a:effectLst/>
                        </a:rPr>
                        <a:t>10.000 ∙ 0,1 = 1.000</a:t>
                      </a:r>
                      <a:endParaRPr lang="hu-H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hu-HU" sz="1200" dirty="0">
                          <a:effectLst/>
                        </a:rPr>
                        <a:t>11.000</a:t>
                      </a:r>
                      <a:endParaRPr lang="hu-H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531494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47490436"/>
      </p:ext>
    </p:extLst>
  </p:cSld>
  <p:clrMapOvr>
    <a:masterClrMapping/>
  </p:clrMapOvr>
  <p:transition spd="slow">
    <p:cut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>
          <a:extLst>
            <a:ext uri="{FF2B5EF4-FFF2-40B4-BE49-F238E27FC236}">
              <a16:creationId xmlns:a16="http://schemas.microsoft.com/office/drawing/2014/main" id="{4BBC6FC1-4508-575F-E3E0-1DF4675B9E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églalap 6">
            <a:extLst>
              <a:ext uri="{FF2B5EF4-FFF2-40B4-BE49-F238E27FC236}">
                <a16:creationId xmlns:a16="http://schemas.microsoft.com/office/drawing/2014/main" id="{2A633130-5072-B2AA-840F-FE230DC1FC36}"/>
              </a:ext>
            </a:extLst>
          </p:cNvPr>
          <p:cNvSpPr/>
          <p:nvPr/>
        </p:nvSpPr>
        <p:spPr>
          <a:xfrm flipV="1">
            <a:off x="287855" y="562666"/>
            <a:ext cx="98192" cy="33742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>
              <a:highlight>
                <a:srgbClr val="757575"/>
              </a:highlight>
            </a:endParaRPr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0C6F5AE2-59A7-4627-2863-BE9376EFA8B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86047" y="444500"/>
            <a:ext cx="8521700" cy="573088"/>
          </a:xfrm>
        </p:spPr>
        <p:txBody>
          <a:bodyPr/>
          <a:lstStyle/>
          <a:p>
            <a:r>
              <a:rPr lang="hu-HU" dirty="0"/>
              <a:t>GY.3 Feladat</a:t>
            </a:r>
            <a:br>
              <a:rPr lang="hu-HU" dirty="0"/>
            </a:br>
            <a:r>
              <a:rPr lang="hu-HU" b="1" u="sng" dirty="0">
                <a:solidFill>
                  <a:schemeClr val="bg2">
                    <a:lumMod val="40000"/>
                    <a:lumOff val="60000"/>
                  </a:schemeClr>
                </a:solidFill>
              </a:rPr>
              <a:t>Nem</a:t>
            </a:r>
            <a:r>
              <a:rPr lang="hu-HU" dirty="0">
                <a:solidFill>
                  <a:schemeClr val="bg2">
                    <a:lumMod val="40000"/>
                    <a:lumOff val="60000"/>
                  </a:schemeClr>
                </a:solidFill>
              </a:rPr>
              <a:t> végtörlesztéses kamatozó kötvény értékelése</a:t>
            </a:r>
          </a:p>
        </p:txBody>
      </p:sp>
      <p:graphicFrame>
        <p:nvGraphicFramePr>
          <p:cNvPr id="4" name="Táblázat 3">
            <a:extLst>
              <a:ext uri="{FF2B5EF4-FFF2-40B4-BE49-F238E27FC236}">
                <a16:creationId xmlns:a16="http://schemas.microsoft.com/office/drawing/2014/main" id="{EE9CC61A-A3CC-0F7B-0E8F-5F38494377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4870305"/>
              </p:ext>
            </p:extLst>
          </p:nvPr>
        </p:nvGraphicFramePr>
        <p:xfrm>
          <a:off x="1828800" y="1725947"/>
          <a:ext cx="5486400" cy="1125032"/>
        </p:xfrm>
        <a:graphic>
          <a:graphicData uri="http://schemas.openxmlformats.org/drawingml/2006/table">
            <a:tbl>
              <a:tblPr firstRow="1" firstCol="1" bandRow="1">
                <a:tableStyleId>{FE464744-5EF8-4A23-BA49-EC68D10D153F}</a:tableStyleId>
              </a:tblPr>
              <a:tblGrid>
                <a:gridCol w="351790">
                  <a:extLst>
                    <a:ext uri="{9D8B030D-6E8A-4147-A177-3AD203B41FA5}">
                      <a16:colId xmlns:a16="http://schemas.microsoft.com/office/drawing/2014/main" val="1227109970"/>
                    </a:ext>
                  </a:extLst>
                </a:gridCol>
                <a:gridCol w="1355725">
                  <a:extLst>
                    <a:ext uri="{9D8B030D-6E8A-4147-A177-3AD203B41FA5}">
                      <a16:colId xmlns:a16="http://schemas.microsoft.com/office/drawing/2014/main" val="515926263"/>
                    </a:ext>
                  </a:extLst>
                </a:gridCol>
                <a:gridCol w="1435735">
                  <a:extLst>
                    <a:ext uri="{9D8B030D-6E8A-4147-A177-3AD203B41FA5}">
                      <a16:colId xmlns:a16="http://schemas.microsoft.com/office/drawing/2014/main" val="3445002555"/>
                    </a:ext>
                  </a:extLst>
                </a:gridCol>
                <a:gridCol w="1532890">
                  <a:extLst>
                    <a:ext uri="{9D8B030D-6E8A-4147-A177-3AD203B41FA5}">
                      <a16:colId xmlns:a16="http://schemas.microsoft.com/office/drawing/2014/main" val="2383721083"/>
                    </a:ext>
                  </a:extLst>
                </a:gridCol>
                <a:gridCol w="810260">
                  <a:extLst>
                    <a:ext uri="{9D8B030D-6E8A-4147-A177-3AD203B41FA5}">
                      <a16:colId xmlns:a16="http://schemas.microsoft.com/office/drawing/2014/main" val="377944900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hu-HU" sz="1200">
                          <a:effectLst/>
                        </a:rPr>
                        <a:t>t</a:t>
                      </a:r>
                      <a:endParaRPr lang="hu-H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hu-HU" sz="1200">
                          <a:effectLst/>
                        </a:rPr>
                        <a:t>Fennálló névérték</a:t>
                      </a:r>
                      <a:br>
                        <a:rPr lang="hu-HU" sz="1200">
                          <a:effectLst/>
                        </a:rPr>
                      </a:br>
                      <a:r>
                        <a:rPr lang="hu-HU" sz="1200">
                          <a:effectLst/>
                        </a:rPr>
                        <a:t>(év elején)</a:t>
                      </a:r>
                      <a:endParaRPr lang="hu-H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hu-HU" sz="1200" dirty="0">
                          <a:effectLst/>
                        </a:rPr>
                        <a:t>Tőketörlesztés</a:t>
                      </a:r>
                      <a:br>
                        <a:rPr lang="hu-HU" sz="1200" dirty="0">
                          <a:effectLst/>
                        </a:rPr>
                      </a:br>
                      <a:r>
                        <a:rPr lang="hu-HU" sz="1200" dirty="0">
                          <a:effectLst/>
                        </a:rPr>
                        <a:t>(év végén)</a:t>
                      </a:r>
                      <a:endParaRPr lang="hu-H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hu-HU" sz="1200">
                          <a:effectLst/>
                        </a:rPr>
                        <a:t>Kamatfizetés </a:t>
                      </a:r>
                      <a:br>
                        <a:rPr lang="hu-HU" sz="1200">
                          <a:effectLst/>
                        </a:rPr>
                      </a:br>
                      <a:r>
                        <a:rPr lang="hu-HU" sz="1200">
                          <a:effectLst/>
                        </a:rPr>
                        <a:t>(év végén)</a:t>
                      </a:r>
                      <a:endParaRPr lang="hu-H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hu-HU" sz="1200">
                          <a:effectLst/>
                        </a:rPr>
                        <a:t>CF</a:t>
                      </a:r>
                      <a:endParaRPr lang="hu-H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6967293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hu-HU" sz="1200">
                          <a:effectLst/>
                        </a:rPr>
                        <a:t>1</a:t>
                      </a:r>
                      <a:endParaRPr lang="hu-H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hu-HU" sz="1200">
                          <a:effectLst/>
                        </a:rPr>
                        <a:t>40.000</a:t>
                      </a:r>
                      <a:endParaRPr lang="hu-H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hu-HU" sz="1200">
                          <a:effectLst/>
                        </a:rPr>
                        <a:t>40.000 / 4 = 10.000</a:t>
                      </a:r>
                      <a:endParaRPr lang="hu-H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hu-HU" sz="1200">
                          <a:effectLst/>
                        </a:rPr>
                        <a:t>40.000 ∙ 0,1 = 4.000</a:t>
                      </a:r>
                      <a:endParaRPr lang="hu-H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hu-HU" sz="1200">
                          <a:effectLst/>
                        </a:rPr>
                        <a:t>14.000</a:t>
                      </a:r>
                      <a:endParaRPr lang="hu-H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1971704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hu-HU" sz="1200">
                          <a:effectLst/>
                        </a:rPr>
                        <a:t>2</a:t>
                      </a:r>
                      <a:endParaRPr lang="hu-H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hu-HU" sz="1200">
                          <a:effectLst/>
                        </a:rPr>
                        <a:t>30.000</a:t>
                      </a:r>
                      <a:endParaRPr lang="hu-H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hu-HU" sz="1200">
                          <a:effectLst/>
                        </a:rPr>
                        <a:t>10.000</a:t>
                      </a:r>
                      <a:endParaRPr lang="hu-H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hu-HU" sz="1200">
                          <a:effectLst/>
                        </a:rPr>
                        <a:t>30.000 ∙ 0,1 = 3.000</a:t>
                      </a:r>
                      <a:endParaRPr lang="hu-H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hu-HU" sz="1200">
                          <a:effectLst/>
                        </a:rPr>
                        <a:t>13.000</a:t>
                      </a:r>
                      <a:endParaRPr lang="hu-H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5864507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hu-HU" sz="1200">
                          <a:effectLst/>
                        </a:rPr>
                        <a:t>3</a:t>
                      </a:r>
                      <a:endParaRPr lang="hu-H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hu-HU" sz="1200">
                          <a:effectLst/>
                        </a:rPr>
                        <a:t>20.000</a:t>
                      </a:r>
                      <a:endParaRPr lang="hu-H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hu-HU" sz="1200">
                          <a:effectLst/>
                        </a:rPr>
                        <a:t>10.000</a:t>
                      </a:r>
                      <a:endParaRPr lang="hu-H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hu-HU" sz="1200">
                          <a:effectLst/>
                        </a:rPr>
                        <a:t>20.000 ∙ 0,1 = 2.000</a:t>
                      </a:r>
                      <a:endParaRPr lang="hu-H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hu-HU" sz="1200">
                          <a:effectLst/>
                        </a:rPr>
                        <a:t>12.000</a:t>
                      </a:r>
                      <a:endParaRPr lang="hu-H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5529367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hu-HU" sz="1200">
                          <a:effectLst/>
                        </a:rPr>
                        <a:t>4</a:t>
                      </a:r>
                      <a:endParaRPr lang="hu-H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hu-HU" sz="1200">
                          <a:effectLst/>
                        </a:rPr>
                        <a:t>10.000</a:t>
                      </a:r>
                      <a:endParaRPr lang="hu-H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hu-HU" sz="1200">
                          <a:effectLst/>
                        </a:rPr>
                        <a:t>10.000</a:t>
                      </a:r>
                      <a:endParaRPr lang="hu-H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hu-HU" sz="1200">
                          <a:effectLst/>
                        </a:rPr>
                        <a:t>10.000 ∙ 0,1 = 1.000</a:t>
                      </a:r>
                      <a:endParaRPr lang="hu-H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hu-HU" sz="1200" dirty="0">
                          <a:effectLst/>
                        </a:rPr>
                        <a:t>11.000</a:t>
                      </a:r>
                      <a:endParaRPr lang="hu-H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5314947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" name="Szövegdoboz 4">
                <a:extLst>
                  <a:ext uri="{FF2B5EF4-FFF2-40B4-BE49-F238E27FC236}">
                    <a16:creationId xmlns:a16="http://schemas.microsoft.com/office/drawing/2014/main" id="{ACAFFC5D-A6D0-F86B-4976-5FA91EACBD79}"/>
                  </a:ext>
                </a:extLst>
              </p:cNvPr>
              <p:cNvSpPr txBox="1"/>
              <p:nvPr/>
            </p:nvSpPr>
            <p:spPr>
              <a:xfrm>
                <a:off x="814646" y="3298970"/>
                <a:ext cx="7664336" cy="56970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hu-H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hu-HU" b="1">
                              <a:latin typeface="Cambria Math" panose="02040503050406030204" pitchFamily="18" charset="0"/>
                            </a:rPr>
                            <m:t>𝐏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hu-HU">
                              <a:latin typeface="Cambria Math" panose="02040503050406030204" pitchFamily="18" charset="0"/>
                            </a:rPr>
                            <m:t>k</m:t>
                          </m:r>
                          <m:r>
                            <a:rPr lang="hu-HU">
                              <a:latin typeface="Cambria Math" panose="02040503050406030204" pitchFamily="18" charset="0"/>
                            </a:rPr>
                            <m:t>ö</m:t>
                          </m:r>
                          <m:r>
                            <m:rPr>
                              <m:sty m:val="p"/>
                            </m:rPr>
                            <a:rPr lang="hu-HU">
                              <a:latin typeface="Cambria Math" panose="02040503050406030204" pitchFamily="18" charset="0"/>
                            </a:rPr>
                            <m:t>tv</m:t>
                          </m:r>
                          <m:r>
                            <a:rPr lang="hu-HU">
                              <a:latin typeface="Cambria Math" panose="02040503050406030204" pitchFamily="18" charset="0"/>
                            </a:rPr>
                            <m:t>é</m:t>
                          </m:r>
                          <m:r>
                            <m:rPr>
                              <m:sty m:val="p"/>
                            </m:rPr>
                            <a:rPr lang="hu-HU">
                              <a:latin typeface="Cambria Math" panose="02040503050406030204" pitchFamily="18" charset="0"/>
                            </a:rPr>
                            <m:t>ny</m:t>
                          </m:r>
                        </m:sub>
                      </m:sSub>
                      <m:r>
                        <a:rPr lang="hu-HU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hu-HU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hu-HU" i="0">
                              <a:latin typeface="Cambria Math" panose="02040503050406030204" pitchFamily="18" charset="0"/>
                            </a:rPr>
                            <m:t>14.000</m:t>
                          </m:r>
                        </m:num>
                        <m:den>
                          <m:d>
                            <m:dPr>
                              <m:endChr m:val=""/>
                              <m:ctrlPr>
                                <a:rPr lang="hu-HU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hu-HU" i="0"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sSup>
                                <m:sSupPr>
                                  <m:ctrlPr>
                                    <a:rPr lang="hu-HU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"/>
                                      <m:ctrlPr>
                                        <a:rPr lang="hu-HU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hu-HU">
                                          <a:latin typeface="Cambria Math" panose="02040503050406030204" pitchFamily="18" charset="0"/>
                                        </a:rPr>
                                        <m:t>0,07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hu-HU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p>
                            </m:e>
                          </m:d>
                        </m:den>
                      </m:f>
                      <m:r>
                        <a:rPr lang="hu-HU" i="0">
                          <a:latin typeface="Cambria Math" panose="02040503050406030204" pitchFamily="18" charset="0"/>
                        </a:rPr>
                        <m:t>+ </m:t>
                      </m:r>
                      <m:f>
                        <m:fPr>
                          <m:ctrlPr>
                            <a:rPr lang="hu-HU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hu-HU" i="0">
                              <a:latin typeface="Cambria Math" panose="02040503050406030204" pitchFamily="18" charset="0"/>
                            </a:rPr>
                            <m:t>13.000</m:t>
                          </m:r>
                        </m:num>
                        <m:den>
                          <m:d>
                            <m:dPr>
                              <m:endChr m:val=""/>
                              <m:ctrlPr>
                                <a:rPr lang="hu-HU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hu-HU" i="0"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sSup>
                                <m:sSupPr>
                                  <m:ctrlPr>
                                    <a:rPr lang="hu-HU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"/>
                                      <m:ctrlPr>
                                        <a:rPr lang="hu-HU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hu-HU">
                                          <a:latin typeface="Cambria Math" panose="02040503050406030204" pitchFamily="18" charset="0"/>
                                        </a:rPr>
                                        <m:t>0,07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hu-HU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den>
                      </m:f>
                      <m:r>
                        <a:rPr lang="hu-HU" i="0">
                          <a:latin typeface="Cambria Math" panose="02040503050406030204" pitchFamily="18" charset="0"/>
                        </a:rPr>
                        <m:t>+ </m:t>
                      </m:r>
                      <m:f>
                        <m:fPr>
                          <m:ctrlPr>
                            <a:rPr lang="hu-HU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hu-HU" i="0">
                              <a:latin typeface="Cambria Math" panose="02040503050406030204" pitchFamily="18" charset="0"/>
                            </a:rPr>
                            <m:t>12.000</m:t>
                          </m:r>
                        </m:num>
                        <m:den>
                          <m:d>
                            <m:dPr>
                              <m:endChr m:val=""/>
                              <m:ctrlPr>
                                <a:rPr lang="hu-HU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hu-HU" i="0"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sSup>
                                <m:sSupPr>
                                  <m:ctrlPr>
                                    <a:rPr lang="hu-HU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"/>
                                      <m:ctrlPr>
                                        <a:rPr lang="hu-HU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hu-HU">
                                          <a:latin typeface="Cambria Math" panose="02040503050406030204" pitchFamily="18" charset="0"/>
                                        </a:rPr>
                                        <m:t>0,07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hu-HU" i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e>
                          </m:d>
                        </m:den>
                      </m:f>
                      <m:r>
                        <a:rPr lang="hu-HU" i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hu-HU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hu-HU" i="0">
                              <a:latin typeface="Cambria Math" panose="02040503050406030204" pitchFamily="18" charset="0"/>
                            </a:rPr>
                            <m:t>11.000</m:t>
                          </m:r>
                        </m:num>
                        <m:den>
                          <m:d>
                            <m:dPr>
                              <m:endChr m:val=""/>
                              <m:ctrlPr>
                                <a:rPr lang="hu-HU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hu-HU" i="0"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sSup>
                                <m:sSupPr>
                                  <m:ctrlPr>
                                    <a:rPr lang="hu-HU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"/>
                                      <m:ctrlPr>
                                        <a:rPr lang="hu-HU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hu-HU">
                                          <a:latin typeface="Cambria Math" panose="02040503050406030204" pitchFamily="18" charset="0"/>
                                        </a:rPr>
                                        <m:t>0,07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hu-HU" i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p>
                              </m:sSup>
                            </m:e>
                          </m:d>
                        </m:den>
                      </m:f>
                      <m:r>
                        <a:rPr lang="hu-HU" i="0">
                          <a:latin typeface="Cambria Math" panose="02040503050406030204" pitchFamily="18" charset="0"/>
                        </a:rPr>
                        <m:t> =  42.626,24 </m:t>
                      </m:r>
                      <m:r>
                        <a:rPr lang="hu-HU" b="1" i="1">
                          <a:latin typeface="Cambria Math" panose="02040503050406030204" pitchFamily="18" charset="0"/>
                        </a:rPr>
                        <m:t>𝑭𝒕</m:t>
                      </m:r>
                    </m:oMath>
                  </m:oMathPara>
                </a14:m>
                <a:endParaRPr lang="hu-HU" dirty="0"/>
              </a:p>
            </p:txBody>
          </p:sp>
        </mc:Choice>
        <mc:Fallback xmlns="">
          <p:sp>
            <p:nvSpPr>
              <p:cNvPr id="5" name="Szövegdoboz 4">
                <a:extLst>
                  <a:ext uri="{FF2B5EF4-FFF2-40B4-BE49-F238E27FC236}">
                    <a16:creationId xmlns:a16="http://schemas.microsoft.com/office/drawing/2014/main" id="{ACAFFC5D-A6D0-F86B-4976-5FA91EACBD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4646" y="3298970"/>
                <a:ext cx="7664336" cy="569708"/>
              </a:xfrm>
              <a:prstGeom prst="rect">
                <a:avLst/>
              </a:prstGeom>
              <a:blipFill>
                <a:blip r:embed="rId3"/>
                <a:stretch>
                  <a:fillRect t="-38298" b="-123404"/>
                </a:stretch>
              </a:blipFill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08939562"/>
      </p:ext>
    </p:extLst>
  </p:cSld>
  <p:clrMapOvr>
    <a:masterClrMapping/>
  </p:clrMapOvr>
  <p:transition spd="slow">
    <p:cut/>
  </p:transition>
</p:sld>
</file>

<file path=ppt/theme/theme1.xml><?xml version="1.0" encoding="utf-8"?>
<a:theme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Segoe UI">
      <a:majorFont>
        <a:latin typeface="Segoe UI Semilight"/>
        <a:ea typeface=""/>
        <a:cs typeface=""/>
      </a:majorFont>
      <a:minorFont>
        <a:latin typeface="Segoe UI Semi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um" ma:contentTypeID="0x010100B1C7A5BE78B3B443A0E5E587CD9A6EE9" ma:contentTypeVersion="14" ma:contentTypeDescription="Új dokumentum létrehozása." ma:contentTypeScope="" ma:versionID="9e00ab8a0275a73da3218c8a54d33e77">
  <xsd:schema xmlns:xsd="http://www.w3.org/2001/XMLSchema" xmlns:xs="http://www.w3.org/2001/XMLSchema" xmlns:p="http://schemas.microsoft.com/office/2006/metadata/properties" xmlns:ns2="8c87e8e8-b583-4801-8001-d79e546a2fe8" xmlns:ns3="c54c6f9d-190b-4149-aff2-ccd375b887c1" targetNamespace="http://schemas.microsoft.com/office/2006/metadata/properties" ma:root="true" ma:fieldsID="a9bdbfcdfe379bdef26d92d99c8e51d7" ns2:_="" ns3:_="">
    <xsd:import namespace="8c87e8e8-b583-4801-8001-d79e546a2fe8"/>
    <xsd:import namespace="c54c6f9d-190b-4149-aff2-ccd375b887c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Locatio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c87e8e8-b583-4801-8001-d79e546a2fe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3" nillable="true" ma:taxonomy="true" ma:internalName="lcf76f155ced4ddcb4097134ff3c332f" ma:taxonomyFieldName="MediaServiceImageTags" ma:displayName="Képcímkék" ma:readOnly="false" ma:fieldId="{5cf76f15-5ced-4ddc-b409-7134ff3c332f}" ma:taxonomyMulti="true" ma:sspId="ec8551cb-31a8-4c63-a261-82c7526a1cd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16" nillable="true" ma:displayName="Location" ma:indexed="true" ma:internalName="MediaServiceLocation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54c6f9d-190b-4149-aff2-ccd375b887c1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Résztvevők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Megosztva részletekkel" ma:internalName="SharedWithDetails" ma:readOnly="true">
      <xsd:simpleType>
        <xsd:restriction base="dms:Note">
          <xsd:maxLength value="255"/>
        </xsd:restriction>
      </xsd:simpleType>
    </xsd:element>
    <xsd:element name="TaxCatchAll" ma:index="14" nillable="true" ma:displayName="Taxonomy Catch All Column" ma:hidden="true" ma:list="{95c78f66-390b-4015-94bf-c234da9d1f22}" ma:internalName="TaxCatchAll" ma:showField="CatchAllData" ma:web="c54c6f9d-190b-4149-aff2-ccd375b887c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artalomtípus"/>
        <xsd:element ref="dc:title" minOccurs="0" maxOccurs="1" ma:index="4" ma:displayName="Cím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c87e8e8-b583-4801-8001-d79e546a2fe8">
      <Terms xmlns="http://schemas.microsoft.com/office/infopath/2007/PartnerControls"/>
    </lcf76f155ced4ddcb4097134ff3c332f>
    <TaxCatchAll xmlns="c54c6f9d-190b-4149-aff2-ccd375b887c1" xsi:nil="true"/>
  </documentManagement>
</p:properties>
</file>

<file path=customXml/itemProps1.xml><?xml version="1.0" encoding="utf-8"?>
<ds:datastoreItem xmlns:ds="http://schemas.openxmlformats.org/officeDocument/2006/customXml" ds:itemID="{03888178-8047-4AEE-96C8-7A6DC7362FA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c87e8e8-b583-4801-8001-d79e546a2fe8"/>
    <ds:schemaRef ds:uri="c54c6f9d-190b-4149-aff2-ccd375b887c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0C25940-7CB1-45EF-88F7-91C905F9AF9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11B0079-0EC2-4CEC-9660-C7007AF5BBB1}">
  <ds:schemaRefs>
    <ds:schemaRef ds:uri="http://schemas.microsoft.com/office/2006/documentManagement/types"/>
    <ds:schemaRef ds:uri="http://purl.org/dc/dcmitype/"/>
    <ds:schemaRef ds:uri="c54c6f9d-190b-4149-aff2-ccd375b887c1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purl.org/dc/terms/"/>
    <ds:schemaRef ds:uri="http://schemas.openxmlformats.org/package/2006/metadata/core-properties"/>
    <ds:schemaRef ds:uri="8c87e8e8-b583-4801-8001-d79e546a2fe8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2104</TotalTime>
  <Words>2161</Words>
  <Application>Microsoft Office PowerPoint</Application>
  <PresentationFormat>Diavetítés a képernyőre (16:9 oldalarány)</PresentationFormat>
  <Paragraphs>334</Paragraphs>
  <Slides>29</Slides>
  <Notes>29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7</vt:i4>
      </vt:variant>
      <vt:variant>
        <vt:lpstr>Téma</vt:lpstr>
      </vt:variant>
      <vt:variant>
        <vt:i4>1</vt:i4>
      </vt:variant>
      <vt:variant>
        <vt:lpstr>Diacímek</vt:lpstr>
      </vt:variant>
      <vt:variant>
        <vt:i4>29</vt:i4>
      </vt:variant>
    </vt:vector>
  </HeadingPairs>
  <TitlesOfParts>
    <vt:vector size="37" baseType="lpstr">
      <vt:lpstr>Arial</vt:lpstr>
      <vt:lpstr>Candara</vt:lpstr>
      <vt:lpstr>Cambria Math</vt:lpstr>
      <vt:lpstr>Segoe UI Semilight</vt:lpstr>
      <vt:lpstr>Calibri</vt:lpstr>
      <vt:lpstr>Segoe UI Semibold</vt:lpstr>
      <vt:lpstr>Cambria</vt:lpstr>
      <vt:lpstr>simple-light-2</vt:lpstr>
      <vt:lpstr>PowerPoint-bemutató</vt:lpstr>
      <vt:lpstr>Motiváció</vt:lpstr>
      <vt:lpstr>ELMÉLETI ÁTTEKINTÉS Alapfogalmak</vt:lpstr>
      <vt:lpstr>KÖTVÉNYEK TÍPUSAI </vt:lpstr>
      <vt:lpstr>KÖTVÉNYEK ÉRTÉKELÉSE </vt:lpstr>
      <vt:lpstr>KÖTVÉNYEK ÉRTÉKELÉSÉNEK LÉPÉSEI </vt:lpstr>
      <vt:lpstr>1.PÉLDA Végtörlesztéses kamatozó kötvény értékelése</vt:lpstr>
      <vt:lpstr>1.PÉLDA Végtörlesztéses kamatozó kötvény értékelése</vt:lpstr>
      <vt:lpstr>2.PÉLDA Végtörlesztéses kamatozó kötvény értékelése</vt:lpstr>
      <vt:lpstr>2.PÉLDA</vt:lpstr>
      <vt:lpstr>3.PÉLDA Végtörlesztéses kamatozó kötvény értékelése</vt:lpstr>
      <vt:lpstr>4.PÉLDA Végtörlesztéses kamatozó kötvény értékelése</vt:lpstr>
      <vt:lpstr>4.PÉLDA </vt:lpstr>
      <vt:lpstr>4.PÉLDA </vt:lpstr>
      <vt:lpstr>4.PÉLDA </vt:lpstr>
      <vt:lpstr>5.PÉLDA Nem végtörlesztéses kamatozó kötvény értékelése</vt:lpstr>
      <vt:lpstr>5.PÉLDA Nem végtörlesztéses kamatozó kötvény értékelése</vt:lpstr>
      <vt:lpstr>ELEMI KÖTVÉNY (KAMATSZELVÉNY NÉLKÜLI) </vt:lpstr>
      <vt:lpstr>6.PÉLDA Elemi kötvény értékelése</vt:lpstr>
      <vt:lpstr>7.PÉLDA Elemi kötvény értékelése éven belüli lejárattal</vt:lpstr>
      <vt:lpstr>PowerPoint-bemutató</vt:lpstr>
      <vt:lpstr>PowerPoint-bemutató</vt:lpstr>
      <vt:lpstr>GY.1.Feladat Végtörlesztéses kamatozó kötvény értékelése</vt:lpstr>
      <vt:lpstr>GY.1.Feladat Végtörlesztéses kamatozó kötvény értékelése</vt:lpstr>
      <vt:lpstr>GY.2.Feladat Elemi kötvény értékelése éven belüli lejárattal</vt:lpstr>
      <vt:lpstr>GY.2.Feladat Elemi kötvény értékelése éven belüli lejárattal</vt:lpstr>
      <vt:lpstr>GY.3 Feladat Nem végtörlesztéses kamatozó kötvény értékelése</vt:lpstr>
      <vt:lpstr>GY.3 Feladat Nem végtörlesztéses kamatozó kötvény értékelése</vt:lpstr>
      <vt:lpstr>GY.3 Feladat Nem végtörlesztéses kamatozó kötvény értékelése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PowerPoint-bemutató</dc:title>
  <dc:creator>Patonai Kata</dc:creator>
  <cp:lastModifiedBy>Hauber György</cp:lastModifiedBy>
  <cp:revision>68</cp:revision>
  <cp:lastPrinted>2026-01-13T13:13:38Z</cp:lastPrinted>
  <dcterms:modified xsi:type="dcterms:W3CDTF">2026-04-16T16:46:13Z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0x010100B1C7A5BE78B3B443A0E5E587CD9A6EE9</vt:lpwstr>
  </property>
  <property fmtid="{D5CDD505-2E9C-101B-9397-08002B2CF9AE}" pid="3" name="MediaServiceImageTags">
    <vt:lpwstr/>
  </property>
</Properties>
</file>