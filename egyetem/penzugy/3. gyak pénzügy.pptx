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45"/>
  </p:notesMasterIdLst>
  <p:sldIdLst>
    <p:sldId id="256" r:id="rId5"/>
    <p:sldId id="257" r:id="rId6"/>
    <p:sldId id="373" r:id="rId7"/>
    <p:sldId id="374" r:id="rId8"/>
    <p:sldId id="375" r:id="rId9"/>
    <p:sldId id="371" r:id="rId10"/>
    <p:sldId id="372" r:id="rId11"/>
    <p:sldId id="307" r:id="rId12"/>
    <p:sldId id="308" r:id="rId13"/>
    <p:sldId id="309" r:id="rId14"/>
    <p:sldId id="292" r:id="rId15"/>
    <p:sldId id="295" r:id="rId16"/>
    <p:sldId id="294" r:id="rId17"/>
    <p:sldId id="298" r:id="rId18"/>
    <p:sldId id="310" r:id="rId19"/>
    <p:sldId id="318" r:id="rId20"/>
    <p:sldId id="358" r:id="rId21"/>
    <p:sldId id="357" r:id="rId22"/>
    <p:sldId id="366" r:id="rId23"/>
    <p:sldId id="368" r:id="rId24"/>
    <p:sldId id="328" r:id="rId25"/>
    <p:sldId id="316" r:id="rId26"/>
    <p:sldId id="370" r:id="rId27"/>
    <p:sldId id="314" r:id="rId28"/>
    <p:sldId id="315" r:id="rId29"/>
    <p:sldId id="305" r:id="rId30"/>
    <p:sldId id="376" r:id="rId31"/>
    <p:sldId id="324" r:id="rId32"/>
    <p:sldId id="325" r:id="rId33"/>
    <p:sldId id="383" r:id="rId34"/>
    <p:sldId id="384" r:id="rId35"/>
    <p:sldId id="326" r:id="rId36"/>
    <p:sldId id="377" r:id="rId37"/>
    <p:sldId id="378" r:id="rId38"/>
    <p:sldId id="379" r:id="rId39"/>
    <p:sldId id="380" r:id="rId40"/>
    <p:sldId id="381" r:id="rId41"/>
    <p:sldId id="382" r:id="rId42"/>
    <p:sldId id="284" r:id="rId43"/>
    <p:sldId id="285" r:id="rId44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46"/>
      <p:bold r:id="rId47"/>
      <p:italic r:id="rId48"/>
      <p:boldItalic r:id="rId49"/>
    </p:embeddedFont>
    <p:embeddedFont>
      <p:font typeface="Cambria Math" panose="02040503050406030204" pitchFamily="18" charset="0"/>
      <p:regular r:id="rId50"/>
    </p:embeddedFont>
    <p:embeddedFont>
      <p:font typeface="Segoe UI Semibold" panose="020B0702040204020203" pitchFamily="34" charset="0"/>
      <p:regular r:id="rId51"/>
      <p:bold r:id="rId52"/>
      <p:italic r:id="rId53"/>
      <p:boldItalic r:id="rId54"/>
    </p:embeddedFont>
    <p:embeddedFont>
      <p:font typeface="Segoe UI Semilight" panose="020B0402040204020203" pitchFamily="34" charset="0"/>
      <p:regular r:id="rId55"/>
      <p:bold r:id="rId56"/>
      <p:italic r:id="rId57"/>
      <p:boldItalic r:id="rId58"/>
    </p:embeddedFont>
    <p:embeddedFont>
      <p:font typeface="Source Sans Pro" panose="020B0503030403020204" pitchFamily="34" charset="-18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D01"/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464744-5EF8-4A23-BA49-EC68D10D153F}">
  <a:tblStyle styleId="{FE464744-5EF8-4A23-BA49-EC68D10D153F}" styleName="Table_0"/>
  <a:tblStyle styleId="{3C2FFA5D-87B4-456A-9821-1D502468CF0F}" styleName="Téma alapján készült stílus 1 – 1. jelölőszín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éma alapján készült stílus 1 – 3. jelölőszín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94694"/>
  </p:normalViewPr>
  <p:slideViewPr>
    <p:cSldViewPr snapToGrid="0">
      <p:cViewPr varScale="1">
        <p:scale>
          <a:sx n="96" d="100"/>
          <a:sy n="96" d="100"/>
        </p:scale>
        <p:origin x="3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font" Target="fonts/font16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9.fntdata"/><Relationship Id="rId62" Type="http://schemas.openxmlformats.org/officeDocument/2006/relationships/font" Target="fonts/font1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04DA1F-BBA2-4E39-B452-308AF222424B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hu-HU"/>
        </a:p>
      </dgm:t>
    </dgm:pt>
    <dgm:pt modelId="{C2534E3F-7D8F-44E5-8D25-0FD0B2F16412}">
      <dgm:prSet phldrT="[Szöveg]"/>
      <dgm:spPr/>
      <dgm:t>
        <a:bodyPr/>
        <a:lstStyle/>
        <a:p>
          <a:r>
            <a:rPr lang="hu-HU" b="1" i="1" dirty="0"/>
            <a:t>Készpénz</a:t>
          </a:r>
        </a:p>
      </dgm:t>
    </dgm:pt>
    <dgm:pt modelId="{8AB8950A-1EB4-46FC-BB97-907AB243B36D}" type="parTrans" cxnId="{31ED06CB-44ED-4537-A743-EA247BAD060E}">
      <dgm:prSet/>
      <dgm:spPr/>
      <dgm:t>
        <a:bodyPr/>
        <a:lstStyle/>
        <a:p>
          <a:endParaRPr lang="hu-HU"/>
        </a:p>
      </dgm:t>
    </dgm:pt>
    <dgm:pt modelId="{33853821-FF3A-44CD-81DE-FC5AD4EBD912}" type="sibTrans" cxnId="{31ED06CB-44ED-4537-A743-EA247BAD060E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hu-HU"/>
        </a:p>
      </dgm:t>
    </dgm:pt>
    <dgm:pt modelId="{CD530881-CC60-40F0-97C5-650EF546B7BE}">
      <dgm:prSet phldrT="[Szöveg]"/>
      <dgm:spPr/>
      <dgm:t>
        <a:bodyPr/>
        <a:lstStyle/>
        <a:p>
          <a:r>
            <a:rPr lang="hu-HU" b="1" i="1" dirty="0"/>
            <a:t>Anyag-áru</a:t>
          </a:r>
        </a:p>
      </dgm:t>
    </dgm:pt>
    <dgm:pt modelId="{7C4837A7-BE69-464A-B2D7-0D57A7301FB1}" type="parTrans" cxnId="{DB1446F9-2335-449D-97E8-8952A50B9E8A}">
      <dgm:prSet/>
      <dgm:spPr/>
      <dgm:t>
        <a:bodyPr/>
        <a:lstStyle/>
        <a:p>
          <a:endParaRPr lang="hu-HU"/>
        </a:p>
      </dgm:t>
    </dgm:pt>
    <dgm:pt modelId="{9577DAF0-F9B8-4731-9E2B-6AC8827CEBA7}" type="sibTrans" cxnId="{DB1446F9-2335-449D-97E8-8952A50B9E8A}">
      <dgm:prSet/>
      <dgm:spPr/>
      <dgm:t>
        <a:bodyPr/>
        <a:lstStyle/>
        <a:p>
          <a:endParaRPr lang="hu-HU"/>
        </a:p>
      </dgm:t>
    </dgm:pt>
    <dgm:pt modelId="{5D93CFD0-04A3-40D3-BBF4-5F6C033F37D0}">
      <dgm:prSet phldrT="[Szöveg]"/>
      <dgm:spPr/>
      <dgm:t>
        <a:bodyPr/>
        <a:lstStyle/>
        <a:p>
          <a:r>
            <a:rPr lang="hu-HU" b="1" i="1" dirty="0"/>
            <a:t>Késztermék, készletek</a:t>
          </a:r>
        </a:p>
      </dgm:t>
    </dgm:pt>
    <dgm:pt modelId="{D8A3AE5B-699A-4E17-88E7-2A58BBE5136D}" type="parTrans" cxnId="{734F1E86-9C7B-42E0-B518-3488326D92B8}">
      <dgm:prSet/>
      <dgm:spPr/>
      <dgm:t>
        <a:bodyPr/>
        <a:lstStyle/>
        <a:p>
          <a:endParaRPr lang="hu-HU"/>
        </a:p>
      </dgm:t>
    </dgm:pt>
    <dgm:pt modelId="{1EE80DE3-475F-4BB0-9598-DAF6FB8DBC66}" type="sibTrans" cxnId="{734F1E86-9C7B-42E0-B518-3488326D92B8}">
      <dgm:prSet/>
      <dgm:spPr/>
      <dgm:t>
        <a:bodyPr/>
        <a:lstStyle/>
        <a:p>
          <a:endParaRPr lang="hu-HU"/>
        </a:p>
      </dgm:t>
    </dgm:pt>
    <dgm:pt modelId="{23720B8C-6C7F-4F13-A6A7-30203CB603DD}">
      <dgm:prSet phldrT="[Szöveg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hu-HU" b="1" i="1" dirty="0">
              <a:solidFill>
                <a:schemeClr val="tx1">
                  <a:lumMod val="95000"/>
                  <a:lumOff val="5000"/>
                </a:schemeClr>
              </a:solidFill>
            </a:rPr>
            <a:t>Értékesítés</a:t>
          </a:r>
        </a:p>
      </dgm:t>
    </dgm:pt>
    <dgm:pt modelId="{7ED27679-D186-4193-BD96-2F7E77C7FCC7}" type="parTrans" cxnId="{640802A2-0400-46E1-B4AE-9A6069C19D1F}">
      <dgm:prSet/>
      <dgm:spPr/>
      <dgm:t>
        <a:bodyPr/>
        <a:lstStyle/>
        <a:p>
          <a:endParaRPr lang="hu-HU"/>
        </a:p>
      </dgm:t>
    </dgm:pt>
    <dgm:pt modelId="{6B5B636A-E45B-46F2-B282-BDEC154499D5}" type="sibTrans" cxnId="{640802A2-0400-46E1-B4AE-9A6069C19D1F}">
      <dgm:prSet/>
      <dgm:spPr/>
      <dgm:t>
        <a:bodyPr/>
        <a:lstStyle/>
        <a:p>
          <a:endParaRPr lang="hu-HU"/>
        </a:p>
      </dgm:t>
    </dgm:pt>
    <dgm:pt modelId="{28C4A525-E64C-4E38-AF4F-7534D6EDCDD5}">
      <dgm:prSet phldrT="[Szöveg]"/>
      <dgm:spPr/>
      <dgm:t>
        <a:bodyPr/>
        <a:lstStyle/>
        <a:p>
          <a:r>
            <a:rPr lang="hu-HU" b="1" i="1" dirty="0"/>
            <a:t>Vevőállomány</a:t>
          </a:r>
        </a:p>
      </dgm:t>
    </dgm:pt>
    <dgm:pt modelId="{B4182685-0CEA-4084-8650-9252917F166D}" type="parTrans" cxnId="{F38E8C8F-DF35-4602-8791-DD5355388728}">
      <dgm:prSet/>
      <dgm:spPr/>
      <dgm:t>
        <a:bodyPr/>
        <a:lstStyle/>
        <a:p>
          <a:endParaRPr lang="hu-HU"/>
        </a:p>
      </dgm:t>
    </dgm:pt>
    <dgm:pt modelId="{038B6757-05B5-4F85-9E24-500A1F2095D9}" type="sibTrans" cxnId="{F38E8C8F-DF35-4602-8791-DD5355388728}">
      <dgm:prSet/>
      <dgm:spPr/>
      <dgm:t>
        <a:bodyPr/>
        <a:lstStyle/>
        <a:p>
          <a:endParaRPr lang="hu-HU"/>
        </a:p>
      </dgm:t>
    </dgm:pt>
    <dgm:pt modelId="{BFAA1B2A-A3FA-4492-9EB2-E59486840D19}">
      <dgm:prSet/>
      <dgm:spPr/>
      <dgm:t>
        <a:bodyPr/>
        <a:lstStyle/>
        <a:p>
          <a:r>
            <a:rPr lang="hu-HU" b="1" i="1" dirty="0">
              <a:solidFill>
                <a:schemeClr val="tx1">
                  <a:lumMod val="95000"/>
                  <a:lumOff val="5000"/>
                </a:schemeClr>
              </a:solidFill>
            </a:rPr>
            <a:t>Termelés</a:t>
          </a:r>
        </a:p>
      </dgm:t>
    </dgm:pt>
    <dgm:pt modelId="{FF31BD62-56D6-454B-B298-35C59943A6ED}" type="parTrans" cxnId="{D1160D17-482F-43F3-A889-0C6997D29E37}">
      <dgm:prSet/>
      <dgm:spPr/>
      <dgm:t>
        <a:bodyPr/>
        <a:lstStyle/>
        <a:p>
          <a:endParaRPr lang="hu-HU"/>
        </a:p>
      </dgm:t>
    </dgm:pt>
    <dgm:pt modelId="{79F6B4B9-994C-4263-86BD-7C474B527AB9}" type="sibTrans" cxnId="{D1160D17-482F-43F3-A889-0C6997D29E37}">
      <dgm:prSet/>
      <dgm:spPr/>
      <dgm:t>
        <a:bodyPr/>
        <a:lstStyle/>
        <a:p>
          <a:endParaRPr lang="hu-HU"/>
        </a:p>
      </dgm:t>
    </dgm:pt>
    <dgm:pt modelId="{25D0248B-7919-4D94-993E-A1F311C52C11}" type="pres">
      <dgm:prSet presAssocID="{F704DA1F-BBA2-4E39-B452-308AF222424B}" presName="Name0" presStyleCnt="0">
        <dgm:presLayoutVars>
          <dgm:dir/>
          <dgm:resizeHandles val="exact"/>
        </dgm:presLayoutVars>
      </dgm:prSet>
      <dgm:spPr/>
    </dgm:pt>
    <dgm:pt modelId="{8C1C2FA4-5F20-4EC8-A810-E005829FE2FE}" type="pres">
      <dgm:prSet presAssocID="{F704DA1F-BBA2-4E39-B452-308AF222424B}" presName="cycle" presStyleCnt="0"/>
      <dgm:spPr/>
    </dgm:pt>
    <dgm:pt modelId="{FCC7E46C-E91D-4396-A9C9-20DD50816BD2}" type="pres">
      <dgm:prSet presAssocID="{C2534E3F-7D8F-44E5-8D25-0FD0B2F16412}" presName="nodeFirstNode" presStyleLbl="node1" presStyleIdx="0" presStyleCnt="6">
        <dgm:presLayoutVars>
          <dgm:bulletEnabled val="1"/>
        </dgm:presLayoutVars>
      </dgm:prSet>
      <dgm:spPr/>
    </dgm:pt>
    <dgm:pt modelId="{066BA7E0-7C3F-44C5-AF6B-52F561882BEB}" type="pres">
      <dgm:prSet presAssocID="{33853821-FF3A-44CD-81DE-FC5AD4EBD912}" presName="sibTransFirstNode" presStyleLbl="bgShp" presStyleIdx="0" presStyleCnt="1"/>
      <dgm:spPr/>
    </dgm:pt>
    <dgm:pt modelId="{8C850AF9-E7DE-4244-8581-D63CF9F1D107}" type="pres">
      <dgm:prSet presAssocID="{CD530881-CC60-40F0-97C5-650EF546B7BE}" presName="nodeFollowingNodes" presStyleLbl="node1" presStyleIdx="1" presStyleCnt="6">
        <dgm:presLayoutVars>
          <dgm:bulletEnabled val="1"/>
        </dgm:presLayoutVars>
      </dgm:prSet>
      <dgm:spPr/>
    </dgm:pt>
    <dgm:pt modelId="{81251FE1-C7C9-488F-B6AF-5239482E01A7}" type="pres">
      <dgm:prSet presAssocID="{BFAA1B2A-A3FA-4492-9EB2-E59486840D19}" presName="nodeFollowingNodes" presStyleLbl="node1" presStyleIdx="2" presStyleCnt="6" custRadScaleRad="111000" custRadScaleInc="-24430">
        <dgm:presLayoutVars>
          <dgm:bulletEnabled val="1"/>
        </dgm:presLayoutVars>
      </dgm:prSet>
      <dgm:spPr/>
    </dgm:pt>
    <dgm:pt modelId="{C3E4241D-11A7-44B1-B7DF-289BA1352B0C}" type="pres">
      <dgm:prSet presAssocID="{5D93CFD0-04A3-40D3-BBF4-5F6C033F37D0}" presName="nodeFollowingNodes" presStyleLbl="node1" presStyleIdx="3" presStyleCnt="6" custRadScaleRad="98980" custRadScaleInc="-4697">
        <dgm:presLayoutVars>
          <dgm:bulletEnabled val="1"/>
        </dgm:presLayoutVars>
      </dgm:prSet>
      <dgm:spPr/>
    </dgm:pt>
    <dgm:pt modelId="{BBA77233-B273-4C1B-82B9-76AB3561FF52}" type="pres">
      <dgm:prSet presAssocID="{23720B8C-6C7F-4F13-A6A7-30203CB603DD}" presName="nodeFollowingNodes" presStyleLbl="node1" presStyleIdx="4" presStyleCnt="6" custRadScaleRad="104176" custRadScaleInc="18405">
        <dgm:presLayoutVars>
          <dgm:bulletEnabled val="1"/>
        </dgm:presLayoutVars>
      </dgm:prSet>
      <dgm:spPr/>
    </dgm:pt>
    <dgm:pt modelId="{3EB84D30-46E3-4C35-9A45-089DC1B39137}" type="pres">
      <dgm:prSet presAssocID="{28C4A525-E64C-4E38-AF4F-7534D6EDCDD5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C6059605-C596-42BC-B341-6519F8399D39}" type="presOf" srcId="{5D93CFD0-04A3-40D3-BBF4-5F6C033F37D0}" destId="{C3E4241D-11A7-44B1-B7DF-289BA1352B0C}" srcOrd="0" destOrd="0" presId="urn:microsoft.com/office/officeart/2005/8/layout/cycle3"/>
    <dgm:cxn modelId="{D1160D17-482F-43F3-A889-0C6997D29E37}" srcId="{F704DA1F-BBA2-4E39-B452-308AF222424B}" destId="{BFAA1B2A-A3FA-4492-9EB2-E59486840D19}" srcOrd="2" destOrd="0" parTransId="{FF31BD62-56D6-454B-B298-35C59943A6ED}" sibTransId="{79F6B4B9-994C-4263-86BD-7C474B527AB9}"/>
    <dgm:cxn modelId="{0ED52224-4C9F-4E3C-A833-8D87F3FF5A15}" type="presOf" srcId="{C2534E3F-7D8F-44E5-8D25-0FD0B2F16412}" destId="{FCC7E46C-E91D-4396-A9C9-20DD50816BD2}" srcOrd="0" destOrd="0" presId="urn:microsoft.com/office/officeart/2005/8/layout/cycle3"/>
    <dgm:cxn modelId="{CBCEC529-0AC6-46EC-A91E-BA6A74FD7569}" type="presOf" srcId="{CD530881-CC60-40F0-97C5-650EF546B7BE}" destId="{8C850AF9-E7DE-4244-8581-D63CF9F1D107}" srcOrd="0" destOrd="0" presId="urn:microsoft.com/office/officeart/2005/8/layout/cycle3"/>
    <dgm:cxn modelId="{D8FD9749-0A6F-4154-9BEE-D9A4B6AFE3EA}" type="presOf" srcId="{28C4A525-E64C-4E38-AF4F-7534D6EDCDD5}" destId="{3EB84D30-46E3-4C35-9A45-089DC1B39137}" srcOrd="0" destOrd="0" presId="urn:microsoft.com/office/officeart/2005/8/layout/cycle3"/>
    <dgm:cxn modelId="{ED7D8974-6200-4B9E-BCA6-90E0B406A981}" type="presOf" srcId="{F704DA1F-BBA2-4E39-B452-308AF222424B}" destId="{25D0248B-7919-4D94-993E-A1F311C52C11}" srcOrd="0" destOrd="0" presId="urn:microsoft.com/office/officeart/2005/8/layout/cycle3"/>
    <dgm:cxn modelId="{AD39C374-4620-4160-9F5B-50F73514A179}" type="presOf" srcId="{33853821-FF3A-44CD-81DE-FC5AD4EBD912}" destId="{066BA7E0-7C3F-44C5-AF6B-52F561882BEB}" srcOrd="0" destOrd="0" presId="urn:microsoft.com/office/officeart/2005/8/layout/cycle3"/>
    <dgm:cxn modelId="{61D5E855-54EE-4BE7-BDA7-0B6CB08EB0DF}" type="presOf" srcId="{BFAA1B2A-A3FA-4492-9EB2-E59486840D19}" destId="{81251FE1-C7C9-488F-B6AF-5239482E01A7}" srcOrd="0" destOrd="0" presId="urn:microsoft.com/office/officeart/2005/8/layout/cycle3"/>
    <dgm:cxn modelId="{734F1E86-9C7B-42E0-B518-3488326D92B8}" srcId="{F704DA1F-BBA2-4E39-B452-308AF222424B}" destId="{5D93CFD0-04A3-40D3-BBF4-5F6C033F37D0}" srcOrd="3" destOrd="0" parTransId="{D8A3AE5B-699A-4E17-88E7-2A58BBE5136D}" sibTransId="{1EE80DE3-475F-4BB0-9598-DAF6FB8DBC66}"/>
    <dgm:cxn modelId="{F38E8C8F-DF35-4602-8791-DD5355388728}" srcId="{F704DA1F-BBA2-4E39-B452-308AF222424B}" destId="{28C4A525-E64C-4E38-AF4F-7534D6EDCDD5}" srcOrd="5" destOrd="0" parTransId="{B4182685-0CEA-4084-8650-9252917F166D}" sibTransId="{038B6757-05B5-4F85-9E24-500A1F2095D9}"/>
    <dgm:cxn modelId="{640802A2-0400-46E1-B4AE-9A6069C19D1F}" srcId="{F704DA1F-BBA2-4E39-B452-308AF222424B}" destId="{23720B8C-6C7F-4F13-A6A7-30203CB603DD}" srcOrd="4" destOrd="0" parTransId="{7ED27679-D186-4193-BD96-2F7E77C7FCC7}" sibTransId="{6B5B636A-E45B-46F2-B282-BDEC154499D5}"/>
    <dgm:cxn modelId="{31ED06CB-44ED-4537-A743-EA247BAD060E}" srcId="{F704DA1F-BBA2-4E39-B452-308AF222424B}" destId="{C2534E3F-7D8F-44E5-8D25-0FD0B2F16412}" srcOrd="0" destOrd="0" parTransId="{8AB8950A-1EB4-46FC-BB97-907AB243B36D}" sibTransId="{33853821-FF3A-44CD-81DE-FC5AD4EBD912}"/>
    <dgm:cxn modelId="{90DA87D7-153C-42EC-A9EB-71486BBC9354}" type="presOf" srcId="{23720B8C-6C7F-4F13-A6A7-30203CB603DD}" destId="{BBA77233-B273-4C1B-82B9-76AB3561FF52}" srcOrd="0" destOrd="0" presId="urn:microsoft.com/office/officeart/2005/8/layout/cycle3"/>
    <dgm:cxn modelId="{DB1446F9-2335-449D-97E8-8952A50B9E8A}" srcId="{F704DA1F-BBA2-4E39-B452-308AF222424B}" destId="{CD530881-CC60-40F0-97C5-650EF546B7BE}" srcOrd="1" destOrd="0" parTransId="{7C4837A7-BE69-464A-B2D7-0D57A7301FB1}" sibTransId="{9577DAF0-F9B8-4731-9E2B-6AC8827CEBA7}"/>
    <dgm:cxn modelId="{EF84AABF-BC93-4762-93D1-708FD30C0AE9}" type="presParOf" srcId="{25D0248B-7919-4D94-993E-A1F311C52C11}" destId="{8C1C2FA4-5F20-4EC8-A810-E005829FE2FE}" srcOrd="0" destOrd="0" presId="urn:microsoft.com/office/officeart/2005/8/layout/cycle3"/>
    <dgm:cxn modelId="{FC5665EB-C7AA-4952-853E-4E31B1729794}" type="presParOf" srcId="{8C1C2FA4-5F20-4EC8-A810-E005829FE2FE}" destId="{FCC7E46C-E91D-4396-A9C9-20DD50816BD2}" srcOrd="0" destOrd="0" presId="urn:microsoft.com/office/officeart/2005/8/layout/cycle3"/>
    <dgm:cxn modelId="{FD620881-0E61-4DD5-BFAC-B8D0EEC36144}" type="presParOf" srcId="{8C1C2FA4-5F20-4EC8-A810-E005829FE2FE}" destId="{066BA7E0-7C3F-44C5-AF6B-52F561882BEB}" srcOrd="1" destOrd="0" presId="urn:microsoft.com/office/officeart/2005/8/layout/cycle3"/>
    <dgm:cxn modelId="{2C17F97E-9BBC-4781-A3AD-F1FEA9509FD5}" type="presParOf" srcId="{8C1C2FA4-5F20-4EC8-A810-E005829FE2FE}" destId="{8C850AF9-E7DE-4244-8581-D63CF9F1D107}" srcOrd="2" destOrd="0" presId="urn:microsoft.com/office/officeart/2005/8/layout/cycle3"/>
    <dgm:cxn modelId="{47D04AB6-F07E-424B-962F-9315228D0EFE}" type="presParOf" srcId="{8C1C2FA4-5F20-4EC8-A810-E005829FE2FE}" destId="{81251FE1-C7C9-488F-B6AF-5239482E01A7}" srcOrd="3" destOrd="0" presId="urn:microsoft.com/office/officeart/2005/8/layout/cycle3"/>
    <dgm:cxn modelId="{B5EEC50A-4297-4579-AF0B-A40D33944268}" type="presParOf" srcId="{8C1C2FA4-5F20-4EC8-A810-E005829FE2FE}" destId="{C3E4241D-11A7-44B1-B7DF-289BA1352B0C}" srcOrd="4" destOrd="0" presId="urn:microsoft.com/office/officeart/2005/8/layout/cycle3"/>
    <dgm:cxn modelId="{DC221A7E-4A1F-4D25-BBFB-1B9E361C5E38}" type="presParOf" srcId="{8C1C2FA4-5F20-4EC8-A810-E005829FE2FE}" destId="{BBA77233-B273-4C1B-82B9-76AB3561FF52}" srcOrd="5" destOrd="0" presId="urn:microsoft.com/office/officeart/2005/8/layout/cycle3"/>
    <dgm:cxn modelId="{14018A79-CCEB-4523-AE65-2E3215DCB367}" type="presParOf" srcId="{8C1C2FA4-5F20-4EC8-A810-E005829FE2FE}" destId="{3EB84D30-46E3-4C35-9A45-089DC1B39137}" srcOrd="6" destOrd="0" presId="urn:microsoft.com/office/officeart/2005/8/layout/cycle3"/>
  </dgm:cxnLst>
  <dgm:bg>
    <a:solidFill>
      <a:schemeClr val="bg1">
        <a:lumMod val="95000"/>
      </a:schemeClr>
    </a:solidFill>
  </dgm:bg>
  <dgm:whole>
    <a:ln w="28575">
      <a:solidFill>
        <a:schemeClr val="accent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6BA7E0-7C3F-44C5-AF6B-52F561882BEB}">
      <dsp:nvSpPr>
        <dsp:cNvPr id="0" name=""/>
        <dsp:cNvSpPr/>
      </dsp:nvSpPr>
      <dsp:spPr>
        <a:xfrm>
          <a:off x="1377641" y="-3431"/>
          <a:ext cx="4157484" cy="4157484"/>
        </a:xfrm>
        <a:prstGeom prst="circularArrow">
          <a:avLst>
            <a:gd name="adj1" fmla="val 5274"/>
            <a:gd name="adj2" fmla="val 312630"/>
            <a:gd name="adj3" fmla="val 14248037"/>
            <a:gd name="adj4" fmla="val 17115380"/>
            <a:gd name="adj5" fmla="val 5477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C7E46C-E91D-4396-A9C9-20DD50816BD2}">
      <dsp:nvSpPr>
        <dsp:cNvPr id="0" name=""/>
        <dsp:cNvSpPr/>
      </dsp:nvSpPr>
      <dsp:spPr>
        <a:xfrm>
          <a:off x="2674984" y="1925"/>
          <a:ext cx="1562798" cy="781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1" i="1" kern="1200" dirty="0"/>
            <a:t>Készpénz</a:t>
          </a:r>
        </a:p>
      </dsp:txBody>
      <dsp:txXfrm>
        <a:off x="2713129" y="40070"/>
        <a:ext cx="1486508" cy="705109"/>
      </dsp:txXfrm>
    </dsp:sp>
    <dsp:sp modelId="{8C850AF9-E7DE-4244-8581-D63CF9F1D107}">
      <dsp:nvSpPr>
        <dsp:cNvPr id="0" name=""/>
        <dsp:cNvSpPr/>
      </dsp:nvSpPr>
      <dsp:spPr>
        <a:xfrm>
          <a:off x="4135628" y="845228"/>
          <a:ext cx="1562798" cy="7813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1" i="1" kern="1200" dirty="0"/>
            <a:t>Anyag-áru</a:t>
          </a:r>
        </a:p>
      </dsp:txBody>
      <dsp:txXfrm>
        <a:off x="4173773" y="883373"/>
        <a:ext cx="1486508" cy="705109"/>
      </dsp:txXfrm>
    </dsp:sp>
    <dsp:sp modelId="{81251FE1-C7C9-488F-B6AF-5239482E01A7}">
      <dsp:nvSpPr>
        <dsp:cNvPr id="0" name=""/>
        <dsp:cNvSpPr/>
      </dsp:nvSpPr>
      <dsp:spPr>
        <a:xfrm>
          <a:off x="4461096" y="2249497"/>
          <a:ext cx="1562798" cy="7813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1" i="1" kern="1200" dirty="0">
              <a:solidFill>
                <a:schemeClr val="tx1">
                  <a:lumMod val="95000"/>
                  <a:lumOff val="5000"/>
                </a:schemeClr>
              </a:solidFill>
            </a:rPr>
            <a:t>Termelés</a:t>
          </a:r>
        </a:p>
      </dsp:txBody>
      <dsp:txXfrm>
        <a:off x="4499241" y="2287642"/>
        <a:ext cx="1486508" cy="705109"/>
      </dsp:txXfrm>
    </dsp:sp>
    <dsp:sp modelId="{C3E4241D-11A7-44B1-B7DF-289BA1352B0C}">
      <dsp:nvSpPr>
        <dsp:cNvPr id="0" name=""/>
        <dsp:cNvSpPr/>
      </dsp:nvSpPr>
      <dsp:spPr>
        <a:xfrm>
          <a:off x="2745345" y="3356450"/>
          <a:ext cx="1562798" cy="7813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1" i="1" kern="1200" dirty="0"/>
            <a:t>Késztermék, készletek</a:t>
          </a:r>
        </a:p>
      </dsp:txBody>
      <dsp:txXfrm>
        <a:off x="2783490" y="3394595"/>
        <a:ext cx="1486508" cy="705109"/>
      </dsp:txXfrm>
    </dsp:sp>
    <dsp:sp modelId="{BBA77233-B273-4C1B-82B9-76AB3561FF52}">
      <dsp:nvSpPr>
        <dsp:cNvPr id="0" name=""/>
        <dsp:cNvSpPr/>
      </dsp:nvSpPr>
      <dsp:spPr>
        <a:xfrm>
          <a:off x="1029586" y="2304852"/>
          <a:ext cx="1562798" cy="781399"/>
        </a:xfrm>
        <a:prstGeom prst="round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1" i="1" kern="1200" dirty="0">
              <a:solidFill>
                <a:schemeClr val="tx1">
                  <a:lumMod val="95000"/>
                  <a:lumOff val="5000"/>
                </a:schemeClr>
              </a:solidFill>
            </a:rPr>
            <a:t>Értékesítés</a:t>
          </a:r>
        </a:p>
      </dsp:txBody>
      <dsp:txXfrm>
        <a:off x="1067731" y="2342997"/>
        <a:ext cx="1486508" cy="705109"/>
      </dsp:txXfrm>
    </dsp:sp>
    <dsp:sp modelId="{3EB84D30-46E3-4C35-9A45-089DC1B39137}">
      <dsp:nvSpPr>
        <dsp:cNvPr id="0" name=""/>
        <dsp:cNvSpPr/>
      </dsp:nvSpPr>
      <dsp:spPr>
        <a:xfrm>
          <a:off x="1214340" y="845228"/>
          <a:ext cx="1562798" cy="781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1" i="1" kern="1200" dirty="0"/>
            <a:t>Vevőállomány</a:t>
          </a:r>
        </a:p>
      </dsp:txBody>
      <dsp:txXfrm>
        <a:off x="1252485" y="883373"/>
        <a:ext cx="1486508" cy="705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177989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996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2347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F43DECC8-6EE7-E03F-32E4-F8CF28AF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E5376D58-AB99-C011-67F7-CB786B2530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D4F2126C-34EE-086C-2F67-D4D7E43654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0892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90E1DD14-5185-C6A0-1A85-1A8EEF89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EC1E9EAC-69E7-B872-9D1D-E8352D1FD2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7E6C233E-9A7D-7D4E-2B67-7D2F037244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9579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D6EB3172-297D-6379-99B5-88A189BD0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E62942E1-190D-8A4E-5F0F-CC246E56B1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1F76A588-2ED5-7053-A6EF-B6C4BB674C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8088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37DA8A0A-C049-290A-5DB1-F671DD71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FAC6E939-E309-497B-AE50-26FDAFA7C4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62500361-3362-DEE7-C730-6F9F80FE8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7342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3506A03D-7CD7-7CE8-EA53-F340F9530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E93D67F3-A175-8670-C734-ADFF8F76C8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9F78E2B9-D510-A7CD-13E4-AB18883D15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680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B712C868-39C1-44D1-D02B-4D2192BAD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06220455-6283-C213-DAC2-D96B18266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F0A19474-9860-F096-9A75-2E3F6DF71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8411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A9FB4AFB-6C6A-4491-15CC-222D27A97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B76278CE-BDFD-1BAB-7CBF-C7C175600D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4F76EBE7-E764-2ACF-D715-477CD327E0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5704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7DA5EB5B-AEB7-5804-A314-462AF1C3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46FE2325-9F29-C545-2E4E-8D952C33A9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FC02EE5F-36C1-A219-029A-402B62C53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9640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ED662901-A8F6-E5E2-31FA-B5A3F2750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F96C6131-8695-CCD6-7E09-7574656713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10878EAA-84DF-7412-B9AC-971CB1FDC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9173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50836E82-0E47-AD3F-197B-CF3281484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F2F8D459-6415-7865-9B44-CD16EE5D9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49F50857-69A6-C3CA-324A-0C421483B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1182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5B14EF6C-931A-6890-5A97-ED987DC0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C611A308-44A7-FC6F-58A5-B2695AB9F8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C4386326-D1A8-B097-B2AE-973B564E8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9311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3B6450F9-45BA-6FBC-3C7A-6929A9C3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2721A0E4-EA5B-4300-57F4-AB3A9710E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653A3D34-8B38-4A9B-5076-62709051F9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184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4D73BD18-598B-5520-A929-EE3964BE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00690C2F-D505-61AC-B13A-07313CBAD3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EF8212CC-CFBB-930E-00B3-F8F23C8514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23543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33037A01-F123-DCDC-A6F7-D6EA327F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81CB99EF-64CF-D38F-0266-12D98E782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6D046C0B-A8EF-2351-C733-F63D7A579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24179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7DCF27C8-B3A1-A645-B8CC-F058217A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E57D5230-3F19-EAFB-3681-9446431500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2EBDC721-B7C0-898D-2BEE-D44CF1D408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9627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44F99873-947B-01DA-370F-5A4BDAD7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540BBA88-E8F2-E1D2-B6ED-ECF2FCE11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F2CECA48-0369-8C67-3424-3B0ACD1C5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2223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7DA5EB5B-AEB7-5804-A314-462AF1C3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46FE2325-9F29-C545-2E4E-8D952C33A9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FC02EE5F-36C1-A219-029A-402B62C53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96401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D5FD3C80-0945-93A2-F258-9F0203D39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AAF81C8E-04AB-FD06-EB72-DC14DBDCFB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178FA19D-1FB5-4287-DE80-83D04A2BD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05318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FA441465-A649-1778-2663-E50EB83E2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>
            <a:extLst>
              <a:ext uri="{FF2B5EF4-FFF2-40B4-BE49-F238E27FC236}">
                <a16:creationId xmlns:a16="http://schemas.microsoft.com/office/drawing/2014/main" id="{B56D1D7A-A3A3-311F-8C1A-A82908B4C8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" name="Shape 284">
            <a:extLst>
              <a:ext uri="{FF2B5EF4-FFF2-40B4-BE49-F238E27FC236}">
                <a16:creationId xmlns:a16="http://schemas.microsoft.com/office/drawing/2014/main" id="{C26D6EAC-5580-AD01-1705-E20519414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20557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1" name="Shape 3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4051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8732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7">
            <a:extLst>
              <a:ext uri="{FF2B5EF4-FFF2-40B4-BE49-F238E27FC236}">
                <a16:creationId xmlns:a16="http://schemas.microsoft.com/office/drawing/2014/main" id="{F9221921-C9D0-1EF4-E78F-90498E3E29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3E030D-24F2-E730-2967-9596CC7FD9B1}"/>
              </a:ext>
            </a:extLst>
          </p:cNvPr>
          <p:cNvSpPr/>
          <p:nvPr userDrawn="1"/>
        </p:nvSpPr>
        <p:spPr>
          <a:xfrm>
            <a:off x="1256371" y="654205"/>
            <a:ext cx="2765502" cy="394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B186BD-FAC2-A6E4-E445-B7C9A548EAAA}"/>
              </a:ext>
            </a:extLst>
          </p:cNvPr>
          <p:cNvSpPr/>
          <p:nvPr userDrawn="1"/>
        </p:nvSpPr>
        <p:spPr>
          <a:xfrm>
            <a:off x="182880" y="278674"/>
            <a:ext cx="3396343" cy="1175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8B9DF5A-C0B8-F245-FE63-514F0F7183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E612020B-D9BC-C0A1-9FD3-40FD242C3F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3E030D-24F2-E730-2967-9596CC7FD9B1}"/>
              </a:ext>
            </a:extLst>
          </p:cNvPr>
          <p:cNvSpPr/>
          <p:nvPr userDrawn="1"/>
        </p:nvSpPr>
        <p:spPr>
          <a:xfrm>
            <a:off x="1256371" y="654205"/>
            <a:ext cx="2765502" cy="394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8A2004-7ECA-5C08-0C38-57D294BCA9CC}"/>
              </a:ext>
            </a:extLst>
          </p:cNvPr>
          <p:cNvSpPr/>
          <p:nvPr userDrawn="1"/>
        </p:nvSpPr>
        <p:spPr>
          <a:xfrm>
            <a:off x="209006" y="322217"/>
            <a:ext cx="3405051" cy="1175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592C7CB-A7DA-6180-6B0F-C307427879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99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7">
            <a:extLst>
              <a:ext uri="{FF2B5EF4-FFF2-40B4-BE49-F238E27FC236}">
                <a16:creationId xmlns:a16="http://schemas.microsoft.com/office/drawing/2014/main" id="{D73EE193-0498-5FE6-06BD-FE55F64022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B80B435-2D41-9DF3-CC6D-D6376AC4D5AE}"/>
              </a:ext>
            </a:extLst>
          </p:cNvPr>
          <p:cNvSpPr/>
          <p:nvPr userDrawn="1"/>
        </p:nvSpPr>
        <p:spPr>
          <a:xfrm>
            <a:off x="1465731" y="699247"/>
            <a:ext cx="2635622" cy="349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BFC1BA-D56A-48B3-07F7-8DA75B3F7981}"/>
              </a:ext>
            </a:extLst>
          </p:cNvPr>
          <p:cNvSpPr/>
          <p:nvPr userDrawn="1"/>
        </p:nvSpPr>
        <p:spPr>
          <a:xfrm>
            <a:off x="217714" y="278674"/>
            <a:ext cx="3622766" cy="1419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5CB3617-BFF8-D159-C7A6-57E1A3A598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4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bg>
      <p:bgPr>
        <a:solidFill>
          <a:schemeClr val="bg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3">
            <a:extLst>
              <a:ext uri="{FF2B5EF4-FFF2-40B4-BE49-F238E27FC236}">
                <a16:creationId xmlns:a16="http://schemas.microsoft.com/office/drawing/2014/main" id="{114AE9B5-8E20-9CC6-B87C-EDC866925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5836"/>
          <a:stretch/>
        </p:blipFill>
        <p:spPr>
          <a:xfrm>
            <a:off x="0" y="4414982"/>
            <a:ext cx="9144000" cy="728518"/>
          </a:xfrm>
          <a:prstGeom prst="rect">
            <a:avLst/>
          </a:prstGeom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750374DF-F485-FFF1-52D6-9DDB86CBE8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419600"/>
            <a:ext cx="723900" cy="723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ody">
    <p:bg>
      <p:bgPr>
        <a:solidFill>
          <a:schemeClr val="bg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C72F76F4-6B35-2736-0075-048026F7C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A978718-56E3-5F4F-408A-688D485C1320}"/>
              </a:ext>
            </a:extLst>
          </p:cNvPr>
          <p:cNvSpPr/>
          <p:nvPr userDrawn="1"/>
        </p:nvSpPr>
        <p:spPr>
          <a:xfrm>
            <a:off x="1213338" y="536331"/>
            <a:ext cx="2549770" cy="369277"/>
          </a:xfrm>
          <a:prstGeom prst="rect">
            <a:avLst/>
          </a:prstGeom>
          <a:solidFill>
            <a:srgbClr val="FEED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CB939B-24B5-01AF-4771-0F904BCE2229}"/>
              </a:ext>
            </a:extLst>
          </p:cNvPr>
          <p:cNvSpPr/>
          <p:nvPr userDrawn="1"/>
        </p:nvSpPr>
        <p:spPr>
          <a:xfrm>
            <a:off x="200297" y="174171"/>
            <a:ext cx="2873829" cy="984069"/>
          </a:xfrm>
          <a:prstGeom prst="rect">
            <a:avLst/>
          </a:prstGeom>
          <a:solidFill>
            <a:srgbClr val="FEED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F7B6895-E923-8230-5431-0120313648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7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5" y="445030"/>
            <a:ext cx="8520599" cy="572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3999899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>
                <a:latin typeface="+mj-lt"/>
              </a:defRPr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 dirty="0"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1" y="1152475"/>
            <a:ext cx="3999899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>
                <a:latin typeface="+mj-lt"/>
              </a:defRPr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5" y="445030"/>
            <a:ext cx="8520599" cy="572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5" y="555601"/>
            <a:ext cx="2807999" cy="7556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5" y="1389600"/>
            <a:ext cx="2807999" cy="3179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>
                <a:latin typeface="+mj-lt"/>
              </a:defRPr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 dirty="0"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  <p:sp>
        <p:nvSpPr>
          <p:cNvPr id="5" name="Tartalom helye 4"/>
          <p:cNvSpPr>
            <a:spLocks noGrp="1"/>
          </p:cNvSpPr>
          <p:nvPr>
            <p:ph sz="quarter" idx="13"/>
          </p:nvPr>
        </p:nvSpPr>
        <p:spPr>
          <a:xfrm>
            <a:off x="3263903" y="555625"/>
            <a:ext cx="5549900" cy="4013200"/>
          </a:xfrm>
        </p:spPr>
        <p:txBody>
          <a:bodyPr/>
          <a:lstStyle>
            <a:lvl1pPr>
              <a:defRPr sz="2000">
                <a:latin typeface="+mj-lt"/>
              </a:defRPr>
            </a:lvl1pPr>
            <a:lvl2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2pPr>
            <a:lvl3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4pPr>
            <a:lvl5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394557" y="1779223"/>
            <a:ext cx="6367800" cy="528044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28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  <p:sp>
        <p:nvSpPr>
          <p:cNvPr id="7" name="Szöveg helye 6"/>
          <p:cNvSpPr>
            <a:spLocks noGrp="1"/>
          </p:cNvSpPr>
          <p:nvPr>
            <p:ph type="body" sz="quarter" idx="13"/>
          </p:nvPr>
        </p:nvSpPr>
        <p:spPr>
          <a:xfrm>
            <a:off x="394561" y="2307267"/>
            <a:ext cx="6367463" cy="500210"/>
          </a:xfrm>
        </p:spPr>
        <p:txBody>
          <a:bodyPr/>
          <a:lstStyle>
            <a:lvl1pPr>
              <a:defRPr sz="2400" baseline="0">
                <a:solidFill>
                  <a:srgbClr val="D9D9D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B97E11-0C2F-460F-9D86-F9D160438278}" type="datetime1">
              <a:rPr lang="hu-HU" smtClean="0"/>
              <a:t>2026. 03. 05.</a:t>
            </a:fld>
            <a:endParaRPr lang="en-US" dirty="0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79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5" y="44503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5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hu" sz="1000" smtClean="0">
                <a:solidFill>
                  <a:schemeClr val="dk2"/>
                </a:solidFill>
              </a:rPr>
              <a:pPr algn="r"/>
              <a:t>‹#›</a:t>
            </a:fld>
            <a:endParaRPr lang="hu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0" r:id="rId2"/>
    <p:sldLayoutId id="2147483661" r:id="rId3"/>
    <p:sldLayoutId id="2147483650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8" r:id="rId10"/>
    <p:sldLayoutId id="214748366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hyperlink" Target="https://www.google.com/search?q=Return+on+Equity&amp;client=firefox-b-d&amp;hs=MASp&amp;sca_esv=ff24eace6b27a26e&amp;sxsrf=ANbL-n4i8BzjoOCatoIJYvFzm2pryEPwUQ%3A1772545351305&amp;ei=R-WmaZ2lEt7qi-gPgr3jqQM&amp;biw=1280&amp;bih=559&amp;ved=2ahUKEwiNodfK84OTAxX83AIHHSb5O8MQgK4QegQIARAB&amp;uact=5&amp;oq=ROE+mutat%C3%B3&amp;gs_lp=Egxnd3Mtd2l6LXNlcnAiC1JPRSBtdXRhdMOzMgUQABiABDIFEAAYgAQyBRAAGIAEMgUQABiABDIGEAAYFhgeMgYQABgWGB4yBhAAGBYYHjIFEAAY7wUyBRAAGO8FSM0zUL8LWNgwcAF4AZABAJgBf6ABrQiqAQMyLji4AQPIAQD4AQGYAgugAo0JwgIKEAAYsAMY1gQYR8ICCxAAGIAEGLEDGIMBwgIOEAAYgAQYsQMYgwEYigXCAgsQLhiABBixAxiDAcICERAuGIAEGLEDGNEDGIMBGMcBwgIOEC4YgAQYsQMY0QMYxwHCAg4QLhiABBixAxiDARiKBcICCBAAGIAEGLEDwgIKECMYgAQYJxiKBcICChAAGIAEGEMYigXCAhAQABiABBixAxhDGIMBGIoFwgIFEC4YgATCAgoQLhiABBhDGIoFwgIUEC4YgAQYlwUY3AQY3gQY3wTYAQHCAggQABgWGAoYHpgDAIgGAZAGBLoGBggBEAEYFJIHAzIuOaAHkXGyBwMxLjm4B4YJwgcFMi03LjTIB0uACAA&amp;sclient=gws-wiz-serp&amp;mstk=AUtExfCeyg7uf29A-J_xkpAuM-gMfP4R-6BYHh1WpeQwAqa_7udh8yL8H8ZaFxXlAnQdeWGpav2R6Izus_AAFtXrRRxhtVKfD2UEUsDbrDGmE9mca3B_V7gK9pGVN0Dn06k6zYAVsICArzbiVwl9_X18RCB5umVi9_yBdRNh5uQuJSnYFok&amp;csui=3" TargetMode="Externa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hyperlink" Target="https://www.google.com/search?client=firefox-b-d&amp;q=DuPont-elemz%C3%A9s&amp;mstk=AUtExfAKTfRufVbPZdoSfc-Yrhh0QE0zaVcYpyfTtNogLN_OwxQP7149OtKt85sraI5l4M9qYm8dw7UCcZ2WIeKr7Ft7BcosPxZ3NUHGp146yTmDzlJv1NGkNw9JSe2OXYClWgHAKQOgcbiw2L6wfQ-tWmB-vkuPaXzRVfVw97fqo3vIDZY&amp;csui=3&amp;ved=2ahUKEwjKvqOA7oOTAxUd2QIHHeOoCs0QgK4QegQIARAB" TargetMode="Externa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uni-bge.hu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acebook.com/unibge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 t="-200000"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1">
            <a:extLst>
              <a:ext uri="{FF2B5EF4-FFF2-40B4-BE49-F238E27FC236}">
                <a16:creationId xmlns:a16="http://schemas.microsoft.com/office/drawing/2014/main" id="{4D15A6C2-C470-44E5-88E9-A56BD1DB1C00}"/>
              </a:ext>
            </a:extLst>
          </p:cNvPr>
          <p:cNvSpPr txBox="1">
            <a:spLocks/>
          </p:cNvSpPr>
          <p:nvPr/>
        </p:nvSpPr>
        <p:spPr>
          <a:xfrm>
            <a:off x="451209" y="2236904"/>
            <a:ext cx="8520599" cy="23903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all" baseline="0">
                <a:solidFill>
                  <a:schemeClr val="dk1"/>
                </a:solidFill>
                <a:latin typeface="Segoe UI Semibold" panose="020B0702040204020203" pitchFamily="34" charset="0"/>
                <a:ea typeface="Arial"/>
                <a:cs typeface="Segoe UI Semibold" panose="020B0702040204020203" pitchFamily="34" charset="0"/>
                <a:sym typeface="Arial"/>
                <a:rtl val="0"/>
              </a:defRPr>
            </a:lvl1pPr>
            <a:lvl2pPr lvl="1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9pPr>
          </a:lstStyle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Pénzügyek 3. szeminárium</a:t>
            </a:r>
            <a:b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hu-HU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Munka a pénzügyi kimutatásokkal</a:t>
            </a:r>
          </a:p>
          <a:p>
            <a:endParaRPr lang="hu-HU" sz="2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/>
        </p:nvSpPr>
        <p:spPr>
          <a:xfrm>
            <a:off x="1" y="1055735"/>
            <a:ext cx="9143999" cy="318496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lIns="91425" tIns="45700" rIns="91425" bIns="45700" anchor="t" anchorCtr="0">
            <a:noAutofit/>
          </a:bodyPr>
          <a:lstStyle/>
          <a:p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hu-HU" sz="2400" b="1" dirty="0">
                <a:latin typeface="Cambria" panose="02040503050406030204" pitchFamily="18" charset="0"/>
                <a:ea typeface="Cambria" panose="02040503050406030204" pitchFamily="18" charset="0"/>
              </a:rPr>
              <a:t>pénzügyi kimutatások</a:t>
            </a: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 arra szolgálnak, hogy </a:t>
            </a:r>
            <a:r>
              <a:rPr lang="hu-HU" sz="2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átlátható képet adjanak egy vállalkozás pénzügyi helyzetéről, teljesítményéről és működéséről</a:t>
            </a: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Segítenek a tulajdonosoknak, befektetőknek, hitelezőknek és vezetőknek megalapozott döntéseket hozni.</a:t>
            </a:r>
          </a:p>
          <a:p>
            <a:pPr lvl="1"/>
            <a:endParaRPr lang="hu-H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A múlt megértése, </a:t>
            </a:r>
            <a:r>
              <a:rPr lang="hu-HU" sz="2400" b="1" dirty="0">
                <a:latin typeface="Cambria" panose="02040503050406030204" pitchFamily="18" charset="0"/>
                <a:ea typeface="Cambria" panose="02040503050406030204" pitchFamily="18" charset="0"/>
              </a:rPr>
              <a:t>jövőbeli döntések támogatása</a:t>
            </a:r>
            <a:endParaRPr lang="hu-H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A számok mögött </a:t>
            </a:r>
            <a:r>
              <a:rPr lang="hu-HU" sz="2400" b="1" dirty="0">
                <a:latin typeface="Cambria" panose="02040503050406030204" pitchFamily="18" charset="0"/>
                <a:ea typeface="Cambria" panose="02040503050406030204" pitchFamily="18" charset="0"/>
              </a:rPr>
              <a:t>üzleti történetek</a:t>
            </a: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 vannak</a:t>
            </a:r>
          </a:p>
        </p:txBody>
      </p:sp>
      <p:sp>
        <p:nvSpPr>
          <p:cNvPr id="2" name="Cím 1"/>
          <p:cNvSpPr>
            <a:spLocks noGrp="1"/>
          </p:cNvSpPr>
          <p:nvPr>
            <p:ph type="title" idx="4294967295"/>
          </p:nvPr>
        </p:nvSpPr>
        <p:spPr>
          <a:xfrm>
            <a:off x="972565" y="192709"/>
            <a:ext cx="7122789" cy="573088"/>
          </a:xfr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/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Miért foglalkozunk pénzügyi kimutatásokkal?</a:t>
            </a:r>
            <a:endParaRPr lang="hu-H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3F98C90E-254E-07FB-EBBC-5DB2B9426596}"/>
              </a:ext>
            </a:extLst>
          </p:cNvPr>
          <p:cNvSpPr txBox="1"/>
          <p:nvPr/>
        </p:nvSpPr>
        <p:spPr>
          <a:xfrm>
            <a:off x="301487" y="1589003"/>
            <a:ext cx="8541026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A pénzügyi mutatók megmutatják, hogy a vállalat </a:t>
            </a:r>
            <a:r>
              <a:rPr lang="hu-HU" sz="2000" b="1" dirty="0">
                <a:latin typeface="Cambria" panose="02040503050406030204" pitchFamily="18" charset="0"/>
                <a:ea typeface="Cambria" panose="02040503050406030204" pitchFamily="18" charset="0"/>
              </a:rPr>
              <a:t>jól vagy rosszul teljesít-e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None/>
            </a:pPr>
            <a:r>
              <a:rPr lang="hu-HU" sz="20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Például: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1" dirty="0">
                <a:latin typeface="Cambria" panose="02040503050406030204" pitchFamily="18" charset="0"/>
                <a:ea typeface="Cambria" panose="02040503050406030204" pitchFamily="18" charset="0"/>
              </a:rPr>
              <a:t>Nyereségességi mutatók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 → mennyi profitot termel a cég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1" dirty="0">
                <a:latin typeface="Cambria" panose="02040503050406030204" pitchFamily="18" charset="0"/>
                <a:ea typeface="Cambria" panose="02040503050406030204" pitchFamily="18" charset="0"/>
              </a:rPr>
              <a:t>Hatékonysági mutatók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 → mennyire használja jól az erőforrásait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1" dirty="0">
                <a:latin typeface="Cambria" panose="02040503050406030204" pitchFamily="18" charset="0"/>
                <a:ea typeface="Cambria" panose="02040503050406030204" pitchFamily="18" charset="0"/>
              </a:rPr>
              <a:t>Likviditási mutatók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 → képes-e kifizetni a rövid távú tartozásait</a:t>
            </a:r>
          </a:p>
          <a:p>
            <a:endParaRPr lang="hu-H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Ez segít a vezetésnek megérteni, hogy </a:t>
            </a:r>
            <a:r>
              <a:rPr lang="hu-HU" sz="2000" b="1" dirty="0">
                <a:latin typeface="Cambria" panose="02040503050406030204" pitchFamily="18" charset="0"/>
                <a:ea typeface="Cambria" panose="02040503050406030204" pitchFamily="18" charset="0"/>
              </a:rPr>
              <a:t>jó irányba halad-e a vállalat</a:t>
            </a:r>
            <a:r>
              <a:rPr lang="hu-HU" dirty="0"/>
              <a:t>.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A6175EF-65BF-1DAB-B4BE-3DBA35481249}"/>
              </a:ext>
            </a:extLst>
          </p:cNvPr>
          <p:cNvSpPr txBox="1"/>
          <p:nvPr/>
        </p:nvSpPr>
        <p:spPr>
          <a:xfrm>
            <a:off x="410817" y="389451"/>
            <a:ext cx="846814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3600" b="1" dirty="0">
                <a:latin typeface="Cambria" panose="02040503050406030204" pitchFamily="18" charset="0"/>
                <a:ea typeface="Cambria" panose="02040503050406030204" pitchFamily="18" charset="0"/>
              </a:rPr>
              <a:t>A vállalat teljesítményének értékelése</a:t>
            </a:r>
          </a:p>
        </p:txBody>
      </p:sp>
    </p:spTree>
    <p:extLst>
      <p:ext uri="{BB962C8B-B14F-4D97-AF65-F5344CB8AC3E}">
        <p14:creationId xmlns:p14="http://schemas.microsoft.com/office/powerpoint/2010/main" val="3037082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B8A91AD2-6FC1-31F0-C62C-83D613FA29E5}"/>
              </a:ext>
            </a:extLst>
          </p:cNvPr>
          <p:cNvSpPr txBox="1"/>
          <p:nvPr/>
        </p:nvSpPr>
        <p:spPr>
          <a:xfrm>
            <a:off x="258417" y="1508876"/>
            <a:ext cx="8753061" cy="267765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A menedzsment a mutatók alapján dönt például arról, hogy</a:t>
            </a: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érdemes-e beruházni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kell-e költséget csökkenteni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bővíteni kell-e a termelést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fel kell-e venni hitelt</a:t>
            </a:r>
          </a:p>
          <a:p>
            <a:pPr>
              <a:buFont typeface="Arial" panose="020B0604020202020204" pitchFamily="34" charset="0"/>
              <a:buChar char="•"/>
            </a:pPr>
            <a:endParaRPr lang="hu-H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A mutatók tehát </a:t>
            </a:r>
            <a:r>
              <a:rPr lang="hu-HU" sz="2400" b="1" dirty="0">
                <a:latin typeface="Cambria" panose="02040503050406030204" pitchFamily="18" charset="0"/>
                <a:ea typeface="Cambria" panose="02040503050406030204" pitchFamily="18" charset="0"/>
              </a:rPr>
              <a:t>objektív alapot adnak a döntésekhez</a:t>
            </a: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CF4B58F-7E14-DE33-E620-73DA6D4B4AE1}"/>
              </a:ext>
            </a:extLst>
          </p:cNvPr>
          <p:cNvSpPr txBox="1"/>
          <p:nvPr/>
        </p:nvSpPr>
        <p:spPr>
          <a:xfrm>
            <a:off x="1583634" y="309937"/>
            <a:ext cx="5817705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3600" b="1" dirty="0">
                <a:latin typeface="Cambria" panose="02040503050406030204" pitchFamily="18" charset="0"/>
                <a:ea typeface="Cambria" panose="02040503050406030204" pitchFamily="18" charset="0"/>
              </a:rPr>
              <a:t>Döntéshozatal támogatása</a:t>
            </a:r>
          </a:p>
        </p:txBody>
      </p:sp>
    </p:spTree>
    <p:extLst>
      <p:ext uri="{BB962C8B-B14F-4D97-AF65-F5344CB8AC3E}">
        <p14:creationId xmlns:p14="http://schemas.microsoft.com/office/powerpoint/2010/main" val="1325273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06A30E57-239A-73CE-4C69-D792B5595A73}"/>
              </a:ext>
            </a:extLst>
          </p:cNvPr>
          <p:cNvSpPr txBox="1"/>
          <p:nvPr/>
        </p:nvSpPr>
        <p:spPr>
          <a:xfrm>
            <a:off x="394252" y="1160035"/>
            <a:ext cx="8355496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A befektetők és bankok a mutatók alapján döntik el, hogy</a:t>
            </a: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érdemes-e a cégbe befektetni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biztonságos-e hitelt adni</a:t>
            </a:r>
          </a:p>
          <a:p>
            <a:pPr>
              <a:buFont typeface="Arial" panose="020B0604020202020204" pitchFamily="34" charset="0"/>
              <a:buChar char="•"/>
            </a:pPr>
            <a:endParaRPr lang="hu-H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hu-HU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Például figyelik: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jövedelmezőséget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eladósodottságot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megtérülést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451F599-B41E-47F1-36DA-C09E6344E893}"/>
              </a:ext>
            </a:extLst>
          </p:cNvPr>
          <p:cNvSpPr txBox="1"/>
          <p:nvPr/>
        </p:nvSpPr>
        <p:spPr>
          <a:xfrm>
            <a:off x="1013792" y="316564"/>
            <a:ext cx="730194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3200" b="1" dirty="0">
                <a:latin typeface="Cambria" panose="02040503050406030204" pitchFamily="18" charset="0"/>
                <a:ea typeface="Cambria" panose="02040503050406030204" pitchFamily="18" charset="0"/>
              </a:rPr>
              <a:t>Befektetők és hitelezők tájékoztatása</a:t>
            </a:r>
          </a:p>
        </p:txBody>
      </p:sp>
    </p:spTree>
    <p:extLst>
      <p:ext uri="{BB962C8B-B14F-4D97-AF65-F5344CB8AC3E}">
        <p14:creationId xmlns:p14="http://schemas.microsoft.com/office/powerpoint/2010/main" val="106710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09F8124D-8BC9-C421-E499-21C0572C677B}"/>
                  </a:ext>
                </a:extLst>
              </p:cNvPr>
              <p:cNvSpPr txBox="1"/>
              <p:nvPr/>
            </p:nvSpPr>
            <p:spPr>
              <a:xfrm>
                <a:off x="-13252" y="31633"/>
                <a:ext cx="9144000" cy="43837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hu-HU" sz="1200" b="1" i="1" u="sng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Likviditási ráta(</a:t>
                </a:r>
                <a:r>
                  <a:rPr lang="hu-HU" sz="1200" b="1" i="1" u="sng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Current</a:t>
                </a:r>
                <a:r>
                  <a:rPr lang="hu-HU" sz="1200" b="1" i="1" u="sng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Ratio): CR=FE/RLK</a:t>
                </a:r>
              </a:p>
              <a:p>
                <a:endParaRPr lang="hu-HU" sz="1200" b="1" i="1" u="sng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200" b="1" i="1" u="sng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Likviditási gyorsráta(Quick Ratio): </a:t>
                </a:r>
                <a:r>
                  <a:rPr lang="hu-HU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QR=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𝑭𝑬</m:t>
                        </m:r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𝑲</m:t>
                        </m:r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é</m:t>
                        </m:r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𝒔𝒛𝒍𝒆𝒕𝒆𝒌</m:t>
                        </m:r>
                      </m:num>
                      <m:den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𝑹𝑳𝑲</m:t>
                        </m:r>
                      </m:den>
                    </m:f>
                  </m:oMath>
                </a14:m>
                <a:endParaRPr lang="hu-HU" sz="1600" b="1" i="1" u="sng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hu-HU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200" b="1" i="1" u="sng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Pénzhányad mutató vagy készpénzlikviditási mutató (Cash Ratio):</a:t>
                </a:r>
                <a:r>
                  <a:rPr lang="hu-HU" sz="1200" dirty="0"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𝑷</m:t>
                        </m:r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é</m:t>
                        </m:r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𝒏𝒛𝒆𝒔𝒛𝒌</m:t>
                        </m:r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ö</m:t>
                        </m:r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𝒛</m:t>
                        </m:r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ö</m:t>
                        </m:r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𝒌</m:t>
                        </m:r>
                      </m:num>
                      <m:den>
                        <m:r>
                          <a:rPr lang="hu-HU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𝑹𝑳𝑲</m:t>
                        </m:r>
                      </m:den>
                    </m:f>
                  </m:oMath>
                </a14:m>
                <a:endParaRPr lang="hu-HU" sz="1600" b="1" i="1" u="sng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hu-HU" b="1" i="1" u="sng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200" b="1" i="1" dirty="0">
                    <a:solidFill>
                      <a:schemeClr val="accent4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Eladósodottsági mutató=</a:t>
                </a:r>
                <a:r>
                  <a:rPr lang="hu-HU" sz="1200" b="1" i="1" dirty="0">
                    <a:solidFill>
                      <a:schemeClr val="accent4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𝒕𝒆𝒍𝒆𝒛𝒆𝒕𝒕𝒔</m:t>
                        </m:r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𝒈𝒆𝒌</m:t>
                        </m:r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𝒔𝒔𝒛𝒆𝒔</m:t>
                        </m:r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𝑬𝒔𝒛𝒌</m:t>
                        </m:r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den>
                    </m:f>
                  </m:oMath>
                </a14:m>
                <a:endParaRPr lang="hu-HU" sz="1600" b="1" i="1" u="sng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hu-HU" sz="1200" b="1" i="1" u="sng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200" b="1" i="1" dirty="0">
                    <a:solidFill>
                      <a:schemeClr val="accent4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Adósság-saját tőke arány=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</m:ctrlPr>
                      </m:fPr>
                      <m:num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𝐬𝐬𝐳𝐞𝐬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𝐤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𝐭𝐞𝐥𝐞𝐳𝐞𝐭𝐭𝐬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é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𝐠</m:t>
                        </m:r>
                      </m:num>
                      <m:den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𝐬𝐚𝐣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á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ő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𝐤𝐞</m:t>
                        </m:r>
                      </m:den>
                    </m:f>
                  </m:oMath>
                </a14:m>
                <a:endParaRPr lang="hu-HU" sz="1600" b="1" i="1" u="sng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hu-HU" sz="1200" b="1" i="1" u="sng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200" b="1" i="1" dirty="0">
                    <a:solidFill>
                      <a:schemeClr val="accent4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Sajáttőke multiplikátor=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6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</m:ctrlPr>
                      </m:fPr>
                      <m:num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𝐬𝐬𝐳𝐞𝐬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𝐞𝐬𝐳𝐤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𝐳</m:t>
                        </m:r>
                      </m:num>
                      <m:den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𝐬𝐚𝐣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á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ő</m:t>
                        </m:r>
                        <m:r>
                          <a:rPr lang="hu-HU" sz="1600" b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𝐤𝐞</m:t>
                        </m:r>
                      </m:den>
                    </m:f>
                  </m:oMath>
                </a14:m>
                <a:r>
                  <a:rPr lang="hu-HU" sz="1600" b="1" dirty="0">
                    <a:solidFill>
                      <a:schemeClr val="accent4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 </a:t>
                </a:r>
              </a:p>
              <a:p>
                <a:endParaRPr lang="hu-HU" sz="1200" b="1" dirty="0">
                  <a:solidFill>
                    <a:schemeClr val="accent4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r>
                  <a:rPr lang="hu-HU" sz="1200" b="1" dirty="0">
                    <a:solidFill>
                      <a:schemeClr val="accent5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Követelések forgása=Értékesítés nettó árbevétele/követelések</a:t>
                </a:r>
              </a:p>
              <a:p>
                <a:endParaRPr lang="hu-HU" sz="1200" b="1" dirty="0">
                  <a:solidFill>
                    <a:schemeClr val="accent5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200" b="1" i="1" u="sng" dirty="0">
                    <a:solidFill>
                      <a:schemeClr val="accent5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Forgási idő</a:t>
                </a:r>
                <a:r>
                  <a:rPr lang="hu-HU" sz="1200" b="1" dirty="0">
                    <a:solidFill>
                      <a:schemeClr val="accent5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=Időszak napjainak száma/Fordulatok száma</a:t>
                </a:r>
              </a:p>
              <a:p>
                <a:endParaRPr lang="hu-HU" sz="1200" b="1" dirty="0">
                  <a:solidFill>
                    <a:schemeClr val="accent5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200" b="1" dirty="0">
                    <a:solidFill>
                      <a:schemeClr val="accent5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Összes eszköz forgása=Értékesítés nettó árbevétele/Összes eszköz</a:t>
                </a:r>
              </a:p>
              <a:p>
                <a:endParaRPr lang="hu-HU" sz="1200" b="1" dirty="0">
                  <a:solidFill>
                    <a:schemeClr val="accent5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09F8124D-8BC9-C421-E499-21C0572C6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52" y="31633"/>
                <a:ext cx="9144000" cy="43837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Jobb oldali kapcsos zárójel 3">
            <a:extLst>
              <a:ext uri="{FF2B5EF4-FFF2-40B4-BE49-F238E27FC236}">
                <a16:creationId xmlns:a16="http://schemas.microsoft.com/office/drawing/2014/main" id="{CA8017C4-268A-2E53-C303-77F197ECB1BA}"/>
              </a:ext>
            </a:extLst>
          </p:cNvPr>
          <p:cNvSpPr/>
          <p:nvPr/>
        </p:nvSpPr>
        <p:spPr>
          <a:xfrm>
            <a:off x="5625548" y="89866"/>
            <a:ext cx="218661" cy="1285461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A47400B-5941-F8E9-FC06-B4ACBA9BEFD3}"/>
              </a:ext>
            </a:extLst>
          </p:cNvPr>
          <p:cNvSpPr txBox="1"/>
          <p:nvPr/>
        </p:nvSpPr>
        <p:spPr>
          <a:xfrm>
            <a:off x="5844209" y="470986"/>
            <a:ext cx="2584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Rövid távú fizetőképesség (likviditás) mutatói</a:t>
            </a:r>
          </a:p>
        </p:txBody>
      </p:sp>
      <p:sp>
        <p:nvSpPr>
          <p:cNvPr id="6" name="Jobb oldali kapcsos zárójel 5">
            <a:extLst>
              <a:ext uri="{FF2B5EF4-FFF2-40B4-BE49-F238E27FC236}">
                <a16:creationId xmlns:a16="http://schemas.microsoft.com/office/drawing/2014/main" id="{6B72B23A-76EA-AA84-68E5-BD30085E3FBC}"/>
              </a:ext>
            </a:extLst>
          </p:cNvPr>
          <p:cNvSpPr/>
          <p:nvPr/>
        </p:nvSpPr>
        <p:spPr>
          <a:xfrm>
            <a:off x="3322984" y="1583634"/>
            <a:ext cx="208722" cy="1464365"/>
          </a:xfrm>
          <a:prstGeom prst="rightBrac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0178C38-4FED-9D44-0D36-2364B5BF9734}"/>
              </a:ext>
            </a:extLst>
          </p:cNvPr>
          <p:cNvSpPr txBox="1"/>
          <p:nvPr/>
        </p:nvSpPr>
        <p:spPr>
          <a:xfrm>
            <a:off x="3531705" y="1996022"/>
            <a:ext cx="2584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i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Hosszú távú fizetőképesség (</a:t>
            </a:r>
            <a:r>
              <a:rPr lang="hu-HU" b="1" i="1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Szolvencia</a:t>
            </a:r>
            <a:r>
              <a:rPr lang="hu-HU" b="1" i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mutatói</a:t>
            </a:r>
          </a:p>
        </p:txBody>
      </p:sp>
      <p:sp>
        <p:nvSpPr>
          <p:cNvPr id="8" name="Jobb oldali kapcsos zárójel 7">
            <a:extLst>
              <a:ext uri="{FF2B5EF4-FFF2-40B4-BE49-F238E27FC236}">
                <a16:creationId xmlns:a16="http://schemas.microsoft.com/office/drawing/2014/main" id="{ED84FB7D-A4B0-8F12-A206-8FED64DDC0BD}"/>
              </a:ext>
            </a:extLst>
          </p:cNvPr>
          <p:cNvSpPr/>
          <p:nvPr/>
        </p:nvSpPr>
        <p:spPr>
          <a:xfrm>
            <a:off x="4724401" y="3220277"/>
            <a:ext cx="165651" cy="949427"/>
          </a:xfrm>
          <a:prstGeom prst="rightBrac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811A644B-9EAA-F985-62BB-0B624C397C9A}"/>
              </a:ext>
            </a:extLst>
          </p:cNvPr>
          <p:cNvSpPr txBox="1"/>
          <p:nvPr/>
        </p:nvSpPr>
        <p:spPr>
          <a:xfrm>
            <a:off x="4936435" y="3377965"/>
            <a:ext cx="2584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Vállalati eszközmenedzsment (forgási) mutatók</a:t>
            </a:r>
          </a:p>
        </p:txBody>
      </p:sp>
      <p:sp>
        <p:nvSpPr>
          <p:cNvPr id="2" name="Ellipszis 1">
            <a:extLst>
              <a:ext uri="{FF2B5EF4-FFF2-40B4-BE49-F238E27FC236}">
                <a16:creationId xmlns:a16="http://schemas.microsoft.com/office/drawing/2014/main" id="{35487301-338A-7DF9-F6C8-53E8EC7A167E}"/>
              </a:ext>
            </a:extLst>
          </p:cNvPr>
          <p:cNvSpPr/>
          <p:nvPr/>
        </p:nvSpPr>
        <p:spPr>
          <a:xfrm>
            <a:off x="-13252" y="2519242"/>
            <a:ext cx="3001617" cy="70103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151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CDFFA-AA0C-BCC7-207A-31E08C5B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048FB677-484E-BD52-F2FE-FC99115247C2}"/>
                  </a:ext>
                </a:extLst>
              </p:cNvPr>
              <p:cNvSpPr txBox="1"/>
              <p:nvPr/>
            </p:nvSpPr>
            <p:spPr>
              <a:xfrm>
                <a:off x="357808" y="3717309"/>
                <a:ext cx="8428383" cy="6042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𝑹𝑶𝑬</m:t>
                      </m:r>
                      <m:r>
                        <a:rPr lang="hu-HU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𝒂𝒅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𝒛𝒐𝒕𝒕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𝒆𝒓𝒆𝒅𝒎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𝒏𝒚</m:t>
                          </m:r>
                        </m:num>
                        <m:den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𝒓𝒕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𝒌𝒆𝒔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í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𝒏𝒆𝒕𝒕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 á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𝒓𝒃𝒆𝒗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𝒕𝒆𝒍𝒆</m:t>
                          </m:r>
                        </m:den>
                      </m:f>
                      <m:r>
                        <a:rPr lang="hu-HU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×</m:t>
                      </m:r>
                      <m:f>
                        <m:fPr>
                          <m:ctrlP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𝒓𝒕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𝒌𝒆𝒔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í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𝒏𝒆𝒕𝒕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 á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𝒓𝒃𝒆𝒗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𝒕𝒆𝒍𝒆</m:t>
                          </m:r>
                        </m:num>
                        <m:den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𝒔𝒔𝒛𝒆𝒔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</m:den>
                      </m:f>
                      <m:r>
                        <a:rPr lang="hu-HU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×</m:t>
                      </m:r>
                      <m:f>
                        <m:fPr>
                          <m:ctrlP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𝒔𝒔𝒛𝒆𝒔</m:t>
                          </m:r>
                          <m:r>
                            <a:rPr lang="hu-HU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</m:num>
                        <m:den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𝒔𝒂𝒋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ő</m:t>
                          </m:r>
                          <m:r>
                            <a:rPr lang="hu-HU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𝒌𝒆</m:t>
                          </m:r>
                        </m:den>
                      </m:f>
                    </m:oMath>
                  </m:oMathPara>
                </a14:m>
                <a:endParaRPr lang="hu-HU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048FB677-484E-BD52-F2FE-FC9911524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08" y="3717309"/>
                <a:ext cx="8428383" cy="6042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zövegdoboz 4">
            <a:extLst>
              <a:ext uri="{FF2B5EF4-FFF2-40B4-BE49-F238E27FC236}">
                <a16:creationId xmlns:a16="http://schemas.microsoft.com/office/drawing/2014/main" id="{CAF8A7B0-D532-9234-B244-DC556071F59A}"/>
              </a:ext>
            </a:extLst>
          </p:cNvPr>
          <p:cNvSpPr txBox="1"/>
          <p:nvPr/>
        </p:nvSpPr>
        <p:spPr>
          <a:xfrm>
            <a:off x="1759225" y="2965783"/>
            <a:ext cx="188843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Nettó profit hányad</a:t>
            </a:r>
          </a:p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Nyereség hányad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38F9CAC-C8D9-ED96-1816-5779F2268C72}"/>
              </a:ext>
            </a:extLst>
          </p:cNvPr>
          <p:cNvSpPr txBox="1"/>
          <p:nvPr/>
        </p:nvSpPr>
        <p:spPr>
          <a:xfrm>
            <a:off x="4399722" y="3212005"/>
            <a:ext cx="2372139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Eszközforgási sebesség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AD05F34-7532-118B-71C7-5A9C3AE21DBD}"/>
              </a:ext>
            </a:extLst>
          </p:cNvPr>
          <p:cNvSpPr txBox="1"/>
          <p:nvPr/>
        </p:nvSpPr>
        <p:spPr>
          <a:xfrm>
            <a:off x="7066722" y="3027338"/>
            <a:ext cx="1789043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Pénzügyi tőkeáttétel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(Saját tőke szorzó)D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915CCF48-AD30-6B04-D8DE-CCF35B480321}"/>
              </a:ext>
            </a:extLst>
          </p:cNvPr>
          <p:cNvSpPr txBox="1"/>
          <p:nvPr/>
        </p:nvSpPr>
        <p:spPr>
          <a:xfrm>
            <a:off x="29816" y="699930"/>
            <a:ext cx="908436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altLang="hu-HU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Nyereséghányad mutató(profit margin)=Adózott eredmény/Értékesítés nettó árbevétele</a:t>
            </a:r>
          </a:p>
          <a:p>
            <a:endParaRPr lang="hu-HU" altLang="hu-HU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altLang="hu-HU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ROE=Adózott eredmény/saját tőke</a:t>
            </a:r>
          </a:p>
          <a:p>
            <a:endParaRPr lang="hu-HU" altLang="hu-HU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altLang="hu-HU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ROA=Adózott eredmény/összes eszköz</a:t>
            </a:r>
          </a:p>
        </p:txBody>
      </p:sp>
      <p:sp>
        <p:nvSpPr>
          <p:cNvPr id="8" name="Jobb oldali kapcsos zárójel 7">
            <a:extLst>
              <a:ext uri="{FF2B5EF4-FFF2-40B4-BE49-F238E27FC236}">
                <a16:creationId xmlns:a16="http://schemas.microsoft.com/office/drawing/2014/main" id="{DF48DC89-FE02-53E1-016F-6D90A2D431EC}"/>
              </a:ext>
            </a:extLst>
          </p:cNvPr>
          <p:cNvSpPr/>
          <p:nvPr/>
        </p:nvSpPr>
        <p:spPr>
          <a:xfrm>
            <a:off x="7361583" y="699930"/>
            <a:ext cx="159025" cy="110275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9FB25CF8-03DD-CA0B-EDCF-1BA78F771C9F}"/>
              </a:ext>
            </a:extLst>
          </p:cNvPr>
          <p:cNvSpPr txBox="1"/>
          <p:nvPr/>
        </p:nvSpPr>
        <p:spPr>
          <a:xfrm>
            <a:off x="7520608" y="989695"/>
            <a:ext cx="154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Jövedelmezőségi mutatók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713083F5-A75C-2410-1120-EF138E1283E8}"/>
              </a:ext>
            </a:extLst>
          </p:cNvPr>
          <p:cNvSpPr txBox="1"/>
          <p:nvPr/>
        </p:nvSpPr>
        <p:spPr>
          <a:xfrm>
            <a:off x="231913" y="2314701"/>
            <a:ext cx="252453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Dupont-módszer:</a:t>
            </a:r>
          </a:p>
        </p:txBody>
      </p:sp>
    </p:spTree>
    <p:extLst>
      <p:ext uri="{BB962C8B-B14F-4D97-AF65-F5344CB8AC3E}">
        <p14:creationId xmlns:p14="http://schemas.microsoft.com/office/powerpoint/2010/main" val="100987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409DEA-15BD-6531-3024-0E621D9D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697" y="60718"/>
            <a:ext cx="5373478" cy="906692"/>
          </a:xfr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/>
          <a:lstStyle/>
          <a:p>
            <a:r>
              <a:rPr lang="hu-HU" sz="4800" b="0" dirty="0">
                <a:latin typeface="Cambria" panose="02040503050406030204" pitchFamily="18" charset="0"/>
                <a:ea typeface="Cambria" panose="02040503050406030204" pitchFamily="18" charset="0"/>
              </a:rPr>
              <a:t>Likviditási mutatók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73ABFE7-3C38-C08F-C7BE-57A6281188FD}"/>
              </a:ext>
            </a:extLst>
          </p:cNvPr>
          <p:cNvSpPr txBox="1"/>
          <p:nvPr/>
        </p:nvSpPr>
        <p:spPr>
          <a:xfrm>
            <a:off x="0" y="967410"/>
            <a:ext cx="9144000" cy="42473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A likviditási ráta célja, hogy egy számban foglalja össze, hogy </a:t>
            </a:r>
            <a:r>
              <a:rPr lang="hu-HU" sz="18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fizetőképes-e a cég rövidtávon</a:t>
            </a:r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, azaz, hogy várhatóan ki tudja-e fizetni a cég a következő egy évben esedékes tartozásait.</a:t>
            </a:r>
          </a:p>
          <a:p>
            <a:endParaRPr lang="hu-HU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hu-HU" sz="1800" b="1" i="1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likviditási ráta(</a:t>
            </a:r>
            <a:r>
              <a:rPr lang="hu-HU" sz="1800" b="1" i="1" u="sng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</a:t>
            </a:r>
            <a:r>
              <a:rPr lang="hu-HU" sz="1800" b="1" i="1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Ratio): CR=FE/RLK </a:t>
            </a:r>
            <a:endParaRPr lang="hu-HU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Megmutatja, hogy egy cég 1 Ft rövid lejáratú kötelezettségére (azaz a következő egy éven belül kifizetendő összegre) mennyi forgóeszköz (azaz a következő egy évben pénzzé váltható vagyon) jut</a:t>
            </a:r>
          </a:p>
          <a:p>
            <a:endParaRPr lang="hu-HU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sz="1800" b="1" i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RLK: </a:t>
            </a:r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például az egy éven belül lejáró hitelek, szállítók és partnerek felé való tartozások.  </a:t>
            </a:r>
          </a:p>
          <a:p>
            <a:r>
              <a:rPr lang="hu-HU" sz="1800" b="1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FE: </a:t>
            </a:r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készletek, követelések (például a cég vevőinek kifizetetlen számlái), az értékpapírok, és maga a készpénz tartoznak</a:t>
            </a:r>
          </a:p>
          <a:p>
            <a:endParaRPr lang="hu-HU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sz="1800" b="1" u="sng" dirty="0">
                <a:latin typeface="Cambria" panose="02040503050406030204" pitchFamily="18" charset="0"/>
                <a:ea typeface="Cambria" panose="02040503050406030204" pitchFamily="18" charset="0"/>
              </a:rPr>
              <a:t>Értékelés:</a:t>
            </a:r>
            <a:r>
              <a:rPr lang="hu-HU" sz="18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1800" dirty="0">
                <a:latin typeface="Cambria" panose="02040503050406030204" pitchFamily="18" charset="0"/>
                <a:ea typeface="Cambria" panose="02040503050406030204" pitchFamily="18" charset="0"/>
              </a:rPr>
              <a:t>1 alatt fizetésképtelenség veszélye, 1-2 közötti érték elfogadható, 2 felett már a tőke nem hatékony kihasználását jelezheti.(bár ez számos dolog függvénye)</a:t>
            </a:r>
          </a:p>
        </p:txBody>
      </p:sp>
    </p:spTree>
    <p:extLst>
      <p:ext uri="{BB962C8B-B14F-4D97-AF65-F5344CB8AC3E}">
        <p14:creationId xmlns:p14="http://schemas.microsoft.com/office/powerpoint/2010/main" val="413923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9066E-6715-5F0F-C4F7-8F8129F3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2197BA-B8F9-E22C-64A0-62ECE373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567" y="87222"/>
            <a:ext cx="5373478" cy="906692"/>
          </a:xfr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/>
          <a:lstStyle/>
          <a:p>
            <a:r>
              <a:rPr lang="hu-HU" sz="4800" b="0" dirty="0">
                <a:latin typeface="Cambria" panose="02040503050406030204" pitchFamily="18" charset="0"/>
                <a:ea typeface="Cambria" panose="02040503050406030204" pitchFamily="18" charset="0"/>
              </a:rPr>
              <a:t>Likviditási mutatók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0EABA63E-5460-BF04-8401-1FD0C041C646}"/>
                  </a:ext>
                </a:extLst>
              </p:cNvPr>
              <p:cNvSpPr txBox="1"/>
              <p:nvPr/>
            </p:nvSpPr>
            <p:spPr>
              <a:xfrm>
                <a:off x="0" y="1080053"/>
                <a:ext cx="9144000" cy="26593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800" b="1" i="1" u="sng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Likviditási gyorsráta(Quick Ratio):</a:t>
                </a:r>
              </a:p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		</a:t>
                </a:r>
                <a:r>
                  <a:rPr lang="hu-HU" sz="28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QR=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𝑭𝑬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𝑲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é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𝒔𝒛𝒍𝒆𝒕𝒆𝒌</m:t>
                        </m:r>
                      </m:num>
                      <m:den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𝑹𝑳𝑲</m:t>
                        </m:r>
                      </m:den>
                    </m:f>
                  </m:oMath>
                </a14:m>
                <a:endParaRPr lang="hu-HU" sz="2800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hu-HU" altLang="hu-HU" sz="18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Jelentés:</a:t>
                </a:r>
                <a:r>
                  <a:rPr lang="hu-HU" altLang="hu-HU" sz="1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Szigorúbb mutató, amely a készleteket (mint lassabban eladható eszközöket) levonja a számlálóból.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hu-HU" altLang="hu-HU" sz="18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Értékelés:</a:t>
                </a:r>
                <a:r>
                  <a:rPr lang="hu-HU" altLang="hu-HU" sz="1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Ideális értéke 1 körül van</a:t>
                </a:r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0EABA63E-5460-BF04-8401-1FD0C041C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80053"/>
                <a:ext cx="9144000" cy="2659382"/>
              </a:xfrm>
              <a:prstGeom prst="rect">
                <a:avLst/>
              </a:prstGeom>
              <a:blipFill>
                <a:blip r:embed="rId2"/>
                <a:stretch>
                  <a:fillRect l="-533" b="-275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72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BE1D6-DB33-4E25-44F3-63108C64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158F85-9FBE-498B-2798-B84CB56C4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576" y="73970"/>
            <a:ext cx="5373478" cy="906692"/>
          </a:xfr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/>
          <a:lstStyle/>
          <a:p>
            <a:r>
              <a:rPr lang="hu-HU" sz="4800" b="0" dirty="0">
                <a:latin typeface="Cambria" panose="02040503050406030204" pitchFamily="18" charset="0"/>
                <a:ea typeface="Cambria" panose="02040503050406030204" pitchFamily="18" charset="0"/>
              </a:rPr>
              <a:t>Likviditási mutatók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829554BF-7855-3028-2006-BB6AFB6A82A8}"/>
                  </a:ext>
                </a:extLst>
              </p:cNvPr>
              <p:cNvSpPr txBox="1"/>
              <p:nvPr/>
            </p:nvSpPr>
            <p:spPr>
              <a:xfrm>
                <a:off x="0" y="1106558"/>
                <a:ext cx="9144000" cy="41059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800" b="1" i="1" u="sng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Pénzhányad mutató vagy készpénzlikviditási mutató (Cash Ratio):</a:t>
                </a:r>
              </a:p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  <a:r>
                  <a:rPr lang="hu-HU" sz="28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𝑭𝑬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𝑲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é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𝒔𝒛𝒍𝒆𝒕𝒆𝒌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𝒌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ö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𝒗𝒆𝒕𝒆𝒍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é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𝒔𝒆𝒌</m:t>
                        </m:r>
                      </m:num>
                      <m:den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𝑹𝑳𝑲</m:t>
                        </m:r>
                      </m:den>
                    </m:f>
                  </m:oMath>
                </a14:m>
                <a:r>
                  <a:rPr lang="hu-HU" sz="2800" b="1" dirty="0">
                    <a:solidFill>
                      <a:srgbClr val="0070C0"/>
                    </a:solidFill>
                    <a:ea typeface="Cambria" panose="02040503050406030204" pitchFamily="18" charset="0"/>
                  </a:rPr>
                  <a:t> </a:t>
                </a:r>
                <a:r>
                  <a:rPr lang="hu-HU" sz="2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vagy</a:t>
                </a:r>
                <a:r>
                  <a:rPr lang="hu-HU" sz="2800" b="1" dirty="0">
                    <a:solidFill>
                      <a:srgbClr val="0070C0"/>
                    </a:solidFill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𝑷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é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𝒏𝒛𝒆𝒔𝒛𝒌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ö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𝒛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ö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𝒌</m:t>
                        </m:r>
                      </m:num>
                      <m:den>
                        <m:r>
                          <a:rPr lang="hu-HU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𝑹𝑳𝑲</m:t>
                        </m:r>
                      </m:den>
                    </m:f>
                  </m:oMath>
                </a14:m>
                <a:endParaRPr lang="hu-HU" sz="2800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hu-HU" altLang="hu-HU" sz="18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Jelentés:</a:t>
                </a:r>
                <a:r>
                  <a:rPr lang="hu-HU" altLang="hu-HU" sz="1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hu-HU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legszigorúbb mutató, azt méri, hogy a cég azonnal (készpénzben) képes-e kiegyenlíteni tartozásait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20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Miért </a:t>
                </a:r>
                <a:r>
                  <a:rPr lang="hu-HU" sz="20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fontosak</a:t>
                </a:r>
                <a:r>
                  <a:rPr lang="hu-HU" sz="20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ezek a mutatók?</a:t>
                </a:r>
                <a:endParaRPr lang="hu-HU" sz="2000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800" b="1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Fizetőképesség:</a:t>
                </a:r>
                <a:r>
                  <a:rPr lang="hu-HU" sz="18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hu-HU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Kimutatják, hogy a cég képes-e határidőre fizetni.</a:t>
                </a:r>
              </a:p>
              <a:p>
                <a:r>
                  <a:rPr lang="hu-HU" sz="1800" b="1" i="1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Kockázatkezelés:</a:t>
                </a:r>
                <a:r>
                  <a:rPr lang="hu-HU" sz="1800" i="1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hu-HU" sz="18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Előrejelzik</a:t>
                </a:r>
                <a:r>
                  <a:rPr lang="hu-HU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 fizetésképtelenség kockázatát.</a:t>
                </a:r>
              </a:p>
              <a:p>
                <a:r>
                  <a:rPr lang="hu-HU" sz="1800" b="1" i="1" dirty="0">
                    <a:solidFill>
                      <a:srgbClr val="7030A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Befektetői döntés:</a:t>
                </a:r>
                <a:r>
                  <a:rPr lang="hu-HU" sz="1800" i="1" dirty="0">
                    <a:solidFill>
                      <a:srgbClr val="7030A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hu-HU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Segítik a cég pénzügyi stabilitásának megítélését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829554BF-7855-3028-2006-BB6AFB6A8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06558"/>
                <a:ext cx="9144000" cy="4105932"/>
              </a:xfrm>
              <a:prstGeom prst="rect">
                <a:avLst/>
              </a:prstGeom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5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D056EC8E-576A-8D3F-B2F4-6CABA77A6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51C51130-B325-6EEC-772A-D8E19724115B}"/>
              </a:ext>
            </a:extLst>
          </p:cNvPr>
          <p:cNvSpPr/>
          <p:nvPr/>
        </p:nvSpPr>
        <p:spPr>
          <a:xfrm>
            <a:off x="1005049" y="1598668"/>
            <a:ext cx="6011107" cy="21847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290" name="Shape 290">
            <a:extLst>
              <a:ext uri="{FF2B5EF4-FFF2-40B4-BE49-F238E27FC236}">
                <a16:creationId xmlns:a16="http://schemas.microsoft.com/office/drawing/2014/main" id="{DF8E8D54-A60C-74C8-499A-0578DDC86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9704372"/>
              </p:ext>
            </p:extLst>
          </p:nvPr>
        </p:nvGraphicFramePr>
        <p:xfrm>
          <a:off x="59900" y="1250494"/>
          <a:ext cx="6956256" cy="3125400"/>
        </p:xfrm>
        <a:graphic>
          <a:graphicData uri="http://schemas.openxmlformats.org/drawingml/2006/table">
            <a:tbl>
              <a:tblPr>
                <a:noFill/>
                <a:tableStyleId>{FE464744-5EF8-4A23-BA49-EC68D10D153F}</a:tableStyleId>
              </a:tblPr>
              <a:tblGrid>
                <a:gridCol w="2251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3354922184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2654190243"/>
                    </a:ext>
                  </a:extLst>
                </a:gridCol>
              </a:tblGrid>
              <a:tr h="5025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endParaRPr lang="hu" sz="1400" b="1" i="0" u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Calibri"/>
                        <a:buNone/>
                      </a:pPr>
                      <a:endParaRPr sz="1400" i="0" u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400" b="1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sz="1400" i="0" u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hu-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2026</a:t>
                      </a:r>
                      <a:endParaRPr sz="1400" i="0" u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hu-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Változás</a:t>
                      </a:r>
                      <a:endParaRPr sz="1400" i="0" u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Forgóeszközök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642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756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+114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Pénzeszközök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+62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939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Tx/>
                        <a:buChar char="-"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Vevők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+23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 Készletek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1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+29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Tárgyi 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2 731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2 880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+149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27079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400" b="1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Eszközök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b="1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b="1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b="1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+263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39993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Rövid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-3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047513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Hosszú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-74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42916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Saját tőke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2 299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2 639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+340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400" b="1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Források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b="1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b="1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400" b="1" i="0" u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+263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15458"/>
                  </a:ext>
                </a:extLst>
              </a:tr>
            </a:tbl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68898C59-316D-4ABB-D33D-DB35725185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1150" y="176011"/>
            <a:ext cx="8521700" cy="838705"/>
          </a:xfr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/>
          <a:lstStyle/>
          <a:p>
            <a:r>
              <a:rPr lang="hu-HU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feladat: Vizsgáljuk meg a likviditási mutatót, likviditási gyorsrátát és a készpénzlikviditási mutatókat.</a:t>
            </a:r>
          </a:p>
        </p:txBody>
      </p:sp>
    </p:spTree>
    <p:extLst>
      <p:ext uri="{BB962C8B-B14F-4D97-AF65-F5344CB8AC3E}">
        <p14:creationId xmlns:p14="http://schemas.microsoft.com/office/powerpoint/2010/main" val="571486624"/>
      </p:ext>
    </p:extLst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00BECFD2-15F8-D6CD-8323-1F4DF4370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Shape 290">
            <a:extLst>
              <a:ext uri="{FF2B5EF4-FFF2-40B4-BE49-F238E27FC236}">
                <a16:creationId xmlns:a16="http://schemas.microsoft.com/office/drawing/2014/main" id="{7050F2CE-143C-D1FF-B5D7-E2E122DF77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2583718"/>
              </p:ext>
            </p:extLst>
          </p:nvPr>
        </p:nvGraphicFramePr>
        <p:xfrm>
          <a:off x="29351" y="1121025"/>
          <a:ext cx="5387941" cy="3319600"/>
        </p:xfrm>
        <a:graphic>
          <a:graphicData uri="http://schemas.openxmlformats.org/drawingml/2006/table">
            <a:tbl>
              <a:tblPr>
                <a:noFill/>
                <a:tableStyleId>{FE464744-5EF8-4A23-BA49-EC68D10D153F}</a:tableStyleId>
              </a:tblPr>
              <a:tblGrid>
                <a:gridCol w="2251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3354922184"/>
                    </a:ext>
                  </a:extLst>
                </a:gridCol>
              </a:tblGrid>
              <a:tr h="5025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endParaRPr lang="hu" sz="1600" b="1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Calibri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hu-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2026</a:t>
                      </a: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Forgóeszközök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642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756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Pénzeszközök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939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Tx/>
                        <a:buChar char="-"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Vevők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 Készletek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Tárgyi 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2 731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2 880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27079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Eszközök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39993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Rövid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047513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Hosszú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42916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Saját tőke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2 299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2 639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Források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15458"/>
                  </a:ext>
                </a:extLst>
              </a:tr>
            </a:tbl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2DBF7316-05FB-0683-2E69-CB39A7C3803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5531" y="175748"/>
            <a:ext cx="8521700" cy="766270"/>
          </a:xfr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/>
          <a:lstStyle/>
          <a:p>
            <a:r>
              <a:rPr lang="hu-HU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feladat: Vizsgáljuk meg a likviditási mutatót, likviditási gyorsrátát és a készpénzlikviditási mutatókat.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A378AC9-ADAE-9FDB-12E5-1A779BA2FC91}"/>
              </a:ext>
            </a:extLst>
          </p:cNvPr>
          <p:cNvSpPr txBox="1"/>
          <p:nvPr/>
        </p:nvSpPr>
        <p:spPr>
          <a:xfrm>
            <a:off x="5520261" y="1561970"/>
            <a:ext cx="35044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Likviditás: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2025: Likviditási mutató=642/543= 1,18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2026: Likviditási mutató= 756/540= 1,4</a:t>
            </a:r>
          </a:p>
        </p:txBody>
      </p:sp>
      <p:sp>
        <p:nvSpPr>
          <p:cNvPr id="4" name="Ellipszis 3">
            <a:extLst>
              <a:ext uri="{FF2B5EF4-FFF2-40B4-BE49-F238E27FC236}">
                <a16:creationId xmlns:a16="http://schemas.microsoft.com/office/drawing/2014/main" id="{A37739FB-A677-A415-BA5F-2BB6913B9D19}"/>
              </a:ext>
            </a:extLst>
          </p:cNvPr>
          <p:cNvSpPr/>
          <p:nvPr/>
        </p:nvSpPr>
        <p:spPr>
          <a:xfrm>
            <a:off x="2166729" y="1830457"/>
            <a:ext cx="556592" cy="2484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2697A51-1100-01B1-6715-53A001191CC6}"/>
              </a:ext>
            </a:extLst>
          </p:cNvPr>
          <p:cNvSpPr/>
          <p:nvPr/>
        </p:nvSpPr>
        <p:spPr>
          <a:xfrm>
            <a:off x="2173354" y="3215133"/>
            <a:ext cx="556592" cy="24847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6E8D7094-129C-0F43-AC8F-0F7E8029DB57}"/>
              </a:ext>
            </a:extLst>
          </p:cNvPr>
          <p:cNvSpPr/>
          <p:nvPr/>
        </p:nvSpPr>
        <p:spPr>
          <a:xfrm>
            <a:off x="3767122" y="1830457"/>
            <a:ext cx="556592" cy="2484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24D46E3E-DA37-D690-9631-613D947154B8}"/>
              </a:ext>
            </a:extLst>
          </p:cNvPr>
          <p:cNvSpPr/>
          <p:nvPr/>
        </p:nvSpPr>
        <p:spPr>
          <a:xfrm>
            <a:off x="3767122" y="3224112"/>
            <a:ext cx="556592" cy="24847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01D537B-ECF3-D48D-415E-C6CC3687E7B8}"/>
              </a:ext>
            </a:extLst>
          </p:cNvPr>
          <p:cNvSpPr txBox="1"/>
          <p:nvPr/>
        </p:nvSpPr>
        <p:spPr>
          <a:xfrm>
            <a:off x="5572440" y="2686631"/>
            <a:ext cx="340010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Likviditás javulás, csökken a rövid távú pénzügyi kockázat. Korábban 1 egység rövid távú tartozás mögött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1,18 egység forgótőke állt,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2026-ban 1,4 egység. </a:t>
            </a:r>
          </a:p>
        </p:txBody>
      </p:sp>
    </p:spTree>
    <p:extLst>
      <p:ext uri="{BB962C8B-B14F-4D97-AF65-F5344CB8AC3E}">
        <p14:creationId xmlns:p14="http://schemas.microsoft.com/office/powerpoint/2010/main" val="1817253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5017D250-2B98-7668-98CF-5A2158780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Shape 290">
            <a:extLst>
              <a:ext uri="{FF2B5EF4-FFF2-40B4-BE49-F238E27FC236}">
                <a16:creationId xmlns:a16="http://schemas.microsoft.com/office/drawing/2014/main" id="{55FD0ADE-9EBD-F76F-B0C6-7DFECEE5A8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1071943"/>
              </p:ext>
            </p:extLst>
          </p:nvPr>
        </p:nvGraphicFramePr>
        <p:xfrm>
          <a:off x="0" y="1056809"/>
          <a:ext cx="5387941" cy="3319600"/>
        </p:xfrm>
        <a:graphic>
          <a:graphicData uri="http://schemas.openxmlformats.org/drawingml/2006/table">
            <a:tbl>
              <a:tblPr>
                <a:noFill/>
                <a:tableStyleId>{FE464744-5EF8-4A23-BA49-EC68D10D153F}</a:tableStyleId>
              </a:tblPr>
              <a:tblGrid>
                <a:gridCol w="2251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3354922184"/>
                    </a:ext>
                  </a:extLst>
                </a:gridCol>
              </a:tblGrid>
              <a:tr h="5025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endParaRPr lang="hu" sz="1600" b="1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Calibri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hu-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2026</a:t>
                      </a: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Forgóeszközök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642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756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Pénzeszközök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939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Tx/>
                        <a:buChar char="-"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Vevők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 Készletek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Tárgyi 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2 731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2 880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27079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Eszközök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39993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Rövid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047513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Hosszú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42916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Saját tőke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2 299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2 639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Források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15458"/>
                  </a:ext>
                </a:extLst>
              </a:tr>
            </a:tbl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BD6A4FE7-B2EE-2293-9505-DA4EC7CDE2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1150" y="205621"/>
            <a:ext cx="8521700" cy="755182"/>
          </a:xfr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/>
          <a:lstStyle/>
          <a:p>
            <a:r>
              <a:rPr lang="hu-HU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feladat: Vizsgáljuk meg a likviditási mutatót, likviditási gyorsrátát és a készpénzlikviditási mutatókat.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65F8158-FAA0-1CB1-CF4E-0496EB5F553D}"/>
              </a:ext>
            </a:extLst>
          </p:cNvPr>
          <p:cNvSpPr txBox="1"/>
          <p:nvPr/>
        </p:nvSpPr>
        <p:spPr>
          <a:xfrm>
            <a:off x="5520260" y="1561970"/>
            <a:ext cx="355913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Likviditás: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2025: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Likviditási gyorsráta=(642-393)/543=0,46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2026: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Likviditási gyorsráta= (756-422)/540= 0,62</a:t>
            </a:r>
          </a:p>
        </p:txBody>
      </p:sp>
      <p:sp>
        <p:nvSpPr>
          <p:cNvPr id="4" name="Ellipszis 3">
            <a:extLst>
              <a:ext uri="{FF2B5EF4-FFF2-40B4-BE49-F238E27FC236}">
                <a16:creationId xmlns:a16="http://schemas.microsoft.com/office/drawing/2014/main" id="{2C1FDD4F-E802-BA58-7EC7-1A16F2E6DC03}"/>
              </a:ext>
            </a:extLst>
          </p:cNvPr>
          <p:cNvSpPr/>
          <p:nvPr/>
        </p:nvSpPr>
        <p:spPr>
          <a:xfrm>
            <a:off x="2166730" y="1760896"/>
            <a:ext cx="556592" cy="2484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A23A08C9-8628-0F83-0383-E12B30FF0EF7}"/>
              </a:ext>
            </a:extLst>
          </p:cNvPr>
          <p:cNvSpPr/>
          <p:nvPr/>
        </p:nvSpPr>
        <p:spPr>
          <a:xfrm>
            <a:off x="2166730" y="3182092"/>
            <a:ext cx="556592" cy="24847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5ADDDD1C-E4C2-73C8-FB18-34E9B923FE86}"/>
              </a:ext>
            </a:extLst>
          </p:cNvPr>
          <p:cNvSpPr/>
          <p:nvPr/>
        </p:nvSpPr>
        <p:spPr>
          <a:xfrm>
            <a:off x="3705735" y="1755927"/>
            <a:ext cx="556592" cy="2484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FB8404D8-1360-077F-A5CE-0FCA7D1034B1}"/>
              </a:ext>
            </a:extLst>
          </p:cNvPr>
          <p:cNvSpPr/>
          <p:nvPr/>
        </p:nvSpPr>
        <p:spPr>
          <a:xfrm>
            <a:off x="3705735" y="3178780"/>
            <a:ext cx="556592" cy="24847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6DAC45FF-184D-7077-93C4-5909668B2ABE}"/>
              </a:ext>
            </a:extLst>
          </p:cNvPr>
          <p:cNvSpPr txBox="1"/>
          <p:nvPr/>
        </p:nvSpPr>
        <p:spPr>
          <a:xfrm>
            <a:off x="5394567" y="3080960"/>
            <a:ext cx="3749433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Likviditás javulás, a cég a leglikvidebb eszközeiből a rövid távú tartozásainak csak 46%-át tudta volna azonnal fedezni 2025-ben, amely 62%-</a:t>
            </a:r>
            <a:r>
              <a:rPr lang="hu-HU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 emelkedett.</a:t>
            </a:r>
          </a:p>
        </p:txBody>
      </p:sp>
      <p:sp>
        <p:nvSpPr>
          <p:cNvPr id="14" name="Ellipszis 13">
            <a:extLst>
              <a:ext uri="{FF2B5EF4-FFF2-40B4-BE49-F238E27FC236}">
                <a16:creationId xmlns:a16="http://schemas.microsoft.com/office/drawing/2014/main" id="{F2EA2824-2A21-C35B-DB71-68E70CFFACC6}"/>
              </a:ext>
            </a:extLst>
          </p:cNvPr>
          <p:cNvSpPr/>
          <p:nvPr/>
        </p:nvSpPr>
        <p:spPr>
          <a:xfrm>
            <a:off x="2137378" y="2394208"/>
            <a:ext cx="556592" cy="24847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6F1E3733-6289-0776-AE31-E62714C4E458}"/>
              </a:ext>
            </a:extLst>
          </p:cNvPr>
          <p:cNvSpPr/>
          <p:nvPr/>
        </p:nvSpPr>
        <p:spPr>
          <a:xfrm>
            <a:off x="3705735" y="2394208"/>
            <a:ext cx="556592" cy="24847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153236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2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F1E8AB31-AC1D-1DA8-40A1-E5A5E29A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Shape 290">
            <a:extLst>
              <a:ext uri="{FF2B5EF4-FFF2-40B4-BE49-F238E27FC236}">
                <a16:creationId xmlns:a16="http://schemas.microsoft.com/office/drawing/2014/main" id="{7DE8C7B0-80E2-AE7E-0756-5545FC3BFF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4673299"/>
              </p:ext>
            </p:extLst>
          </p:nvPr>
        </p:nvGraphicFramePr>
        <p:xfrm>
          <a:off x="0" y="1122065"/>
          <a:ext cx="5387941" cy="3319600"/>
        </p:xfrm>
        <a:graphic>
          <a:graphicData uri="http://schemas.openxmlformats.org/drawingml/2006/table">
            <a:tbl>
              <a:tblPr>
                <a:noFill/>
                <a:tableStyleId>{FE464744-5EF8-4A23-BA49-EC68D10D153F}</a:tableStyleId>
              </a:tblPr>
              <a:tblGrid>
                <a:gridCol w="2251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3354922184"/>
                    </a:ext>
                  </a:extLst>
                </a:gridCol>
              </a:tblGrid>
              <a:tr h="5025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endParaRPr lang="hu" sz="1600" b="1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Calibri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hu-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2026</a:t>
                      </a: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Forgóeszközök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642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756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Pénzeszközök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939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Tx/>
                        <a:buChar char="-"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Vevők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 Készletek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Tárgyi 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2 731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2 880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27079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Eszközök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39993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Rövid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047513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Hosszú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42916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Saját tőke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2 299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2 639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Források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15458"/>
                  </a:ext>
                </a:extLst>
              </a:tr>
            </a:tbl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33C1DF26-BCD7-1D7D-346A-6BBBE90491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1150" y="154591"/>
            <a:ext cx="8521700" cy="798219"/>
          </a:xfr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/>
          <a:lstStyle/>
          <a:p>
            <a:r>
              <a:rPr lang="hu-HU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feladat: Vizsgáljuk meg a likviditási mutatót, likviditási gyorsrátát és a készpénzlikviditási mutatókat.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6F5BF4AB-AF89-640C-88E2-A43CE1EE952C}"/>
              </a:ext>
            </a:extLst>
          </p:cNvPr>
          <p:cNvSpPr txBox="1"/>
          <p:nvPr/>
        </p:nvSpPr>
        <p:spPr>
          <a:xfrm>
            <a:off x="5387941" y="1121617"/>
            <a:ext cx="373698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Likviditás: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2025: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Készpénzlikviditási mutató= 84/543= 0,15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2026: 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Készpénzlikviditási mutató= 146/540= 0,27</a:t>
            </a:r>
          </a:p>
        </p:txBody>
      </p:sp>
      <p:sp>
        <p:nvSpPr>
          <p:cNvPr id="4" name="Ellipszis 3">
            <a:extLst>
              <a:ext uri="{FF2B5EF4-FFF2-40B4-BE49-F238E27FC236}">
                <a16:creationId xmlns:a16="http://schemas.microsoft.com/office/drawing/2014/main" id="{FEF4E303-8208-2577-2CC1-9B5466928DC5}"/>
              </a:ext>
            </a:extLst>
          </p:cNvPr>
          <p:cNvSpPr/>
          <p:nvPr/>
        </p:nvSpPr>
        <p:spPr>
          <a:xfrm>
            <a:off x="2086021" y="2056000"/>
            <a:ext cx="556592" cy="2484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5CF5E978-5BC4-1D8A-ADF6-D45C4282B27A}"/>
              </a:ext>
            </a:extLst>
          </p:cNvPr>
          <p:cNvSpPr/>
          <p:nvPr/>
        </p:nvSpPr>
        <p:spPr>
          <a:xfrm>
            <a:off x="2149434" y="3233356"/>
            <a:ext cx="556592" cy="24847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EEE392C7-51EB-014B-9442-AD84F0E13E1F}"/>
              </a:ext>
            </a:extLst>
          </p:cNvPr>
          <p:cNvSpPr/>
          <p:nvPr/>
        </p:nvSpPr>
        <p:spPr>
          <a:xfrm>
            <a:off x="3736981" y="2033681"/>
            <a:ext cx="556592" cy="2484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682087EE-AEE5-2FF7-D330-6BF58B08EB3A}"/>
              </a:ext>
            </a:extLst>
          </p:cNvPr>
          <p:cNvSpPr/>
          <p:nvPr/>
        </p:nvSpPr>
        <p:spPr>
          <a:xfrm>
            <a:off x="3736981" y="3249175"/>
            <a:ext cx="556592" cy="24847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BBC70251-9BA3-7243-9F10-9F6B01105E31}"/>
              </a:ext>
            </a:extLst>
          </p:cNvPr>
          <p:cNvSpPr txBox="1"/>
          <p:nvPr/>
        </p:nvSpPr>
        <p:spPr>
          <a:xfrm>
            <a:off x="5387941" y="2449654"/>
            <a:ext cx="3736981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A készpénzlikviditás 0,15-ről 0,27-re történő emelkedése azt jelzi, hogy a vállalat pénzügyi helyzete rövid távon jelentősen stabilabbá vált, mivel a rövid lejáratú kötelezettségek egyre nagyobb részét képes azonnal rendelkezésre álló pénzeszközzel fedezni. Ez a változás mérsékli a működési kockázatot, növeli a vállalat válságállóságát.</a:t>
            </a:r>
          </a:p>
        </p:txBody>
      </p:sp>
    </p:spTree>
    <p:extLst>
      <p:ext uri="{BB962C8B-B14F-4D97-AF65-F5344CB8AC3E}">
        <p14:creationId xmlns:p14="http://schemas.microsoft.com/office/powerpoint/2010/main" val="765197696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1269BEB0-0EAD-F020-B5DD-BF1474785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Shape 182">
                <a:extLst>
                  <a:ext uri="{FF2B5EF4-FFF2-40B4-BE49-F238E27FC236}">
                    <a16:creationId xmlns:a16="http://schemas.microsoft.com/office/drawing/2014/main" id="{169D7D52-B6CC-A450-5352-A80129333A40}"/>
                  </a:ext>
                </a:extLst>
              </p:cNvPr>
              <p:cNvSpPr txBox="1"/>
              <p:nvPr/>
            </p:nvSpPr>
            <p:spPr>
              <a:xfrm>
                <a:off x="0" y="1046922"/>
                <a:ext cx="9144000" cy="40965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457167" indent="-228584">
                  <a:spcBef>
                    <a:spcPts val="400"/>
                  </a:spcBef>
                  <a:buClr>
                    <a:srgbClr val="CCCCCC"/>
                  </a:buClr>
                  <a:buChar char="●"/>
                </a:pPr>
                <a:r>
                  <a:rPr lang="hu-HU" sz="1800" b="1" i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Eladósodottsági mutató=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</m:ctrlPr>
                      </m:fPr>
                      <m:num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𝐬𝐬𝐳𝐞𝐬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𝐞𝐬𝐳𝐤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𝐳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−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𝐬𝐚𝐣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á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ő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𝐤𝐞</m:t>
                        </m:r>
                      </m:num>
                      <m:den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𝐬𝐬𝐳𝐞𝐬</m:t>
                        </m:r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𝐞𝐬𝐳𝐤</m:t>
                        </m:r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𝐳</m:t>
                        </m:r>
                      </m:den>
                    </m:f>
                  </m:oMath>
                </a14:m>
                <a:r>
                  <a:rPr lang="hu-HU" sz="1800" b="1" i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=</a:t>
                </a:r>
                <a:r>
                  <a:rPr lang="hu-HU" sz="1800" b="1" i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𝒕𝒆𝒍𝒆𝒛𝒆𝒕𝒕𝒔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𝒈𝒆𝒌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𝒔𝒔𝒛𝒆𝒔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𝑬𝒔𝒛𝒌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den>
                    </m:f>
                  </m:oMath>
                </a14:m>
                <a:r>
                  <a:rPr lang="hu-HU" sz="1800" b="1" i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pPr marL="228583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800" b="1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627063" indent="-285750">
                  <a:spcBef>
                    <a:spcPts val="400"/>
                  </a:spcBef>
                  <a:buClr>
                    <a:srgbClr val="CCCCCC"/>
                  </a:buClr>
                  <a:buFont typeface="Arial" panose="020B0604020202020204" pitchFamily="34" charset="0"/>
                  <a:buChar char="•"/>
                </a:pPr>
                <a:r>
                  <a:rPr lang="hu-HU" sz="1800" dirty="0">
                    <a:solidFill>
                      <a:schemeClr val="dk2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Két hasznos változat</a:t>
                </a: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1800" b="1" i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Adósság-saját tőke arány=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</m:ctrlPr>
                      </m:fPr>
                      <m:num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𝐬𝐬𝐳𝐞𝐬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𝐤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𝐭𝐞𝐥𝐞𝐳𝐞𝐭𝐭𝐬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é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𝐠</m:t>
                        </m:r>
                      </m:num>
                      <m:den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𝐬𝐚𝐣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á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ő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𝐤𝐞</m:t>
                        </m:r>
                      </m:den>
                    </m:f>
                  </m:oMath>
                </a14:m>
                <a:endParaRPr lang="hu-HU" sz="1800" b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16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D/E ráta (</a:t>
                </a:r>
                <a:r>
                  <a:rPr lang="hu-HU" sz="1600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debt-to-equity</a:t>
                </a:r>
                <a:r>
                  <a:rPr lang="hu-HU" sz="16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ratio) egy tőkeszerkezeti mutató amely arról ad információt, hogy a vállalat milyen mértékben finanszírozza a működését saját tőkéből és mennyiben támaszkodik idegen forrásokra, tehát </a:t>
                </a:r>
                <a:r>
                  <a:rPr lang="hu-HU" sz="1600" b="1" i="1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mekkora a tőkeáttétel</a:t>
                </a:r>
                <a:endParaRPr lang="hu-HU" sz="1600" b="1" i="1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800" b="1" i="1" dirty="0">
                  <a:solidFill>
                    <a:schemeClr val="dk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1800" b="1" i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Sajáttőke multiplikátor=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</m:ctrlPr>
                      </m:fPr>
                      <m:num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𝐬𝐬𝐳𝐞𝐬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𝐞𝐬𝐳𝐤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𝐳</m:t>
                        </m:r>
                      </m:num>
                      <m:den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𝐬𝐚𝐣</m:t>
                        </m:r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á</m:t>
                        </m:r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ő</m:t>
                        </m:r>
                        <m:r>
                          <a:rPr lang="hu-HU" sz="1800" b="1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𝐤𝐞</m:t>
                        </m:r>
                      </m:den>
                    </m:f>
                  </m:oMath>
                </a14:m>
                <a:r>
                  <a:rPr lang="hu-HU" sz="1800" b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 </a:t>
                </a:r>
                <a:endParaRPr lang="hu-HU" sz="1800" dirty="0">
                  <a:solidFill>
                    <a:schemeClr val="accent1">
                      <a:lumMod val="50000"/>
                    </a:schemeClr>
                  </a:solidFill>
                  <a:ea typeface="Cambria" panose="02040503050406030204" pitchFamily="18" charset="0"/>
                </a:endParaRP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6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16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Megmutatja, hogy egységnyi saját tőkével mekkora eszközállományt mozgat meg a vállalkozás</a:t>
                </a:r>
                <a:r>
                  <a:rPr lang="hu-HU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600" b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</p:txBody>
          </p:sp>
        </mc:Choice>
        <mc:Fallback xmlns="">
          <p:sp>
            <p:nvSpPr>
              <p:cNvPr id="182" name="Shape 182">
                <a:extLst>
                  <a:ext uri="{FF2B5EF4-FFF2-40B4-BE49-F238E27FC236}">
                    <a16:creationId xmlns:a16="http://schemas.microsoft.com/office/drawing/2014/main" id="{169D7D52-B6CC-A450-5352-A80129333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46922"/>
                <a:ext cx="9144000" cy="40965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ím 1">
            <a:extLst>
              <a:ext uri="{FF2B5EF4-FFF2-40B4-BE49-F238E27FC236}">
                <a16:creationId xmlns:a16="http://schemas.microsoft.com/office/drawing/2014/main" id="{2D99CDCE-735F-6FC3-C733-D8A31D1CB90D}"/>
              </a:ext>
            </a:extLst>
          </p:cNvPr>
          <p:cNvSpPr txBox="1">
            <a:spLocks/>
          </p:cNvSpPr>
          <p:nvPr/>
        </p:nvSpPr>
        <p:spPr>
          <a:xfrm>
            <a:off x="543340" y="159342"/>
            <a:ext cx="7706138" cy="5737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Hosszú távú fizetőképességi(</a:t>
            </a:r>
            <a:r>
              <a:rPr lang="hu-HU" dirty="0" err="1">
                <a:latin typeface="Cambria" panose="02040503050406030204" pitchFamily="18" charset="0"/>
                <a:ea typeface="Cambria" panose="02040503050406030204" pitchFamily="18" charset="0"/>
              </a:rPr>
              <a:t>szolvencia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) mutatók</a:t>
            </a:r>
            <a:endParaRPr lang="hu-HU" dirty="0">
              <a:solidFill>
                <a:schemeClr val="bg2">
                  <a:lumMod val="40000"/>
                  <a:lumOff val="6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E85D461F-A08A-4C4D-67E3-F6C3CEC20A57}"/>
              </a:ext>
            </a:extLst>
          </p:cNvPr>
          <p:cNvSpPr/>
          <p:nvPr/>
        </p:nvSpPr>
        <p:spPr>
          <a:xfrm>
            <a:off x="616227" y="3763618"/>
            <a:ext cx="3876261" cy="496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9425532"/>
      </p:ext>
    </p:extLst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A6390A77-FAEC-23AC-2334-A2333E7E0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Shape 290">
            <a:extLst>
              <a:ext uri="{FF2B5EF4-FFF2-40B4-BE49-F238E27FC236}">
                <a16:creationId xmlns:a16="http://schemas.microsoft.com/office/drawing/2014/main" id="{8DE0C340-57DF-A595-D217-314FF77E8A2F}"/>
              </a:ext>
            </a:extLst>
          </p:cNvPr>
          <p:cNvGraphicFramePr/>
          <p:nvPr/>
        </p:nvGraphicFramePr>
        <p:xfrm>
          <a:off x="0" y="1122065"/>
          <a:ext cx="5387941" cy="3319600"/>
        </p:xfrm>
        <a:graphic>
          <a:graphicData uri="http://schemas.openxmlformats.org/drawingml/2006/table">
            <a:tbl>
              <a:tblPr>
                <a:noFill/>
                <a:tableStyleId>{FE464744-5EF8-4A23-BA49-EC68D10D153F}</a:tableStyleId>
              </a:tblPr>
              <a:tblGrid>
                <a:gridCol w="2251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3354922184"/>
                    </a:ext>
                  </a:extLst>
                </a:gridCol>
              </a:tblGrid>
              <a:tr h="5025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endParaRPr lang="hu" sz="1600" b="1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Calibri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hu-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2026</a:t>
                      </a: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Forgóeszközök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642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756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Pénzeszközök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939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Tx/>
                        <a:buChar char="-"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Vevők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 Készletek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Tárgyi 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2 731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2 880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27079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Eszközök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39993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Rövid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047513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Hosszú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42916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Saját tőke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2 299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2 639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Források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15458"/>
                  </a:ext>
                </a:extLst>
              </a:tr>
            </a:tbl>
          </a:graphicData>
        </a:graphic>
      </p:graphicFrame>
      <p:sp>
        <p:nvSpPr>
          <p:cNvPr id="5" name="Ellipszis 4">
            <a:extLst>
              <a:ext uri="{FF2B5EF4-FFF2-40B4-BE49-F238E27FC236}">
                <a16:creationId xmlns:a16="http://schemas.microsoft.com/office/drawing/2014/main" id="{70079CC9-3DE1-3B07-8AE3-0339334048A7}"/>
              </a:ext>
            </a:extLst>
          </p:cNvPr>
          <p:cNvSpPr/>
          <p:nvPr/>
        </p:nvSpPr>
        <p:spPr>
          <a:xfrm>
            <a:off x="2149434" y="3187148"/>
            <a:ext cx="556592" cy="762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A2F26DB9-D1C0-4E78-FE86-7F6E01F885A3}"/>
              </a:ext>
            </a:extLst>
          </p:cNvPr>
          <p:cNvSpPr/>
          <p:nvPr/>
        </p:nvSpPr>
        <p:spPr>
          <a:xfrm>
            <a:off x="3736981" y="3187148"/>
            <a:ext cx="556592" cy="762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8158191E-423C-AA2C-1238-7151DEE9568E}"/>
              </a:ext>
            </a:extLst>
          </p:cNvPr>
          <p:cNvSpPr txBox="1"/>
          <p:nvPr/>
        </p:nvSpPr>
        <p:spPr>
          <a:xfrm>
            <a:off x="5387941" y="1079574"/>
            <a:ext cx="3736981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Eladósodottsági mutató(2025)=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Kötelezett./összes eszköz=1074/3 373=0,32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Eladósodottsági mutató(2026)=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Kötelezett./összes eszköz=997/3 636=0,27</a:t>
            </a: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60AE8921-CED1-05A1-66DB-B3B31EFBDA0C}"/>
              </a:ext>
            </a:extLst>
          </p:cNvPr>
          <p:cNvSpPr txBox="1">
            <a:spLocks/>
          </p:cNvSpPr>
          <p:nvPr/>
        </p:nvSpPr>
        <p:spPr>
          <a:xfrm>
            <a:off x="543340" y="159342"/>
            <a:ext cx="7706138" cy="5737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Hosszú távú fizetőképességi(</a:t>
            </a:r>
            <a:r>
              <a:rPr lang="hu-HU" dirty="0" err="1">
                <a:latin typeface="Cambria" panose="02040503050406030204" pitchFamily="18" charset="0"/>
                <a:ea typeface="Cambria" panose="02040503050406030204" pitchFamily="18" charset="0"/>
              </a:rPr>
              <a:t>szolvencia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) mutatók</a:t>
            </a:r>
            <a:endParaRPr lang="hu-HU" dirty="0">
              <a:solidFill>
                <a:schemeClr val="bg2">
                  <a:lumMod val="40000"/>
                  <a:lumOff val="6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Ellipszis 9">
            <a:extLst>
              <a:ext uri="{FF2B5EF4-FFF2-40B4-BE49-F238E27FC236}">
                <a16:creationId xmlns:a16="http://schemas.microsoft.com/office/drawing/2014/main" id="{2A4CD5E1-16B9-B783-A6F2-37D6F884DA15}"/>
              </a:ext>
            </a:extLst>
          </p:cNvPr>
          <p:cNvSpPr/>
          <p:nvPr/>
        </p:nvSpPr>
        <p:spPr>
          <a:xfrm>
            <a:off x="2149434" y="2864689"/>
            <a:ext cx="708992" cy="34011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723887AC-B588-BA44-9892-98514566571B}"/>
              </a:ext>
            </a:extLst>
          </p:cNvPr>
          <p:cNvSpPr/>
          <p:nvPr/>
        </p:nvSpPr>
        <p:spPr>
          <a:xfrm>
            <a:off x="3736981" y="2864689"/>
            <a:ext cx="708992" cy="34011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94F8A6A8-7B85-8C1C-9143-0D9926133DCE}"/>
              </a:ext>
            </a:extLst>
          </p:cNvPr>
          <p:cNvSpPr txBox="1"/>
          <p:nvPr/>
        </p:nvSpPr>
        <p:spPr>
          <a:xfrm>
            <a:off x="5387939" y="2164018"/>
            <a:ext cx="3736981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Adósság-saját tőke arány(2025)=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Kötelezett./saját tőke=1074/2 299=0,47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Adósság-saját tőke arány(2026)=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Kötelezett./Saját tőke=997/2 639=0,38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1B2D22CF-41FE-315F-82D6-E27A93F120C7}"/>
              </a:ext>
            </a:extLst>
          </p:cNvPr>
          <p:cNvSpPr txBox="1"/>
          <p:nvPr/>
        </p:nvSpPr>
        <p:spPr>
          <a:xfrm>
            <a:off x="5387939" y="3302841"/>
            <a:ext cx="3736981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Saját tőke multiplikátor(2025)=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összes eszköz/Saját tőke=3 373/2 299=1,47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Saját tőke multiplikátor(2026)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összes eszköz/Saját tőke=3 636/2639=1,38</a:t>
            </a:r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5DB58C7F-3548-2B05-9B2C-D44FD330DBF7}"/>
              </a:ext>
            </a:extLst>
          </p:cNvPr>
          <p:cNvSpPr/>
          <p:nvPr/>
        </p:nvSpPr>
        <p:spPr>
          <a:xfrm>
            <a:off x="3687417" y="3911525"/>
            <a:ext cx="708992" cy="340117"/>
          </a:xfrm>
          <a:prstGeom prst="ellipse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62C0B92D-460F-8791-B7F0-5D200F3F4E2C}"/>
              </a:ext>
            </a:extLst>
          </p:cNvPr>
          <p:cNvSpPr/>
          <p:nvPr/>
        </p:nvSpPr>
        <p:spPr>
          <a:xfrm>
            <a:off x="2125512" y="3911524"/>
            <a:ext cx="708992" cy="340117"/>
          </a:xfrm>
          <a:prstGeom prst="ellipse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565559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9476" y="194844"/>
            <a:ext cx="5925047" cy="792443"/>
          </a:xfr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defRPr/>
            </a:pPr>
            <a:r>
              <a:rPr lang="hu-HU" altLang="hu-HU" sz="405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Forgóeszköz-gazdálkodás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85375" y="1208469"/>
            <a:ext cx="8773249" cy="3105113"/>
          </a:xfr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rtlCol="0">
            <a:noAutofit/>
          </a:bodyPr>
          <a:lstStyle/>
          <a:p>
            <a:pPr>
              <a:buFont typeface="Arial"/>
              <a:buChar char="•"/>
              <a:defRPr/>
            </a:pPr>
            <a:r>
              <a:rPr lang="hu-HU" altLang="hu-HU" sz="24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Az eredményesség javítása</a:t>
            </a:r>
          </a:p>
          <a:p>
            <a:pPr>
              <a:buNone/>
              <a:defRPr/>
            </a:pPr>
            <a:r>
              <a:rPr lang="hu-HU" altLang="hu-HU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- Termék-előállítási (átfutási) idő javítása</a:t>
            </a:r>
          </a:p>
          <a:p>
            <a:pPr>
              <a:buNone/>
              <a:defRPr/>
            </a:pPr>
            <a:r>
              <a:rPr lang="hu-HU" altLang="hu-HU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- Forgóeszközben lekötött tőkerész csökkentése</a:t>
            </a:r>
          </a:p>
          <a:p>
            <a:pPr>
              <a:buNone/>
              <a:defRPr/>
            </a:pPr>
            <a:r>
              <a:rPr lang="hu-HU" altLang="hu-HU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- Készletgazdálkodási feladatok ellátási költségének csökkentése</a:t>
            </a:r>
          </a:p>
          <a:p>
            <a:pPr>
              <a:buNone/>
              <a:defRPr/>
            </a:pPr>
            <a:r>
              <a:rPr lang="hu-HU" altLang="hu-HU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- JIT</a:t>
            </a:r>
          </a:p>
        </p:txBody>
      </p:sp>
    </p:spTree>
    <p:extLst>
      <p:ext uri="{BB962C8B-B14F-4D97-AF65-F5344CB8AC3E}">
        <p14:creationId xmlns:p14="http://schemas.microsoft.com/office/powerpoint/2010/main" val="33935461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03574377"/>
              </p:ext>
            </p:extLst>
          </p:nvPr>
        </p:nvGraphicFramePr>
        <p:xfrm>
          <a:off x="1061611" y="303498"/>
          <a:ext cx="6912767" cy="4158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7010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CC7E46C-E91D-4396-A9C9-20DD50816B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FCC7E46C-E91D-4396-A9C9-20DD50816B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6BA7E0-7C3F-44C5-AF6B-52F561882B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066BA7E0-7C3F-44C5-AF6B-52F561882B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C850AF9-E7DE-4244-8581-D63CF9F1D1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8C850AF9-E7DE-4244-8581-D63CF9F1D1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1251FE1-C7C9-488F-B6AF-5239482E01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81251FE1-C7C9-488F-B6AF-5239482E01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3E4241D-11A7-44B1-B7DF-289BA1352B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graphicEl>
                                              <a:dgm id="{C3E4241D-11A7-44B1-B7DF-289BA1352B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A77233-B273-4C1B-82B9-76AB3561FF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graphicEl>
                                              <a:dgm id="{BBA77233-B273-4C1B-82B9-76AB3561FF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EB84D30-46E3-4C35-9A45-089DC1B39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>
                                            <p:graphicEl>
                                              <a:dgm id="{3EB84D30-46E3-4C35-9A45-089DC1B391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32A50C-5F28-4F86-AB98-468753C93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134" y="82843"/>
            <a:ext cx="2822439" cy="572699"/>
          </a:xfr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/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Forgási mutatók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B17198C-D624-4BF3-8D93-6DB1D2148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9636"/>
            <a:ext cx="9144000" cy="4004641"/>
          </a:xfr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A forgóeszköz-gazdálkodás elemzésére szolgáló, talán leggyakrabban használt eszközök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Egy állományi és egy forgalmi adat hányadosaként értelmezhetők.</a:t>
            </a:r>
          </a:p>
          <a:p>
            <a:r>
              <a:rPr lang="hu-HU" b="1" i="1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Fordulatok száma(f)=É/K 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a forgalmi adat (É), ami lehet az </a:t>
            </a:r>
            <a:r>
              <a:rPr lang="hu-HU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értékesítés nettó árbevétele (mi itt ezt használjuk majd)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hu-HU" b="1" i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termelési érték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, vagy az </a:t>
            </a:r>
            <a:r>
              <a:rPr lang="hu-HU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összes anyagfelhasználás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,  és az állományi adat, ami az átlagos forgóeszköz-állomány(vagy annak egy része) (K), hányadosa</a:t>
            </a:r>
          </a:p>
          <a:p>
            <a:r>
              <a:rPr lang="hu-HU" b="1" i="1" dirty="0">
                <a:latin typeface="Cambria" panose="02040503050406030204" pitchFamily="18" charset="0"/>
                <a:ea typeface="Cambria" panose="02040503050406030204" pitchFamily="18" charset="0"/>
              </a:rPr>
              <a:t>Kifejezi, hogy a forgóeszköz-állomány hányszor haladt át a körforgás rá jellemző szakaszán</a:t>
            </a:r>
          </a:p>
          <a:p>
            <a:r>
              <a:rPr lang="hu-HU" b="1" i="1" u="sng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Pénzügy</a:t>
            </a:r>
            <a:r>
              <a:rPr lang="hu-HU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Követelések forgása=Értékesítés nettó árbevétele/követelések</a:t>
            </a:r>
          </a:p>
          <a:p>
            <a:r>
              <a:rPr lang="hu-HU" b="1" i="1" u="sng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Forgási idő</a:t>
            </a:r>
            <a:r>
              <a:rPr lang="hu-HU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=Időszak napjainak száma/Fordulatok száma</a:t>
            </a:r>
          </a:p>
        </p:txBody>
      </p:sp>
    </p:spTree>
    <p:extLst>
      <p:ext uri="{BB962C8B-B14F-4D97-AF65-F5344CB8AC3E}">
        <p14:creationId xmlns:p14="http://schemas.microsoft.com/office/powerpoint/2010/main" val="22659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771CD7C8-F0A5-D087-7005-77A0B27E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Shape 290">
            <a:extLst>
              <a:ext uri="{FF2B5EF4-FFF2-40B4-BE49-F238E27FC236}">
                <a16:creationId xmlns:a16="http://schemas.microsoft.com/office/drawing/2014/main" id="{E1D0E131-88DE-9561-6B68-E6A08EA8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065682"/>
              </p:ext>
            </p:extLst>
          </p:nvPr>
        </p:nvGraphicFramePr>
        <p:xfrm>
          <a:off x="-2" y="937348"/>
          <a:ext cx="5387941" cy="3319600"/>
        </p:xfrm>
        <a:graphic>
          <a:graphicData uri="http://schemas.openxmlformats.org/drawingml/2006/table">
            <a:tbl>
              <a:tblPr>
                <a:noFill/>
                <a:tableStyleId>{FE464744-5EF8-4A23-BA49-EC68D10D153F}</a:tableStyleId>
              </a:tblPr>
              <a:tblGrid>
                <a:gridCol w="2251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3354922184"/>
                    </a:ext>
                  </a:extLst>
                </a:gridCol>
              </a:tblGrid>
              <a:tr h="5025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endParaRPr lang="hu" sz="1600" b="1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Calibri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hu-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2026</a:t>
                      </a: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Forgóeszközök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642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756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Pénzeszközök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939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Tx/>
                        <a:buChar char="-"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Vevők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 Készletek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Tárgyi 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2 731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2 880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27079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Eszközök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39993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Rövid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047513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Hosszú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42916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Saját tőke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2 299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2 639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Források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15458"/>
                  </a:ext>
                </a:extLst>
              </a:tr>
            </a:tbl>
          </a:graphicData>
        </a:graphic>
      </p:graphicFrame>
      <p:sp>
        <p:nvSpPr>
          <p:cNvPr id="12" name="Szövegdoboz 11">
            <a:extLst>
              <a:ext uri="{FF2B5EF4-FFF2-40B4-BE49-F238E27FC236}">
                <a16:creationId xmlns:a16="http://schemas.microsoft.com/office/drawing/2014/main" id="{ED74E037-6286-FF48-F70F-8F08D4406360}"/>
              </a:ext>
            </a:extLst>
          </p:cNvPr>
          <p:cNvSpPr txBox="1"/>
          <p:nvPr/>
        </p:nvSpPr>
        <p:spPr>
          <a:xfrm>
            <a:off x="5387938" y="966354"/>
            <a:ext cx="3756062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i="1" dirty="0">
                <a:latin typeface="Cambria" panose="02040503050406030204" pitchFamily="18" charset="0"/>
                <a:ea typeface="Cambria" panose="02040503050406030204" pitchFamily="18" charset="0"/>
              </a:rPr>
              <a:t>Értékesítés nettó árbevétele(2025)=825 </a:t>
            </a:r>
          </a:p>
          <a:p>
            <a:endParaRPr lang="hu-HU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i="1" dirty="0">
                <a:latin typeface="Cambria" panose="02040503050406030204" pitchFamily="18" charset="0"/>
                <a:ea typeface="Cambria" panose="02040503050406030204" pitchFamily="18" charset="0"/>
              </a:rPr>
              <a:t>Értékesítés nettó árbevétele(2026)=1 128 </a:t>
            </a: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73C97EB5-E6A5-AED2-FABB-C16C96CA4FE9}"/>
              </a:ext>
            </a:extLst>
          </p:cNvPr>
          <p:cNvSpPr txBox="1">
            <a:spLocks/>
          </p:cNvSpPr>
          <p:nvPr/>
        </p:nvSpPr>
        <p:spPr>
          <a:xfrm>
            <a:off x="543340" y="159342"/>
            <a:ext cx="7706138" cy="5737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Vállalati eszközmenedzsment (forgási) mutatók</a:t>
            </a:r>
            <a:endParaRPr lang="hu-HU" dirty="0">
              <a:solidFill>
                <a:schemeClr val="bg2">
                  <a:lumMod val="40000"/>
                  <a:lumOff val="6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Ellipszis 9">
            <a:extLst>
              <a:ext uri="{FF2B5EF4-FFF2-40B4-BE49-F238E27FC236}">
                <a16:creationId xmlns:a16="http://schemas.microsoft.com/office/drawing/2014/main" id="{9FA2C88D-1E7C-0789-8558-689435F17DED}"/>
              </a:ext>
            </a:extLst>
          </p:cNvPr>
          <p:cNvSpPr/>
          <p:nvPr/>
        </p:nvSpPr>
        <p:spPr>
          <a:xfrm>
            <a:off x="2094836" y="1993959"/>
            <a:ext cx="708992" cy="34011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11326524-7FF0-345C-5C2D-F63A9B487CF8}"/>
              </a:ext>
            </a:extLst>
          </p:cNvPr>
          <p:cNvSpPr/>
          <p:nvPr/>
        </p:nvSpPr>
        <p:spPr>
          <a:xfrm>
            <a:off x="3655081" y="2001413"/>
            <a:ext cx="708992" cy="34011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823F8C40-2AC2-4074-93C6-0ECDDE75BD1C}"/>
              </a:ext>
            </a:extLst>
          </p:cNvPr>
          <p:cNvSpPr txBox="1"/>
          <p:nvPr/>
        </p:nvSpPr>
        <p:spPr>
          <a:xfrm>
            <a:off x="5387938" y="1993959"/>
            <a:ext cx="3736981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Követelések forgása (FSZ)(2025)=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Értékesítés nettó árbevétele/Követelések=5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Forgási idő(2025)=365/5=73 nap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05DC2EEF-D72E-129F-A2CB-42D94E2A98C2}"/>
              </a:ext>
            </a:extLst>
          </p:cNvPr>
          <p:cNvSpPr txBox="1"/>
          <p:nvPr/>
        </p:nvSpPr>
        <p:spPr>
          <a:xfrm>
            <a:off x="5407019" y="3021564"/>
            <a:ext cx="3736981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Követelések forgása (FSZ)(2026)=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Értékesítés nettó árbevétele/Követelések=6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Forgási idő(2026)=365/6=60,8 nap</a:t>
            </a:r>
          </a:p>
        </p:txBody>
      </p:sp>
    </p:spTree>
    <p:extLst>
      <p:ext uri="{BB962C8B-B14F-4D97-AF65-F5344CB8AC3E}">
        <p14:creationId xmlns:p14="http://schemas.microsoft.com/office/powerpoint/2010/main" val="25947863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AC06A613-172C-34AC-647A-A3198E85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B93D7C00-3694-5591-2280-194B07835542}"/>
                  </a:ext>
                </a:extLst>
              </p:cNvPr>
              <p:cNvSpPr txBox="1"/>
              <p:nvPr/>
            </p:nvSpPr>
            <p:spPr>
              <a:xfrm>
                <a:off x="230372" y="1120056"/>
                <a:ext cx="8683256" cy="3213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18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Összes eszköz értéke= 2450</a:t>
                </a: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1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Értékesítés nettó árbevétele=2940</a:t>
                </a: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 xmlns:m="http://schemas.openxmlformats.org/officeDocument/2006/math">
                    <m:r>
                      <a:rPr lang="hu-HU" sz="18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Ö</m:t>
                    </m:r>
                    <m:r>
                      <a:rPr lang="hu-HU" sz="18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𝐬𝐬𝐳𝐞𝐬</m:t>
                    </m:r>
                    <m:r>
                      <a:rPr lang="hu-HU" sz="18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 </m:t>
                    </m:r>
                    <m:r>
                      <a:rPr lang="hu-HU" sz="18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𝐞𝐬𝐳𝐤</m:t>
                    </m:r>
                    <m:r>
                      <a:rPr lang="hu-HU" sz="18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ö</m:t>
                    </m:r>
                    <m:r>
                      <a:rPr lang="hu-HU" sz="18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𝐳</m:t>
                    </m:r>
                    <m:r>
                      <a:rPr lang="hu-HU" sz="18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 </m:t>
                    </m:r>
                    <m:r>
                      <a:rPr lang="hu-HU" sz="18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𝐟𝐨𝐫𝐠</m:t>
                    </m:r>
                    <m:r>
                      <a:rPr lang="hu-HU" sz="18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á</m:t>
                    </m:r>
                    <m:r>
                      <a:rPr lang="hu-HU" sz="18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𝐬𝐚</m:t>
                    </m:r>
                    <m:r>
                      <a:rPr lang="hu-HU" sz="18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=</m:t>
                    </m:r>
                    <m:f>
                      <m:fPr>
                        <m:ctrlP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</m:ctrlPr>
                      </m:fPr>
                      <m:num>
                        <m: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É</m:t>
                        </m:r>
                        <m: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𝒓𝒕</m:t>
                        </m:r>
                        <m: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é</m:t>
                        </m:r>
                        <m: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𝒌𝒆𝒔</m:t>
                        </m:r>
                        <m: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í</m:t>
                        </m:r>
                        <m: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𝒕</m:t>
                        </m:r>
                        <m: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é</m:t>
                        </m:r>
                        <m: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𝒔</m:t>
                        </m:r>
                        <m: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𝒏𝒆𝒕𝒕</m:t>
                        </m:r>
                        <m: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ó á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𝒓𝒃𝒆𝒗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é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𝒕𝒆𝒍𝒆</m:t>
                        </m:r>
                      </m:num>
                      <m:den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𝒔𝒔𝒛𝒆𝒔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𝒆𝒔𝒛𝒌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𝒛</m:t>
                        </m:r>
                      </m:den>
                    </m:f>
                  </m:oMath>
                </a14:m>
                <a:r>
                  <a:rPr lang="hu-HU" sz="1800" b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  <a:sym typeface="Source Sans Pro"/>
                  </a:rPr>
                  <a:t> </a:t>
                </a: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1800" b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  <a:sym typeface="Source Sans Pro"/>
                  </a:rPr>
                  <a:t>(egységnyi eszköz mekkora árbevételt generál)</a:t>
                </a: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8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m:rPr>
                          <m:sty m:val="p"/>
                        </m:rPr>
                        <a:rPr lang="hu-HU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sszes</m:t>
                      </m:r>
                      <m:r>
                        <a:rPr lang="hu-HU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m:rPr>
                          <m:sty m:val="p"/>
                        </m:rPr>
                        <a:rPr lang="hu-HU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eszk</m:t>
                      </m:r>
                      <m:r>
                        <a:rPr lang="hu-HU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m:rPr>
                          <m:sty m:val="p"/>
                        </m:rPr>
                        <a:rPr lang="hu-HU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zforg</m:t>
                      </m:r>
                      <m:r>
                        <a:rPr lang="hu-HU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m:rPr>
                          <m:sty m:val="p"/>
                        </m:rPr>
                        <a:rPr lang="hu-HU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sa</m:t>
                      </m:r>
                      <m:r>
                        <a:rPr lang="hu-HU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𝟐𝟗𝟒𝟎</m:t>
                          </m:r>
                        </m:num>
                        <m:den>
                          <m:r>
                            <a:rPr lang="hu-HU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𝟐𝟒𝟓𝟎</m:t>
                          </m:r>
                        </m:den>
                      </m:f>
                      <m:r>
                        <a:rPr lang="hu-HU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</m:t>
                      </m:r>
                      <m:r>
                        <a:rPr lang="hu-HU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𝟐</m:t>
                      </m:r>
                    </m:oMath>
                  </m:oMathPara>
                </a14:m>
                <a:endParaRPr lang="hu-HU" sz="1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285750" indent="-285750">
                  <a:buClr>
                    <a:srgbClr val="CCCCCC"/>
                  </a:buClr>
                  <a:buFont typeface="Arial" panose="020B0604020202020204" pitchFamily="34" charset="0"/>
                  <a:buChar char="•"/>
                </a:pPr>
                <a:r>
                  <a:rPr lang="hu-HU" sz="1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Eredményeink arra utalnak, hogy a vállalat minden egységnyi eszköze 1,2 egységnyi árbevételt generál</a:t>
                </a:r>
                <a:r>
                  <a:rPr lang="hu-HU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B93D7C00-3694-5591-2280-194B07835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72" y="1120056"/>
                <a:ext cx="8683256" cy="3213380"/>
              </a:xfrm>
              <a:prstGeom prst="rect">
                <a:avLst/>
              </a:prstGeom>
              <a:blipFill>
                <a:blip r:embed="rId3"/>
                <a:stretch>
                  <a:fillRect l="-492" t="-1328" r="-913" b="-284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ím 1">
            <a:extLst>
              <a:ext uri="{FF2B5EF4-FFF2-40B4-BE49-F238E27FC236}">
                <a16:creationId xmlns:a16="http://schemas.microsoft.com/office/drawing/2014/main" id="{8946F825-AD24-EAE8-D6D5-A847EEE5735E}"/>
              </a:ext>
            </a:extLst>
          </p:cNvPr>
          <p:cNvSpPr txBox="1">
            <a:spLocks/>
          </p:cNvSpPr>
          <p:nvPr/>
        </p:nvSpPr>
        <p:spPr>
          <a:xfrm>
            <a:off x="649357" y="192472"/>
            <a:ext cx="7706138" cy="5737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Vállalati eszközmenedzsment (forgási) mutatók</a:t>
            </a:r>
            <a:endParaRPr lang="hu-HU" dirty="0">
              <a:solidFill>
                <a:schemeClr val="bg2">
                  <a:lumMod val="40000"/>
                  <a:lumOff val="6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242428"/>
      </p:ext>
    </p:extLst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F449B2-B510-3553-63FA-BEADE888D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91" y="67965"/>
            <a:ext cx="9097617" cy="513986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600" b="1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Nyereséghányad mutató: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hu-HU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Megmutatja, hogy </a:t>
            </a:r>
            <a:r>
              <a:rPr lang="hu-HU" altLang="hu-HU" sz="1600" b="1" i="1" u="sng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egységnyi </a:t>
            </a:r>
            <a:r>
              <a:rPr lang="hu-HU" altLang="hu-HU" sz="1600" b="1" i="1" u="sng" dirty="0" err="1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árbevételből</a:t>
            </a:r>
            <a:r>
              <a:rPr lang="hu-HU" altLang="hu-HU" sz="1600" b="1" i="1" u="sng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hány százalék nyereség képződik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18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Nyereséghányad mutató=</a:t>
            </a:r>
            <a:r>
              <a:rPr lang="hu-HU" altLang="hu-HU" sz="1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Adózott eredmény/Értékesítés nettó árbevétele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600" b="1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ROE (</a:t>
            </a:r>
            <a:r>
              <a:rPr kumimoji="0" lang="hu-HU" altLang="hu-HU" sz="1600" b="1" i="1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Return</a:t>
            </a:r>
            <a:r>
              <a:rPr kumimoji="0" lang="hu-HU" altLang="hu-HU" sz="1600" b="1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hu-HU" altLang="hu-HU" sz="1600" b="1" i="1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</a:t>
            </a:r>
            <a:r>
              <a:rPr kumimoji="0" lang="hu-HU" altLang="hu-HU" sz="1600" b="1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Equity</a:t>
            </a:r>
            <a:r>
              <a:rPr kumimoji="0" lang="hu-HU" altLang="hu-HU" sz="1600" b="1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saját tőke arányos megtérülés)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vállalatok eredménytermelő képességét mérő legfontosabb pénzügyi mutató, amely megmutatja, mekkora nyereséget termel a cég a tulajdonosok által befektetett tőkére vetítve.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ROE mutató legfontosabb jellemzői:</a:t>
            </a:r>
            <a:endParaRPr kumimoji="0" lang="hu-HU" altLang="hu-H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Jelentése: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Azt mutatja, hogy a befektetett tőke mekkora jövedelmezőséggel hasznosul, vagyis a </a:t>
            </a:r>
            <a:r>
              <a:rPr kumimoji="0" lang="hu-HU" altLang="hu-HU" sz="1600" b="1" i="1" u="sng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tulajdonosok mekkora hozamot érnek el a pénzükön.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u-HU" altLang="hu-HU" sz="1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ROE=</a:t>
            </a: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Adózott eredmény/saját tőke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u-HU" altLang="hu-H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sz="16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ROA (</a:t>
            </a:r>
            <a:r>
              <a:rPr lang="hu-HU" sz="1600" b="1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hu-HU" sz="16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1600" b="1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</a:t>
            </a:r>
            <a:r>
              <a:rPr lang="hu-HU" sz="16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1600" b="1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Assets</a:t>
            </a:r>
            <a:r>
              <a:rPr lang="hu-HU" sz="16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- Eszközarányos megtérülés) </a:t>
            </a:r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egy kulcsfontosságú jövedelmezőségi mutató, amely azt méri, </a:t>
            </a:r>
            <a:r>
              <a:rPr lang="hu-HU" sz="1600" b="1" i="1" u="sng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mennyire hatékonyan termel profitot a vállalat a rendelkezésére álló összes eszköz (befektetett eszközök + forgóeszközök) felhasználásával</a:t>
            </a:r>
          </a:p>
          <a:p>
            <a:endParaRPr lang="hu-HU" sz="1600" b="1" i="1" u="sng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Minél magasabb a százalékos érték, annál jobban hasznosítja a cég az eszközeit.</a:t>
            </a:r>
          </a:p>
          <a:p>
            <a:r>
              <a:rPr lang="hu-HU" altLang="hu-HU" sz="1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ROA=Adózott eredmény/összes eszköz (Tőkeintenzív iparágakban alacsonyabb)</a:t>
            </a:r>
          </a:p>
          <a:p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8A4F061-785F-7441-974B-EAA1EEA23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19815" y="1828154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026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76B20E46-039F-BD83-9AD3-FC26EE6E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Shape 290">
            <a:extLst>
              <a:ext uri="{FF2B5EF4-FFF2-40B4-BE49-F238E27FC236}">
                <a16:creationId xmlns:a16="http://schemas.microsoft.com/office/drawing/2014/main" id="{226793F0-2B81-AB58-5F2F-89B671B0BA14}"/>
              </a:ext>
            </a:extLst>
          </p:cNvPr>
          <p:cNvGraphicFramePr/>
          <p:nvPr/>
        </p:nvGraphicFramePr>
        <p:xfrm>
          <a:off x="-2" y="937348"/>
          <a:ext cx="5387941" cy="3319600"/>
        </p:xfrm>
        <a:graphic>
          <a:graphicData uri="http://schemas.openxmlformats.org/drawingml/2006/table">
            <a:tbl>
              <a:tblPr>
                <a:noFill/>
                <a:tableStyleId>{FE464744-5EF8-4A23-BA49-EC68D10D153F}</a:tableStyleId>
              </a:tblPr>
              <a:tblGrid>
                <a:gridCol w="2251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315">
                  <a:extLst>
                    <a:ext uri="{9D8B030D-6E8A-4147-A177-3AD203B41FA5}">
                      <a16:colId xmlns:a16="http://schemas.microsoft.com/office/drawing/2014/main" val="3354922184"/>
                    </a:ext>
                  </a:extLst>
                </a:gridCol>
              </a:tblGrid>
              <a:tr h="5025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endParaRPr lang="hu" sz="1600" b="1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Calibri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hu-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bold" panose="020B0702040204020203" pitchFamily="34" charset="0"/>
                        </a:rPr>
                        <a:t>2026</a:t>
                      </a:r>
                      <a:endParaRPr sz="1600" i="0" u="none" dirty="0">
                        <a:solidFill>
                          <a:srgbClr val="595959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Segoe UI Semibold" panose="020B0702040204020203" pitchFamily="34" charset="0"/>
                      </a:endParaRPr>
                    </a:p>
                  </a:txBody>
                  <a:tcPr marL="47625" marR="47625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Forgóeszközök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642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756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Pénzeszközök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939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Tx/>
                        <a:buChar char="-"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Vevők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     Készletek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1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Tárgyi Eszközök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2 731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2 880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27079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Eszközök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39993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Rövid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047513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Hosszú lejáratú kötelezettségek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457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429161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Saját tőke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2 299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2 639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Források összesen</a:t>
                      </a:r>
                    </a:p>
                  </a:txBody>
                  <a:tcPr marL="47625" marR="4762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3 373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Source Sans Pro"/>
                        <a:buNone/>
                        <a:tabLst/>
                        <a:defRPr/>
                      </a:pPr>
                      <a:r>
                        <a:rPr lang="hu" sz="1600" b="1" i="0" u="none" dirty="0">
                          <a:solidFill>
                            <a:srgbClr val="595959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</a:rPr>
                        <a:t>3 636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15458"/>
                  </a:ext>
                </a:extLst>
              </a:tr>
            </a:tbl>
          </a:graphicData>
        </a:graphic>
      </p:graphicFrame>
      <p:sp>
        <p:nvSpPr>
          <p:cNvPr id="12" name="Szövegdoboz 11">
            <a:extLst>
              <a:ext uri="{FF2B5EF4-FFF2-40B4-BE49-F238E27FC236}">
                <a16:creationId xmlns:a16="http://schemas.microsoft.com/office/drawing/2014/main" id="{7C9404E4-6044-4131-9B59-941FDDF37B28}"/>
              </a:ext>
            </a:extLst>
          </p:cNvPr>
          <p:cNvSpPr txBox="1"/>
          <p:nvPr/>
        </p:nvSpPr>
        <p:spPr>
          <a:xfrm>
            <a:off x="5416559" y="772826"/>
            <a:ext cx="3756062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i="1" dirty="0">
                <a:latin typeface="Cambria" panose="02040503050406030204" pitchFamily="18" charset="0"/>
                <a:ea typeface="Cambria" panose="02040503050406030204" pitchFamily="18" charset="0"/>
              </a:rPr>
              <a:t>Értékesítés nettó árbevétele(2025)=825 </a:t>
            </a:r>
          </a:p>
          <a:p>
            <a:r>
              <a:rPr lang="hu-HU" i="1" dirty="0">
                <a:latin typeface="Cambria" panose="02040503050406030204" pitchFamily="18" charset="0"/>
                <a:ea typeface="Cambria" panose="02040503050406030204" pitchFamily="18" charset="0"/>
              </a:rPr>
              <a:t>Adózott eredmény(2025)=92</a:t>
            </a:r>
          </a:p>
          <a:p>
            <a:endParaRPr lang="hu-HU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hu-HU" i="1" dirty="0">
                <a:latin typeface="Cambria" panose="02040503050406030204" pitchFamily="18" charset="0"/>
                <a:ea typeface="Cambria" panose="02040503050406030204" pitchFamily="18" charset="0"/>
              </a:rPr>
              <a:t>Értékesítés nettó árbevétele(2026)=1 128</a:t>
            </a:r>
          </a:p>
          <a:p>
            <a:r>
              <a:rPr lang="hu-HU" i="1" dirty="0">
                <a:latin typeface="Cambria" panose="02040503050406030204" pitchFamily="18" charset="0"/>
                <a:ea typeface="Cambria" panose="02040503050406030204" pitchFamily="18" charset="0"/>
              </a:rPr>
              <a:t>Adózott eredmény= 150 </a:t>
            </a: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A1087D22-9019-A00E-3A86-38E2B841C36D}"/>
              </a:ext>
            </a:extLst>
          </p:cNvPr>
          <p:cNvSpPr txBox="1">
            <a:spLocks/>
          </p:cNvSpPr>
          <p:nvPr/>
        </p:nvSpPr>
        <p:spPr>
          <a:xfrm>
            <a:off x="2531166" y="118437"/>
            <a:ext cx="4181060" cy="5737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Jövedelmezőségi mutatók</a:t>
            </a:r>
            <a:endParaRPr lang="hu-HU" dirty="0">
              <a:solidFill>
                <a:schemeClr val="bg2">
                  <a:lumMod val="40000"/>
                  <a:lumOff val="6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9F91675A-ED2B-3C03-D105-7215F4128267}"/>
              </a:ext>
            </a:extLst>
          </p:cNvPr>
          <p:cNvSpPr txBox="1"/>
          <p:nvPr/>
        </p:nvSpPr>
        <p:spPr>
          <a:xfrm>
            <a:off x="5407019" y="2023008"/>
            <a:ext cx="3736981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Nyereséghányad mutató=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Adózott eredmény/ árbevétel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Nyereséghányad mutató(2025)=11,15%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Nyereséghányad mutató(2026)=13,3%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B139E795-6858-69F4-9D3E-5FE9462A7D9C}"/>
              </a:ext>
            </a:extLst>
          </p:cNvPr>
          <p:cNvSpPr txBox="1"/>
          <p:nvPr/>
        </p:nvSpPr>
        <p:spPr>
          <a:xfrm>
            <a:off x="5407018" y="3057746"/>
            <a:ext cx="3736981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ROE=Adózott eredmény/saját tőke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ROE(2025)=92/2 299=4%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ROE(2026)=150/2 639=5,7%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58BCCEA-30DB-26DE-2CE0-5C782ED5EA74}"/>
              </a:ext>
            </a:extLst>
          </p:cNvPr>
          <p:cNvSpPr txBox="1"/>
          <p:nvPr/>
        </p:nvSpPr>
        <p:spPr>
          <a:xfrm>
            <a:off x="5407018" y="3877041"/>
            <a:ext cx="3736981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ROA=Adózott eredmény/összes eszköz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ROA(2025)=92/3 373=2,7%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ROA(2026)=150/3 636=4,1%</a:t>
            </a:r>
          </a:p>
        </p:txBody>
      </p:sp>
    </p:spTree>
    <p:extLst>
      <p:ext uri="{BB962C8B-B14F-4D97-AF65-F5344CB8AC3E}">
        <p14:creationId xmlns:p14="http://schemas.microsoft.com/office/powerpoint/2010/main" val="1579861653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0B1465E9-D63C-CC4D-D8A1-446C9652E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33"/>
            <a:ext cx="91440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hu-HU" altLang="hu-HU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DuPont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-elemzés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 saját tőke arányos megtérülés(ROE) három komponensre bontásával (nettó profithányad, eszközforgási sebesség, tőkeáttétel) vizsgálja a vállalati teljesítményt. </a:t>
            </a:r>
          </a:p>
          <a:p>
            <a:pPr fontAlgn="base"/>
            <a:r>
              <a:rPr lang="hu-HU" sz="2000" b="1" i="1" u="sng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hu-HU" sz="2000" b="1" i="1" u="sng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DuPont</a:t>
            </a:r>
            <a:r>
              <a:rPr lang="hu-HU" sz="2000" b="1" i="1" u="sng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felbontás célja, hogy feltárjuk a vállalat tőkearányos jövedelmezőségének összetevőit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1" i="1" u="sng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Segítségével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elkülöníthető az operatív hatékonyság, az eszközkezelés és a pénzügyi szerkezet hatása, így </a:t>
            </a:r>
            <a:r>
              <a:rPr kumimoji="0" lang="hu-HU" altLang="hu-HU" sz="2000" b="1" i="1" u="sng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pontosan azonosíthatók a nyereségesség forrásai vagy gyengeségei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0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Nettó profithányad (Profit Margin):</a:t>
            </a:r>
            <a:r>
              <a:rPr lang="hu-HU"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Mennyire hatékony a vállalat a költségek kezelésében és az árazásban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0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Eszközforgási sebesség (</a:t>
            </a:r>
            <a:r>
              <a:rPr lang="hu-HU" sz="2000" b="1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Asset</a:t>
            </a:r>
            <a:r>
              <a:rPr lang="hu-HU" sz="20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2000" b="1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Turnover</a:t>
            </a:r>
            <a:r>
              <a:rPr lang="hu-HU" sz="20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):</a:t>
            </a:r>
            <a:r>
              <a:rPr lang="hu-HU" sz="20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Milyen hatékonyan használja a cég az eszközeit az árbevétel generálására.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000" b="1" i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Pénzügyi tőkeáttétel (Financial </a:t>
            </a:r>
            <a:r>
              <a:rPr lang="hu-HU" sz="2000" b="1" i="1" dirty="0" err="1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Leverage</a:t>
            </a:r>
            <a:r>
              <a:rPr lang="hu-HU" sz="2000" b="1" i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):</a:t>
            </a:r>
            <a:r>
              <a:rPr lang="hu-HU" sz="2000" i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Mekkora a vállalat eladósodottsága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4F7A5768-7AEE-C848-BE49-C9CC0BE50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30" y="1093304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>
            <a:extLst>
              <a:ext uri="{FF2B5EF4-FFF2-40B4-BE49-F238E27FC236}">
                <a16:creationId xmlns:a16="http://schemas.microsoft.com/office/drawing/2014/main" id="{B00FB5EB-336E-0112-D775-4B8F5B14C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30" y="1642579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41CA9C41-A400-7FE5-148F-113180830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30" y="2191854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681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36AD2BF8-8155-171C-9C55-0DC9E3D1545E}"/>
                  </a:ext>
                </a:extLst>
              </p:cNvPr>
              <p:cNvSpPr txBox="1"/>
              <p:nvPr/>
            </p:nvSpPr>
            <p:spPr>
              <a:xfrm>
                <a:off x="0" y="2237652"/>
                <a:ext cx="9144000" cy="6681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𝑹𝑶𝑬</m:t>
                      </m:r>
                      <m:r>
                        <a:rPr lang="hu-HU" sz="1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𝒂𝒅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𝒛𝒐𝒕𝒕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𝒆𝒓𝒆𝒅𝒎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𝒏𝒚</m:t>
                          </m:r>
                        </m:num>
                        <m:den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𝒓𝒕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𝒌𝒆𝒔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í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𝒏𝒆𝒕𝒕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 á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𝒓𝒃𝒆𝒗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𝒕𝒆𝒍𝒆</m:t>
                          </m:r>
                        </m:den>
                      </m:f>
                      <m:r>
                        <a:rPr lang="hu-HU" sz="1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×</m:t>
                      </m:r>
                      <m:f>
                        <m:fPr>
                          <m:ctrlP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𝒓𝒕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𝒌𝒆𝒔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í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𝒏𝒆𝒕𝒕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 á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𝒓𝒃𝒆𝒗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𝒕𝒆𝒍𝒆</m:t>
                          </m:r>
                        </m:num>
                        <m:den>
                          <m:r>
                            <a:rPr lang="hu-HU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𝒔𝒔𝒛𝒆𝒔</m:t>
                          </m:r>
                          <m:r>
                            <a:rPr lang="hu-HU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</m:den>
                      </m:f>
                      <m:r>
                        <a:rPr lang="hu-HU" sz="1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×</m:t>
                      </m:r>
                      <m:f>
                        <m:fPr>
                          <m:ctrlP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𝒔𝒔𝒛𝒆𝒔</m:t>
                          </m:r>
                          <m:r>
                            <a:rPr lang="hu-HU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</m:num>
                        <m:den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𝒔𝒂𝒋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ő</m:t>
                          </m:r>
                          <m:r>
                            <a:rPr lang="hu-HU" sz="1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𝒌𝒆</m:t>
                          </m:r>
                        </m:den>
                      </m:f>
                    </m:oMath>
                  </m:oMathPara>
                </a14:m>
                <a:endParaRPr lang="hu-HU" sz="1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36AD2BF8-8155-171C-9C55-0DC9E3D15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37652"/>
                <a:ext cx="9144000" cy="6681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zövegdoboz 4">
            <a:extLst>
              <a:ext uri="{FF2B5EF4-FFF2-40B4-BE49-F238E27FC236}">
                <a16:creationId xmlns:a16="http://schemas.microsoft.com/office/drawing/2014/main" id="{E8FF58F7-E5C3-E2A7-3C0B-E41759785A99}"/>
              </a:ext>
            </a:extLst>
          </p:cNvPr>
          <p:cNvSpPr txBox="1"/>
          <p:nvPr/>
        </p:nvSpPr>
        <p:spPr>
          <a:xfrm>
            <a:off x="1391479" y="1652877"/>
            <a:ext cx="188843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Nettó profit hányad</a:t>
            </a:r>
          </a:p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Nyereség hányad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E786A84-71F1-29DC-A13E-274E6973A503}"/>
              </a:ext>
            </a:extLst>
          </p:cNvPr>
          <p:cNvSpPr txBox="1"/>
          <p:nvPr/>
        </p:nvSpPr>
        <p:spPr>
          <a:xfrm>
            <a:off x="4505740" y="1899098"/>
            <a:ext cx="2372139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Eszközforgási sebesség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516CAC54-4CDC-8145-B9DB-270B7BAB6280}"/>
              </a:ext>
            </a:extLst>
          </p:cNvPr>
          <p:cNvSpPr txBox="1"/>
          <p:nvPr/>
        </p:nvSpPr>
        <p:spPr>
          <a:xfrm>
            <a:off x="7046844" y="1745597"/>
            <a:ext cx="2113722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Pénzügyi tőkeáttétel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(Saját tőke multiplikátor)</a:t>
            </a:r>
          </a:p>
        </p:txBody>
      </p:sp>
    </p:spTree>
    <p:extLst>
      <p:ext uri="{BB962C8B-B14F-4D97-AF65-F5344CB8AC3E}">
        <p14:creationId xmlns:p14="http://schemas.microsoft.com/office/powerpoint/2010/main" val="8113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B33A76DD-B4E2-7DF7-21D2-5C532FE05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D88ABA-DD87-7187-C91F-D1815195AF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7836" y="149328"/>
            <a:ext cx="8521700" cy="1572811"/>
          </a:xfr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/>
          <a:lstStyle/>
          <a:p>
            <a:r>
              <a:rPr lang="hu-HU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Egy vállalat pénzügyi helyzetének elemzése során a következő mutatókat ismerjük: a saját tőke szorzó értéke 1,27, az összes eszköz forgási sebessége 1,64, míg a nyereséghányad 6,05%. Határozd meg a </a:t>
            </a:r>
            <a:r>
              <a:rPr lang="hu-HU" sz="1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DuPont</a:t>
            </a:r>
            <a:r>
              <a:rPr lang="hu-HU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-azonosság segítségével a vállalat saját tőke jövedelmezőségét (ROE), majd értelmezd röviden az eredményt a vállalat működési hatékonyságának és pénzügyi kockázatának szempontjából.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69AB8B77-C3EE-51B3-1EB7-C82ED8A12333}"/>
                  </a:ext>
                </a:extLst>
              </p:cNvPr>
              <p:cNvSpPr txBox="1"/>
              <p:nvPr/>
            </p:nvSpPr>
            <p:spPr>
              <a:xfrm>
                <a:off x="0" y="2476191"/>
                <a:ext cx="9144000" cy="1340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𝑹𝑶𝑬</m:t>
                      </m:r>
                      <m:r>
                        <a:rPr lang="hu-HU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𝒂𝒅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𝒛𝒐𝒕𝒕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𝒆𝒓𝒆𝒅𝒎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𝒏𝒚</m:t>
                          </m:r>
                        </m:num>
                        <m:den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𝒓𝒕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𝒌𝒆𝒔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í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𝒏𝒆𝒕𝒕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 á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𝒓𝒃𝒆𝒗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𝒕𝒆𝒍𝒆</m:t>
                          </m:r>
                        </m:den>
                      </m:f>
                      <m:r>
                        <a:rPr lang="hu-HU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×</m:t>
                      </m:r>
                      <m:f>
                        <m:fPr>
                          <m:ctrlP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𝒓𝒕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𝒌𝒆𝒔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í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𝒏𝒆𝒕𝒕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 á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𝒓𝒃𝒆𝒗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𝒕𝒆𝒍𝒆</m:t>
                          </m:r>
                        </m:num>
                        <m:den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𝒔𝒔𝒛𝒆𝒔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</m:den>
                      </m:f>
                      <m:r>
                        <a:rPr lang="hu-HU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×</m:t>
                      </m:r>
                      <m:f>
                        <m:fPr>
                          <m:ctrlP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𝒔𝒔𝒛𝒆𝒔</m:t>
                          </m:r>
                          <m:r>
                            <a:rPr lang="hu-HU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</m:num>
                        <m:den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𝒔𝒂𝒋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ő</m:t>
                          </m:r>
                          <m:r>
                            <a:rPr lang="hu-HU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𝒌𝒆</m:t>
                          </m:r>
                        </m:den>
                      </m:f>
                    </m:oMath>
                  </m:oMathPara>
                </a14:m>
                <a:endParaRPr lang="hu-HU" dirty="0">
                  <a:solidFill>
                    <a:srgbClr val="002060"/>
                  </a:solidFill>
                </a:endParaRPr>
              </a:p>
              <a:p>
                <a:endParaRPr lang="hu-HU" dirty="0">
                  <a:solidFill>
                    <a:srgbClr val="002060"/>
                  </a:solidFill>
                </a:endParaRPr>
              </a:p>
              <a:p>
                <a:endParaRPr lang="hu-HU" dirty="0">
                  <a:solidFill>
                    <a:srgbClr val="002060"/>
                  </a:solidFill>
                </a:endParaRPr>
              </a:p>
              <a:p>
                <a:r>
                  <a:rPr lang="hu-HU" sz="2400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ROE=6,05%*1,64*1,27=12,6%</a:t>
                </a: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69AB8B77-C3EE-51B3-1EB7-C82ED8A12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76191"/>
                <a:ext cx="9144000" cy="1340367"/>
              </a:xfrm>
              <a:prstGeom prst="rect">
                <a:avLst/>
              </a:prstGeom>
              <a:blipFill>
                <a:blip r:embed="rId3"/>
                <a:stretch>
                  <a:fillRect l="-1000" b="-909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zövegdoboz 3">
            <a:extLst>
              <a:ext uri="{FF2B5EF4-FFF2-40B4-BE49-F238E27FC236}">
                <a16:creationId xmlns:a16="http://schemas.microsoft.com/office/drawing/2014/main" id="{81970B21-756D-2906-2622-8E61A62D75A0}"/>
              </a:ext>
            </a:extLst>
          </p:cNvPr>
          <p:cNvSpPr txBox="1"/>
          <p:nvPr/>
        </p:nvSpPr>
        <p:spPr>
          <a:xfrm>
            <a:off x="1855306" y="1891416"/>
            <a:ext cx="188843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Nettó profit hányad</a:t>
            </a:r>
          </a:p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Nyereség hányad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BF35916-D391-667A-99BD-F0B31FB083BE}"/>
              </a:ext>
            </a:extLst>
          </p:cNvPr>
          <p:cNvSpPr txBox="1"/>
          <p:nvPr/>
        </p:nvSpPr>
        <p:spPr>
          <a:xfrm>
            <a:off x="4287079" y="2137637"/>
            <a:ext cx="2372139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1600" dirty="0">
                <a:latin typeface="Cambria" panose="02040503050406030204" pitchFamily="18" charset="0"/>
                <a:ea typeface="Cambria" panose="02040503050406030204" pitchFamily="18" charset="0"/>
              </a:rPr>
              <a:t>Eszközforgási sebesség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36A3A50C-9595-00B9-34B6-9687157F8FDC}"/>
              </a:ext>
            </a:extLst>
          </p:cNvPr>
          <p:cNvSpPr txBox="1"/>
          <p:nvPr/>
        </p:nvSpPr>
        <p:spPr>
          <a:xfrm>
            <a:off x="6765235" y="1952971"/>
            <a:ext cx="1749287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Pénzügyi tőkeáttétel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(Saját tőke szorzó)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EDD3020-C9DA-98C7-3E66-2E8A5302A318}"/>
              </a:ext>
            </a:extLst>
          </p:cNvPr>
          <p:cNvSpPr txBox="1"/>
          <p:nvPr/>
        </p:nvSpPr>
        <p:spPr>
          <a:xfrm>
            <a:off x="-6626" y="3967999"/>
            <a:ext cx="9150625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Ez a részvényesi megtérülési szint azt jelzi, hogy a vállalat minden 100 egységnyi saját tőkéből 12,6 egység nyereséget termel egy év alatt. A </a:t>
            </a:r>
            <a:r>
              <a:rPr lang="hu-HU" dirty="0" err="1">
                <a:latin typeface="Cambria" panose="02040503050406030204" pitchFamily="18" charset="0"/>
                <a:ea typeface="Cambria" panose="02040503050406030204" pitchFamily="18" charset="0"/>
              </a:rPr>
              <a:t>DuPont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-felbontás szerint a megtérülés nem túlzott eladósodottságból származik, hanem kiegyensúlyozott módon a működési hatékonyság (</a:t>
            </a:r>
            <a:r>
              <a:rPr lang="hu-HU" dirty="0" err="1">
                <a:latin typeface="Cambria" panose="02040503050406030204" pitchFamily="18" charset="0"/>
                <a:ea typeface="Cambria" panose="02040503050406030204" pitchFamily="18" charset="0"/>
              </a:rPr>
              <a:t>profitmarzs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), az eszközök hatékony felhasználása (forgási sebesség) és a kontrollált tőkeáttétel együttes eredménye, ami pénzügyileg stabil és hosszú távon fenntartható üzleti modellt jelez.</a:t>
            </a:r>
          </a:p>
        </p:txBody>
      </p:sp>
    </p:spTree>
    <p:extLst>
      <p:ext uri="{BB962C8B-B14F-4D97-AF65-F5344CB8AC3E}">
        <p14:creationId xmlns:p14="http://schemas.microsoft.com/office/powerpoint/2010/main" val="42069162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D529CD91-928B-5E87-1151-6A088F7C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3BD799-DB7B-6C73-7B55-60FE7FAACB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20210" y="74564"/>
            <a:ext cx="6903580" cy="789588"/>
          </a:xfr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/>
          <a:lstStyle/>
          <a:p>
            <a:r>
              <a:rPr lang="hu-HU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Elemezd „A” vállalat operatív működését 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</a:rPr>
              <a:t>a 2023-as mérleg és eredménykimutatása alapján.</a:t>
            </a:r>
            <a:endParaRPr lang="hu-HU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E7472AFB-FDAE-2973-6438-BC33E6765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162186"/>
              </p:ext>
            </p:extLst>
          </p:nvPr>
        </p:nvGraphicFramePr>
        <p:xfrm>
          <a:off x="5605669" y="2270760"/>
          <a:ext cx="3491948" cy="28727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73506">
                  <a:extLst>
                    <a:ext uri="{9D8B030D-6E8A-4147-A177-3AD203B41FA5}">
                      <a16:colId xmlns:a16="http://schemas.microsoft.com/office/drawing/2014/main" val="3592789276"/>
                    </a:ext>
                  </a:extLst>
                </a:gridCol>
                <a:gridCol w="718442">
                  <a:extLst>
                    <a:ext uri="{9D8B030D-6E8A-4147-A177-3AD203B41FA5}">
                      <a16:colId xmlns:a16="http://schemas.microsoft.com/office/drawing/2014/main" val="204265984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Mérleg – A vállalat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Érték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104157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A. Befektetett eszközök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550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232035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66700" indent="0" algn="l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Tárgyi eszközök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550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74148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B. Forgóeszközök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250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861958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66700" marR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0" u="none" strike="noStrike" cap="non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Arial"/>
                          <a:rtl val="0"/>
                        </a:rPr>
                        <a:t>Készletek</a:t>
                      </a:r>
                      <a:endParaRPr lang="hu-HU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  <a:rtl val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85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352936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66700" marR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0" u="none" strike="noStrike" cap="non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Arial"/>
                          <a:rtl val="0"/>
                        </a:rPr>
                        <a:t>Követelések</a:t>
                      </a:r>
                      <a:endParaRPr lang="hu-HU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  <a:rtl val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95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257336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66700" marR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0" u="none" strike="noStrike" cap="non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Arial"/>
                          <a:rtl val="0"/>
                        </a:rPr>
                        <a:t>Pénzeszközök</a:t>
                      </a:r>
                      <a:endParaRPr lang="hu-HU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  <a:rtl val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009110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Eszközök összesen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800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916772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D. Saját tőke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430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164084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u="none" strike="noStrike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F. Kötelezettségek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370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31541079"/>
                  </a:ext>
                </a:extLst>
              </a:tr>
              <a:tr h="86580">
                <a:tc>
                  <a:txBody>
                    <a:bodyPr/>
                    <a:lstStyle/>
                    <a:p>
                      <a:pPr marL="266700" marR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0" u="none" strike="noStrike" cap="non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Arial"/>
                          <a:rtl val="0"/>
                        </a:rPr>
                        <a:t>Hosszú lejáratú kötelezettségek</a:t>
                      </a:r>
                      <a:endParaRPr lang="hu-HU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  <a:rtl val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180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91952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66700" marR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0" u="none" strike="noStrike" cap="non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Arial"/>
                          <a:rtl val="0"/>
                        </a:rPr>
                        <a:t>Rövid lejáratú kötelezettségek</a:t>
                      </a:r>
                      <a:endParaRPr lang="hu-HU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  <a:rtl val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190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133957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Források összesen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800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78482506"/>
                  </a:ext>
                </a:extLst>
              </a:tr>
            </a:tbl>
          </a:graphicData>
        </a:graphic>
      </p:graphicFrame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F004D68E-6EF6-D3D8-E0DA-E2FDEE3BF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67845"/>
              </p:ext>
            </p:extLst>
          </p:nvPr>
        </p:nvGraphicFramePr>
        <p:xfrm>
          <a:off x="46383" y="3154680"/>
          <a:ext cx="4155757" cy="19888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310518">
                  <a:extLst>
                    <a:ext uri="{9D8B030D-6E8A-4147-A177-3AD203B41FA5}">
                      <a16:colId xmlns:a16="http://schemas.microsoft.com/office/drawing/2014/main" val="263072546"/>
                    </a:ext>
                  </a:extLst>
                </a:gridCol>
                <a:gridCol w="845239">
                  <a:extLst>
                    <a:ext uri="{9D8B030D-6E8A-4147-A177-3AD203B41FA5}">
                      <a16:colId xmlns:a16="http://schemas.microsoft.com/office/drawing/2014/main" val="77954531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hu-HU" sz="1400" b="1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Eredménykimutatás – A vállalat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Érték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097955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66700" marR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0" u="none" strike="noStrike" cap="non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Arial"/>
                          <a:rtl val="0"/>
                        </a:rPr>
                        <a:t>Értékesítés nettó árbevétele</a:t>
                      </a:r>
                      <a:endParaRPr lang="hu-HU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  <a:rtl val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900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38195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66700" marR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0" u="none" strike="noStrike" cap="non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Arial"/>
                          <a:rtl val="0"/>
                        </a:rPr>
                        <a:t>Eladott áruk beszerzési értéke (ELÁBÉ)</a:t>
                      </a:r>
                      <a:endParaRPr lang="hu-HU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  <a:rtl val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760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65665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66700" marR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0" u="none" strike="noStrike" cap="non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Arial"/>
                          <a:rtl val="0"/>
                        </a:rPr>
                        <a:t>Értékcsökkenési leírás</a:t>
                      </a:r>
                      <a:endParaRPr lang="hu-HU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  <a:rtl val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571894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Üzemi (üzleti) tevékenység eredménye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110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77702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66700" marR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0" u="none" strike="noStrike" cap="non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Arial"/>
                          <a:rtl val="0"/>
                        </a:rPr>
                        <a:t>Pénzügyi műveletek ráfordításai</a:t>
                      </a:r>
                      <a:endParaRPr lang="hu-HU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  <a:rtl val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394112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Adózás előtti eredmény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100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69463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66700" marR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400" b="0" u="none" strike="noStrike" cap="non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Arial"/>
                          <a:rtl val="0"/>
                        </a:rPr>
                        <a:t>Adófizetési kötelezettség (9%)</a:t>
                      </a:r>
                      <a:endParaRPr lang="hu-HU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  <a:rtl val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hu-HU" sz="1400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  <a:endParaRPr lang="hu-HU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79535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Adózott eredmény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hu-HU" sz="14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91</a:t>
                      </a:r>
                      <a:endParaRPr lang="hu-HU" sz="14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52214504"/>
                  </a:ext>
                </a:extLst>
              </a:tr>
            </a:tbl>
          </a:graphicData>
        </a:graphic>
      </p:graphicFrame>
      <p:sp>
        <p:nvSpPr>
          <p:cNvPr id="3" name="Szövegdoboz 2">
            <a:extLst>
              <a:ext uri="{FF2B5EF4-FFF2-40B4-BE49-F238E27FC236}">
                <a16:creationId xmlns:a16="http://schemas.microsoft.com/office/drawing/2014/main" id="{F29FA58C-5A5D-FF59-2A77-789917D4CB39}"/>
              </a:ext>
            </a:extLst>
          </p:cNvPr>
          <p:cNvSpPr txBox="1"/>
          <p:nvPr/>
        </p:nvSpPr>
        <p:spPr>
          <a:xfrm>
            <a:off x="336576" y="950553"/>
            <a:ext cx="40907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b="1" dirty="0">
                <a:latin typeface="Cambria" panose="02040503050406030204" pitchFamily="18" charset="0"/>
                <a:ea typeface="Cambria" panose="02040503050406030204" pitchFamily="18" charset="0"/>
              </a:rPr>
              <a:t>rövid távú fizetőképességi 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mutatóit.</a:t>
            </a:r>
          </a:p>
          <a:p>
            <a:pPr marL="342900" indent="-342900">
              <a:buFont typeface="+mj-lt"/>
              <a:buAutoNum type="alphaLcParenR"/>
            </a:pP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b="1" dirty="0">
                <a:latin typeface="Cambria" panose="02040503050406030204" pitchFamily="18" charset="0"/>
                <a:ea typeface="Cambria" panose="02040503050406030204" pitchFamily="18" charset="0"/>
              </a:rPr>
              <a:t>hosszú távú fizetőképességi 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mutatóit.</a:t>
            </a:r>
          </a:p>
          <a:p>
            <a:pPr marL="342900" indent="-342900">
              <a:buFont typeface="+mj-lt"/>
              <a:buAutoNum type="alphaLcParenR"/>
            </a:pP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hu-HU" b="1" dirty="0">
                <a:latin typeface="Cambria" panose="02040503050406030204" pitchFamily="18" charset="0"/>
                <a:ea typeface="Cambria" panose="02040503050406030204" pitchFamily="18" charset="0"/>
              </a:rPr>
              <a:t>szközmenedzsment (vagy-forgás)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mutatóit.</a:t>
            </a:r>
          </a:p>
          <a:p>
            <a:pPr marL="342900" indent="-342900">
              <a:buFont typeface="+mj-lt"/>
              <a:buAutoNum type="alphaLcParenR"/>
            </a:pP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jövedelmezőségi</a:t>
            </a:r>
            <a:r>
              <a:rPr lang="hu-H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mutatóit.</a:t>
            </a:r>
          </a:p>
          <a:p>
            <a:pPr marL="342900" indent="-342900">
              <a:buFont typeface="+mj-lt"/>
              <a:buAutoNum type="alphaLcParenR"/>
            </a:pP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Vizsgáljuk meg a vállalat jövedelmezőségi mutatóit </a:t>
            </a:r>
            <a:r>
              <a:rPr lang="hu-HU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DuPont</a:t>
            </a:r>
            <a:r>
              <a:rPr lang="hu-HU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-elemzéssel</a:t>
            </a: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hu-H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AAFB930D-1348-AC23-8142-FF83BE8DA597}"/>
              </a:ext>
            </a:extLst>
          </p:cNvPr>
          <p:cNvSpPr/>
          <p:nvPr/>
        </p:nvSpPr>
        <p:spPr>
          <a:xfrm>
            <a:off x="225286" y="3346174"/>
            <a:ext cx="4035287" cy="2915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E2DD44C-84A5-C855-B40C-5C760B6A3B92}"/>
              </a:ext>
            </a:extLst>
          </p:cNvPr>
          <p:cNvSpPr/>
          <p:nvPr/>
        </p:nvSpPr>
        <p:spPr>
          <a:xfrm>
            <a:off x="0" y="4851952"/>
            <a:ext cx="4260573" cy="2915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788442"/>
      </p:ext>
    </p:extLst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1142BCDD-B358-77E1-D21F-09BEA028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1FC1F9-F8B6-26E2-A827-8EDA2828AF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4575" y="144847"/>
            <a:ext cx="7594850" cy="584024"/>
          </a:xfr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/>
          <a:lstStyle/>
          <a:p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sz="2400" b="1" dirty="0">
                <a:latin typeface="Cambria" panose="02040503050406030204" pitchFamily="18" charset="0"/>
                <a:ea typeface="Cambria" panose="02040503050406030204" pitchFamily="18" charset="0"/>
              </a:rPr>
              <a:t>rövid távú fizetőképességi </a:t>
            </a: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mutatóit</a:t>
            </a:r>
            <a:r>
              <a:rPr lang="hu-HU" sz="2000" dirty="0"/>
              <a:t>.</a:t>
            </a:r>
            <a:endParaRPr lang="hu-HU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zövegdoboz 17">
                <a:extLst>
                  <a:ext uri="{FF2B5EF4-FFF2-40B4-BE49-F238E27FC236}">
                    <a16:creationId xmlns:a16="http://schemas.microsoft.com/office/drawing/2014/main" id="{9B2076F3-CF42-CE02-572E-5986423B4BB4}"/>
                  </a:ext>
                </a:extLst>
              </p:cNvPr>
              <p:cNvSpPr txBox="1"/>
              <p:nvPr/>
            </p:nvSpPr>
            <p:spPr>
              <a:xfrm>
                <a:off x="396210" y="906907"/>
                <a:ext cx="8521699" cy="328788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hu-HU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Az olaj- és gáziparban a mutató értelmezését torzíthatja a magas készletszint, mivel a kőolaj és finomított termékek jelentős forgóeszköz-állományt képviselnek. Emiatt a likviditási ráta gyakran magasabb, miközben a tényleges likviditás kevésbé erős.</a:t>
                </a:r>
              </a:p>
              <a:p>
                <a:endParaRPr lang="hu-HU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𝐋𝐢𝐤𝐯𝐢𝐝𝐢𝐭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𝐬𝐢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𝐫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𝐭𝐚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𝒇𝒐𝒓𝒈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</m:t>
                          </m:r>
                        </m:num>
                        <m:den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𝒗𝒊𝒅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𝒍𝒆𝒋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𝒓𝒂𝒕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ú 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𝒕𝒆𝒍𝒆𝒛𝒆𝒕𝒕𝒔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𝒈𝒆𝒌</m:t>
                          </m:r>
                        </m:den>
                      </m:f>
                    </m:oMath>
                  </m:oMathPara>
                </a14:m>
                <a:endParaRPr lang="hu-HU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hu-HU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𝐋𝐢𝐤𝐯𝐢𝐝𝐢𝐭</m:t>
                      </m:r>
                      <m:r>
                        <a:rPr lang="hu-HU" sz="16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𝐬𝐢</m:t>
                      </m:r>
                      <m:r>
                        <a:rPr lang="hu-HU" sz="16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𝐫</m:t>
                      </m:r>
                      <m:r>
                        <a:rPr lang="hu-HU" sz="16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𝐭𝐚</m:t>
                      </m:r>
                      <m:r>
                        <a:rPr lang="hu-HU" sz="16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𝟐𝟓𝟎</m:t>
                          </m:r>
                        </m:num>
                        <m:den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𝟏𝟗𝟎</m:t>
                          </m:r>
                        </m:den>
                      </m:f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𝟑𝟐</m:t>
                      </m:r>
                    </m:oMath>
                  </m:oMathPara>
                </a14:m>
                <a:endParaRPr lang="hu-HU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  <a:sym typeface="Source Sans Pro"/>
                </a:endParaRPr>
              </a:p>
              <a:p>
                <a:endParaRPr lang="hu-HU" sz="1600" b="1" dirty="0">
                  <a:solidFill>
                    <a:schemeClr val="dk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  <a:sym typeface="Source Sans Pro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hu-HU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likviditási ráta a vállalat rövid távú fizetőképességét méri, azt mutatva, hogy a forgóeszközök milyen mértékben fedezik a rövid lejáratú kötelezettségeket. Az 1,32-es érték megfelelő likviditási pozícióra utal, ugyanakkor korlátozott biztonsági puffert jelez.</a:t>
                </a:r>
              </a:p>
            </p:txBody>
          </p:sp>
        </mc:Choice>
        <mc:Fallback xmlns="">
          <p:sp>
            <p:nvSpPr>
              <p:cNvPr id="18" name="Szövegdoboz 17">
                <a:extLst>
                  <a:ext uri="{FF2B5EF4-FFF2-40B4-BE49-F238E27FC236}">
                    <a16:creationId xmlns:a16="http://schemas.microsoft.com/office/drawing/2014/main" id="{9B2076F3-CF42-CE02-572E-5986423B4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10" y="906907"/>
                <a:ext cx="8521699" cy="3287888"/>
              </a:xfrm>
              <a:prstGeom prst="rect">
                <a:avLst/>
              </a:prstGeom>
              <a:blipFill>
                <a:blip r:embed="rId3"/>
                <a:stretch>
                  <a:fillRect l="-285" t="-368" b="-919"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19596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2EAD5C98-460E-D74B-588A-FC7111EE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zövegdoboz 17">
                <a:extLst>
                  <a:ext uri="{FF2B5EF4-FFF2-40B4-BE49-F238E27FC236}">
                    <a16:creationId xmlns:a16="http://schemas.microsoft.com/office/drawing/2014/main" id="{EEE10FB2-737D-4A35-0926-149F84CF59DD}"/>
                  </a:ext>
                </a:extLst>
              </p:cNvPr>
              <p:cNvSpPr txBox="1"/>
              <p:nvPr/>
            </p:nvSpPr>
            <p:spPr>
              <a:xfrm>
                <a:off x="311150" y="867150"/>
                <a:ext cx="8521699" cy="35033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hu-HU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Az olajipar strukturálisan készletintenzív, ezért a gyorsráta jellemzően alacsonyabb más iparágakhoz képest. A stratégiai készletezés és az ellátásbiztonsági követelmények miatt ez nem feltétlenül jelez likviditási problémát.</a:t>
                </a:r>
              </a:p>
              <a:p>
                <a:endParaRPr lang="hu-HU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𝐋𝐢𝐤𝐯𝐢𝐝𝐢𝐭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𝐬𝐢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𝐠𝐲𝐨𝐫𝐬𝐫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𝐭𝐚</m:t>
                      </m:r>
                      <m:r>
                        <a:rPr lang="hu-HU" sz="16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𝒇𝒐𝒓𝒈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−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𝒔𝒛𝒍𝒆𝒕𝒆𝒌</m:t>
                          </m:r>
                        </m:num>
                        <m:den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𝒗𝒊𝒅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𝒍𝒆𝒋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𝒓𝒂𝒕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ú 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𝒕𝒆𝒍𝒆𝒛𝒆𝒕𝒕𝒔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𝒈𝒆𝒌</m:t>
                          </m:r>
                        </m:den>
                      </m:f>
                    </m:oMath>
                  </m:oMathPara>
                </a14:m>
                <a:endParaRPr lang="hu-HU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hu-HU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𝐋𝐢𝐤𝐯𝐢𝐝𝐢𝐭</m:t>
                      </m:r>
                      <m:r>
                        <a:rPr lang="hu-HU" sz="16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𝐬𝐢</m:t>
                      </m:r>
                      <m:r>
                        <a:rPr lang="hu-HU" sz="16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𝐠𝐲𝐨𝐫𝐬𝐫</m:t>
                      </m:r>
                      <m:r>
                        <a:rPr lang="hu-HU" sz="16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𝐭𝐚</m:t>
                      </m:r>
                      <m:r>
                        <a:rPr lang="hu-HU" sz="16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𝟐𝟓𝟎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−</m:t>
                          </m:r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𝟖𝟓</m:t>
                          </m:r>
                        </m:num>
                        <m:den>
                          <m:r>
                            <a:rPr lang="hu-HU" sz="16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𝟏𝟗𝟎</m:t>
                          </m:r>
                        </m:den>
                      </m:f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𝟎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sz="16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𝟖𝟕</m:t>
                      </m:r>
                    </m:oMath>
                  </m:oMathPara>
                </a14:m>
                <a:endParaRPr lang="hu-HU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hu-HU" sz="1600" b="1" dirty="0">
                  <a:solidFill>
                    <a:schemeClr val="dk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  <a:sym typeface="Source Sans Pro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hu-HU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gyorsráta a likviditás szigorúbb mérőszáma, mivel kiszűri a kevésbé likvid készleteket. A 0,87-es érték arra utal, hogy a vállalat készletek nélkül nem fedezné teljes mértékben rövid lejáratú kötelezettségeit.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hu-HU" dirty="0"/>
              </a:p>
            </p:txBody>
          </p:sp>
        </mc:Choice>
        <mc:Fallback xmlns="">
          <p:sp>
            <p:nvSpPr>
              <p:cNvPr id="18" name="Szövegdoboz 17">
                <a:extLst>
                  <a:ext uri="{FF2B5EF4-FFF2-40B4-BE49-F238E27FC236}">
                    <a16:creationId xmlns:a16="http://schemas.microsoft.com/office/drawing/2014/main" id="{EEE10FB2-737D-4A35-0926-149F84CF5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50" y="867150"/>
                <a:ext cx="8521699" cy="3503331"/>
              </a:xfrm>
              <a:prstGeom prst="rect">
                <a:avLst/>
              </a:prstGeom>
              <a:blipFill>
                <a:blip r:embed="rId3"/>
                <a:stretch>
                  <a:fillRect l="-214" t="-345" r="-356"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33761AED-1040-3DB6-AD53-8221A9344119}"/>
              </a:ext>
            </a:extLst>
          </p:cNvPr>
          <p:cNvSpPr txBox="1">
            <a:spLocks/>
          </p:cNvSpPr>
          <p:nvPr/>
        </p:nvSpPr>
        <p:spPr>
          <a:xfrm>
            <a:off x="774575" y="144847"/>
            <a:ext cx="7594850" cy="5840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sz="2400"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sz="2400" b="1">
                <a:latin typeface="Cambria" panose="02040503050406030204" pitchFamily="18" charset="0"/>
                <a:ea typeface="Cambria" panose="02040503050406030204" pitchFamily="18" charset="0"/>
              </a:rPr>
              <a:t>rövid távú fizetőképességi </a:t>
            </a:r>
            <a:r>
              <a:rPr lang="hu-HU" sz="2400">
                <a:latin typeface="Cambria" panose="02040503050406030204" pitchFamily="18" charset="0"/>
                <a:ea typeface="Cambria" panose="02040503050406030204" pitchFamily="18" charset="0"/>
              </a:rPr>
              <a:t>mutatóit</a:t>
            </a:r>
            <a:r>
              <a:rPr lang="hu-HU" sz="2000"/>
              <a:t>.</a:t>
            </a:r>
            <a:endParaRPr lang="hu-H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82967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5015-8F7D-16F3-60C3-26CDDF7A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5AA91AF1-91B4-ED6E-56BA-855CB30FE77F}"/>
                  </a:ext>
                </a:extLst>
              </p:cNvPr>
              <p:cNvSpPr txBox="1"/>
              <p:nvPr/>
            </p:nvSpPr>
            <p:spPr>
              <a:xfrm>
                <a:off x="0" y="1106558"/>
                <a:ext cx="9144000" cy="293638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1800" b="1" i="1" u="sng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Pénzhányad mutató vagy készpénzlikviditási mutató (Cash Ratio):</a:t>
                </a:r>
              </a:p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hu-HU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  <a:r>
                  <a:rPr lang="hu-HU" sz="28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𝑷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é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𝒏𝒛𝒆𝒔𝒛𝒌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ö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𝒛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ö</m:t>
                        </m:r>
                        <m:r>
                          <a:rPr lang="hu-HU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𝒌</m:t>
                        </m:r>
                      </m:num>
                      <m:den>
                        <m:r>
                          <a:rPr lang="hu-HU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𝑹𝑳𝑲</m:t>
                        </m:r>
                      </m:den>
                    </m:f>
                  </m:oMath>
                </a14:m>
                <a:r>
                  <a:rPr lang="hu-HU" sz="2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2800" b="1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hu-HU" sz="2800" b="1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𝟕𝟎</m:t>
                        </m:r>
                      </m:num>
                      <m:den>
                        <m:r>
                          <a:rPr lang="hu-HU" sz="2800" b="1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𝟏𝟗𝟎</m:t>
                        </m:r>
                      </m:den>
                    </m:f>
                  </m:oMath>
                </a14:m>
                <a:r>
                  <a:rPr lang="hu-HU" sz="2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=0,37</a:t>
                </a:r>
              </a:p>
              <a:p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hu-HU" altLang="hu-HU" sz="18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Jelentés:</a:t>
                </a:r>
                <a:r>
                  <a:rPr lang="hu-HU" altLang="hu-HU" sz="1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hu-HU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legszigorúbb mutató, azt méri, hogy a cég azonnal (készpénzben) képes-e kiegyenlíteni tartozásait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hu-HU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5AA91AF1-91B4-ED6E-56BA-855CB30FE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06558"/>
                <a:ext cx="9144000" cy="2936381"/>
              </a:xfrm>
              <a:prstGeom prst="rect">
                <a:avLst/>
              </a:prstGeom>
              <a:blipFill>
                <a:blip r:embed="rId2"/>
                <a:stretch>
                  <a:fillRect l="-53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ím 1">
            <a:extLst>
              <a:ext uri="{FF2B5EF4-FFF2-40B4-BE49-F238E27FC236}">
                <a16:creationId xmlns:a16="http://schemas.microsoft.com/office/drawing/2014/main" id="{C6505E62-DF4F-1CF5-7631-BB2714BC0AEC}"/>
              </a:ext>
            </a:extLst>
          </p:cNvPr>
          <p:cNvSpPr txBox="1">
            <a:spLocks/>
          </p:cNvSpPr>
          <p:nvPr/>
        </p:nvSpPr>
        <p:spPr>
          <a:xfrm>
            <a:off x="774575" y="230986"/>
            <a:ext cx="7594850" cy="5840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sz="2400"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sz="2400" b="1">
                <a:latin typeface="Cambria" panose="02040503050406030204" pitchFamily="18" charset="0"/>
                <a:ea typeface="Cambria" panose="02040503050406030204" pitchFamily="18" charset="0"/>
              </a:rPr>
              <a:t>rövid távú fizetőképességi </a:t>
            </a:r>
            <a:r>
              <a:rPr lang="hu-HU" sz="2400">
                <a:latin typeface="Cambria" panose="02040503050406030204" pitchFamily="18" charset="0"/>
                <a:ea typeface="Cambria" panose="02040503050406030204" pitchFamily="18" charset="0"/>
              </a:rPr>
              <a:t>mutatóit</a:t>
            </a:r>
            <a:r>
              <a:rPr lang="hu-HU" sz="2000"/>
              <a:t>.</a:t>
            </a:r>
            <a:endParaRPr lang="hu-H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307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7E940EA9-2F55-1A2A-5194-8244140F4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Shape 182">
                <a:extLst>
                  <a:ext uri="{FF2B5EF4-FFF2-40B4-BE49-F238E27FC236}">
                    <a16:creationId xmlns:a16="http://schemas.microsoft.com/office/drawing/2014/main" id="{C138CC5B-01A8-E8D1-2F2C-3BBF47786561}"/>
                  </a:ext>
                </a:extLst>
              </p:cNvPr>
              <p:cNvSpPr txBox="1"/>
              <p:nvPr/>
            </p:nvSpPr>
            <p:spPr>
              <a:xfrm>
                <a:off x="185529" y="1239079"/>
                <a:ext cx="8488017" cy="30546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228583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800" b="1" i="1" dirty="0">
                  <a:solidFill>
                    <a:schemeClr val="accent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228583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800" b="1" i="1" dirty="0">
                  <a:solidFill>
                    <a:schemeClr val="accent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228583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800" b="1" i="1" dirty="0">
                  <a:solidFill>
                    <a:schemeClr val="accent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228583"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1800" b="1" i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	Eladósodottsági mutató=</a:t>
                </a:r>
                <a:r>
                  <a:rPr lang="hu-HU" sz="1800" b="1" i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𝒕𝒆𝒍𝒆𝒛𝒆𝒕𝒕𝒔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𝒈𝒆𝒌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𝒔𝒔𝒛𝒆𝒔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𝑬𝒔𝒛𝒌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ö</m:t>
                        </m:r>
                        <m:r>
                          <a:rPr lang="hu-HU" sz="18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den>
                    </m:f>
                  </m:oMath>
                </a14:m>
                <a:r>
                  <a:rPr lang="hu-HU" sz="1800" b="1" i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hu-HU" sz="1800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𝟑𝟕𝟎</m:t>
                        </m:r>
                      </m:num>
                      <m:den>
                        <m:r>
                          <a:rPr lang="hu-HU" sz="1800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𝟖𝟎𝟎</m:t>
                        </m:r>
                      </m:den>
                    </m:f>
                  </m:oMath>
                </a14:m>
                <a:r>
                  <a:rPr lang="hu-HU" sz="1800" b="1" i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=0,46</a:t>
                </a:r>
              </a:p>
              <a:p>
                <a:pPr marL="457167" indent="-228584">
                  <a:spcBef>
                    <a:spcPts val="400"/>
                  </a:spcBef>
                  <a:buClr>
                    <a:srgbClr val="CCCCCC"/>
                  </a:buClr>
                  <a:buChar char="●"/>
                </a:pPr>
                <a:endParaRPr lang="hu-HU" sz="1800" b="1" i="1" dirty="0">
                  <a:solidFill>
                    <a:schemeClr val="accent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800" b="1" i="1" dirty="0">
                  <a:solidFill>
                    <a:schemeClr val="accent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1800" b="1" i="1" dirty="0">
                    <a:solidFill>
                      <a:schemeClr val="accent1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	Adósság-saját tőke arány=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</m:ctrlPr>
                      </m:fPr>
                      <m:num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𝐬𝐬𝐳𝐞𝐬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𝐤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ö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𝐭𝐞𝐥𝐞𝐳𝐞𝐭𝐭𝐬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é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𝐠</m:t>
                        </m:r>
                      </m:num>
                      <m:den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𝐬𝐚𝐣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á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𝐭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ő</m:t>
                        </m:r>
                        <m:r>
                          <a:rPr lang="hu-HU" sz="1800" b="1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𝐤𝐞</m:t>
                        </m:r>
                      </m:den>
                    </m:f>
                  </m:oMath>
                </a14:m>
                <a:r>
                  <a:rPr lang="hu-HU" sz="1800" b="1" dirty="0">
                    <a:solidFill>
                      <a:schemeClr val="accent4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=</a:t>
                </a:r>
                <a:r>
                  <a:rPr lang="hu-HU" sz="1800" b="1" dirty="0">
                    <a:solidFill>
                      <a:schemeClr val="accent1">
                        <a:lumMod val="50000"/>
                      </a:schemeClr>
                    </a:solidFill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8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hu-HU" sz="18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𝟑𝟕𝟎</m:t>
                        </m:r>
                      </m:num>
                      <m:den>
                        <m:r>
                          <a:rPr lang="hu-HU" sz="1800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𝟒𝟑𝟎</m:t>
                        </m:r>
                      </m:den>
                    </m:f>
                  </m:oMath>
                </a14:m>
                <a:r>
                  <a:rPr lang="hu-HU" sz="1800" b="1" dirty="0">
                    <a:solidFill>
                      <a:schemeClr val="accent4">
                        <a:lumMod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=0,86</a:t>
                </a: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800" b="1" i="1" dirty="0">
                  <a:solidFill>
                    <a:schemeClr val="dk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558800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600" b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</p:txBody>
          </p:sp>
        </mc:Choice>
        <mc:Fallback>
          <p:sp>
            <p:nvSpPr>
              <p:cNvPr id="182" name="Shape 182">
                <a:extLst>
                  <a:ext uri="{FF2B5EF4-FFF2-40B4-BE49-F238E27FC236}">
                    <a16:creationId xmlns:a16="http://schemas.microsoft.com/office/drawing/2014/main" id="{C138CC5B-01A8-E8D1-2F2C-3BBF47786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29" y="1239079"/>
                <a:ext cx="8488017" cy="3054626"/>
              </a:xfrm>
              <a:prstGeom prst="rect">
                <a:avLst/>
              </a:prstGeom>
              <a:blipFill>
                <a:blip r:embed="rId3"/>
                <a:stretch>
                  <a:fillRect b="-7312"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ím 1">
            <a:extLst>
              <a:ext uri="{FF2B5EF4-FFF2-40B4-BE49-F238E27FC236}">
                <a16:creationId xmlns:a16="http://schemas.microsoft.com/office/drawing/2014/main" id="{78F998BE-D3DF-0498-14BB-14BF3C9B7F9F}"/>
              </a:ext>
            </a:extLst>
          </p:cNvPr>
          <p:cNvSpPr txBox="1">
            <a:spLocks/>
          </p:cNvSpPr>
          <p:nvPr/>
        </p:nvSpPr>
        <p:spPr>
          <a:xfrm>
            <a:off x="576468" y="293520"/>
            <a:ext cx="7706138" cy="5737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Hosszú távú fizetőképességi(</a:t>
            </a:r>
            <a:r>
              <a:rPr lang="hu-HU" dirty="0" err="1">
                <a:latin typeface="Cambria" panose="02040503050406030204" pitchFamily="18" charset="0"/>
                <a:ea typeface="Cambria" panose="02040503050406030204" pitchFamily="18" charset="0"/>
              </a:rPr>
              <a:t>szolvencia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) mutatók</a:t>
            </a:r>
            <a:endParaRPr lang="hu-HU" dirty="0">
              <a:solidFill>
                <a:schemeClr val="bg2">
                  <a:lumMod val="40000"/>
                  <a:lumOff val="6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39438"/>
      </p:ext>
    </p:extLst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9EACB2FA-7386-EAD3-A36E-97AD9ED1F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045466-237B-707F-8679-6D184AD81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5549" y="160964"/>
            <a:ext cx="7912902" cy="548027"/>
          </a:xfr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/>
          <a:lstStyle/>
          <a:p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sz="2400" b="1" dirty="0">
                <a:latin typeface="Cambria" panose="02040503050406030204" pitchFamily="18" charset="0"/>
                <a:ea typeface="Cambria" panose="02040503050406030204" pitchFamily="18" charset="0"/>
              </a:rPr>
              <a:t>hosszú távú fizetőképességi </a:t>
            </a: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mutatóit.</a:t>
            </a:r>
            <a:endParaRPr lang="hu-HU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zövegdoboz 17">
                <a:extLst>
                  <a:ext uri="{FF2B5EF4-FFF2-40B4-BE49-F238E27FC236}">
                    <a16:creationId xmlns:a16="http://schemas.microsoft.com/office/drawing/2014/main" id="{978FB036-1872-27E4-6364-F7442E59C758}"/>
                  </a:ext>
                </a:extLst>
              </p:cNvPr>
              <p:cNvSpPr txBox="1"/>
              <p:nvPr/>
            </p:nvSpPr>
            <p:spPr>
              <a:xfrm>
                <a:off x="396210" y="853844"/>
                <a:ext cx="8521699" cy="34358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hu-HU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Az olajipart jellemzően magasabb tőkeáttétel jellemzi.</a:t>
                </a:r>
              </a:p>
              <a:p>
                <a:endParaRPr lang="hu-HU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u-HU" sz="16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Saj</m:t>
                      </m:r>
                      <m:r>
                        <m:rPr>
                          <m:nor/>
                        </m:rPr>
                        <a:rPr lang="hu-HU" sz="16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m:rPr>
                          <m:nor/>
                        </m:rPr>
                        <a:rPr lang="hu-HU" sz="16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tt</m:t>
                      </m:r>
                      <m:r>
                        <m:rPr>
                          <m:nor/>
                        </m:rPr>
                        <a:rPr lang="hu-HU" sz="16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ő</m:t>
                      </m:r>
                      <m:r>
                        <m:rPr>
                          <m:nor/>
                        </m:rPr>
                        <a:rPr lang="hu-HU" sz="16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ke</m:t>
                      </m:r>
                      <m:r>
                        <m:rPr>
                          <m:nor/>
                        </m:rPr>
                        <a:rPr lang="hu-HU" sz="16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m:rPr>
                          <m:nor/>
                        </m:rPr>
                        <a:rPr lang="hu-HU" sz="16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multiplik</m:t>
                      </m:r>
                      <m:r>
                        <m:rPr>
                          <m:nor/>
                        </m:rPr>
                        <a:rPr lang="hu-HU" sz="16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m:rPr>
                          <m:nor/>
                        </m:rPr>
                        <a:rPr lang="hu-HU" sz="16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tor</m:t>
                      </m:r>
                      <m:r>
                        <m:rPr>
                          <m:nor/>
                        </m:rPr>
                        <a:rPr lang="hu-HU" sz="16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: </m:t>
                      </m:r>
                      <m:f>
                        <m:fPr>
                          <m:ctrlP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𝒔𝒔𝒛𝒆𝒔</m:t>
                          </m:r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</m:num>
                        <m:den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𝒔𝒂𝒋</m:t>
                          </m:r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ő</m:t>
                          </m:r>
                          <m: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𝒌𝒆</m:t>
                          </m:r>
                        </m:den>
                      </m:f>
                    </m:oMath>
                  </m:oMathPara>
                </a14:m>
                <a:endParaRPr lang="hu-HU" sz="1600" b="1" dirty="0">
                  <a:solidFill>
                    <a:schemeClr val="accent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hu-HU" sz="1600" b="1" dirty="0">
                  <a:solidFill>
                    <a:schemeClr val="accent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u-HU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Saj</m:t>
                      </m:r>
                      <m:r>
                        <m:rPr>
                          <m:nor/>
                        </m:rPr>
                        <a:rPr lang="hu-HU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m:rPr>
                          <m:nor/>
                        </m:rPr>
                        <a:rPr lang="hu-HU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tt</m:t>
                      </m:r>
                      <m:r>
                        <m:rPr>
                          <m:nor/>
                        </m:rPr>
                        <a:rPr lang="hu-HU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ő</m:t>
                      </m:r>
                      <m:r>
                        <m:rPr>
                          <m:nor/>
                        </m:rPr>
                        <a:rPr lang="hu-HU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ke</m:t>
                      </m:r>
                      <m:r>
                        <m:rPr>
                          <m:nor/>
                        </m:rPr>
                        <a:rPr lang="hu-HU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m:rPr>
                          <m:nor/>
                        </m:rPr>
                        <a:rPr lang="hu-HU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multiplik</m:t>
                      </m:r>
                      <m:r>
                        <m:rPr>
                          <m:nor/>
                        </m:rPr>
                        <a:rPr lang="hu-HU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m:rPr>
                          <m:nor/>
                        </m:rPr>
                        <a:rPr lang="hu-HU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tor</m:t>
                      </m:r>
                      <m:r>
                        <m:rPr>
                          <m:nor/>
                        </m:rPr>
                        <a:rPr lang="hu-HU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Segoe UI Semilight" panose="020B0402040204020203" pitchFamily="34" charset="0"/>
                          <a:sym typeface="Source Sans Pro"/>
                        </a:rPr>
                        <m:t>: </m:t>
                      </m:r>
                      <m:f>
                        <m:fPr>
                          <m:ctrlPr>
                            <a:rPr lang="hu-HU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𝟖𝟎𝟎</m:t>
                          </m:r>
                        </m:num>
                        <m:den>
                          <m:r>
                            <a:rPr lang="hu-HU" sz="16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𝟒𝟑𝟎</m:t>
                          </m:r>
                        </m:den>
                      </m:f>
                      <m:r>
                        <a:rPr lang="hu-HU" sz="16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sz="16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</m:t>
                      </m:r>
                      <m:r>
                        <a:rPr lang="hu-HU" sz="16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sz="16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𝟖𝟔</m:t>
                      </m:r>
                    </m:oMath>
                  </m:oMathPara>
                </a14:m>
                <a:endParaRPr lang="hu-HU" sz="1600" b="1" dirty="0">
                  <a:solidFill>
                    <a:schemeClr val="accent1">
                      <a:lumMod val="5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  <a:sym typeface="Source Sans Pro"/>
                </a:endParaRPr>
              </a:p>
              <a:p>
                <a:endParaRPr lang="hu-HU" sz="1600" b="1" dirty="0">
                  <a:solidFill>
                    <a:schemeClr val="dk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  <a:sym typeface="Source Sans Pro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hu-HU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sajáttőke multiplikátor 1,86-os értéke azt jelzi, hogy a vállalat eszközei csaknem kétszeresen haladják meg a saját tőke értékét. Más szóval a vállalat a saját tőkével közel összemérhető kötelezettségállománnyal rendelkezik.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hu-HU" dirty="0"/>
              </a:p>
              <a:p>
                <a:endParaRPr lang="hu-HU" b="1" dirty="0">
                  <a:solidFill>
                    <a:schemeClr val="dk2"/>
                  </a:solidFill>
                  <a:latin typeface="Arial" panose="020B0604020202020204" pitchFamily="34" charset="0"/>
                  <a:ea typeface="Source Sans Pro"/>
                  <a:cs typeface="Arial" panose="020B0604020202020204" pitchFamily="34" charset="0"/>
                  <a:sym typeface="Source Sans Pro"/>
                </a:endParaRPr>
              </a:p>
              <a:p>
                <a:endParaRPr lang="hu-HU" dirty="0"/>
              </a:p>
            </p:txBody>
          </p:sp>
        </mc:Choice>
        <mc:Fallback xmlns="">
          <p:sp>
            <p:nvSpPr>
              <p:cNvPr id="18" name="Szövegdoboz 17">
                <a:extLst>
                  <a:ext uri="{FF2B5EF4-FFF2-40B4-BE49-F238E27FC236}">
                    <a16:creationId xmlns:a16="http://schemas.microsoft.com/office/drawing/2014/main" id="{978FB036-1872-27E4-6364-F7442E59C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10" y="853844"/>
                <a:ext cx="8521699" cy="3435812"/>
              </a:xfrm>
              <a:prstGeom prst="rect">
                <a:avLst/>
              </a:prstGeom>
              <a:blipFill>
                <a:blip r:embed="rId3"/>
                <a:stretch>
                  <a:fillRect l="-285" t="-351"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57207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5FA6F79A-E9CD-D90A-EBAA-36172D3E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A7A351-498F-BAA2-C7D0-E24B369E1F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0372" y="68200"/>
            <a:ext cx="8792015" cy="614287"/>
          </a:xfr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/>
          <a:lstStyle/>
          <a:p>
            <a:r>
              <a:rPr lang="hu-HU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hu-HU" sz="2400" b="1" dirty="0">
                <a:latin typeface="Cambria" panose="02040503050406030204" pitchFamily="18" charset="0"/>
                <a:ea typeface="Cambria" panose="02040503050406030204" pitchFamily="18" charset="0"/>
              </a:rPr>
              <a:t>szközmenedzsment (vagy-forgás)</a:t>
            </a:r>
            <a:r>
              <a:rPr lang="hu-HU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mutatóit.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098D5D30-3C8D-5014-CC99-B789AD398316}"/>
                  </a:ext>
                </a:extLst>
              </p:cNvPr>
              <p:cNvSpPr txBox="1"/>
              <p:nvPr/>
            </p:nvSpPr>
            <p:spPr>
              <a:xfrm>
                <a:off x="230371" y="716434"/>
                <a:ext cx="8792015" cy="37106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𝐊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𝐯𝐞𝐭𝐞𝐥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é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𝐬𝐞𝐤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𝐟𝐨𝐫𝐠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𝐬𝐚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𝒓𝒃𝒆𝒗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</m:t>
                          </m:r>
                        </m:num>
                        <m:den>
                          <m:r>
                            <a:rPr lang="hu-HU" sz="16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</m:t>
                          </m:r>
                          <m:r>
                            <a:rPr lang="hu-HU" sz="16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𝒗𝒆𝒕𝒆𝒍</m:t>
                          </m:r>
                          <m:r>
                            <a:rPr lang="hu-HU" sz="16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𝒔𝒆𝒌</m:t>
                          </m:r>
                        </m:den>
                      </m:f>
                    </m:oMath>
                  </m:oMathPara>
                </a14:m>
                <a:endParaRPr lang="hu-HU" sz="1600" b="1" dirty="0">
                  <a:solidFill>
                    <a:schemeClr val="accent5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600" b="1" dirty="0">
                  <a:solidFill>
                    <a:schemeClr val="accent5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𝐊</m:t>
                      </m:r>
                      <m:r>
                        <a:rPr lang="hu-HU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𝐯𝐞𝐭𝐞𝐥</m:t>
                      </m:r>
                      <m:r>
                        <a:rPr lang="hu-HU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é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𝐬𝐞𝐤𝐟𝐨𝐫𝐠</m:t>
                      </m:r>
                      <m:r>
                        <a:rPr lang="hu-HU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𝐬𝐚</m:t>
                      </m:r>
                      <m:r>
                        <a:rPr lang="hu-HU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6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𝟗𝟎𝟎</m:t>
                          </m:r>
                        </m:num>
                        <m:den>
                          <m:r>
                            <a:rPr lang="hu-HU" sz="16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𝟗𝟓</m:t>
                          </m:r>
                        </m:den>
                      </m:f>
                      <m:r>
                        <a:rPr lang="hu-HU" sz="16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sz="16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𝟗</m:t>
                      </m:r>
                      <m:r>
                        <a:rPr lang="hu-HU" sz="16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sz="16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𝟒𝟕</m:t>
                      </m:r>
                    </m:oMath>
                  </m:oMathPara>
                </a14:m>
                <a:endParaRPr lang="hu-HU" sz="1600" b="1" dirty="0">
                  <a:solidFill>
                    <a:schemeClr val="accent5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285750" indent="-285750">
                  <a:buClr>
                    <a:srgbClr val="CCCCCC"/>
                  </a:buClr>
                  <a:buFont typeface="Arial" panose="020B0604020202020204" pitchFamily="34" charset="0"/>
                  <a:buChar char="•"/>
                </a:pPr>
                <a:r>
                  <a:rPr lang="hu-HU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követelések forgása a vevőmenedzsment hatékonyságát méri. A 9,47-szeres éves forgás a vevői követelések viszonylag gyors tényleges befolyására utal.</a:t>
                </a: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600" b="0" i="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6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𝐊</m:t>
                      </m:r>
                      <m:r>
                        <a:rPr lang="hu-HU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𝐯𝐞𝐭𝐞𝐥</m:t>
                      </m:r>
                      <m:r>
                        <a:rPr lang="hu-HU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é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𝐬𝐞𝐤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𝐟𝐨𝐫𝐠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𝐬𝐢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𝐢𝐝𝐞𝐣𝐞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𝟑𝟔𝟓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𝒏𝒂𝒑</m:t>
                          </m:r>
                        </m:num>
                        <m:den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𝒗𝒆𝒕𝒆𝒍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𝒔𝒆𝒌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𝒇𝒐𝒓𝒈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𝒔𝒂</m:t>
                          </m:r>
                        </m:den>
                      </m:f>
                    </m:oMath>
                  </m:oMathPara>
                </a14:m>
                <a:endParaRPr lang="hu-HU" sz="1600" b="1" dirty="0">
                  <a:solidFill>
                    <a:schemeClr val="accent5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600" b="1" dirty="0">
                  <a:solidFill>
                    <a:schemeClr val="accent5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𝐊</m:t>
                      </m:r>
                      <m:r>
                        <a:rPr lang="hu-HU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𝐯𝐞𝐭𝐞𝐥</m:t>
                      </m:r>
                      <m:r>
                        <a:rPr lang="hu-HU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é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𝐬𝐞𝐤</m:t>
                      </m:r>
                      <m:r>
                        <a:rPr lang="hu-HU" sz="16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𝐟𝐨𝐫𝐠</m:t>
                      </m:r>
                      <m:r>
                        <a:rPr lang="hu-HU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𝐬𝐢</m:t>
                      </m:r>
                      <m:r>
                        <a:rPr lang="hu-HU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𝐢𝐝𝐞𝐣𝐞</m:t>
                      </m:r>
                      <m:r>
                        <a:rPr lang="hu-HU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𝟑𝟔𝟓</m:t>
                          </m:r>
                        </m:num>
                        <m:den>
                          <m:r>
                            <a:rPr lang="hu-HU" sz="16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𝟗</m:t>
                          </m:r>
                          <m:r>
                            <a:rPr lang="hu-HU" sz="16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,</m:t>
                          </m:r>
                          <m:r>
                            <a:rPr lang="hu-HU" sz="16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𝟒𝟕</m:t>
                          </m:r>
                        </m:den>
                      </m:f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sz="16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𝟑𝟖</m:t>
                      </m:r>
                      <m:r>
                        <a:rPr lang="hu-HU" sz="16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sz="16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𝟓𝟑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𝒏𝒂𝒑</m:t>
                      </m:r>
                    </m:oMath>
                  </m:oMathPara>
                </a14:m>
                <a:endParaRPr lang="hu-HU" sz="1600" b="1" dirty="0">
                  <a:solidFill>
                    <a:schemeClr val="accent5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098D5D30-3C8D-5014-CC99-B789AD398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71" y="716434"/>
                <a:ext cx="8792015" cy="3710631"/>
              </a:xfrm>
              <a:prstGeom prst="rect">
                <a:avLst/>
              </a:prstGeom>
              <a:blipFill>
                <a:blip r:embed="rId3"/>
                <a:stretch>
                  <a:fillRect l="-138"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639746"/>
      </p:ext>
    </p:extLst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AC06A613-172C-34AC-647A-A3198E85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B93D7C00-3694-5591-2280-194B07835542}"/>
                  </a:ext>
                </a:extLst>
              </p:cNvPr>
              <p:cNvSpPr txBox="1"/>
              <p:nvPr/>
            </p:nvSpPr>
            <p:spPr>
              <a:xfrm>
                <a:off x="230372" y="1276683"/>
                <a:ext cx="8683256" cy="259013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20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𝐬𝐬𝐳𝐞𝐬</m:t>
                      </m:r>
                      <m:r>
                        <a:rPr lang="hu-HU" sz="20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20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𝐞𝐬𝐳𝐤</m:t>
                      </m:r>
                      <m:r>
                        <a:rPr lang="hu-HU" sz="20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20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𝐳</m:t>
                      </m:r>
                      <m:r>
                        <a:rPr lang="hu-HU" sz="20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20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𝐟𝐨𝐫𝐠</m:t>
                      </m:r>
                      <m:r>
                        <a:rPr lang="hu-HU" sz="20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20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𝐬𝐚</m:t>
                      </m:r>
                      <m:r>
                        <a:rPr lang="hu-HU" sz="20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𝒓𝒃𝒆𝒗</m:t>
                          </m:r>
                          <m:r>
                            <a:rPr lang="hu-HU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</m:t>
                          </m:r>
                        </m:num>
                        <m:den>
                          <m:r>
                            <a:rPr lang="hu-HU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𝒔𝒔𝒛𝒆𝒔</m:t>
                          </m:r>
                          <m:r>
                            <a:rPr lang="hu-HU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</m:den>
                      </m:f>
                    </m:oMath>
                  </m:oMathPara>
                </a14:m>
                <a:endParaRPr lang="hu-HU" sz="20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 b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20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𝐬𝐬𝐳𝐞𝐬</m:t>
                      </m:r>
                      <m:r>
                        <a:rPr lang="hu-HU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20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𝐞𝐬𝐳𝐤</m:t>
                      </m:r>
                      <m:r>
                        <a:rPr lang="hu-HU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20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𝐳𝐟𝐨𝐫𝐠</m:t>
                      </m:r>
                      <m:r>
                        <a:rPr lang="hu-HU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20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𝐬𝐚</m:t>
                      </m:r>
                      <m:r>
                        <a:rPr lang="hu-HU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𝟗𝟎𝟎</m:t>
                          </m:r>
                        </m:num>
                        <m:den>
                          <m:r>
                            <a:rPr lang="hu-HU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𝟖𝟎𝟎</m:t>
                          </m:r>
                        </m:den>
                      </m:f>
                      <m:r>
                        <a:rPr lang="hu-HU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</m:t>
                      </m:r>
                      <m:r>
                        <a:rPr lang="hu-HU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𝟏𝟐𝟓</m:t>
                      </m:r>
                    </m:oMath>
                  </m:oMathPara>
                </a14:m>
                <a:endParaRPr lang="hu-HU" sz="2000" b="1" dirty="0">
                  <a:solidFill>
                    <a:schemeClr val="accent5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20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285750" indent="-285750">
                  <a:buClr>
                    <a:srgbClr val="CCCCCC"/>
                  </a:buClr>
                  <a:buFont typeface="Arial" panose="020B0604020202020204" pitchFamily="34" charset="0"/>
                  <a:buChar char="•"/>
                </a:pPr>
                <a:r>
                  <a:rPr lang="hu-HU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Eredményeink arra utalnak, hogy a vállalat minden egységnyi eszköze 1,125 egységnyi árbevételt generál.</a:t>
                </a: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B93D7C00-3694-5591-2280-194B07835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72" y="1276683"/>
                <a:ext cx="8683256" cy="2590133"/>
              </a:xfrm>
              <a:prstGeom prst="rect">
                <a:avLst/>
              </a:prstGeom>
              <a:blipFill>
                <a:blip r:embed="rId3"/>
                <a:stretch>
                  <a:fillRect l="-490" b="-2326"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ím 1">
            <a:extLst>
              <a:ext uri="{FF2B5EF4-FFF2-40B4-BE49-F238E27FC236}">
                <a16:creationId xmlns:a16="http://schemas.microsoft.com/office/drawing/2014/main" id="{B0F66872-47A5-9233-914C-9F78D8D02ACB}"/>
              </a:ext>
            </a:extLst>
          </p:cNvPr>
          <p:cNvSpPr txBox="1">
            <a:spLocks/>
          </p:cNvSpPr>
          <p:nvPr/>
        </p:nvSpPr>
        <p:spPr>
          <a:xfrm>
            <a:off x="230372" y="68200"/>
            <a:ext cx="8792015" cy="61428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sz="24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hu-HU" sz="2400" b="1">
                <a:latin typeface="Cambria" panose="02040503050406030204" pitchFamily="18" charset="0"/>
                <a:ea typeface="Cambria" panose="02040503050406030204" pitchFamily="18" charset="0"/>
              </a:rPr>
              <a:t>szközmenedzsment (vagy-forgás)</a:t>
            </a:r>
            <a:r>
              <a:rPr lang="hu-HU" sz="240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mutatóit.</a:t>
            </a:r>
            <a:endParaRPr lang="hu-HU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996747"/>
      </p:ext>
    </p:extLst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5DF0165D-615D-85D0-F7F1-6DE73A455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85FD0B-CD0A-EA0A-2C83-56C34270CC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6211" y="160965"/>
            <a:ext cx="8521700" cy="730442"/>
          </a:xfr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/>
          <a:lstStyle/>
          <a:p>
            <a:r>
              <a:rPr lang="hu-HU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sz="3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jövedelmezőségi</a:t>
            </a:r>
            <a:r>
              <a:rPr lang="hu-HU" sz="32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mutatóit.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CF250A00-29BA-2D2C-1533-88771EE0034E}"/>
                  </a:ext>
                </a:extLst>
              </p:cNvPr>
              <p:cNvSpPr txBox="1"/>
              <p:nvPr/>
            </p:nvSpPr>
            <p:spPr>
              <a:xfrm>
                <a:off x="173080" y="1631474"/>
                <a:ext cx="8683256" cy="22513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𝐍𝐲𝐞𝐫𝐞𝐬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é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𝐠𝐡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𝐧𝐲𝐚𝐝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d>
                        <m:dPr>
                          <m:ctrlPr>
                            <a:rPr lang="hu-HU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dPr>
                        <m:e>
                          <m:r>
                            <a:rPr lang="hu-HU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𝐩𝐫𝐨𝐟𝐢𝐭</m:t>
                          </m:r>
                          <m:r>
                            <a:rPr lang="hu-HU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𝐦𝐚𝐫𝐠𝐢𝐧</m:t>
                          </m:r>
                        </m:e>
                      </m:d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𝒂𝒅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𝒛𝒐𝒕𝒕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𝒆𝒓𝒆𝒅𝒎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𝒏𝒚</m:t>
                          </m:r>
                        </m:num>
                        <m:den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𝒓𝒃𝒆𝒗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</m:t>
                          </m:r>
                        </m:den>
                      </m:f>
                    </m:oMath>
                  </m:oMathPara>
                </a14:m>
                <a:endParaRPr lang="hu-HU" sz="2000" b="1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2000" b="1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2000" dirty="0">
                    <a:solidFill>
                      <a:srgbClr val="757575"/>
                    </a:solidFill>
                    <a:ea typeface="Source Sans Pro"/>
                    <a:cs typeface="Segoe UI Semilight" panose="020B0402040204020203" pitchFamily="34" charset="0"/>
                    <a:sym typeface="Source Sans Pro"/>
                  </a:rPr>
                  <a:t>	 </a:t>
                </a:r>
                <a14:m>
                  <m:oMath xmlns:m="http://schemas.openxmlformats.org/officeDocument/2006/math">
                    <m:r>
                      <a:rPr lang="hu-HU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𝐍𝐲𝐞𝐫𝐞𝐬</m:t>
                    </m:r>
                    <m:r>
                      <a:rPr lang="hu-HU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é</m:t>
                    </m:r>
                    <m:r>
                      <a:rPr lang="hu-HU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𝐠𝐡</m:t>
                    </m:r>
                    <m:r>
                      <a:rPr lang="hu-HU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á</m:t>
                    </m:r>
                    <m:r>
                      <a:rPr lang="hu-HU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𝐧𝐲𝐚𝐝</m:t>
                    </m:r>
                    <m:r>
                      <a:rPr lang="hu-HU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 </m:t>
                    </m:r>
                    <m:d>
                      <m:dPr>
                        <m:ctrlPr>
                          <a:rPr lang="hu-HU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</m:ctrlPr>
                      </m:dPr>
                      <m:e>
                        <m:r>
                          <a:rPr lang="hu-HU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𝐩𝐫𝐨𝐟𝐢𝐭</m:t>
                        </m:r>
                        <m:r>
                          <a:rPr lang="hu-HU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 </m:t>
                        </m:r>
                        <m:r>
                          <a:rPr lang="hu-HU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𝒎𝒂𝒓𝒈𝒊𝒏</m:t>
                        </m:r>
                      </m:e>
                    </m:d>
                    <m:r>
                      <a:rPr lang="hu-HU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=</m:t>
                    </m:r>
                    <m:f>
                      <m:fPr>
                        <m:ctrlPr>
                          <a:rPr lang="hu-HU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</m:ctrlPr>
                      </m:fPr>
                      <m:num>
                        <m:r>
                          <a:rPr lang="hu-HU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𝟗𝟏</m:t>
                        </m:r>
                      </m:num>
                      <m:den>
                        <m:r>
                          <a:rPr lang="hu-HU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Source Sans Pro"/>
                            <a:cs typeface="Segoe UI Semilight" panose="020B0402040204020203" pitchFamily="34" charset="0"/>
                            <a:sym typeface="Source Sans Pro"/>
                          </a:rPr>
                          <m:t>𝟗𝟎𝟎</m:t>
                        </m:r>
                      </m:den>
                    </m:f>
                    <m:r>
                      <a:rPr lang="hu-HU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=</m:t>
                    </m:r>
                    <m:r>
                      <a:rPr lang="hu-HU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𝟎</m:t>
                    </m:r>
                    <m:r>
                      <a:rPr lang="hu-HU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,</m:t>
                    </m:r>
                    <m:r>
                      <a:rPr lang="hu-HU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𝟏𝟎𝟏𝟏</m:t>
                    </m:r>
                    <m:r>
                      <a:rPr lang="hu-HU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=</m:t>
                    </m:r>
                    <m:r>
                      <a:rPr lang="hu-HU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𝟏𝟎</m:t>
                    </m:r>
                    <m:r>
                      <a:rPr lang="hu-HU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,</m:t>
                    </m:r>
                    <m:r>
                      <a:rPr lang="hu-HU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𝟏𝟏</m:t>
                    </m:r>
                    <m:r>
                      <a:rPr lang="hu-HU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%</m:t>
                    </m:r>
                  </m:oMath>
                </a14:m>
                <a:endParaRPr lang="hu-HU" sz="2000" b="1" dirty="0">
                  <a:solidFill>
                    <a:srgbClr val="C00000"/>
                  </a:solidFill>
                  <a:ea typeface="Source Sans Pro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2000" b="1" dirty="0">
                  <a:solidFill>
                    <a:schemeClr val="dk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>
                  <a:spcBef>
                    <a:spcPts val="400"/>
                  </a:spcBef>
                  <a:buClr>
                    <a:srgbClr val="CCCCCC"/>
                  </a:buClr>
                </a:pPr>
                <a:r>
                  <a:rPr lang="hu-HU" sz="2000" dirty="0">
                    <a:solidFill>
                      <a:schemeClr val="dk2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	     Egységnyi </a:t>
                </a:r>
                <a:r>
                  <a:rPr lang="hu-HU" sz="2000" dirty="0" err="1">
                    <a:solidFill>
                      <a:schemeClr val="dk2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árbevételből</a:t>
                </a:r>
                <a:r>
                  <a:rPr lang="hu-HU" sz="2000" dirty="0">
                    <a:solidFill>
                      <a:schemeClr val="dk2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 10 százaléknyi nyereség keletkezik.</a:t>
                </a:r>
              </a:p>
            </p:txBody>
          </p:sp>
        </mc:Choice>
        <mc:Fallback xmlns=""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CF250A00-29BA-2D2C-1533-88771EE00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80" y="1631474"/>
                <a:ext cx="8683256" cy="2251322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40825"/>
      </p:ext>
    </p:extLst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7447CD66-9714-10E4-B483-F51DC00883EA}"/>
                  </a:ext>
                </a:extLst>
              </p:cNvPr>
              <p:cNvSpPr txBox="1"/>
              <p:nvPr/>
            </p:nvSpPr>
            <p:spPr>
              <a:xfrm>
                <a:off x="125895" y="1000923"/>
                <a:ext cx="8892209" cy="32814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𝐒𝐚𝐣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𝐭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𝐭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ő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𝐤𝐞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𝐣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𝐯𝐞𝐝𝐞𝐥𝐦𝐞𝐳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ő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é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𝐠𝐞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d>
                        <m:dPr>
                          <m:ctrlPr>
                            <a:rPr lang="hu-HU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dPr>
                        <m:e>
                          <m:r>
                            <a:rPr lang="hu-HU" sz="18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𝐑𝐎𝐄</m:t>
                          </m:r>
                        </m:e>
                      </m:d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𝐚𝐝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𝐳𝐨𝐭𝐭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𝐞𝐫𝐞𝐝𝐦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𝐧𝐲</m:t>
                          </m:r>
                        </m:num>
                        <m:den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𝐬𝐚𝐣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𝐭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𝐭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ő</m:t>
                          </m:r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𝐤𝐞</m:t>
                          </m:r>
                        </m:den>
                      </m:f>
                    </m:oMath>
                  </m:oMathPara>
                </a14:m>
                <a:endParaRPr lang="hu-HU" sz="1800" b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800" i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𝐒𝐚𝐣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á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𝐭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𝐭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ő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𝐤𝐞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𝐣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𝐯𝐞𝐝𝐞𝐥𝐦𝐞𝐳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ő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é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𝐠𝐞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d>
                        <m:dPr>
                          <m:ctrlPr>
                            <a:rPr lang="hu-HU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dPr>
                        <m:e>
                          <m:r>
                            <a:rPr lang="hu-HU" sz="1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𝐑𝐎𝐄</m:t>
                          </m:r>
                        </m:e>
                      </m:d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18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𝟗𝟏</m:t>
                          </m:r>
                        </m:num>
                        <m:den>
                          <m:r>
                            <a:rPr lang="hu-HU" sz="18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𝟒𝟑𝟎</m:t>
                          </m:r>
                        </m:den>
                      </m:f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𝟎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𝟐𝟏𝟏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𝟔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𝟐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𝟔</m:t>
                      </m:r>
                      <m:r>
                        <a:rPr lang="hu-HU" sz="1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%</m:t>
                      </m:r>
                    </m:oMath>
                  </m:oMathPara>
                </a14:m>
                <a:endParaRPr lang="hu-HU" sz="1800" b="1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18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285750" indent="-285750">
                  <a:spcBef>
                    <a:spcPts val="400"/>
                  </a:spcBef>
                  <a:buClr>
                    <a:srgbClr val="CCCCCC"/>
                  </a:buClr>
                  <a:buFont typeface="Arial" panose="020B0604020202020204" pitchFamily="34" charset="0"/>
                  <a:buChar char="•"/>
                </a:pPr>
                <a:r>
                  <a:rPr lang="hu-HU" sz="1800" dirty="0">
                    <a:solidFill>
                      <a:schemeClr val="dk2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A ROE a tulajdonosi jövedelmezőség átfogó mérőszáma. A 21.2%-os érték magas profitabilitást jelez, ami jelentős értékteremtést tükröz a részvényesek számára. Az olajiparban a ROE erősen ciklikus, mivel az energiaárak, a finomítói </a:t>
                </a:r>
                <a:r>
                  <a:rPr lang="hu-HU" sz="1800" dirty="0" err="1">
                    <a:solidFill>
                      <a:schemeClr val="dk2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marzsok</a:t>
                </a:r>
                <a:r>
                  <a:rPr lang="hu-HU" sz="1800" dirty="0">
                    <a:solidFill>
                      <a:schemeClr val="dk2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 és a kitermelési költségek jelentősen befolyásolják. Magas </a:t>
                </a:r>
                <a:r>
                  <a:rPr lang="hu-HU" sz="1800" dirty="0" err="1">
                    <a:solidFill>
                      <a:schemeClr val="dk2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árkörnyezetben</a:t>
                </a:r>
                <a:r>
                  <a:rPr lang="hu-HU" sz="1800" dirty="0">
                    <a:solidFill>
                      <a:schemeClr val="dk2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 a ROE jellemzően kiemelkedő.</a:t>
                </a: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7447CD66-9714-10E4-B483-F51DC0088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95" y="1000923"/>
                <a:ext cx="8892209" cy="3281411"/>
              </a:xfrm>
              <a:prstGeom prst="rect">
                <a:avLst/>
              </a:prstGeom>
              <a:blipFill>
                <a:blip r:embed="rId2"/>
                <a:stretch>
                  <a:fillRect l="-342" b="-1289"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ím 1">
            <a:extLst>
              <a:ext uri="{FF2B5EF4-FFF2-40B4-BE49-F238E27FC236}">
                <a16:creationId xmlns:a16="http://schemas.microsoft.com/office/drawing/2014/main" id="{885B4509-8142-AC3C-3F22-DCA5C6838158}"/>
              </a:ext>
            </a:extLst>
          </p:cNvPr>
          <p:cNvSpPr txBox="1">
            <a:spLocks/>
          </p:cNvSpPr>
          <p:nvPr/>
        </p:nvSpPr>
        <p:spPr>
          <a:xfrm>
            <a:off x="396211" y="160965"/>
            <a:ext cx="8521700" cy="73044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sz="3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sz="32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jövedelmezőségi</a:t>
            </a:r>
            <a:r>
              <a:rPr lang="hu-HU" sz="3200" b="1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3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mutatóit.</a:t>
            </a:r>
            <a:endParaRPr lang="hu-HU" sz="3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951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4F5A5130-D120-8B61-3A5D-FDCBB21B4133}"/>
                  </a:ext>
                </a:extLst>
              </p:cNvPr>
              <p:cNvSpPr txBox="1"/>
              <p:nvPr/>
            </p:nvSpPr>
            <p:spPr>
              <a:xfrm>
                <a:off x="291549" y="1404924"/>
                <a:ext cx="8421756" cy="233365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𝐄𝐬𝐳𝐤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𝐳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𝐤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𝐣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𝐯𝐞𝐝𝐞𝐥𝐦𝐞𝐳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ő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é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𝐠𝐞</m:t>
                      </m:r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d>
                        <m:dPr>
                          <m:ctrlPr>
                            <a:rPr lang="hu-HU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dPr>
                        <m:e>
                          <m:r>
                            <a:rPr lang="hu-HU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𝐑𝐎𝐀</m:t>
                          </m:r>
                        </m:e>
                      </m:d>
                      <m:r>
                        <a:rPr lang="hu-HU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𝒂𝒅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𝒛𝒐𝒕𝒕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𝒆𝒓𝒆𝒅𝒎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𝒏𝒚</m:t>
                          </m:r>
                        </m:num>
                        <m:den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𝒔𝒔𝒛𝒆𝒔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</m:den>
                      </m:f>
                    </m:oMath>
                  </m:oMathPara>
                </a14:m>
                <a:endParaRPr lang="hu-HU" sz="2000" b="1" i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2000" b="1" i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𝐄𝐬𝐳𝐤</m:t>
                      </m:r>
                      <m:r>
                        <a:rPr lang="hu-HU" sz="20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𝐳</m:t>
                      </m:r>
                      <m:r>
                        <a:rPr lang="hu-HU" sz="20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𝐤</m:t>
                      </m:r>
                      <m:r>
                        <a:rPr lang="hu-HU" sz="20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𝐣</m:t>
                      </m:r>
                      <m:r>
                        <a:rPr lang="hu-HU" sz="20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ö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𝐯𝐞𝐝𝐞𝐥𝐦𝐞𝐳</m:t>
                      </m:r>
                      <m:r>
                        <a:rPr lang="hu-HU" sz="20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ő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𝐬</m:t>
                      </m:r>
                      <m:r>
                        <a:rPr lang="hu-HU" sz="20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é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𝐠𝐞</m:t>
                      </m:r>
                      <m:r>
                        <a:rPr lang="hu-HU" sz="20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 </m:t>
                      </m:r>
                      <m:d>
                        <m:dPr>
                          <m:ctrlP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dPr>
                        <m:e>
                          <m: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𝑹𝑶𝑨</m:t>
                          </m:r>
                        </m:e>
                      </m:d>
                      <m:r>
                        <a:rPr lang="hu-HU" sz="20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𝟗𝟏</m:t>
                          </m:r>
                        </m:num>
                        <m:den>
                          <m:r>
                            <a:rPr lang="hu-HU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𝟖𝟎𝟎</m:t>
                          </m:r>
                        </m:den>
                      </m:f>
                      <m:r>
                        <a:rPr lang="hu-HU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𝟎</m:t>
                      </m:r>
                      <m:r>
                        <a:rPr lang="hu-HU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𝟏𝟏𝟑𝟖</m:t>
                      </m:r>
                      <m:r>
                        <a:rPr lang="hu-HU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𝟏𝟏</m:t>
                      </m:r>
                      <m:r>
                        <a:rPr lang="hu-HU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𝟑𝟖</m:t>
                      </m:r>
                      <m:r>
                        <a:rPr lang="hu-HU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%</m:t>
                      </m:r>
                    </m:oMath>
                  </m:oMathPara>
                </a14:m>
                <a:endParaRPr lang="hu-HU" sz="2000" b="1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7625">
                  <a:spcBef>
                    <a:spcPts val="400"/>
                  </a:spcBef>
                  <a:buClr>
                    <a:srgbClr val="CCCCCC"/>
                  </a:buClr>
                </a:pPr>
                <a:endParaRPr lang="hu-HU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spcBef>
                    <a:spcPts val="400"/>
                  </a:spcBef>
                  <a:buClr>
                    <a:srgbClr val="CCCCCC"/>
                  </a:buClr>
                  <a:buFont typeface="Arial" panose="020B0604020202020204" pitchFamily="34" charset="0"/>
                  <a:buChar char="•"/>
                </a:pPr>
                <a:r>
                  <a:rPr lang="hu-HU" sz="2000" dirty="0">
                    <a:solidFill>
                      <a:schemeClr val="dk2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Egységnyi eszközállományra vetítve 11 százaléknyi nyereség keletkezik.</a:t>
                </a: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4F5A5130-D120-8B61-3A5D-FDCBB21B4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49" y="1404924"/>
                <a:ext cx="8421756" cy="2333652"/>
              </a:xfrm>
              <a:prstGeom prst="rect">
                <a:avLst/>
              </a:prstGeom>
              <a:blipFill>
                <a:blip r:embed="rId2"/>
                <a:stretch>
                  <a:fillRect l="-505" b="-2835"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ím 1">
            <a:extLst>
              <a:ext uri="{FF2B5EF4-FFF2-40B4-BE49-F238E27FC236}">
                <a16:creationId xmlns:a16="http://schemas.microsoft.com/office/drawing/2014/main" id="{64AEADC5-147C-C2B9-348B-58265A8E8A76}"/>
              </a:ext>
            </a:extLst>
          </p:cNvPr>
          <p:cNvSpPr txBox="1">
            <a:spLocks/>
          </p:cNvSpPr>
          <p:nvPr/>
        </p:nvSpPr>
        <p:spPr>
          <a:xfrm>
            <a:off x="396211" y="160965"/>
            <a:ext cx="8521700" cy="73044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hu-HU" sz="3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Elemezd a vállalat </a:t>
            </a:r>
            <a:r>
              <a:rPr lang="hu-HU" sz="32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jövedelmezőségi</a:t>
            </a:r>
            <a:r>
              <a:rPr lang="hu-HU" sz="3200" b="1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hu-HU" sz="3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mutatóit.</a:t>
            </a:r>
            <a:endParaRPr lang="hu-HU" sz="3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5256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3542038D-5B1B-4711-FB84-D2D9F27D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04B124-01F8-9E51-5295-A2CE0C4AC9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9373" y="194095"/>
            <a:ext cx="8065149" cy="488392"/>
          </a:xfrm>
          <a:solidFill>
            <a:schemeClr val="bg1">
              <a:lumMod val="95000"/>
            </a:schemeClr>
          </a:solidFill>
          <a:ln w="28575">
            <a:solidFill>
              <a:srgbClr val="FFC000"/>
            </a:solidFill>
          </a:ln>
        </p:spPr>
        <p:txBody>
          <a:bodyPr/>
          <a:lstStyle/>
          <a:p>
            <a:r>
              <a:rPr lang="hu-HU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Vizsgáljuk meg a vállalat jövedelmezőségi mutatóit </a:t>
            </a:r>
            <a:r>
              <a:rPr lang="hu-HU" sz="20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DuPont</a:t>
            </a:r>
            <a:r>
              <a:rPr lang="hu-HU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-elemzéssel</a:t>
            </a:r>
            <a:r>
              <a:rPr lang="hu-HU" sz="2000" dirty="0">
                <a:solidFill>
                  <a:schemeClr val="tx1"/>
                </a:solidFill>
              </a:rPr>
              <a:t>.</a:t>
            </a:r>
            <a:br>
              <a:rPr lang="hu-HU" sz="2000" dirty="0"/>
            </a:br>
            <a:endParaRPr lang="hu-HU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zövegdoboz 13">
                <a:extLst>
                  <a:ext uri="{FF2B5EF4-FFF2-40B4-BE49-F238E27FC236}">
                    <a16:creationId xmlns:a16="http://schemas.microsoft.com/office/drawing/2014/main" id="{AEACB9B6-A69D-CABB-AF6A-E6A910419C14}"/>
                  </a:ext>
                </a:extLst>
              </p:cNvPr>
              <p:cNvSpPr txBox="1"/>
              <p:nvPr/>
            </p:nvSpPr>
            <p:spPr>
              <a:xfrm>
                <a:off x="0" y="734804"/>
                <a:ext cx="9143999" cy="367389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pPr marL="47625" algn="ctr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 xmlns:m="http://schemas.openxmlformats.org/officeDocument/2006/math">
                    <m:r>
                      <a:rPr lang="hu-HU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𝑹𝑶𝑬</m:t>
                    </m:r>
                    <m:r>
                      <a:rPr lang="hu-HU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=</m:t>
                    </m:r>
                    <m:r>
                      <a:rPr lang="hu-HU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𝟐𝟏</m:t>
                    </m:r>
                    <m:r>
                      <a:rPr lang="hu-HU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,</m:t>
                    </m:r>
                    <m:r>
                      <a:rPr lang="hu-HU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𝟐</m:t>
                    </m:r>
                    <m:r>
                      <a:rPr lang="hu-HU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%=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𝒏𝒚𝒆𝒓𝒆𝒔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é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𝒈𝒉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á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𝒏𝒚𝒂𝒅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×ö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𝒔𝒔𝒛𝒆𝒔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 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𝒆𝒔𝒛𝒌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ö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𝒛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 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𝒇𝒐𝒓𝒈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á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𝒔𝒂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×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𝒔𝒂𝒋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á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𝒕𝒕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ő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𝒌𝒆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 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𝒎𝒖𝒍𝒕𝒊𝒑𝒍𝒊𝒌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á</m:t>
                    </m:r>
                    <m:r>
                      <a:rPr lang="hu-HU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Source Sans Pro"/>
                        <a:cs typeface="Segoe UI Semilight" panose="020B0402040204020203" pitchFamily="34" charset="0"/>
                        <a:sym typeface="Source Sans Pro"/>
                      </a:rPr>
                      <m:t>𝒕𝒐𝒓</m:t>
                    </m:r>
                  </m:oMath>
                </a14:m>
                <a:r>
                  <a:rPr lang="hu-HU" b="1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 Semilight" panose="020B0402040204020203" pitchFamily="34" charset="0"/>
                    <a:sym typeface="Source Sans Pro"/>
                  </a:rPr>
                  <a:t> </a:t>
                </a:r>
                <a:endParaRPr lang="hu-HU" b="1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7625" algn="ctr">
                  <a:spcBef>
                    <a:spcPts val="400"/>
                  </a:spcBef>
                  <a:buClr>
                    <a:srgbClr val="CCCCCC"/>
                  </a:buClr>
                </a:pPr>
                <a:endParaRPr lang="hu-HU" b="0" i="0" dirty="0">
                  <a:solidFill>
                    <a:srgbClr val="757575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 algn="ctr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hu-HU" b="0" i="0" smtClean="0">
                          <a:solidFill>
                            <a:srgbClr val="757575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ROE</m:t>
                      </m:r>
                      <m:r>
                        <a:rPr lang="hu-HU" b="1" i="1" smtClean="0">
                          <a:solidFill>
                            <a:srgbClr val="757575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𝒂𝒅</m:t>
                          </m:r>
                          <m:r>
                            <a:rPr lang="hu-H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ó</m:t>
                          </m:r>
                          <m:r>
                            <a:rPr lang="hu-H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𝒛𝒐𝒕𝒕</m:t>
                          </m:r>
                          <m:r>
                            <a:rPr lang="hu-H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𝒆𝒓𝒆𝒅𝒎</m:t>
                          </m:r>
                          <m:r>
                            <a:rPr lang="hu-H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𝒏𝒚</m:t>
                          </m:r>
                        </m:num>
                        <m:den>
                          <m:r>
                            <a:rPr lang="hu-H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𝒓𝒃𝒆𝒗</m:t>
                          </m:r>
                          <m:r>
                            <a:rPr lang="hu-H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</m:t>
                          </m:r>
                        </m:den>
                      </m:f>
                      <m:r>
                        <a:rPr lang="hu-HU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×</m:t>
                      </m:r>
                      <m:f>
                        <m:fPr>
                          <m:ctrlP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𝒓𝒃𝒆𝒗</m:t>
                          </m:r>
                          <m:r>
                            <a:rPr lang="hu-H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é</m:t>
                          </m:r>
                          <m:r>
                            <a:rPr lang="hu-H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𝒕𝒆𝒍</m:t>
                          </m:r>
                        </m:num>
                        <m:den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</m:t>
                          </m:r>
                        </m:den>
                      </m:f>
                      <m:r>
                        <a:rPr lang="hu-HU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×</m:t>
                      </m:r>
                      <m:f>
                        <m:fPr>
                          <m:ctrlP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𝒆𝒔𝒛𝒌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𝒛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ö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</m:t>
                          </m:r>
                        </m:num>
                        <m:den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𝒔𝒂𝒋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á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 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𝒕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ő</m:t>
                          </m:r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𝒌𝒆</m:t>
                          </m:r>
                        </m:den>
                      </m:f>
                    </m:oMath>
                  </m:oMathPara>
                </a14:m>
                <a:endParaRPr lang="hu-HU" b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 algn="ctr">
                  <a:spcBef>
                    <a:spcPts val="400"/>
                  </a:spcBef>
                  <a:buClr>
                    <a:srgbClr val="CCCCCC"/>
                  </a:buClr>
                </a:pPr>
                <a:endParaRPr lang="hu-HU" b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 algn="ctr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>
                          <a:solidFill>
                            <a:srgbClr val="757575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𝑅𝑂𝐸</m:t>
                      </m:r>
                      <m:r>
                        <a:rPr lang="hu-HU" b="1" i="1">
                          <a:solidFill>
                            <a:srgbClr val="757575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f>
                        <m:fPr>
                          <m:ctrlPr>
                            <a:rPr lang="hu-H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𝟗𝟏</m:t>
                          </m:r>
                        </m:num>
                        <m:den>
                          <m:r>
                            <a:rPr lang="hu-H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𝟗𝟎𝟎</m:t>
                          </m:r>
                        </m:den>
                      </m:f>
                      <m:r>
                        <a:rPr lang="hu-HU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×</m:t>
                      </m:r>
                      <m:f>
                        <m:fPr>
                          <m:ctrlP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𝟗𝟎𝟎</m:t>
                          </m:r>
                        </m:num>
                        <m:den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𝟖𝟎𝟎</m:t>
                          </m:r>
                        </m:den>
                      </m:f>
                      <m:r>
                        <a:rPr lang="hu-HU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×</m:t>
                      </m:r>
                      <m:f>
                        <m:fPr>
                          <m:ctrlP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</m:ctrlPr>
                        </m:fPr>
                        <m:num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𝟖𝟎𝟎</m:t>
                          </m:r>
                        </m:num>
                        <m:den>
                          <m:r>
                            <a:rPr lang="hu-HU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Source Sans Pro"/>
                              <a:cs typeface="Segoe UI Semilight" panose="020B0402040204020203" pitchFamily="34" charset="0"/>
                              <a:sym typeface="Source Sans Pro"/>
                            </a:rPr>
                            <m:t>𝟒𝟑𝟎</m:t>
                          </m:r>
                        </m:den>
                      </m:f>
                    </m:oMath>
                  </m:oMathPara>
                </a14:m>
                <a:endParaRPr lang="hu-HU" b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 algn="ctr">
                  <a:spcBef>
                    <a:spcPts val="400"/>
                  </a:spcBef>
                  <a:buClr>
                    <a:srgbClr val="CCCCCC"/>
                  </a:buClr>
                </a:pPr>
                <a:endParaRPr lang="hu-HU" b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47625" algn="ctr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>
                          <a:solidFill>
                            <a:srgbClr val="757575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𝑅𝑂𝐸</m:t>
                      </m:r>
                      <m:r>
                        <a:rPr lang="hu-HU" b="1" i="1">
                          <a:solidFill>
                            <a:srgbClr val="757575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=</m:t>
                      </m:r>
                      <m:r>
                        <a:rPr lang="hu-HU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𝟏𝟎</m:t>
                      </m:r>
                      <m:r>
                        <a:rPr lang="hu-HU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𝟏𝟏</m:t>
                      </m:r>
                      <m:r>
                        <a:rPr lang="hu-HU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%×</m:t>
                      </m:r>
                      <m:r>
                        <a:rPr lang="hu-H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</m:t>
                      </m:r>
                      <m:r>
                        <a:rPr lang="hu-H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𝟏𝟐𝟓</m:t>
                      </m:r>
                      <m:r>
                        <a:rPr lang="hu-HU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×</m:t>
                      </m:r>
                      <m:r>
                        <a:rPr lang="hu-H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𝟏</m:t>
                      </m:r>
                      <m:r>
                        <a:rPr lang="hu-H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,</m:t>
                      </m:r>
                      <m:r>
                        <a:rPr lang="hu-HU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Source Sans Pro"/>
                          <a:cs typeface="Segoe UI Semilight" panose="020B0402040204020203" pitchFamily="34" charset="0"/>
                          <a:sym typeface="Source Sans Pro"/>
                        </a:rPr>
                        <m:t>𝟖𝟔</m:t>
                      </m:r>
                    </m:oMath>
                  </m:oMathPara>
                </a14:m>
                <a:endParaRPr lang="hu-HU" b="1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 Semilight" panose="020B0402040204020203" pitchFamily="34" charset="0"/>
                  <a:sym typeface="Source Sans Pro"/>
                </a:endParaRPr>
              </a:p>
              <a:p>
                <a:pPr marL="333375" indent="-285750">
                  <a:spcBef>
                    <a:spcPts val="400"/>
                  </a:spcBef>
                  <a:buClr>
                    <a:srgbClr val="CCCCCC"/>
                  </a:buClr>
                  <a:buFont typeface="Arial" panose="020B0604020202020204" pitchFamily="34" charset="0"/>
                  <a:buChar char="•"/>
                </a:pPr>
                <a:r>
                  <a:rPr lang="hu-HU" b="1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</a:t>
                </a:r>
                <a:r>
                  <a:rPr lang="hu-HU" b="1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DuPont</a:t>
                </a:r>
                <a:r>
                  <a:rPr lang="hu-HU" b="1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‑bontás alapján a 21,2%-os ROE </a:t>
                </a:r>
              </a:p>
              <a:p>
                <a:pPr marL="720725" lvl="1" indent="-285750">
                  <a:spcBef>
                    <a:spcPts val="400"/>
                  </a:spcBef>
                  <a:buClr>
                    <a:srgbClr val="CCCCCC"/>
                  </a:buClr>
                  <a:buFont typeface="Arial" panose="020B0604020202020204" pitchFamily="34" charset="0"/>
                  <a:buChar char="•"/>
                </a:pPr>
                <a:r>
                  <a:rPr lang="hu-HU" dirty="0">
                    <a:latin typeface="Cambria" panose="02040503050406030204" pitchFamily="18" charset="0"/>
                    <a:ea typeface="Cambria" panose="02040503050406030204" pitchFamily="18" charset="0"/>
                  </a:rPr>
                  <a:t>elsődleges forrása a kiemelkedő nyereséghányad, </a:t>
                </a:r>
              </a:p>
              <a:p>
                <a:pPr marL="720725" lvl="1" indent="-285750">
                  <a:spcBef>
                    <a:spcPts val="400"/>
                  </a:spcBef>
                  <a:buClr>
                    <a:srgbClr val="CCCCCC"/>
                  </a:buClr>
                  <a:buFont typeface="Arial" panose="020B0604020202020204" pitchFamily="34" charset="0"/>
                  <a:buChar char="•"/>
                </a:pPr>
                <a:r>
                  <a:rPr lang="hu-HU" dirty="0">
                    <a:latin typeface="Cambria" panose="02040503050406030204" pitchFamily="18" charset="0"/>
                    <a:ea typeface="Cambria" panose="02040503050406030204" pitchFamily="18" charset="0"/>
                  </a:rPr>
                  <a:t>míg az eszközök forgása a tőkeintenzív olajipari működésnek megfelelően alacsony–mérsékelt szinten alakul. </a:t>
                </a:r>
              </a:p>
              <a:p>
                <a:pPr marL="720725" lvl="1" indent="-285750">
                  <a:spcBef>
                    <a:spcPts val="400"/>
                  </a:spcBef>
                  <a:buClr>
                    <a:srgbClr val="CCCCCC"/>
                  </a:buClr>
                  <a:buFont typeface="Arial" panose="020B0604020202020204" pitchFamily="34" charset="0"/>
                  <a:buChar char="•"/>
                </a:pPr>
                <a:r>
                  <a:rPr lang="hu-HU" dirty="0">
                    <a:latin typeface="Cambria" panose="02040503050406030204" pitchFamily="18" charset="0"/>
                    <a:ea typeface="Cambria" panose="02040503050406030204" pitchFamily="18" charset="0"/>
                  </a:rPr>
                  <a:t>Az 1,86-os sajáttőke‑multiplikátor kontrollált pénzügyi tőkeáttételre utal, amely érdemben felerősíti az operatív teljesítmény hatását. </a:t>
                </a:r>
              </a:p>
            </p:txBody>
          </p:sp>
        </mc:Choice>
        <mc:Fallback xmlns="">
          <p:sp>
            <p:nvSpPr>
              <p:cNvPr id="14" name="Szövegdoboz 13">
                <a:extLst>
                  <a:ext uri="{FF2B5EF4-FFF2-40B4-BE49-F238E27FC236}">
                    <a16:creationId xmlns:a16="http://schemas.microsoft.com/office/drawing/2014/main" id="{AEACB9B6-A69D-CABB-AF6A-E6A910419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4804"/>
                <a:ext cx="9143999" cy="3673891"/>
              </a:xfrm>
              <a:prstGeom prst="rect">
                <a:avLst/>
              </a:prstGeom>
              <a:blipFill>
                <a:blip r:embed="rId3"/>
                <a:stretch>
                  <a:fillRect b="-165"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283279"/>
      </p:ext>
    </p:extLst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/>
          <p:nvPr/>
        </p:nvSpPr>
        <p:spPr>
          <a:xfrm>
            <a:off x="151998" y="2969122"/>
            <a:ext cx="7300799" cy="62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r>
              <a:rPr lang="hu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További információk</a:t>
            </a:r>
          </a:p>
        </p:txBody>
      </p:sp>
      <p:sp>
        <p:nvSpPr>
          <p:cNvPr id="317" name="Shape 317"/>
          <p:cNvSpPr txBox="1"/>
          <p:nvPr/>
        </p:nvSpPr>
        <p:spPr>
          <a:xfrm>
            <a:off x="181039" y="3717056"/>
            <a:ext cx="8229600" cy="152770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720"/>
              </a:spcBef>
            </a:pPr>
            <a:r>
              <a:rPr lang="hu-HU" sz="1600" u="sng" dirty="0">
                <a:solidFill>
                  <a:srgbClr val="0000FF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/>
              </a:rPr>
              <a:t>https://uni-bge.hu</a:t>
            </a:r>
            <a:r>
              <a:rPr lang="hu" sz="1600" dirty="0">
                <a:solidFill>
                  <a:schemeClr val="dk2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/>
              </a:rPr>
              <a:t> </a:t>
            </a:r>
            <a:endParaRPr lang="hu" sz="1600" dirty="0">
              <a:solidFill>
                <a:schemeClr val="dk2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spcBef>
                <a:spcPts val="720"/>
              </a:spcBef>
            </a:pPr>
            <a:r>
              <a:rPr lang="hu-HU" sz="1600" u="sng" dirty="0">
                <a:solidFill>
                  <a:srgbClr val="0000FF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4"/>
              </a:rPr>
              <a:t>https://www.facebook.com/unibge</a:t>
            </a:r>
            <a:r>
              <a:rPr lang="hu" sz="1600" dirty="0">
                <a:solidFill>
                  <a:schemeClr val="dk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</a:p>
          <a:p>
            <a:pPr>
              <a:spcBef>
                <a:spcPts val="720"/>
              </a:spcBef>
            </a:pPr>
            <a:endParaRPr b="1" dirty="0">
              <a:solidFill>
                <a:schemeClr val="dk2"/>
              </a:solidFill>
            </a:endParaRPr>
          </a:p>
          <a:p>
            <a:endParaRPr b="1" dirty="0">
              <a:solidFill>
                <a:schemeClr val="dk2"/>
              </a:solidFill>
            </a:endParaRPr>
          </a:p>
          <a:p>
            <a:pPr>
              <a:spcBef>
                <a:spcPts val="480"/>
              </a:spcBef>
            </a:pP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 t="-80000"/>
          </a:stretch>
        </a:blip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/>
          <p:nvPr/>
        </p:nvSpPr>
        <p:spPr>
          <a:xfrm>
            <a:off x="0" y="2073014"/>
            <a:ext cx="9144000" cy="2061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r>
              <a:rPr lang="hu" sz="3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Köszönöm a figyelmet!</a:t>
            </a:r>
            <a:br>
              <a:rPr lang="hu" sz="3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endParaRPr lang="hu" sz="3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Segoe UI">
      <a:majorFont>
        <a:latin typeface="Segoe UI Semilight"/>
        <a:ea typeface=""/>
        <a:cs typeface=""/>
      </a:majorFont>
      <a:minorFont>
        <a:latin typeface="Segoe UI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87e8e8-b583-4801-8001-d79e546a2fe8">
      <Terms xmlns="http://schemas.microsoft.com/office/infopath/2007/PartnerControls"/>
    </lcf76f155ced4ddcb4097134ff3c332f>
    <TaxCatchAll xmlns="c54c6f9d-190b-4149-aff2-ccd375b887c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B1C7A5BE78B3B443A0E5E587CD9A6EE9" ma:contentTypeVersion="14" ma:contentTypeDescription="Új dokumentum létrehozása." ma:contentTypeScope="" ma:versionID="cdecd5dea3f461d5008d333c8609fdf6">
  <xsd:schema xmlns:xsd="http://www.w3.org/2001/XMLSchema" xmlns:xs="http://www.w3.org/2001/XMLSchema" xmlns:p="http://schemas.microsoft.com/office/2006/metadata/properties" xmlns:ns2="8c87e8e8-b583-4801-8001-d79e546a2fe8" xmlns:ns3="c54c6f9d-190b-4149-aff2-ccd375b887c1" targetNamespace="http://schemas.microsoft.com/office/2006/metadata/properties" ma:root="true" ma:fieldsID="1edb953614d7efaf927c8815976bf916" ns2:_="" ns3:_="">
    <xsd:import namespace="8c87e8e8-b583-4801-8001-d79e546a2fe8"/>
    <xsd:import namespace="c54c6f9d-190b-4149-aff2-ccd375b887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87e8e8-b583-4801-8001-d79e546a2f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Képcímkék" ma:readOnly="false" ma:fieldId="{5cf76f15-5ced-4ddc-b409-7134ff3c332f}" ma:taxonomyMulti="true" ma:sspId="ec8551cb-31a8-4c63-a261-82c7526a1c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4c6f9d-190b-4149-aff2-ccd375b887c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5c78f66-390b-4015-94bf-c234da9d1f22}" ma:internalName="TaxCatchAll" ma:showField="CatchAllData" ma:web="c54c6f9d-190b-4149-aff2-ccd375b887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11B0079-0EC2-4CEC-9660-C7007AF5BBB1}">
  <ds:schemaRefs>
    <ds:schemaRef ds:uri="8c87e8e8-b583-4801-8001-d79e546a2fe8"/>
    <ds:schemaRef ds:uri="c54c6f9d-190b-4149-aff2-ccd375b887c1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FD0B7F6-2CB7-494C-914A-F11E78ED60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87e8e8-b583-4801-8001-d79e546a2fe8"/>
    <ds:schemaRef ds:uri="c54c6f9d-190b-4149-aff2-ccd375b887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0C25940-7CB1-45EF-88F7-91C905F9AF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3045</Words>
  <Application>Microsoft Office PowerPoint</Application>
  <PresentationFormat>Diavetítés a képernyőre (16:9 oldalarány)</PresentationFormat>
  <Paragraphs>617</Paragraphs>
  <Slides>40</Slides>
  <Notes>23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40</vt:i4>
      </vt:variant>
    </vt:vector>
  </HeadingPairs>
  <TitlesOfParts>
    <vt:vector size="48" baseType="lpstr">
      <vt:lpstr>Calibri</vt:lpstr>
      <vt:lpstr>Cambria</vt:lpstr>
      <vt:lpstr>Segoe UI Semibold</vt:lpstr>
      <vt:lpstr>Cambria Math</vt:lpstr>
      <vt:lpstr>Arial</vt:lpstr>
      <vt:lpstr>Source Sans Pro</vt:lpstr>
      <vt:lpstr>Segoe UI Semilight</vt:lpstr>
      <vt:lpstr>simple-light-2</vt:lpstr>
      <vt:lpstr>PowerPoint-bemutató</vt:lpstr>
      <vt:lpstr>Miért foglalkozunk pénzügyi kimutatásokkal?</vt:lpstr>
      <vt:lpstr>PowerPoint-bemutató</vt:lpstr>
      <vt:lpstr>PowerPoint-bemutató</vt:lpstr>
      <vt:lpstr>PowerPoint-bemutató</vt:lpstr>
      <vt:lpstr>PowerPoint-bemutató</vt:lpstr>
      <vt:lpstr>PowerPoint-bemutató</vt:lpstr>
      <vt:lpstr>Likviditási mutatók</vt:lpstr>
      <vt:lpstr>Likviditási mutatók</vt:lpstr>
      <vt:lpstr>Likviditási mutatók</vt:lpstr>
      <vt:lpstr>3. feladat: Vizsgáljuk meg a likviditási mutatót, likviditási gyorsrátát és a készpénzlikviditási mutatókat.</vt:lpstr>
      <vt:lpstr>3. feladat: Vizsgáljuk meg a likviditási mutatót, likviditási gyorsrátát és a készpénzlikviditási mutatókat.</vt:lpstr>
      <vt:lpstr>3. feladat: Vizsgáljuk meg a likviditási mutatót, likviditási gyorsrátát és a készpénzlikviditási mutatókat.</vt:lpstr>
      <vt:lpstr>3. feladat: Vizsgáljuk meg a likviditási mutatót, likviditási gyorsrátát és a készpénzlikviditási mutatókat.</vt:lpstr>
      <vt:lpstr>PowerPoint-bemutató</vt:lpstr>
      <vt:lpstr>PowerPoint-bemutató</vt:lpstr>
      <vt:lpstr>Forgóeszköz-gazdálkodás</vt:lpstr>
      <vt:lpstr>PowerPoint-bemutató</vt:lpstr>
      <vt:lpstr>Forgási mutatók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Egy vállalat pénzügyi helyzetének elemzése során a következő mutatókat ismerjük: a saját tőke szorzó értéke 1,27, az összes eszköz forgási sebessége 1,64, míg a nyereséghányad 6,05%. Határozd meg a DuPont-azonosság segítségével a vállalat saját tőke jövedelmezőségét (ROE), majd értelmezd röviden az eredményt a vállalat működési hatékonyságának és pénzügyi kockázatának szempontjából.</vt:lpstr>
      <vt:lpstr>Elemezd „A” vállalat operatív működését a 2023-as mérleg és eredménykimutatása alapján.</vt:lpstr>
      <vt:lpstr>Elemezd a vállalat rövid távú fizetőképességi mutatóit.</vt:lpstr>
      <vt:lpstr>PowerPoint-bemutató</vt:lpstr>
      <vt:lpstr>PowerPoint-bemutató</vt:lpstr>
      <vt:lpstr>PowerPoint-bemutató</vt:lpstr>
      <vt:lpstr>Elemezd a vállalat hosszú távú fizetőképességi mutatóit.</vt:lpstr>
      <vt:lpstr>Elemezd a vállalat eszközmenedzsment (vagy-forgás) mutatóit.</vt:lpstr>
      <vt:lpstr>PowerPoint-bemutató</vt:lpstr>
      <vt:lpstr>Elemezd a vállalat jövedelmezőségi mutatóit.</vt:lpstr>
      <vt:lpstr>PowerPoint-bemutató</vt:lpstr>
      <vt:lpstr>PowerPoint-bemutató</vt:lpstr>
      <vt:lpstr>Vizsgáljuk meg a vállalat jövedelmezőségi mutatóit DuPont-elemzéssel. 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Patonai Kata</dc:creator>
  <cp:lastModifiedBy>Hauber György</cp:lastModifiedBy>
  <cp:revision>80</cp:revision>
  <dcterms:modified xsi:type="dcterms:W3CDTF">2026-03-05T12:15:09Z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0x010100B1C7A5BE78B3B443A0E5E587CD9A6EE9</vt:lpwstr>
  </property>
  <property fmtid="{D5CDD505-2E9C-101B-9397-08002B2CF9AE}" pid="3" name="MediaServiceImageTags">
    <vt:lpwstr/>
  </property>
</Properties>
</file>